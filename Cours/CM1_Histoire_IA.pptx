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1" autoAdjust="0"/>
    <p:restoredTop sz="95934"/>
  </p:normalViewPr>
  <p:slideViewPr>
    <p:cSldViewPr snapToGrid="0" snapToObjects="1">
      <p:cViewPr>
        <p:scale>
          <a:sx n="66" d="100"/>
          <a:sy n="66" d="100"/>
        </p:scale>
        <p:origin x="1253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2E2B"/>
                </a:solidFill>
                <a:latin typeface="Arial"/>
              </a:rPr>
              <a:t>Erreur au concours ImageNet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A0C145"/>
            </a:solidFill>
          </c:spP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28.2</c:v>
                </c:pt>
                <c:pt idx="1">
                  <c:v>25.8</c:v>
                </c:pt>
                <c:pt idx="2">
                  <c:v>16.4</c:v>
                </c:pt>
                <c:pt idx="3">
                  <c:v>11.7</c:v>
                </c:pt>
                <c:pt idx="4">
                  <c:v>6.7</c:v>
                </c:pt>
                <c:pt idx="5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A2E2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4"/>
            </a:solidFill>
          </a:ln>
        </c:spPr>
        <c:txPr>
          <a:bodyPr/>
          <a:lstStyle/>
          <a:p>
            <a:pPr>
              <a:defRPr sz="1200">
                <a:solidFill>
                  <a:srgbClr val="1A2E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 val="0"/>
        <c:axPos val="l"/>
        <c:majorGridlines>
          <c:spPr>
            <a:ln>
              <a:solidFill>
                <a:srgbClr val="E0E8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B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3A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12180"/>
            </a:solidFill>
          </c:spPr>
          <c:cat>
            <c:strRef>
              <c:f>Sheet1!$A$2:$A$5</c:f>
              <c:strCache>
                <c:ptCount val="4"/>
                <c:pt idx="0">
                  <c:v>canapé</c:v>
                </c:pt>
                <c:pt idx="1">
                  <c:v>lit</c:v>
                </c:pt>
                <c:pt idx="2">
                  <c:v>tapis</c:v>
                </c:pt>
                <c:pt idx="3">
                  <c:v>toit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0.23</c:v>
                </c:pt>
                <c:pt idx="2">
                  <c:v>0.17</c:v>
                </c:pt>
                <c:pt idx="3">
                  <c:v>0.08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A2E2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D4"/>
            </a:solidFill>
          </a:ln>
        </c:spPr>
        <c:txPr>
          <a:bodyPr/>
          <a:lstStyle/>
          <a:p>
            <a:pPr>
              <a:defRPr sz="1200">
                <a:solidFill>
                  <a:srgbClr val="1A2E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3A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2E2B"/>
                </a:solidFill>
                <a:latin typeface="Arial"/>
              </a:rPr>
              <a:t>Mois pour atteindre 100 millions d'utilisateurs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12180"/>
            </a:solidFill>
          </c:spPr>
          <c:cat>
            <c:strRef>
              <c:f>Sheet1!$A$2:$A$5</c:f>
              <c:strCache>
                <c:ptCount val="4"/>
                <c:pt idx="0">
                  <c:v>ChatGPT</c:v>
                </c:pt>
                <c:pt idx="1">
                  <c:v>TikTok</c:v>
                </c:pt>
                <c:pt idx="2">
                  <c:v>Instagram</c:v>
                </c:pt>
                <c:pt idx="3">
                  <c:v>Facebook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</c:v>
                </c:pt>
                <c:pt idx="2">
                  <c:v>30</c:v>
                </c:pt>
                <c:pt idx="3">
                  <c:v>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A2E2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D4"/>
            </a:solidFill>
          </a:ln>
        </c:spPr>
        <c:txPr>
          <a:bodyPr/>
          <a:lstStyle/>
          <a:p>
            <a:pPr>
              <a:defRPr sz="1200">
                <a:solidFill>
                  <a:srgbClr val="1A2E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3A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402B0A2-3364-EF44-AFC1-B05DE05F8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ABD9D6-9EEB-4B49-9C81-9626DAFCB8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05B58-CDC5-0B43-82BE-E9E87CFAE449}" type="datetimeFigureOut">
              <a:rPr lang="fr-FR" smtClean="0"/>
              <a:t>30/01/2025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DC3110-15E1-9047-9623-5C07133D65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D81F08-24D0-6743-B8E8-5A5347A39E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8C34F-E734-7B48-91FF-D5A624685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836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7BC21-B374-3441-A049-915BD53149BC}" type="datetimeFigureOut">
              <a:rPr lang="fr-FR" smtClean="0"/>
              <a:t>30/01/2025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5EEAD-BC61-F64F-B74B-009758B646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00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emf"/><Relationship Id="rId3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icture Placeholder 185">
            <a:extLst>
              <a:ext uri="{FF2B5EF4-FFF2-40B4-BE49-F238E27FC236}">
                <a16:creationId xmlns:a16="http://schemas.microsoft.com/office/drawing/2014/main" id="{9F3FEAEF-AED6-4FB6-8C00-4E271FD14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78265" y="371587"/>
            <a:ext cx="4039989" cy="6144427"/>
          </a:xfrm>
          <a:custGeom>
            <a:avLst/>
            <a:gdLst>
              <a:gd name="connsiteX0" fmla="*/ 0 w 17038640"/>
              <a:gd name="connsiteY0" fmla="*/ 15597745 h 25603201"/>
              <a:gd name="connsiteX1" fmla="*/ 1376468 w 17038640"/>
              <a:gd name="connsiteY1" fmla="*/ 15597745 h 25603201"/>
              <a:gd name="connsiteX2" fmla="*/ 1699886 w 17038640"/>
              <a:gd name="connsiteY2" fmla="*/ 15633825 h 25603201"/>
              <a:gd name="connsiteX3" fmla="*/ 2008988 w 17038640"/>
              <a:gd name="connsiteY3" fmla="*/ 15699567 h 25603201"/>
              <a:gd name="connsiteX4" fmla="*/ 2311510 w 17038640"/>
              <a:gd name="connsiteY4" fmla="*/ 15778833 h 25603201"/>
              <a:gd name="connsiteX5" fmla="*/ 2592704 w 17038640"/>
              <a:gd name="connsiteY5" fmla="*/ 15887173 h 25603201"/>
              <a:gd name="connsiteX6" fmla="*/ 2873846 w 17038640"/>
              <a:gd name="connsiteY6" fmla="*/ 16010107 h 25603201"/>
              <a:gd name="connsiteX7" fmla="*/ 3133128 w 17038640"/>
              <a:gd name="connsiteY7" fmla="*/ 16162647 h 25603201"/>
              <a:gd name="connsiteX8" fmla="*/ 3385464 w 17038640"/>
              <a:gd name="connsiteY8" fmla="*/ 16329249 h 25603201"/>
              <a:gd name="connsiteX9" fmla="*/ 3621336 w 17038640"/>
              <a:gd name="connsiteY9" fmla="*/ 16531931 h 25603201"/>
              <a:gd name="connsiteX10" fmla="*/ 3851752 w 17038640"/>
              <a:gd name="connsiteY10" fmla="*/ 16727605 h 25603201"/>
              <a:gd name="connsiteX11" fmla="*/ 4054274 w 17038640"/>
              <a:gd name="connsiteY11" fmla="*/ 16952361 h 25603201"/>
              <a:gd name="connsiteX12" fmla="*/ 4233434 w 17038640"/>
              <a:gd name="connsiteY12" fmla="*/ 17190635 h 25603201"/>
              <a:gd name="connsiteX13" fmla="*/ 4392178 w 17038640"/>
              <a:gd name="connsiteY13" fmla="*/ 17445593 h 25603201"/>
              <a:gd name="connsiteX14" fmla="*/ 4536546 w 17038640"/>
              <a:gd name="connsiteY14" fmla="*/ 17711981 h 25603201"/>
              <a:gd name="connsiteX15" fmla="*/ 4651940 w 17038640"/>
              <a:gd name="connsiteY15" fmla="*/ 17994941 h 25603201"/>
              <a:gd name="connsiteX16" fmla="*/ 4752000 w 17038640"/>
              <a:gd name="connsiteY16" fmla="*/ 18291957 h 25603201"/>
              <a:gd name="connsiteX17" fmla="*/ 4824156 w 17038640"/>
              <a:gd name="connsiteY17" fmla="*/ 18617035 h 25603201"/>
              <a:gd name="connsiteX18" fmla="*/ 4870068 w 17038640"/>
              <a:gd name="connsiteY18" fmla="*/ 19162533 h 25603201"/>
              <a:gd name="connsiteX19" fmla="*/ 4906460 w 17038640"/>
              <a:gd name="connsiteY19" fmla="*/ 19710499 h 25603201"/>
              <a:gd name="connsiteX20" fmla="*/ 4933138 w 17038640"/>
              <a:gd name="connsiteY20" fmla="*/ 20322923 h 25603201"/>
              <a:gd name="connsiteX21" fmla="*/ 2960968 w 17038640"/>
              <a:gd name="connsiteY21" fmla="*/ 20322923 h 25603201"/>
              <a:gd name="connsiteX22" fmla="*/ 2941512 w 17038640"/>
              <a:gd name="connsiteY22" fmla="*/ 22360405 h 25603201"/>
              <a:gd name="connsiteX23" fmla="*/ 4939072 w 17038640"/>
              <a:gd name="connsiteY23" fmla="*/ 22360405 h 25603201"/>
              <a:gd name="connsiteX24" fmla="*/ 4939072 w 17038640"/>
              <a:gd name="connsiteY24" fmla="*/ 25603201 h 25603201"/>
              <a:gd name="connsiteX25" fmla="*/ 0 w 17038640"/>
              <a:gd name="connsiteY25" fmla="*/ 25603201 h 25603201"/>
              <a:gd name="connsiteX26" fmla="*/ 7017004 w 17038640"/>
              <a:gd name="connsiteY26" fmla="*/ 13468438 h 25603201"/>
              <a:gd name="connsiteX27" fmla="*/ 7017004 w 17038640"/>
              <a:gd name="connsiteY27" fmla="*/ 15579307 h 25603201"/>
              <a:gd name="connsiteX28" fmla="*/ 9110716 w 17038640"/>
              <a:gd name="connsiteY28" fmla="*/ 15579307 h 25603201"/>
              <a:gd name="connsiteX29" fmla="*/ 9110716 w 17038640"/>
              <a:gd name="connsiteY29" fmla="*/ 13468438 h 25603201"/>
              <a:gd name="connsiteX30" fmla="*/ 0 w 17038640"/>
              <a:gd name="connsiteY30" fmla="*/ 0 h 25603201"/>
              <a:gd name="connsiteX31" fmla="*/ 17038640 w 17038640"/>
              <a:gd name="connsiteY31" fmla="*/ 0 h 25603201"/>
              <a:gd name="connsiteX32" fmla="*/ 17038640 w 17038640"/>
              <a:gd name="connsiteY32" fmla="*/ 25603201 h 25603201"/>
              <a:gd name="connsiteX33" fmla="*/ 7011832 w 17038640"/>
              <a:gd name="connsiteY33" fmla="*/ 25603201 h 25603201"/>
              <a:gd name="connsiteX34" fmla="*/ 7011832 w 17038640"/>
              <a:gd name="connsiteY34" fmla="*/ 22360405 h 25603201"/>
              <a:gd name="connsiteX35" fmla="*/ 9174064 w 17038640"/>
              <a:gd name="connsiteY35" fmla="*/ 22360405 h 25603201"/>
              <a:gd name="connsiteX36" fmla="*/ 9174064 w 17038640"/>
              <a:gd name="connsiteY36" fmla="*/ 20322923 h 25603201"/>
              <a:gd name="connsiteX37" fmla="*/ 7008302 w 17038640"/>
              <a:gd name="connsiteY37" fmla="*/ 20322923 h 25603201"/>
              <a:gd name="connsiteX38" fmla="*/ 6998748 w 17038640"/>
              <a:gd name="connsiteY38" fmla="*/ 19802117 h 25603201"/>
              <a:gd name="connsiteX39" fmla="*/ 6987784 w 17038640"/>
              <a:gd name="connsiteY39" fmla="*/ 19450817 h 25603201"/>
              <a:gd name="connsiteX40" fmla="*/ 6968412 w 17038640"/>
              <a:gd name="connsiteY40" fmla="*/ 19109099 h 25603201"/>
              <a:gd name="connsiteX41" fmla="*/ 6933632 w 17038640"/>
              <a:gd name="connsiteY41" fmla="*/ 18617035 h 25603201"/>
              <a:gd name="connsiteX42" fmla="*/ 6896808 w 17038640"/>
              <a:gd name="connsiteY42" fmla="*/ 18321091 h 25603201"/>
              <a:gd name="connsiteX43" fmla="*/ 6840096 w 17038640"/>
              <a:gd name="connsiteY43" fmla="*/ 18038609 h 25603201"/>
              <a:gd name="connsiteX44" fmla="*/ 6775424 w 17038640"/>
              <a:gd name="connsiteY44" fmla="*/ 17763131 h 25603201"/>
              <a:gd name="connsiteX45" fmla="*/ 6688836 w 17038640"/>
              <a:gd name="connsiteY45" fmla="*/ 17502779 h 25603201"/>
              <a:gd name="connsiteX46" fmla="*/ 6601714 w 17038640"/>
              <a:gd name="connsiteY46" fmla="*/ 17234305 h 25603201"/>
              <a:gd name="connsiteX47" fmla="*/ 6502192 w 17038640"/>
              <a:gd name="connsiteY47" fmla="*/ 16988013 h 25603201"/>
              <a:gd name="connsiteX48" fmla="*/ 6393212 w 17038640"/>
              <a:gd name="connsiteY48" fmla="*/ 16742147 h 25603201"/>
              <a:gd name="connsiteX49" fmla="*/ 6263810 w 17038640"/>
              <a:gd name="connsiteY49" fmla="*/ 16510817 h 25603201"/>
              <a:gd name="connsiteX50" fmla="*/ 6141410 w 17038640"/>
              <a:gd name="connsiteY50" fmla="*/ 16272059 h 25603201"/>
              <a:gd name="connsiteX51" fmla="*/ 5997578 w 17038640"/>
              <a:gd name="connsiteY51" fmla="*/ 16053291 h 25603201"/>
              <a:gd name="connsiteX52" fmla="*/ 5846316 w 17038640"/>
              <a:gd name="connsiteY52" fmla="*/ 15837037 h 25603201"/>
              <a:gd name="connsiteX53" fmla="*/ 5514880 w 17038640"/>
              <a:gd name="connsiteY53" fmla="*/ 15431143 h 25603201"/>
              <a:gd name="connsiteX54" fmla="*/ 5327274 w 17038640"/>
              <a:gd name="connsiteY54" fmla="*/ 15243002 h 25603201"/>
              <a:gd name="connsiteX55" fmla="*/ 5133678 w 17038640"/>
              <a:gd name="connsiteY55" fmla="*/ 15054381 h 25603201"/>
              <a:gd name="connsiteX56" fmla="*/ 4493676 w 17038640"/>
              <a:gd name="connsiteY56" fmla="*/ 14540574 h 25603201"/>
              <a:gd name="connsiteX57" fmla="*/ 4038878 w 17038640"/>
              <a:gd name="connsiteY57" fmla="*/ 14258628 h 25603201"/>
              <a:gd name="connsiteX58" fmla="*/ 3808942 w 17038640"/>
              <a:gd name="connsiteY58" fmla="*/ 14120144 h 25603201"/>
              <a:gd name="connsiteX59" fmla="*/ 3319238 w 17038640"/>
              <a:gd name="connsiteY59" fmla="*/ 13903885 h 25603201"/>
              <a:gd name="connsiteX60" fmla="*/ 2809172 w 17038640"/>
              <a:gd name="connsiteY60" fmla="*/ 13729805 h 25603201"/>
              <a:gd name="connsiteX61" fmla="*/ 2275698 w 17038640"/>
              <a:gd name="connsiteY61" fmla="*/ 13599384 h 25603201"/>
              <a:gd name="connsiteX62" fmla="*/ 1722336 w 17038640"/>
              <a:gd name="connsiteY62" fmla="*/ 13513066 h 25603201"/>
              <a:gd name="connsiteX63" fmla="*/ 1146048 w 17038640"/>
              <a:gd name="connsiteY63" fmla="*/ 13468438 h 25603201"/>
              <a:gd name="connsiteX64" fmla="*/ 0 w 17038640"/>
              <a:gd name="connsiteY64" fmla="*/ 13468438 h 2560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7038640" h="25603201">
                <a:moveTo>
                  <a:pt x="0" y="15597745"/>
                </a:moveTo>
                <a:lnTo>
                  <a:pt x="1376468" y="15597745"/>
                </a:lnTo>
                <a:lnTo>
                  <a:pt x="1699886" y="15633825"/>
                </a:lnTo>
                <a:lnTo>
                  <a:pt x="2008988" y="15699567"/>
                </a:lnTo>
                <a:lnTo>
                  <a:pt x="2311510" y="15778833"/>
                </a:lnTo>
                <a:lnTo>
                  <a:pt x="2592704" y="15887173"/>
                </a:lnTo>
                <a:lnTo>
                  <a:pt x="2873846" y="16010107"/>
                </a:lnTo>
                <a:lnTo>
                  <a:pt x="3133128" y="16162647"/>
                </a:lnTo>
                <a:lnTo>
                  <a:pt x="3385464" y="16329249"/>
                </a:lnTo>
                <a:lnTo>
                  <a:pt x="3621336" y="16531931"/>
                </a:lnTo>
                <a:lnTo>
                  <a:pt x="3851752" y="16727605"/>
                </a:lnTo>
                <a:lnTo>
                  <a:pt x="4054274" y="16952361"/>
                </a:lnTo>
                <a:lnTo>
                  <a:pt x="4233434" y="17190635"/>
                </a:lnTo>
                <a:lnTo>
                  <a:pt x="4392178" y="17445593"/>
                </a:lnTo>
                <a:lnTo>
                  <a:pt x="4536546" y="17711981"/>
                </a:lnTo>
                <a:lnTo>
                  <a:pt x="4651940" y="17994941"/>
                </a:lnTo>
                <a:lnTo>
                  <a:pt x="4752000" y="18291957"/>
                </a:lnTo>
                <a:lnTo>
                  <a:pt x="4824156" y="18617035"/>
                </a:lnTo>
                <a:lnTo>
                  <a:pt x="4870068" y="19162533"/>
                </a:lnTo>
                <a:lnTo>
                  <a:pt x="4906460" y="19710499"/>
                </a:lnTo>
                <a:lnTo>
                  <a:pt x="4933138" y="20322923"/>
                </a:lnTo>
                <a:lnTo>
                  <a:pt x="2960968" y="20322923"/>
                </a:lnTo>
                <a:lnTo>
                  <a:pt x="2941512" y="22360405"/>
                </a:lnTo>
                <a:lnTo>
                  <a:pt x="4939072" y="22360405"/>
                </a:lnTo>
                <a:lnTo>
                  <a:pt x="4939072" y="25603201"/>
                </a:lnTo>
                <a:lnTo>
                  <a:pt x="0" y="25603201"/>
                </a:lnTo>
                <a:close/>
                <a:moveTo>
                  <a:pt x="7017004" y="13468438"/>
                </a:moveTo>
                <a:lnTo>
                  <a:pt x="7017004" y="15579307"/>
                </a:lnTo>
                <a:lnTo>
                  <a:pt x="9110716" y="15579307"/>
                </a:lnTo>
                <a:lnTo>
                  <a:pt x="9110716" y="13468438"/>
                </a:lnTo>
                <a:close/>
                <a:moveTo>
                  <a:pt x="0" y="0"/>
                </a:moveTo>
                <a:lnTo>
                  <a:pt x="17038640" y="0"/>
                </a:lnTo>
                <a:lnTo>
                  <a:pt x="17038640" y="25603201"/>
                </a:lnTo>
                <a:lnTo>
                  <a:pt x="7011832" y="25603201"/>
                </a:lnTo>
                <a:lnTo>
                  <a:pt x="7011832" y="22360405"/>
                </a:lnTo>
                <a:lnTo>
                  <a:pt x="9174064" y="22360405"/>
                </a:lnTo>
                <a:lnTo>
                  <a:pt x="9174064" y="20322923"/>
                </a:lnTo>
                <a:lnTo>
                  <a:pt x="7008302" y="20322923"/>
                </a:lnTo>
                <a:lnTo>
                  <a:pt x="6998748" y="19802117"/>
                </a:lnTo>
                <a:lnTo>
                  <a:pt x="6987784" y="19450817"/>
                </a:lnTo>
                <a:lnTo>
                  <a:pt x="6968412" y="19109099"/>
                </a:lnTo>
                <a:lnTo>
                  <a:pt x="6933632" y="18617035"/>
                </a:lnTo>
                <a:lnTo>
                  <a:pt x="6896808" y="18321091"/>
                </a:lnTo>
                <a:lnTo>
                  <a:pt x="6840096" y="18038609"/>
                </a:lnTo>
                <a:lnTo>
                  <a:pt x="6775424" y="17763131"/>
                </a:lnTo>
                <a:lnTo>
                  <a:pt x="6688836" y="17502779"/>
                </a:lnTo>
                <a:lnTo>
                  <a:pt x="6601714" y="17234305"/>
                </a:lnTo>
                <a:lnTo>
                  <a:pt x="6502192" y="16988013"/>
                </a:lnTo>
                <a:lnTo>
                  <a:pt x="6393212" y="16742147"/>
                </a:lnTo>
                <a:lnTo>
                  <a:pt x="6263810" y="16510817"/>
                </a:lnTo>
                <a:lnTo>
                  <a:pt x="6141410" y="16272059"/>
                </a:lnTo>
                <a:lnTo>
                  <a:pt x="5997578" y="16053291"/>
                </a:lnTo>
                <a:lnTo>
                  <a:pt x="5846316" y="15837037"/>
                </a:lnTo>
                <a:lnTo>
                  <a:pt x="5514880" y="15431143"/>
                </a:lnTo>
                <a:lnTo>
                  <a:pt x="5327274" y="15243002"/>
                </a:lnTo>
                <a:lnTo>
                  <a:pt x="5133678" y="15054381"/>
                </a:lnTo>
                <a:lnTo>
                  <a:pt x="4493676" y="14540574"/>
                </a:lnTo>
                <a:lnTo>
                  <a:pt x="4038878" y="14258628"/>
                </a:lnTo>
                <a:lnTo>
                  <a:pt x="3808942" y="14120144"/>
                </a:lnTo>
                <a:lnTo>
                  <a:pt x="3319238" y="13903885"/>
                </a:lnTo>
                <a:lnTo>
                  <a:pt x="2809172" y="13729805"/>
                </a:lnTo>
                <a:lnTo>
                  <a:pt x="2275698" y="13599384"/>
                </a:lnTo>
                <a:lnTo>
                  <a:pt x="1722336" y="13513066"/>
                </a:lnTo>
                <a:lnTo>
                  <a:pt x="1146048" y="13468438"/>
                </a:lnTo>
                <a:lnTo>
                  <a:pt x="0" y="134684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8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1F83BB84-0103-44B3-9760-CDB5CB536805}"/>
              </a:ext>
            </a:extLst>
          </p:cNvPr>
          <p:cNvSpPr/>
          <p:nvPr userDrawn="1"/>
        </p:nvSpPr>
        <p:spPr>
          <a:xfrm rot="5400000">
            <a:off x="4173546" y="4653662"/>
            <a:ext cx="612198" cy="604853"/>
          </a:xfrm>
          <a:custGeom>
            <a:avLst/>
            <a:gdLst>
              <a:gd name="connsiteX0" fmla="*/ 0 w 2550965"/>
              <a:gd name="connsiteY0" fmla="*/ 1709533 h 2550965"/>
              <a:gd name="connsiteX1" fmla="*/ 0 w 2550965"/>
              <a:gd name="connsiteY1" fmla="*/ 841432 h 2550965"/>
              <a:gd name="connsiteX2" fmla="*/ 841435 w 2550965"/>
              <a:gd name="connsiteY2" fmla="*/ 841432 h 2550965"/>
              <a:gd name="connsiteX3" fmla="*/ 841435 w 2550965"/>
              <a:gd name="connsiteY3" fmla="*/ 0 h 2550965"/>
              <a:gd name="connsiteX4" fmla="*/ 1709535 w 2550965"/>
              <a:gd name="connsiteY4" fmla="*/ 0 h 2550965"/>
              <a:gd name="connsiteX5" fmla="*/ 1709535 w 2550965"/>
              <a:gd name="connsiteY5" fmla="*/ 841432 h 2550965"/>
              <a:gd name="connsiteX6" fmla="*/ 2550965 w 2550965"/>
              <a:gd name="connsiteY6" fmla="*/ 841432 h 2550965"/>
              <a:gd name="connsiteX7" fmla="*/ 2550965 w 2550965"/>
              <a:gd name="connsiteY7" fmla="*/ 1709533 h 2550965"/>
              <a:gd name="connsiteX8" fmla="*/ 1709535 w 2550965"/>
              <a:gd name="connsiteY8" fmla="*/ 1709533 h 2550965"/>
              <a:gd name="connsiteX9" fmla="*/ 1709535 w 2550965"/>
              <a:gd name="connsiteY9" fmla="*/ 2550965 h 2550965"/>
              <a:gd name="connsiteX10" fmla="*/ 841435 w 2550965"/>
              <a:gd name="connsiteY10" fmla="*/ 2550965 h 2550965"/>
              <a:gd name="connsiteX11" fmla="*/ 841435 w 2550965"/>
              <a:gd name="connsiteY11" fmla="*/ 1709533 h 25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50965" h="2550965">
                <a:moveTo>
                  <a:pt x="0" y="1709533"/>
                </a:moveTo>
                <a:lnTo>
                  <a:pt x="0" y="841432"/>
                </a:lnTo>
                <a:lnTo>
                  <a:pt x="841435" y="841432"/>
                </a:lnTo>
                <a:lnTo>
                  <a:pt x="841435" y="0"/>
                </a:lnTo>
                <a:lnTo>
                  <a:pt x="1709535" y="0"/>
                </a:lnTo>
                <a:lnTo>
                  <a:pt x="1709535" y="841432"/>
                </a:lnTo>
                <a:lnTo>
                  <a:pt x="2550965" y="841432"/>
                </a:lnTo>
                <a:lnTo>
                  <a:pt x="2550965" y="1709533"/>
                </a:lnTo>
                <a:lnTo>
                  <a:pt x="1709535" y="1709533"/>
                </a:lnTo>
                <a:lnTo>
                  <a:pt x="1709535" y="2550965"/>
                </a:lnTo>
                <a:lnTo>
                  <a:pt x="841435" y="2550965"/>
                </a:lnTo>
                <a:lnTo>
                  <a:pt x="841435" y="17095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 dirty="0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A115397F-3F8E-46F3-8104-A2C3440D04DC}"/>
              </a:ext>
            </a:extLst>
          </p:cNvPr>
          <p:cNvSpPr/>
          <p:nvPr userDrawn="1"/>
        </p:nvSpPr>
        <p:spPr>
          <a:xfrm>
            <a:off x="5381367" y="1947904"/>
            <a:ext cx="463629" cy="933146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494DFAD3-3BAA-43A5-AA03-54CEABE808C7}"/>
              </a:ext>
            </a:extLst>
          </p:cNvPr>
          <p:cNvSpPr/>
          <p:nvPr userDrawn="1"/>
        </p:nvSpPr>
        <p:spPr>
          <a:xfrm>
            <a:off x="3113875" y="1003382"/>
            <a:ext cx="403876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grpSp>
        <p:nvGrpSpPr>
          <p:cNvPr id="176" name="Groupe 156">
            <a:extLst>
              <a:ext uri="{FF2B5EF4-FFF2-40B4-BE49-F238E27FC236}">
                <a16:creationId xmlns:a16="http://schemas.microsoft.com/office/drawing/2014/main" id="{338D252C-84E4-4B71-A163-F60D45448C3B}"/>
              </a:ext>
            </a:extLst>
          </p:cNvPr>
          <p:cNvGrpSpPr/>
          <p:nvPr userDrawn="1"/>
        </p:nvGrpSpPr>
        <p:grpSpPr>
          <a:xfrm>
            <a:off x="4622087" y="19074"/>
            <a:ext cx="888931" cy="498075"/>
            <a:chOff x="3230833" y="6645"/>
            <a:chExt cx="902409" cy="499560"/>
          </a:xfrm>
        </p:grpSpPr>
        <p:sp>
          <p:nvSpPr>
            <p:cNvPr id="177" name="object 23">
              <a:extLst>
                <a:ext uri="{FF2B5EF4-FFF2-40B4-BE49-F238E27FC236}">
                  <a16:creationId xmlns:a16="http://schemas.microsoft.com/office/drawing/2014/main" id="{BD8218E8-3B17-43AB-B33E-949D2318DB62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8" name="object 24">
              <a:extLst>
                <a:ext uri="{FF2B5EF4-FFF2-40B4-BE49-F238E27FC236}">
                  <a16:creationId xmlns:a16="http://schemas.microsoft.com/office/drawing/2014/main" id="{19CA42D6-AC7F-4D87-B5F4-99C1EC242A02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9" name="object 25">
              <a:extLst>
                <a:ext uri="{FF2B5EF4-FFF2-40B4-BE49-F238E27FC236}">
                  <a16:creationId xmlns:a16="http://schemas.microsoft.com/office/drawing/2014/main" id="{D9D68F47-262E-4AC3-A9EC-F0C7CE402647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0" name="object 26">
              <a:extLst>
                <a:ext uri="{FF2B5EF4-FFF2-40B4-BE49-F238E27FC236}">
                  <a16:creationId xmlns:a16="http://schemas.microsoft.com/office/drawing/2014/main" id="{3425C396-CDD6-453C-B569-319CE5A353A0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1" name="object 27">
              <a:extLst>
                <a:ext uri="{FF2B5EF4-FFF2-40B4-BE49-F238E27FC236}">
                  <a16:creationId xmlns:a16="http://schemas.microsoft.com/office/drawing/2014/main" id="{E809289B-2BE0-41C0-8380-F5970B8F92A5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2" name="object 28">
              <a:extLst>
                <a:ext uri="{FF2B5EF4-FFF2-40B4-BE49-F238E27FC236}">
                  <a16:creationId xmlns:a16="http://schemas.microsoft.com/office/drawing/2014/main" id="{B4593CFC-7AC6-49E5-948D-E766EC3BF981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3" name="object 29">
              <a:extLst>
                <a:ext uri="{FF2B5EF4-FFF2-40B4-BE49-F238E27FC236}">
                  <a16:creationId xmlns:a16="http://schemas.microsoft.com/office/drawing/2014/main" id="{E21C0F3C-A547-41D7-87F5-D192C7761AC1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4" name="object 30">
              <a:extLst>
                <a:ext uri="{FF2B5EF4-FFF2-40B4-BE49-F238E27FC236}">
                  <a16:creationId xmlns:a16="http://schemas.microsoft.com/office/drawing/2014/main" id="{6F1B5E9E-8363-4A3D-BF6B-E9631E8A886B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5" name="object 31">
              <a:extLst>
                <a:ext uri="{FF2B5EF4-FFF2-40B4-BE49-F238E27FC236}">
                  <a16:creationId xmlns:a16="http://schemas.microsoft.com/office/drawing/2014/main" id="{B6B38092-9E37-47C3-BAA1-C5A8F919E706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7" name="object 32">
              <a:extLst>
                <a:ext uri="{FF2B5EF4-FFF2-40B4-BE49-F238E27FC236}">
                  <a16:creationId xmlns:a16="http://schemas.microsoft.com/office/drawing/2014/main" id="{38D71171-8579-461A-9DC9-08A9FB9519CC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8" name="object 33">
              <a:extLst>
                <a:ext uri="{FF2B5EF4-FFF2-40B4-BE49-F238E27FC236}">
                  <a16:creationId xmlns:a16="http://schemas.microsoft.com/office/drawing/2014/main" id="{5FE52D49-FD5B-4BD3-8FE7-792A8D1F821B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9" name="object 34">
              <a:extLst>
                <a:ext uri="{FF2B5EF4-FFF2-40B4-BE49-F238E27FC236}">
                  <a16:creationId xmlns:a16="http://schemas.microsoft.com/office/drawing/2014/main" id="{44C0F0BB-C8B0-40DB-9229-92470678AFF5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0" name="object 35">
              <a:extLst>
                <a:ext uri="{FF2B5EF4-FFF2-40B4-BE49-F238E27FC236}">
                  <a16:creationId xmlns:a16="http://schemas.microsoft.com/office/drawing/2014/main" id="{C68A89B2-15BF-42B1-A41B-6C5F9E9E803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1" name="object 36">
              <a:extLst>
                <a:ext uri="{FF2B5EF4-FFF2-40B4-BE49-F238E27FC236}">
                  <a16:creationId xmlns:a16="http://schemas.microsoft.com/office/drawing/2014/main" id="{9DAB20B9-E8A8-41C0-9DE5-791653500B4F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2" name="object 37">
              <a:extLst>
                <a:ext uri="{FF2B5EF4-FFF2-40B4-BE49-F238E27FC236}">
                  <a16:creationId xmlns:a16="http://schemas.microsoft.com/office/drawing/2014/main" id="{DEFBBC13-8679-4FB6-AC41-0E1EA27372B8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3" name="object 38">
              <a:extLst>
                <a:ext uri="{FF2B5EF4-FFF2-40B4-BE49-F238E27FC236}">
                  <a16:creationId xmlns:a16="http://schemas.microsoft.com/office/drawing/2014/main" id="{DC4F7D1C-2645-4CD3-A1CC-7E6E03FC5D9A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4" name="object 39">
              <a:extLst>
                <a:ext uri="{FF2B5EF4-FFF2-40B4-BE49-F238E27FC236}">
                  <a16:creationId xmlns:a16="http://schemas.microsoft.com/office/drawing/2014/main" id="{B4784042-8E83-4E4E-B14C-E5B2926D842E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5" name="object 40">
              <a:extLst>
                <a:ext uri="{FF2B5EF4-FFF2-40B4-BE49-F238E27FC236}">
                  <a16:creationId xmlns:a16="http://schemas.microsoft.com/office/drawing/2014/main" id="{4CC23F4E-ECD2-44B9-960C-D47F89319F38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6" name="object 41">
              <a:extLst>
                <a:ext uri="{FF2B5EF4-FFF2-40B4-BE49-F238E27FC236}">
                  <a16:creationId xmlns:a16="http://schemas.microsoft.com/office/drawing/2014/main" id="{CABB980C-4023-4D65-83EA-03E370B6FD6F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7" name="object 42">
              <a:extLst>
                <a:ext uri="{FF2B5EF4-FFF2-40B4-BE49-F238E27FC236}">
                  <a16:creationId xmlns:a16="http://schemas.microsoft.com/office/drawing/2014/main" id="{E73703C8-09FB-4415-A9D2-75FE5587A661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8" name="object 43">
              <a:extLst>
                <a:ext uri="{FF2B5EF4-FFF2-40B4-BE49-F238E27FC236}">
                  <a16:creationId xmlns:a16="http://schemas.microsoft.com/office/drawing/2014/main" id="{BA161AA4-892D-4568-981E-DCD706AB6550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9" name="object 44">
              <a:extLst>
                <a:ext uri="{FF2B5EF4-FFF2-40B4-BE49-F238E27FC236}">
                  <a16:creationId xmlns:a16="http://schemas.microsoft.com/office/drawing/2014/main" id="{8533FBF8-7CC9-4F97-8226-DFE99F1AAA5B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0" name="object 45">
              <a:extLst>
                <a:ext uri="{FF2B5EF4-FFF2-40B4-BE49-F238E27FC236}">
                  <a16:creationId xmlns:a16="http://schemas.microsoft.com/office/drawing/2014/main" id="{DE421829-EFAC-4A3F-BEA9-063FC71FE2FD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1" name="object 46">
              <a:extLst>
                <a:ext uri="{FF2B5EF4-FFF2-40B4-BE49-F238E27FC236}">
                  <a16:creationId xmlns:a16="http://schemas.microsoft.com/office/drawing/2014/main" id="{F36BD943-E50F-4A79-B94B-A93C3DC9FA7A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2" name="object 47">
              <a:extLst>
                <a:ext uri="{FF2B5EF4-FFF2-40B4-BE49-F238E27FC236}">
                  <a16:creationId xmlns:a16="http://schemas.microsoft.com/office/drawing/2014/main" id="{F64CAB58-CF20-49B2-9C1D-F653C5793F50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3" name="object 48">
              <a:extLst>
                <a:ext uri="{FF2B5EF4-FFF2-40B4-BE49-F238E27FC236}">
                  <a16:creationId xmlns:a16="http://schemas.microsoft.com/office/drawing/2014/main" id="{ADA5A0FF-7165-466F-8115-53146B147824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4" name="object 49">
              <a:extLst>
                <a:ext uri="{FF2B5EF4-FFF2-40B4-BE49-F238E27FC236}">
                  <a16:creationId xmlns:a16="http://schemas.microsoft.com/office/drawing/2014/main" id="{F85E3CAC-3033-4F5D-8B0E-D2174588FCC9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5" name="object 50">
              <a:extLst>
                <a:ext uri="{FF2B5EF4-FFF2-40B4-BE49-F238E27FC236}">
                  <a16:creationId xmlns:a16="http://schemas.microsoft.com/office/drawing/2014/main" id="{E790185A-EB9D-4C54-8975-331574BB7132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6" name="object 51">
              <a:extLst>
                <a:ext uri="{FF2B5EF4-FFF2-40B4-BE49-F238E27FC236}">
                  <a16:creationId xmlns:a16="http://schemas.microsoft.com/office/drawing/2014/main" id="{5D6D6DF1-DF6F-40C2-8016-D8E3548F1929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7" name="object 52">
              <a:extLst>
                <a:ext uri="{FF2B5EF4-FFF2-40B4-BE49-F238E27FC236}">
                  <a16:creationId xmlns:a16="http://schemas.microsoft.com/office/drawing/2014/main" id="{D6DA3ECC-FEA8-4C15-AD3B-F3EFAA3A9D62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8" name="object 53">
              <a:extLst>
                <a:ext uri="{FF2B5EF4-FFF2-40B4-BE49-F238E27FC236}">
                  <a16:creationId xmlns:a16="http://schemas.microsoft.com/office/drawing/2014/main" id="{BE5CAA6C-A8FF-47B7-861B-B10F250B39B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9" name="object 54">
              <a:extLst>
                <a:ext uri="{FF2B5EF4-FFF2-40B4-BE49-F238E27FC236}">
                  <a16:creationId xmlns:a16="http://schemas.microsoft.com/office/drawing/2014/main" id="{60108C06-C239-41D6-BF9D-9D22570B2F8F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0" name="object 55">
              <a:extLst>
                <a:ext uri="{FF2B5EF4-FFF2-40B4-BE49-F238E27FC236}">
                  <a16:creationId xmlns:a16="http://schemas.microsoft.com/office/drawing/2014/main" id="{6AA429B2-4494-4ADD-9C4E-9F9336522493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1" name="object 56">
              <a:extLst>
                <a:ext uri="{FF2B5EF4-FFF2-40B4-BE49-F238E27FC236}">
                  <a16:creationId xmlns:a16="http://schemas.microsoft.com/office/drawing/2014/main" id="{B225525D-D603-4EEE-A7DE-D51C165D81D8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2" name="object 57">
              <a:extLst>
                <a:ext uri="{FF2B5EF4-FFF2-40B4-BE49-F238E27FC236}">
                  <a16:creationId xmlns:a16="http://schemas.microsoft.com/office/drawing/2014/main" id="{D489A3A9-2158-4B62-9EF2-944B45D5269C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3" name="object 58">
              <a:extLst>
                <a:ext uri="{FF2B5EF4-FFF2-40B4-BE49-F238E27FC236}">
                  <a16:creationId xmlns:a16="http://schemas.microsoft.com/office/drawing/2014/main" id="{13C8E11B-C9B3-45E7-AE1F-D5E891666C70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4" name="object 59">
              <a:extLst>
                <a:ext uri="{FF2B5EF4-FFF2-40B4-BE49-F238E27FC236}">
                  <a16:creationId xmlns:a16="http://schemas.microsoft.com/office/drawing/2014/main" id="{DBEEFE1B-AFF0-4ECA-8F4B-1DA1B1BB1069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5" name="object 60">
              <a:extLst>
                <a:ext uri="{FF2B5EF4-FFF2-40B4-BE49-F238E27FC236}">
                  <a16:creationId xmlns:a16="http://schemas.microsoft.com/office/drawing/2014/main" id="{6F6CD759-6A9C-42D7-ABC4-3AA7A09C5D74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6" name="object 61">
              <a:extLst>
                <a:ext uri="{FF2B5EF4-FFF2-40B4-BE49-F238E27FC236}">
                  <a16:creationId xmlns:a16="http://schemas.microsoft.com/office/drawing/2014/main" id="{08B7CDE3-0C6E-4083-AA57-97C17E1D2260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7" name="object 62">
              <a:extLst>
                <a:ext uri="{FF2B5EF4-FFF2-40B4-BE49-F238E27FC236}">
                  <a16:creationId xmlns:a16="http://schemas.microsoft.com/office/drawing/2014/main" id="{91C79260-DCC2-4566-BFC5-9F97CE36B42B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8" name="object 63">
              <a:extLst>
                <a:ext uri="{FF2B5EF4-FFF2-40B4-BE49-F238E27FC236}">
                  <a16:creationId xmlns:a16="http://schemas.microsoft.com/office/drawing/2014/main" id="{799607A4-BE81-44B1-828E-365B9C1C0831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9" name="object 64">
              <a:extLst>
                <a:ext uri="{FF2B5EF4-FFF2-40B4-BE49-F238E27FC236}">
                  <a16:creationId xmlns:a16="http://schemas.microsoft.com/office/drawing/2014/main" id="{8E9FCEB8-7AA8-4398-B084-B7582950F178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0" name="object 65">
              <a:extLst>
                <a:ext uri="{FF2B5EF4-FFF2-40B4-BE49-F238E27FC236}">
                  <a16:creationId xmlns:a16="http://schemas.microsoft.com/office/drawing/2014/main" id="{8F5B4D47-B2DD-4ED2-9CE3-068408376318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1" name="object 66">
              <a:extLst>
                <a:ext uri="{FF2B5EF4-FFF2-40B4-BE49-F238E27FC236}">
                  <a16:creationId xmlns:a16="http://schemas.microsoft.com/office/drawing/2014/main" id="{19612715-ACD4-409C-BF4B-5101E311D481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2" name="object 67">
              <a:extLst>
                <a:ext uri="{FF2B5EF4-FFF2-40B4-BE49-F238E27FC236}">
                  <a16:creationId xmlns:a16="http://schemas.microsoft.com/office/drawing/2014/main" id="{A36025B0-E137-4137-82EE-3E9D796E8B13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3" name="object 68">
              <a:extLst>
                <a:ext uri="{FF2B5EF4-FFF2-40B4-BE49-F238E27FC236}">
                  <a16:creationId xmlns:a16="http://schemas.microsoft.com/office/drawing/2014/main" id="{854CB5CC-F68E-4CE8-BB22-B7B105FCDED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4" name="object 69">
              <a:extLst>
                <a:ext uri="{FF2B5EF4-FFF2-40B4-BE49-F238E27FC236}">
                  <a16:creationId xmlns:a16="http://schemas.microsoft.com/office/drawing/2014/main" id="{1249E9AA-E592-4261-A420-85692AACB2DF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5" name="object 70">
              <a:extLst>
                <a:ext uri="{FF2B5EF4-FFF2-40B4-BE49-F238E27FC236}">
                  <a16:creationId xmlns:a16="http://schemas.microsoft.com/office/drawing/2014/main" id="{60E57261-8568-48CB-ABCA-E3439902FE2E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6" name="object 71">
              <a:extLst>
                <a:ext uri="{FF2B5EF4-FFF2-40B4-BE49-F238E27FC236}">
                  <a16:creationId xmlns:a16="http://schemas.microsoft.com/office/drawing/2014/main" id="{E4F28A9C-23CD-4F11-829E-65E72830AF69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7" name="object 72">
              <a:extLst>
                <a:ext uri="{FF2B5EF4-FFF2-40B4-BE49-F238E27FC236}">
                  <a16:creationId xmlns:a16="http://schemas.microsoft.com/office/drawing/2014/main" id="{94F7B97E-8C1D-40E0-BC4F-3D525BC427DC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8" name="object 73">
              <a:extLst>
                <a:ext uri="{FF2B5EF4-FFF2-40B4-BE49-F238E27FC236}">
                  <a16:creationId xmlns:a16="http://schemas.microsoft.com/office/drawing/2014/main" id="{3B3BF37C-AA70-4941-ADB7-0FD435B79E1B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9" name="object 74">
              <a:extLst>
                <a:ext uri="{FF2B5EF4-FFF2-40B4-BE49-F238E27FC236}">
                  <a16:creationId xmlns:a16="http://schemas.microsoft.com/office/drawing/2014/main" id="{D4227B11-76DD-4E9E-A817-35E31F5AB383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0" name="object 75">
              <a:extLst>
                <a:ext uri="{FF2B5EF4-FFF2-40B4-BE49-F238E27FC236}">
                  <a16:creationId xmlns:a16="http://schemas.microsoft.com/office/drawing/2014/main" id="{A737DD4C-E431-459C-92EC-B247DCE1B35E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1" name="object 76">
              <a:extLst>
                <a:ext uri="{FF2B5EF4-FFF2-40B4-BE49-F238E27FC236}">
                  <a16:creationId xmlns:a16="http://schemas.microsoft.com/office/drawing/2014/main" id="{B2EE1DA8-09B8-468E-BCA0-5C66A9144DB1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2" name="object 77">
              <a:extLst>
                <a:ext uri="{FF2B5EF4-FFF2-40B4-BE49-F238E27FC236}">
                  <a16:creationId xmlns:a16="http://schemas.microsoft.com/office/drawing/2014/main" id="{4F8414AC-FF49-4E36-A9AD-471196EF414E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3" name="object 78">
              <a:extLst>
                <a:ext uri="{FF2B5EF4-FFF2-40B4-BE49-F238E27FC236}">
                  <a16:creationId xmlns:a16="http://schemas.microsoft.com/office/drawing/2014/main" id="{71DCF65D-0D92-421D-82EC-8395A1A66D83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4" name="object 79">
              <a:extLst>
                <a:ext uri="{FF2B5EF4-FFF2-40B4-BE49-F238E27FC236}">
                  <a16:creationId xmlns:a16="http://schemas.microsoft.com/office/drawing/2014/main" id="{237E6913-713C-4CF1-9952-096CE044E1C9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5" name="object 80">
              <a:extLst>
                <a:ext uri="{FF2B5EF4-FFF2-40B4-BE49-F238E27FC236}">
                  <a16:creationId xmlns:a16="http://schemas.microsoft.com/office/drawing/2014/main" id="{05419E5D-0E0D-436A-A983-64BDA1A9C57E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6" name="object 81">
              <a:extLst>
                <a:ext uri="{FF2B5EF4-FFF2-40B4-BE49-F238E27FC236}">
                  <a16:creationId xmlns:a16="http://schemas.microsoft.com/office/drawing/2014/main" id="{B29AA640-03DA-4B90-95A0-864D548D0EF3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7" name="object 82">
              <a:extLst>
                <a:ext uri="{FF2B5EF4-FFF2-40B4-BE49-F238E27FC236}">
                  <a16:creationId xmlns:a16="http://schemas.microsoft.com/office/drawing/2014/main" id="{F3811173-ABF8-46BF-BAAE-A7A5105A000A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8" name="object 83">
              <a:extLst>
                <a:ext uri="{FF2B5EF4-FFF2-40B4-BE49-F238E27FC236}">
                  <a16:creationId xmlns:a16="http://schemas.microsoft.com/office/drawing/2014/main" id="{3F5084CA-0704-4404-A610-0B98B77ECA64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9" name="object 84">
              <a:extLst>
                <a:ext uri="{FF2B5EF4-FFF2-40B4-BE49-F238E27FC236}">
                  <a16:creationId xmlns:a16="http://schemas.microsoft.com/office/drawing/2014/main" id="{7FF4312A-1AAD-40CE-8B8B-C6504CBAC69D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0" name="object 85">
              <a:extLst>
                <a:ext uri="{FF2B5EF4-FFF2-40B4-BE49-F238E27FC236}">
                  <a16:creationId xmlns:a16="http://schemas.microsoft.com/office/drawing/2014/main" id="{BD998134-D7C4-425C-B59C-4752CB02E65B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1" name="object 86">
              <a:extLst>
                <a:ext uri="{FF2B5EF4-FFF2-40B4-BE49-F238E27FC236}">
                  <a16:creationId xmlns:a16="http://schemas.microsoft.com/office/drawing/2014/main" id="{1B5677AF-EBFD-409D-AA1D-7E8E916CA99C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2" name="object 87">
              <a:extLst>
                <a:ext uri="{FF2B5EF4-FFF2-40B4-BE49-F238E27FC236}">
                  <a16:creationId xmlns:a16="http://schemas.microsoft.com/office/drawing/2014/main" id="{B739C9A5-966D-4093-B832-1A60B82D3D25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3" name="object 88">
              <a:extLst>
                <a:ext uri="{FF2B5EF4-FFF2-40B4-BE49-F238E27FC236}">
                  <a16:creationId xmlns:a16="http://schemas.microsoft.com/office/drawing/2014/main" id="{16719953-E109-44EF-BB4A-CA4A1614F0B4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4" name="object 89">
              <a:extLst>
                <a:ext uri="{FF2B5EF4-FFF2-40B4-BE49-F238E27FC236}">
                  <a16:creationId xmlns:a16="http://schemas.microsoft.com/office/drawing/2014/main" id="{9CB65FB4-5E12-4951-83DC-613667EB28E7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5" name="object 90">
              <a:extLst>
                <a:ext uri="{FF2B5EF4-FFF2-40B4-BE49-F238E27FC236}">
                  <a16:creationId xmlns:a16="http://schemas.microsoft.com/office/drawing/2014/main" id="{3E625B92-AC4D-4CE4-92BA-68408CA8A5AB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6" name="object 91">
              <a:extLst>
                <a:ext uri="{FF2B5EF4-FFF2-40B4-BE49-F238E27FC236}">
                  <a16:creationId xmlns:a16="http://schemas.microsoft.com/office/drawing/2014/main" id="{0E534706-F3FF-4BFB-A3C7-484F32916258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7" name="object 92">
              <a:extLst>
                <a:ext uri="{FF2B5EF4-FFF2-40B4-BE49-F238E27FC236}">
                  <a16:creationId xmlns:a16="http://schemas.microsoft.com/office/drawing/2014/main" id="{4CACF6E9-7670-4694-B5E6-F01F7843683F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8" name="object 93">
              <a:extLst>
                <a:ext uri="{FF2B5EF4-FFF2-40B4-BE49-F238E27FC236}">
                  <a16:creationId xmlns:a16="http://schemas.microsoft.com/office/drawing/2014/main" id="{9A881B92-0DD0-4E34-AD82-A417B0FF2C40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9" name="object 94">
              <a:extLst>
                <a:ext uri="{FF2B5EF4-FFF2-40B4-BE49-F238E27FC236}">
                  <a16:creationId xmlns:a16="http://schemas.microsoft.com/office/drawing/2014/main" id="{6816833F-E35C-4276-87A7-0D39A5EF8EA1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0" name="object 95">
              <a:extLst>
                <a:ext uri="{FF2B5EF4-FFF2-40B4-BE49-F238E27FC236}">
                  <a16:creationId xmlns:a16="http://schemas.microsoft.com/office/drawing/2014/main" id="{C2C9AD0A-0119-4ED3-999D-8B4842FB0A47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1" name="object 96">
              <a:extLst>
                <a:ext uri="{FF2B5EF4-FFF2-40B4-BE49-F238E27FC236}">
                  <a16:creationId xmlns:a16="http://schemas.microsoft.com/office/drawing/2014/main" id="{B9F27870-B409-4733-804F-0835EF95C5A1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2" name="object 97">
              <a:extLst>
                <a:ext uri="{FF2B5EF4-FFF2-40B4-BE49-F238E27FC236}">
                  <a16:creationId xmlns:a16="http://schemas.microsoft.com/office/drawing/2014/main" id="{32D7CA9F-DB04-42C7-9639-12B20BFBDFE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3" name="object 98">
              <a:extLst>
                <a:ext uri="{FF2B5EF4-FFF2-40B4-BE49-F238E27FC236}">
                  <a16:creationId xmlns:a16="http://schemas.microsoft.com/office/drawing/2014/main" id="{05528DF2-24E2-455D-BEC8-17C7EE0BC459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4" name="object 99">
              <a:extLst>
                <a:ext uri="{FF2B5EF4-FFF2-40B4-BE49-F238E27FC236}">
                  <a16:creationId xmlns:a16="http://schemas.microsoft.com/office/drawing/2014/main" id="{1686638F-922F-4690-9769-F2A6353122F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5" name="object 100">
              <a:extLst>
                <a:ext uri="{FF2B5EF4-FFF2-40B4-BE49-F238E27FC236}">
                  <a16:creationId xmlns:a16="http://schemas.microsoft.com/office/drawing/2014/main" id="{5C543170-5DC2-4278-96FF-ADEC21855889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6" name="object 101">
              <a:extLst>
                <a:ext uri="{FF2B5EF4-FFF2-40B4-BE49-F238E27FC236}">
                  <a16:creationId xmlns:a16="http://schemas.microsoft.com/office/drawing/2014/main" id="{DBF79F5A-E961-4574-86B1-7DF08004CD1F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7" name="object 102">
              <a:extLst>
                <a:ext uri="{FF2B5EF4-FFF2-40B4-BE49-F238E27FC236}">
                  <a16:creationId xmlns:a16="http://schemas.microsoft.com/office/drawing/2014/main" id="{24689F3A-5BB8-4F49-A72A-F0B85CDAE1E6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8" name="object 103">
              <a:extLst>
                <a:ext uri="{FF2B5EF4-FFF2-40B4-BE49-F238E27FC236}">
                  <a16:creationId xmlns:a16="http://schemas.microsoft.com/office/drawing/2014/main" id="{4B249B21-D8B8-4081-B3EC-14952014F8FE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9" name="object 104">
              <a:extLst>
                <a:ext uri="{FF2B5EF4-FFF2-40B4-BE49-F238E27FC236}">
                  <a16:creationId xmlns:a16="http://schemas.microsoft.com/office/drawing/2014/main" id="{8417B82C-D12F-4D15-B9D6-776242C6C12D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0" name="object 105">
              <a:extLst>
                <a:ext uri="{FF2B5EF4-FFF2-40B4-BE49-F238E27FC236}">
                  <a16:creationId xmlns:a16="http://schemas.microsoft.com/office/drawing/2014/main" id="{3ADFE083-3736-4FC2-A9FB-4E39732EA273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1" name="object 106">
              <a:extLst>
                <a:ext uri="{FF2B5EF4-FFF2-40B4-BE49-F238E27FC236}">
                  <a16:creationId xmlns:a16="http://schemas.microsoft.com/office/drawing/2014/main" id="{C30FE6FD-B3B9-4879-B9EF-F4C5E81EE0C9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2" name="object 107">
              <a:extLst>
                <a:ext uri="{FF2B5EF4-FFF2-40B4-BE49-F238E27FC236}">
                  <a16:creationId xmlns:a16="http://schemas.microsoft.com/office/drawing/2014/main" id="{0E74262E-1040-4A2D-916C-4D6FF494030D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3" name="object 108">
              <a:extLst>
                <a:ext uri="{FF2B5EF4-FFF2-40B4-BE49-F238E27FC236}">
                  <a16:creationId xmlns:a16="http://schemas.microsoft.com/office/drawing/2014/main" id="{7A5E086C-ADF3-4D09-881E-F75DA3449307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4" name="object 109">
              <a:extLst>
                <a:ext uri="{FF2B5EF4-FFF2-40B4-BE49-F238E27FC236}">
                  <a16:creationId xmlns:a16="http://schemas.microsoft.com/office/drawing/2014/main" id="{86EE62DA-80CD-4750-AA81-7DB8DE07D2E3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5" name="object 110">
              <a:extLst>
                <a:ext uri="{FF2B5EF4-FFF2-40B4-BE49-F238E27FC236}">
                  <a16:creationId xmlns:a16="http://schemas.microsoft.com/office/drawing/2014/main" id="{C49397E4-C0BF-41E9-8FEA-01F0BF75C687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6" name="object 111">
              <a:extLst>
                <a:ext uri="{FF2B5EF4-FFF2-40B4-BE49-F238E27FC236}">
                  <a16:creationId xmlns:a16="http://schemas.microsoft.com/office/drawing/2014/main" id="{516C767B-5F86-48FF-B44A-BF9FEA21580F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7" name="object 112">
              <a:extLst>
                <a:ext uri="{FF2B5EF4-FFF2-40B4-BE49-F238E27FC236}">
                  <a16:creationId xmlns:a16="http://schemas.microsoft.com/office/drawing/2014/main" id="{7CEDE4DD-E44F-4768-BF2E-5150140989F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8" name="object 113">
              <a:extLst>
                <a:ext uri="{FF2B5EF4-FFF2-40B4-BE49-F238E27FC236}">
                  <a16:creationId xmlns:a16="http://schemas.microsoft.com/office/drawing/2014/main" id="{0CB7EDB6-B4B8-4705-885D-8B359B98BD30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9" name="object 114">
              <a:extLst>
                <a:ext uri="{FF2B5EF4-FFF2-40B4-BE49-F238E27FC236}">
                  <a16:creationId xmlns:a16="http://schemas.microsoft.com/office/drawing/2014/main" id="{13E2A87F-53B9-47C1-8C9B-6C1B91570A04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0" name="object 115">
              <a:extLst>
                <a:ext uri="{FF2B5EF4-FFF2-40B4-BE49-F238E27FC236}">
                  <a16:creationId xmlns:a16="http://schemas.microsoft.com/office/drawing/2014/main" id="{A623657A-F486-4624-9227-4FB7D94574B3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1" name="object 116">
              <a:extLst>
                <a:ext uri="{FF2B5EF4-FFF2-40B4-BE49-F238E27FC236}">
                  <a16:creationId xmlns:a16="http://schemas.microsoft.com/office/drawing/2014/main" id="{62FE476F-462B-4A03-9B7E-F6C6546EFB7C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2" name="object 117">
              <a:extLst>
                <a:ext uri="{FF2B5EF4-FFF2-40B4-BE49-F238E27FC236}">
                  <a16:creationId xmlns:a16="http://schemas.microsoft.com/office/drawing/2014/main" id="{91859DC4-DCFC-4FA2-A5C8-88AA2FDF4B47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3" name="object 118">
              <a:extLst>
                <a:ext uri="{FF2B5EF4-FFF2-40B4-BE49-F238E27FC236}">
                  <a16:creationId xmlns:a16="http://schemas.microsoft.com/office/drawing/2014/main" id="{5E98C740-36D8-47C8-8BFB-E4130203296F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4" name="object 119">
              <a:extLst>
                <a:ext uri="{FF2B5EF4-FFF2-40B4-BE49-F238E27FC236}">
                  <a16:creationId xmlns:a16="http://schemas.microsoft.com/office/drawing/2014/main" id="{1F65273A-D25F-4A73-9D09-264C04237DCE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5" name="object 120">
              <a:extLst>
                <a:ext uri="{FF2B5EF4-FFF2-40B4-BE49-F238E27FC236}">
                  <a16:creationId xmlns:a16="http://schemas.microsoft.com/office/drawing/2014/main" id="{52400153-CAFB-4940-8464-C91A6C980502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6" name="object 121">
              <a:extLst>
                <a:ext uri="{FF2B5EF4-FFF2-40B4-BE49-F238E27FC236}">
                  <a16:creationId xmlns:a16="http://schemas.microsoft.com/office/drawing/2014/main" id="{192267D8-6BB3-4DE8-A0A8-83C9C7E60AFF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7" name="object 122">
              <a:extLst>
                <a:ext uri="{FF2B5EF4-FFF2-40B4-BE49-F238E27FC236}">
                  <a16:creationId xmlns:a16="http://schemas.microsoft.com/office/drawing/2014/main" id="{E5280981-2FC4-4A34-A32C-3C4A189B2391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8" name="object 123">
              <a:extLst>
                <a:ext uri="{FF2B5EF4-FFF2-40B4-BE49-F238E27FC236}">
                  <a16:creationId xmlns:a16="http://schemas.microsoft.com/office/drawing/2014/main" id="{EBBB47E5-C65A-4CE9-A413-936B4B5D25C5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9" name="object 124">
              <a:extLst>
                <a:ext uri="{FF2B5EF4-FFF2-40B4-BE49-F238E27FC236}">
                  <a16:creationId xmlns:a16="http://schemas.microsoft.com/office/drawing/2014/main" id="{F3BA046B-B236-404D-B0FD-0138C47724C9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0" name="object 125">
              <a:extLst>
                <a:ext uri="{FF2B5EF4-FFF2-40B4-BE49-F238E27FC236}">
                  <a16:creationId xmlns:a16="http://schemas.microsoft.com/office/drawing/2014/main" id="{98C7A876-9574-4355-95A1-BDDF095C1618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1" name="object 126">
              <a:extLst>
                <a:ext uri="{FF2B5EF4-FFF2-40B4-BE49-F238E27FC236}">
                  <a16:creationId xmlns:a16="http://schemas.microsoft.com/office/drawing/2014/main" id="{D234130A-9A90-4E41-806C-FDF9E74883B4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2" name="object 127">
              <a:extLst>
                <a:ext uri="{FF2B5EF4-FFF2-40B4-BE49-F238E27FC236}">
                  <a16:creationId xmlns:a16="http://schemas.microsoft.com/office/drawing/2014/main" id="{6CF857BF-3E64-4DAA-AB64-D0418B8F3BAC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3" name="object 128">
              <a:extLst>
                <a:ext uri="{FF2B5EF4-FFF2-40B4-BE49-F238E27FC236}">
                  <a16:creationId xmlns:a16="http://schemas.microsoft.com/office/drawing/2014/main" id="{442A5A3E-1BEB-4ECA-9968-CE8D2C91DE98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4" name="object 129">
              <a:extLst>
                <a:ext uri="{FF2B5EF4-FFF2-40B4-BE49-F238E27FC236}">
                  <a16:creationId xmlns:a16="http://schemas.microsoft.com/office/drawing/2014/main" id="{90107F6D-0E3B-49C6-A652-C3FBB4A42384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5" name="object 130">
              <a:extLst>
                <a:ext uri="{FF2B5EF4-FFF2-40B4-BE49-F238E27FC236}">
                  <a16:creationId xmlns:a16="http://schemas.microsoft.com/office/drawing/2014/main" id="{900F56F0-8A6F-44FB-8405-82CA1B65DED5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6" name="object 131">
              <a:extLst>
                <a:ext uri="{FF2B5EF4-FFF2-40B4-BE49-F238E27FC236}">
                  <a16:creationId xmlns:a16="http://schemas.microsoft.com/office/drawing/2014/main" id="{12C62FE1-916E-4EFD-9B1A-DAB123ADE64C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7" name="object 132">
              <a:extLst>
                <a:ext uri="{FF2B5EF4-FFF2-40B4-BE49-F238E27FC236}">
                  <a16:creationId xmlns:a16="http://schemas.microsoft.com/office/drawing/2014/main" id="{5363DF88-3B1C-4D3F-8F90-0215965B167F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8" name="object 133">
              <a:extLst>
                <a:ext uri="{FF2B5EF4-FFF2-40B4-BE49-F238E27FC236}">
                  <a16:creationId xmlns:a16="http://schemas.microsoft.com/office/drawing/2014/main" id="{B9842818-CA3B-4123-AB24-DA2142FBDFE2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9" name="object 134">
              <a:extLst>
                <a:ext uri="{FF2B5EF4-FFF2-40B4-BE49-F238E27FC236}">
                  <a16:creationId xmlns:a16="http://schemas.microsoft.com/office/drawing/2014/main" id="{46931542-D8C0-4856-B136-F151F7950235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0" name="object 135">
              <a:extLst>
                <a:ext uri="{FF2B5EF4-FFF2-40B4-BE49-F238E27FC236}">
                  <a16:creationId xmlns:a16="http://schemas.microsoft.com/office/drawing/2014/main" id="{08170950-5ACB-4DAD-82B0-A06A66042382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1" name="object 136">
              <a:extLst>
                <a:ext uri="{FF2B5EF4-FFF2-40B4-BE49-F238E27FC236}">
                  <a16:creationId xmlns:a16="http://schemas.microsoft.com/office/drawing/2014/main" id="{C26A5F12-1E6B-4D6B-9302-46CD1A089717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2" name="object 137">
              <a:extLst>
                <a:ext uri="{FF2B5EF4-FFF2-40B4-BE49-F238E27FC236}">
                  <a16:creationId xmlns:a16="http://schemas.microsoft.com/office/drawing/2014/main" id="{26AC374B-B6C2-4E19-8F64-7148C1E615C8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3" name="object 138">
              <a:extLst>
                <a:ext uri="{FF2B5EF4-FFF2-40B4-BE49-F238E27FC236}">
                  <a16:creationId xmlns:a16="http://schemas.microsoft.com/office/drawing/2014/main" id="{430A5A94-F53C-446B-8815-480A4E29C7CE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4" name="object 139">
              <a:extLst>
                <a:ext uri="{FF2B5EF4-FFF2-40B4-BE49-F238E27FC236}">
                  <a16:creationId xmlns:a16="http://schemas.microsoft.com/office/drawing/2014/main" id="{E163CDBB-15E6-459D-8561-9D999163C628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5" name="object 140">
              <a:extLst>
                <a:ext uri="{FF2B5EF4-FFF2-40B4-BE49-F238E27FC236}">
                  <a16:creationId xmlns:a16="http://schemas.microsoft.com/office/drawing/2014/main" id="{FFC694C9-A017-40C9-B6AF-60DD868E20C8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6" name="object 141">
              <a:extLst>
                <a:ext uri="{FF2B5EF4-FFF2-40B4-BE49-F238E27FC236}">
                  <a16:creationId xmlns:a16="http://schemas.microsoft.com/office/drawing/2014/main" id="{7A66DC09-E0C4-4D8A-AA57-37BC4F797644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7" name="object 142">
              <a:extLst>
                <a:ext uri="{FF2B5EF4-FFF2-40B4-BE49-F238E27FC236}">
                  <a16:creationId xmlns:a16="http://schemas.microsoft.com/office/drawing/2014/main" id="{B02BC211-7E2C-4DA4-8183-FC69C9568424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8" name="object 143">
              <a:extLst>
                <a:ext uri="{FF2B5EF4-FFF2-40B4-BE49-F238E27FC236}">
                  <a16:creationId xmlns:a16="http://schemas.microsoft.com/office/drawing/2014/main" id="{2B6A58BB-28FD-4EAE-9EEE-437C5DD463E1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9" name="object 144">
              <a:extLst>
                <a:ext uri="{FF2B5EF4-FFF2-40B4-BE49-F238E27FC236}">
                  <a16:creationId xmlns:a16="http://schemas.microsoft.com/office/drawing/2014/main" id="{733F1B52-7E3B-4C65-A04C-924C6DD0D18A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  <p:sp>
        <p:nvSpPr>
          <p:cNvPr id="300" name="object 9">
            <a:extLst>
              <a:ext uri="{FF2B5EF4-FFF2-40B4-BE49-F238E27FC236}">
                <a16:creationId xmlns:a16="http://schemas.microsoft.com/office/drawing/2014/main" id="{B6588A17-398E-4217-A3E3-340C99313FB2}"/>
              </a:ext>
            </a:extLst>
          </p:cNvPr>
          <p:cNvSpPr/>
          <p:nvPr userDrawn="1"/>
        </p:nvSpPr>
        <p:spPr>
          <a:xfrm>
            <a:off x="163713" y="4781460"/>
            <a:ext cx="468208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/>
          </a:p>
        </p:txBody>
      </p:sp>
      <p:sp>
        <p:nvSpPr>
          <p:cNvPr id="301" name="Text Placeholder 9">
            <a:extLst>
              <a:ext uri="{FF2B5EF4-FFF2-40B4-BE49-F238E27FC236}">
                <a16:creationId xmlns:a16="http://schemas.microsoft.com/office/drawing/2014/main" id="{CD827380-06F0-492D-B363-36043BC839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3746" y="1498277"/>
            <a:ext cx="3730255" cy="1717665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sz="2600" b="1" cap="all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878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2" name="Text Placeholder 15">
            <a:extLst>
              <a:ext uri="{FF2B5EF4-FFF2-40B4-BE49-F238E27FC236}">
                <a16:creationId xmlns:a16="http://schemas.microsoft.com/office/drawing/2014/main" id="{AFE83D49-BD7A-4D42-BE23-D9C762DADB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746" y="3191048"/>
            <a:ext cx="3730255" cy="674031"/>
          </a:xfrm>
        </p:spPr>
        <p:txBody>
          <a:bodyPr wrap="square">
            <a:spAutoFit/>
          </a:bodyPr>
          <a:lstStyle>
            <a:lvl1pPr marL="0" indent="0">
              <a:buNone/>
              <a:defRPr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F60DA6A-DCEB-4913-BE48-796A9A0B844B}"/>
              </a:ext>
            </a:extLst>
          </p:cNvPr>
          <p:cNvCxnSpPr>
            <a:cxnSpLocks/>
          </p:cNvCxnSpPr>
          <p:nvPr userDrawn="1"/>
        </p:nvCxnSpPr>
        <p:spPr>
          <a:xfrm>
            <a:off x="795400" y="3895859"/>
            <a:ext cx="89116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 Placeholder 37">
            <a:extLst>
              <a:ext uri="{FF2B5EF4-FFF2-40B4-BE49-F238E27FC236}">
                <a16:creationId xmlns:a16="http://schemas.microsoft.com/office/drawing/2014/main" id="{AF7B28B0-575B-4F92-BC55-7F5A112BD6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1781" y="4157795"/>
            <a:ext cx="3702855" cy="480131"/>
          </a:xfrm>
        </p:spPr>
        <p:txBody>
          <a:bodyPr wrap="square">
            <a:spAutoFit/>
          </a:bodyPr>
          <a:lstStyle>
            <a:lvl1pPr marL="0" indent="0">
              <a:buNone/>
              <a:defRPr sz="1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3D4A2F3-202E-4CAC-8965-DFAE48E1A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7634" y="257979"/>
            <a:ext cx="2258225" cy="1133288"/>
          </a:xfrm>
          <a:prstGeom prst="rect">
            <a:avLst/>
          </a:prstGeom>
        </p:spPr>
      </p:pic>
      <p:pic>
        <p:nvPicPr>
          <p:cNvPr id="141" name="Image 140">
            <a:extLst>
              <a:ext uri="{FF2B5EF4-FFF2-40B4-BE49-F238E27FC236}">
                <a16:creationId xmlns:a16="http://schemas.microsoft.com/office/drawing/2014/main" id="{18127CAF-7EAD-420B-BEE3-2F2C31D9A7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647" y="5446573"/>
            <a:ext cx="869920" cy="880569"/>
          </a:xfrm>
          <a:prstGeom prst="rect">
            <a:avLst/>
          </a:prstGeom>
        </p:spPr>
      </p:pic>
      <p:pic>
        <p:nvPicPr>
          <p:cNvPr id="142" name="Image 141">
            <a:extLst>
              <a:ext uri="{FF2B5EF4-FFF2-40B4-BE49-F238E27FC236}">
                <a16:creationId xmlns:a16="http://schemas.microsoft.com/office/drawing/2014/main" id="{D7B1EB4F-F4D5-409A-942E-598EC7F8DC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b="15876"/>
          <a:stretch/>
        </p:blipFill>
        <p:spPr>
          <a:xfrm>
            <a:off x="1660275" y="6243676"/>
            <a:ext cx="840038" cy="366797"/>
          </a:xfrm>
          <a:prstGeom prst="rect">
            <a:avLst/>
          </a:prstGeom>
        </p:spPr>
      </p:pic>
      <p:pic>
        <p:nvPicPr>
          <p:cNvPr id="148" name="Image 147">
            <a:extLst>
              <a:ext uri="{FF2B5EF4-FFF2-40B4-BE49-F238E27FC236}">
                <a16:creationId xmlns:a16="http://schemas.microsoft.com/office/drawing/2014/main" id="{DAC5B31F-919D-40B9-B6EF-4C5027CD8B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57258" y="5560235"/>
            <a:ext cx="1732185" cy="662692"/>
          </a:xfrm>
          <a:prstGeom prst="rect">
            <a:avLst/>
          </a:prstGeom>
        </p:spPr>
      </p:pic>
      <p:pic>
        <p:nvPicPr>
          <p:cNvPr id="149" name="Image 148">
            <a:extLst>
              <a:ext uri="{FF2B5EF4-FFF2-40B4-BE49-F238E27FC236}">
                <a16:creationId xmlns:a16="http://schemas.microsoft.com/office/drawing/2014/main" id="{C9D61C0C-9F56-48C6-9178-BE7854B1965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571717" y="6306923"/>
            <a:ext cx="873435" cy="360350"/>
          </a:xfrm>
          <a:prstGeom prst="rect">
            <a:avLst/>
          </a:prstGeom>
        </p:spPr>
      </p:pic>
      <p:sp>
        <p:nvSpPr>
          <p:cNvPr id="143" name="ZoneTexte 142">
            <a:extLst>
              <a:ext uri="{FF2B5EF4-FFF2-40B4-BE49-F238E27FC236}">
                <a16:creationId xmlns:a16="http://schemas.microsoft.com/office/drawing/2014/main" id="{99545EAE-8F47-438D-B99D-4AE2261B7C17}"/>
              </a:ext>
            </a:extLst>
          </p:cNvPr>
          <p:cNvSpPr txBox="1"/>
          <p:nvPr userDrawn="1"/>
        </p:nvSpPr>
        <p:spPr>
          <a:xfrm>
            <a:off x="692273" y="6308432"/>
            <a:ext cx="7793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  <a:latin typeface="Arial"/>
                <a:cs typeface="Arial"/>
              </a:rPr>
              <a:t>INGENIERIE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841DCBB7-F225-4281-821F-92C24FFD89C7}"/>
              </a:ext>
            </a:extLst>
          </p:cNvPr>
          <p:cNvSpPr txBox="1"/>
          <p:nvPr userDrawn="1"/>
        </p:nvSpPr>
        <p:spPr>
          <a:xfrm>
            <a:off x="589180" y="6456984"/>
            <a:ext cx="937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dirty="0">
                <a:solidFill>
                  <a:schemeClr val="bg1"/>
                </a:solidFill>
                <a:latin typeface="Arial"/>
                <a:cs typeface="Arial"/>
              </a:rPr>
              <a:t>SCIENCES INFORMATIQUES</a:t>
            </a:r>
          </a:p>
        </p:txBody>
      </p:sp>
    </p:spTree>
    <p:extLst>
      <p:ext uri="{BB962C8B-B14F-4D97-AF65-F5344CB8AC3E}">
        <p14:creationId xmlns:p14="http://schemas.microsoft.com/office/powerpoint/2010/main" val="298013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39137" y="6383574"/>
            <a:ext cx="5991122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491" y="6306043"/>
            <a:ext cx="50077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556577" y="6190841"/>
            <a:ext cx="11318928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 rot="5400000">
            <a:off x="306717" y="5657186"/>
            <a:ext cx="408820" cy="422784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rgbClr val="00AB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E8C8D51-53D9-4678-A88B-69372822CB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4691" y="8314"/>
            <a:ext cx="2147994" cy="2114042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4FE70AC-018A-480E-B72E-70EFFED043F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892" y="949993"/>
            <a:ext cx="8889911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6800B0C-2FC3-44B4-8458-E260C38A65F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892" y="493174"/>
            <a:ext cx="8889911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8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CCC0405-01DD-2D76-0F19-D672387DB8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577" y="6306043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51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duction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93E8E7-6850-41DE-A74A-F056AA8F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4641" y="2003662"/>
            <a:ext cx="3917969" cy="528350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8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04FF4EB-34C8-4B33-8B54-30E132FE97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64641" y="2637449"/>
            <a:ext cx="3917969" cy="380040"/>
          </a:xfrm>
        </p:spPr>
        <p:txBody>
          <a:bodyPr wrap="square">
            <a:spAutoFit/>
          </a:bodyPr>
          <a:lstStyle>
            <a:lvl1pPr marL="0" indent="0">
              <a:lnSpc>
                <a:spcPts val="1134"/>
              </a:lnSpc>
              <a:buNone/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D3A31740-3324-490C-A887-2899A5AC4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75825" y="287253"/>
            <a:ext cx="3816445" cy="5559624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lang="en-US" sz="108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8FBBCED-D569-4465-A3E0-7830ADE714A5}"/>
              </a:ext>
            </a:extLst>
          </p:cNvPr>
          <p:cNvSpPr/>
          <p:nvPr userDrawn="1"/>
        </p:nvSpPr>
        <p:spPr>
          <a:xfrm>
            <a:off x="6122142" y="310200"/>
            <a:ext cx="428117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9ABB687-F85E-47C9-B9CB-36D97F2C9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4151" y="6383574"/>
            <a:ext cx="6066107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B56546-3DB7-4930-ACB1-278A8025E808}"/>
              </a:ext>
            </a:extLst>
          </p:cNvPr>
          <p:cNvCxnSpPr>
            <a:cxnSpLocks/>
          </p:cNvCxnSpPr>
          <p:nvPr userDrawn="1"/>
        </p:nvCxnSpPr>
        <p:spPr>
          <a:xfrm>
            <a:off x="592662" y="6190841"/>
            <a:ext cx="11282843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318B756-AF91-4787-A678-53944781A7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64641" y="3226928"/>
            <a:ext cx="3917969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FBDDDD-A8FE-47C8-A0E7-12E0CD18C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223" y="6306043"/>
            <a:ext cx="507046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E022893-B075-68CA-E2BA-032767563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62" y="6306043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7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9511228" y="-254014"/>
            <a:ext cx="469259" cy="977289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4151" y="6383574"/>
            <a:ext cx="6066107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642892" y="6190841"/>
            <a:ext cx="11232613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159306"/>
            <a:ext cx="496311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11464152" y="5520073"/>
            <a:ext cx="428117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3E59DB7-19F2-4138-817C-7218E090F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223" y="6306043"/>
            <a:ext cx="507046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2A8725F-ED17-4D80-B8D0-EAD48AA396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892" y="949993"/>
            <a:ext cx="8889911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AD56DD-1D2C-4529-A8BD-57E186A2A8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892" y="493174"/>
            <a:ext cx="8889911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A1B01E2-C15A-3CF7-F6D9-DDE643243C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348" y="6333131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5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4151" y="6383574"/>
            <a:ext cx="6066107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548299" y="6190841"/>
            <a:ext cx="11327206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892" y="949993"/>
            <a:ext cx="8889911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197916C-570E-4CAE-9929-2316C6CD8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563535" y="2341334"/>
            <a:ext cx="3960290" cy="3849511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242AEB-66E5-4C18-80F8-A920E6007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892" y="493174"/>
            <a:ext cx="8889911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3A7C692-5AA8-4414-AB31-B6A28EFD7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223" y="6306043"/>
            <a:ext cx="507046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B3136A2-7E64-16A2-22C6-65A47011A6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299" y="6314321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35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9511374" y="-253868"/>
            <a:ext cx="469259" cy="976998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5955" y="6383574"/>
            <a:ext cx="6064304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373" y="6306043"/>
            <a:ext cx="506895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 flipV="1">
            <a:off x="556577" y="6190841"/>
            <a:ext cx="11318928" cy="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11464279" y="5479840"/>
            <a:ext cx="42799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847"/>
          <a:stretch/>
        </p:blipFill>
        <p:spPr>
          <a:xfrm>
            <a:off x="556577" y="6305879"/>
            <a:ext cx="940011" cy="4269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0C119EC-EEE9-4156-BEF6-AA1E3C6B42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050176" y="3049017"/>
            <a:ext cx="3250096" cy="3033553"/>
          </a:xfrm>
          <a:prstGeom prst="rect">
            <a:avLst/>
          </a:prstGeom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A181DB1-3D99-4D77-A534-98FD7F71DF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474" y="461141"/>
            <a:ext cx="8887268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8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17D1AAA-3758-498E-9B38-6E4D8881D4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0474" y="1200532"/>
            <a:ext cx="8887268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grpSp>
        <p:nvGrpSpPr>
          <p:cNvPr id="14" name="Groupe 156">
            <a:extLst>
              <a:ext uri="{FF2B5EF4-FFF2-40B4-BE49-F238E27FC236}">
                <a16:creationId xmlns:a16="http://schemas.microsoft.com/office/drawing/2014/main" id="{09C152B0-7B14-4FA9-81F2-6B3C1510C2FA}"/>
              </a:ext>
            </a:extLst>
          </p:cNvPr>
          <p:cNvGrpSpPr/>
          <p:nvPr userDrawn="1"/>
        </p:nvGrpSpPr>
        <p:grpSpPr>
          <a:xfrm rot="16200000">
            <a:off x="-167773" y="5058296"/>
            <a:ext cx="899813" cy="521431"/>
            <a:chOff x="3230833" y="6645"/>
            <a:chExt cx="902409" cy="499560"/>
          </a:xfrm>
        </p:grpSpPr>
        <p:sp>
          <p:nvSpPr>
            <p:cNvPr id="15" name="object 23">
              <a:extLst>
                <a:ext uri="{FF2B5EF4-FFF2-40B4-BE49-F238E27FC236}">
                  <a16:creationId xmlns:a16="http://schemas.microsoft.com/office/drawing/2014/main" id="{545F1CEB-C1E1-460E-952D-D9F40530EAD9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6" name="object 24">
              <a:extLst>
                <a:ext uri="{FF2B5EF4-FFF2-40B4-BE49-F238E27FC236}">
                  <a16:creationId xmlns:a16="http://schemas.microsoft.com/office/drawing/2014/main" id="{988AA709-5281-406A-8D8E-C29D46512673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FC72AEF-4E23-4EB2-B404-2B7FF6292570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" name="object 26">
              <a:extLst>
                <a:ext uri="{FF2B5EF4-FFF2-40B4-BE49-F238E27FC236}">
                  <a16:creationId xmlns:a16="http://schemas.microsoft.com/office/drawing/2014/main" id="{0BFF7F20-EC01-4E1A-BE0B-C398B8951F66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" name="object 27">
              <a:extLst>
                <a:ext uri="{FF2B5EF4-FFF2-40B4-BE49-F238E27FC236}">
                  <a16:creationId xmlns:a16="http://schemas.microsoft.com/office/drawing/2014/main" id="{5918D399-A461-4B17-9FD1-F8133B669CAC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" name="object 28">
              <a:extLst>
                <a:ext uri="{FF2B5EF4-FFF2-40B4-BE49-F238E27FC236}">
                  <a16:creationId xmlns:a16="http://schemas.microsoft.com/office/drawing/2014/main" id="{3E5A5C7B-B409-4C66-8035-E486CEABCBD4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" name="object 29">
              <a:extLst>
                <a:ext uri="{FF2B5EF4-FFF2-40B4-BE49-F238E27FC236}">
                  <a16:creationId xmlns:a16="http://schemas.microsoft.com/office/drawing/2014/main" id="{5473999C-BB70-4A4C-8AFE-3FBA9BA55317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" name="object 30">
              <a:extLst>
                <a:ext uri="{FF2B5EF4-FFF2-40B4-BE49-F238E27FC236}">
                  <a16:creationId xmlns:a16="http://schemas.microsoft.com/office/drawing/2014/main" id="{FD8DA6FE-2BF5-477C-BA06-F40B2D2E2CC9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" name="object 31">
              <a:extLst>
                <a:ext uri="{FF2B5EF4-FFF2-40B4-BE49-F238E27FC236}">
                  <a16:creationId xmlns:a16="http://schemas.microsoft.com/office/drawing/2014/main" id="{DA371106-1FFD-4972-BA86-FF43CEA28E82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" name="object 32">
              <a:extLst>
                <a:ext uri="{FF2B5EF4-FFF2-40B4-BE49-F238E27FC236}">
                  <a16:creationId xmlns:a16="http://schemas.microsoft.com/office/drawing/2014/main" id="{CD428232-CC88-4441-88B0-22DC8A345813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0" name="object 33">
              <a:extLst>
                <a:ext uri="{FF2B5EF4-FFF2-40B4-BE49-F238E27FC236}">
                  <a16:creationId xmlns:a16="http://schemas.microsoft.com/office/drawing/2014/main" id="{01957A87-08D1-454C-9BED-7D127B9B6E06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2" name="object 34">
              <a:extLst>
                <a:ext uri="{FF2B5EF4-FFF2-40B4-BE49-F238E27FC236}">
                  <a16:creationId xmlns:a16="http://schemas.microsoft.com/office/drawing/2014/main" id="{F7EAA056-0E59-4904-94C8-4E72544DDA32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3" name="object 35">
              <a:extLst>
                <a:ext uri="{FF2B5EF4-FFF2-40B4-BE49-F238E27FC236}">
                  <a16:creationId xmlns:a16="http://schemas.microsoft.com/office/drawing/2014/main" id="{1C14294E-2EEB-4148-A5A5-1ECA6ABFECB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4" name="object 36">
              <a:extLst>
                <a:ext uri="{FF2B5EF4-FFF2-40B4-BE49-F238E27FC236}">
                  <a16:creationId xmlns:a16="http://schemas.microsoft.com/office/drawing/2014/main" id="{B0EFF8CD-E370-4FB7-99FE-CD609DAF9086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5" name="object 37">
              <a:extLst>
                <a:ext uri="{FF2B5EF4-FFF2-40B4-BE49-F238E27FC236}">
                  <a16:creationId xmlns:a16="http://schemas.microsoft.com/office/drawing/2014/main" id="{6C7185E4-1342-4E79-A067-748CE40102BD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6" name="object 38">
              <a:extLst>
                <a:ext uri="{FF2B5EF4-FFF2-40B4-BE49-F238E27FC236}">
                  <a16:creationId xmlns:a16="http://schemas.microsoft.com/office/drawing/2014/main" id="{04BBF8D5-BA01-4D6E-BFD8-97E8A8DE2E04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7" name="object 39">
              <a:extLst>
                <a:ext uri="{FF2B5EF4-FFF2-40B4-BE49-F238E27FC236}">
                  <a16:creationId xmlns:a16="http://schemas.microsoft.com/office/drawing/2014/main" id="{DADCC5B8-BD21-46C0-B488-3566C46A8D93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C3ACCA9D-FE0D-4F92-A2A2-4D030772F75B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1B22648B-6A42-4949-B373-1B43567BC8A1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0" name="object 42">
              <a:extLst>
                <a:ext uri="{FF2B5EF4-FFF2-40B4-BE49-F238E27FC236}">
                  <a16:creationId xmlns:a16="http://schemas.microsoft.com/office/drawing/2014/main" id="{7D6F0AB2-0F2F-48FE-9B69-8CB5E571A1AF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1" name="object 43">
              <a:extLst>
                <a:ext uri="{FF2B5EF4-FFF2-40B4-BE49-F238E27FC236}">
                  <a16:creationId xmlns:a16="http://schemas.microsoft.com/office/drawing/2014/main" id="{D24D43F4-872C-4D03-A0BA-5E9DB0AB7CA6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2" name="object 44">
              <a:extLst>
                <a:ext uri="{FF2B5EF4-FFF2-40B4-BE49-F238E27FC236}">
                  <a16:creationId xmlns:a16="http://schemas.microsoft.com/office/drawing/2014/main" id="{E1EC918D-41C0-41EE-BFAC-9F3FD4F6E6A4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3" name="object 45">
              <a:extLst>
                <a:ext uri="{FF2B5EF4-FFF2-40B4-BE49-F238E27FC236}">
                  <a16:creationId xmlns:a16="http://schemas.microsoft.com/office/drawing/2014/main" id="{0E2B2519-840E-4240-A6CA-25871131A2A9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4" name="object 46">
              <a:extLst>
                <a:ext uri="{FF2B5EF4-FFF2-40B4-BE49-F238E27FC236}">
                  <a16:creationId xmlns:a16="http://schemas.microsoft.com/office/drawing/2014/main" id="{0C444211-365D-4C28-B15F-010FCEEA7F98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5" name="object 47">
              <a:extLst>
                <a:ext uri="{FF2B5EF4-FFF2-40B4-BE49-F238E27FC236}">
                  <a16:creationId xmlns:a16="http://schemas.microsoft.com/office/drawing/2014/main" id="{1A42C1A2-ECDF-463F-914E-AD54C3A37417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6" name="object 48">
              <a:extLst>
                <a:ext uri="{FF2B5EF4-FFF2-40B4-BE49-F238E27FC236}">
                  <a16:creationId xmlns:a16="http://schemas.microsoft.com/office/drawing/2014/main" id="{18F21ECE-3685-4C69-AE91-A526A14769EF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7" name="object 49">
              <a:extLst>
                <a:ext uri="{FF2B5EF4-FFF2-40B4-BE49-F238E27FC236}">
                  <a16:creationId xmlns:a16="http://schemas.microsoft.com/office/drawing/2014/main" id="{138D4B13-85F7-41D4-AAD3-082EE78C36B3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8" name="object 50">
              <a:extLst>
                <a:ext uri="{FF2B5EF4-FFF2-40B4-BE49-F238E27FC236}">
                  <a16:creationId xmlns:a16="http://schemas.microsoft.com/office/drawing/2014/main" id="{1C3401A8-80C4-4320-8DCD-3CCBEC69231B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9" name="object 51">
              <a:extLst>
                <a:ext uri="{FF2B5EF4-FFF2-40B4-BE49-F238E27FC236}">
                  <a16:creationId xmlns:a16="http://schemas.microsoft.com/office/drawing/2014/main" id="{FEA0D3DD-502F-41F7-B4B0-A068B54A1341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0" name="object 52">
              <a:extLst>
                <a:ext uri="{FF2B5EF4-FFF2-40B4-BE49-F238E27FC236}">
                  <a16:creationId xmlns:a16="http://schemas.microsoft.com/office/drawing/2014/main" id="{8A184818-F1BB-4BE1-9D1E-7B6F713DF76C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1" name="object 53">
              <a:extLst>
                <a:ext uri="{FF2B5EF4-FFF2-40B4-BE49-F238E27FC236}">
                  <a16:creationId xmlns:a16="http://schemas.microsoft.com/office/drawing/2014/main" id="{E0AA3085-5FD8-4D04-8AF9-E028AB424DA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2" name="object 54">
              <a:extLst>
                <a:ext uri="{FF2B5EF4-FFF2-40B4-BE49-F238E27FC236}">
                  <a16:creationId xmlns:a16="http://schemas.microsoft.com/office/drawing/2014/main" id="{36F58D49-5BE9-4C9A-ADA8-CB6912FB82C7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3" name="object 55">
              <a:extLst>
                <a:ext uri="{FF2B5EF4-FFF2-40B4-BE49-F238E27FC236}">
                  <a16:creationId xmlns:a16="http://schemas.microsoft.com/office/drawing/2014/main" id="{10FCC51D-3441-4914-BFEF-1453D61FB3FF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4" name="object 56">
              <a:extLst>
                <a:ext uri="{FF2B5EF4-FFF2-40B4-BE49-F238E27FC236}">
                  <a16:creationId xmlns:a16="http://schemas.microsoft.com/office/drawing/2014/main" id="{DCD2350A-A12C-4954-A04E-720C62D9307D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5" name="object 57">
              <a:extLst>
                <a:ext uri="{FF2B5EF4-FFF2-40B4-BE49-F238E27FC236}">
                  <a16:creationId xmlns:a16="http://schemas.microsoft.com/office/drawing/2014/main" id="{A2E2188E-B10C-4FEA-B1B4-E55302F3EF8D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6" name="object 58">
              <a:extLst>
                <a:ext uri="{FF2B5EF4-FFF2-40B4-BE49-F238E27FC236}">
                  <a16:creationId xmlns:a16="http://schemas.microsoft.com/office/drawing/2014/main" id="{1EBB6DB4-D9D6-42C8-8006-C30EF3A7AE2C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7" name="object 59">
              <a:extLst>
                <a:ext uri="{FF2B5EF4-FFF2-40B4-BE49-F238E27FC236}">
                  <a16:creationId xmlns:a16="http://schemas.microsoft.com/office/drawing/2014/main" id="{4BE72FD5-2F71-44C0-B05C-5A87AAC47021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8" name="object 60">
              <a:extLst>
                <a:ext uri="{FF2B5EF4-FFF2-40B4-BE49-F238E27FC236}">
                  <a16:creationId xmlns:a16="http://schemas.microsoft.com/office/drawing/2014/main" id="{7D2FD35F-AB58-4742-994E-2874D1FDAB02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9" name="object 61">
              <a:extLst>
                <a:ext uri="{FF2B5EF4-FFF2-40B4-BE49-F238E27FC236}">
                  <a16:creationId xmlns:a16="http://schemas.microsoft.com/office/drawing/2014/main" id="{FA0DC785-9E9D-4C83-B40F-A9050B326E95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0" name="object 62">
              <a:extLst>
                <a:ext uri="{FF2B5EF4-FFF2-40B4-BE49-F238E27FC236}">
                  <a16:creationId xmlns:a16="http://schemas.microsoft.com/office/drawing/2014/main" id="{2B2777D0-BA4E-4D56-9B2C-CDC2B839DA95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1" name="object 63">
              <a:extLst>
                <a:ext uri="{FF2B5EF4-FFF2-40B4-BE49-F238E27FC236}">
                  <a16:creationId xmlns:a16="http://schemas.microsoft.com/office/drawing/2014/main" id="{CED04687-9F1C-4A99-991C-FB3D42A1443F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2" name="object 64">
              <a:extLst>
                <a:ext uri="{FF2B5EF4-FFF2-40B4-BE49-F238E27FC236}">
                  <a16:creationId xmlns:a16="http://schemas.microsoft.com/office/drawing/2014/main" id="{1C2E0E8E-FB1D-4AD1-AB24-22A801A2338E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3" name="object 65">
              <a:extLst>
                <a:ext uri="{FF2B5EF4-FFF2-40B4-BE49-F238E27FC236}">
                  <a16:creationId xmlns:a16="http://schemas.microsoft.com/office/drawing/2014/main" id="{0BECF6B8-A058-4EC3-8450-93CEBEF5A175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4" name="object 66">
              <a:extLst>
                <a:ext uri="{FF2B5EF4-FFF2-40B4-BE49-F238E27FC236}">
                  <a16:creationId xmlns:a16="http://schemas.microsoft.com/office/drawing/2014/main" id="{CBA33DFA-FEF0-424D-A635-AF4C2A3F3E53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5" name="object 67">
              <a:extLst>
                <a:ext uri="{FF2B5EF4-FFF2-40B4-BE49-F238E27FC236}">
                  <a16:creationId xmlns:a16="http://schemas.microsoft.com/office/drawing/2014/main" id="{05B41054-B603-4290-AA3C-08EBAA8A629D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6" name="object 68">
              <a:extLst>
                <a:ext uri="{FF2B5EF4-FFF2-40B4-BE49-F238E27FC236}">
                  <a16:creationId xmlns:a16="http://schemas.microsoft.com/office/drawing/2014/main" id="{F82064FA-B042-4BD5-A348-4051DCD1D03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7" name="object 69">
              <a:extLst>
                <a:ext uri="{FF2B5EF4-FFF2-40B4-BE49-F238E27FC236}">
                  <a16:creationId xmlns:a16="http://schemas.microsoft.com/office/drawing/2014/main" id="{D18EC0D5-553A-4AFE-84F6-C998D24CAA05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8" name="object 70">
              <a:extLst>
                <a:ext uri="{FF2B5EF4-FFF2-40B4-BE49-F238E27FC236}">
                  <a16:creationId xmlns:a16="http://schemas.microsoft.com/office/drawing/2014/main" id="{CD172667-541E-4FE1-BAC3-9248C9A9A030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9" name="object 71">
              <a:extLst>
                <a:ext uri="{FF2B5EF4-FFF2-40B4-BE49-F238E27FC236}">
                  <a16:creationId xmlns:a16="http://schemas.microsoft.com/office/drawing/2014/main" id="{8D7B2D85-1B2D-4A66-9A22-C0D87B890522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0" name="object 72">
              <a:extLst>
                <a:ext uri="{FF2B5EF4-FFF2-40B4-BE49-F238E27FC236}">
                  <a16:creationId xmlns:a16="http://schemas.microsoft.com/office/drawing/2014/main" id="{ED7A0035-BA18-4246-9272-42852E417608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1" name="object 73">
              <a:extLst>
                <a:ext uri="{FF2B5EF4-FFF2-40B4-BE49-F238E27FC236}">
                  <a16:creationId xmlns:a16="http://schemas.microsoft.com/office/drawing/2014/main" id="{34A90529-C034-43CA-8A63-7FC7A8AB4B72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2" name="object 74">
              <a:extLst>
                <a:ext uri="{FF2B5EF4-FFF2-40B4-BE49-F238E27FC236}">
                  <a16:creationId xmlns:a16="http://schemas.microsoft.com/office/drawing/2014/main" id="{5CFBFAA2-F411-4DFF-96C2-3ED015E628E7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3" name="object 75">
              <a:extLst>
                <a:ext uri="{FF2B5EF4-FFF2-40B4-BE49-F238E27FC236}">
                  <a16:creationId xmlns:a16="http://schemas.microsoft.com/office/drawing/2014/main" id="{E136BF65-E985-44D1-BDA6-879635EEE791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4" name="object 76">
              <a:extLst>
                <a:ext uri="{FF2B5EF4-FFF2-40B4-BE49-F238E27FC236}">
                  <a16:creationId xmlns:a16="http://schemas.microsoft.com/office/drawing/2014/main" id="{3A5FDCFC-06EA-4820-8253-7BEFF11CCF08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5" name="object 77">
              <a:extLst>
                <a:ext uri="{FF2B5EF4-FFF2-40B4-BE49-F238E27FC236}">
                  <a16:creationId xmlns:a16="http://schemas.microsoft.com/office/drawing/2014/main" id="{09C1C76D-7CB0-4B4C-87E3-42FF9B3F0717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6" name="object 78">
              <a:extLst>
                <a:ext uri="{FF2B5EF4-FFF2-40B4-BE49-F238E27FC236}">
                  <a16:creationId xmlns:a16="http://schemas.microsoft.com/office/drawing/2014/main" id="{CEEED1C3-6329-4B05-B6E1-2920EDA6F0B9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7" name="object 79">
              <a:extLst>
                <a:ext uri="{FF2B5EF4-FFF2-40B4-BE49-F238E27FC236}">
                  <a16:creationId xmlns:a16="http://schemas.microsoft.com/office/drawing/2014/main" id="{055F38DE-9A68-4DBC-B1A2-9FD2F144FC7D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8" name="object 80">
              <a:extLst>
                <a:ext uri="{FF2B5EF4-FFF2-40B4-BE49-F238E27FC236}">
                  <a16:creationId xmlns:a16="http://schemas.microsoft.com/office/drawing/2014/main" id="{705D28B6-2FB6-4315-97CB-166E2B00214A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9" name="object 81">
              <a:extLst>
                <a:ext uri="{FF2B5EF4-FFF2-40B4-BE49-F238E27FC236}">
                  <a16:creationId xmlns:a16="http://schemas.microsoft.com/office/drawing/2014/main" id="{4F5F9C27-61AC-46D0-BBF9-909B115E975F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0" name="object 82">
              <a:extLst>
                <a:ext uri="{FF2B5EF4-FFF2-40B4-BE49-F238E27FC236}">
                  <a16:creationId xmlns:a16="http://schemas.microsoft.com/office/drawing/2014/main" id="{2CB4FD65-E27B-4B99-B86B-D148B45639D6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1" name="object 83">
              <a:extLst>
                <a:ext uri="{FF2B5EF4-FFF2-40B4-BE49-F238E27FC236}">
                  <a16:creationId xmlns:a16="http://schemas.microsoft.com/office/drawing/2014/main" id="{4E3E60BD-DCDB-4C34-910B-71DD231F085D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2" name="object 84">
              <a:extLst>
                <a:ext uri="{FF2B5EF4-FFF2-40B4-BE49-F238E27FC236}">
                  <a16:creationId xmlns:a16="http://schemas.microsoft.com/office/drawing/2014/main" id="{18A243AE-C30B-4C35-9F79-37C73020BD87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3" name="object 85">
              <a:extLst>
                <a:ext uri="{FF2B5EF4-FFF2-40B4-BE49-F238E27FC236}">
                  <a16:creationId xmlns:a16="http://schemas.microsoft.com/office/drawing/2014/main" id="{CC02A971-9752-4F40-991C-3A3F85C19607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4" name="object 86">
              <a:extLst>
                <a:ext uri="{FF2B5EF4-FFF2-40B4-BE49-F238E27FC236}">
                  <a16:creationId xmlns:a16="http://schemas.microsoft.com/office/drawing/2014/main" id="{7EC06208-70CF-4DBE-8127-266FF3AFA52F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5" name="object 87">
              <a:extLst>
                <a:ext uri="{FF2B5EF4-FFF2-40B4-BE49-F238E27FC236}">
                  <a16:creationId xmlns:a16="http://schemas.microsoft.com/office/drawing/2014/main" id="{C3445D13-AD50-439F-93E5-166194D1A961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6" name="object 88">
              <a:extLst>
                <a:ext uri="{FF2B5EF4-FFF2-40B4-BE49-F238E27FC236}">
                  <a16:creationId xmlns:a16="http://schemas.microsoft.com/office/drawing/2014/main" id="{7C062D63-D0AE-47AF-8642-F31F608DA00D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7" name="object 89">
              <a:extLst>
                <a:ext uri="{FF2B5EF4-FFF2-40B4-BE49-F238E27FC236}">
                  <a16:creationId xmlns:a16="http://schemas.microsoft.com/office/drawing/2014/main" id="{9F5946C8-EF47-4CB5-82F1-DCB28CA59013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8" name="object 90">
              <a:extLst>
                <a:ext uri="{FF2B5EF4-FFF2-40B4-BE49-F238E27FC236}">
                  <a16:creationId xmlns:a16="http://schemas.microsoft.com/office/drawing/2014/main" id="{C359B038-4D3A-45EE-96A7-5A1B4DA8C0F6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9" name="object 91">
              <a:extLst>
                <a:ext uri="{FF2B5EF4-FFF2-40B4-BE49-F238E27FC236}">
                  <a16:creationId xmlns:a16="http://schemas.microsoft.com/office/drawing/2014/main" id="{C6F167D6-5038-464B-AA83-44FA543FF857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0" name="object 92">
              <a:extLst>
                <a:ext uri="{FF2B5EF4-FFF2-40B4-BE49-F238E27FC236}">
                  <a16:creationId xmlns:a16="http://schemas.microsoft.com/office/drawing/2014/main" id="{01B4F473-B2FD-4973-94D4-7FBF75863003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1" name="object 93">
              <a:extLst>
                <a:ext uri="{FF2B5EF4-FFF2-40B4-BE49-F238E27FC236}">
                  <a16:creationId xmlns:a16="http://schemas.microsoft.com/office/drawing/2014/main" id="{4AE17FD3-4350-4E9B-92F3-9C57628DC17B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2" name="object 94">
              <a:extLst>
                <a:ext uri="{FF2B5EF4-FFF2-40B4-BE49-F238E27FC236}">
                  <a16:creationId xmlns:a16="http://schemas.microsoft.com/office/drawing/2014/main" id="{85CF062C-345D-4502-8421-40BC64FFE547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3" name="object 95">
              <a:extLst>
                <a:ext uri="{FF2B5EF4-FFF2-40B4-BE49-F238E27FC236}">
                  <a16:creationId xmlns:a16="http://schemas.microsoft.com/office/drawing/2014/main" id="{1D7A914D-067A-4349-B116-ED40FA1CECCB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4" name="object 96">
              <a:extLst>
                <a:ext uri="{FF2B5EF4-FFF2-40B4-BE49-F238E27FC236}">
                  <a16:creationId xmlns:a16="http://schemas.microsoft.com/office/drawing/2014/main" id="{685D2F31-3E9B-4917-8A15-2315A546DB22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5" name="object 97">
              <a:extLst>
                <a:ext uri="{FF2B5EF4-FFF2-40B4-BE49-F238E27FC236}">
                  <a16:creationId xmlns:a16="http://schemas.microsoft.com/office/drawing/2014/main" id="{AFC7620E-52F3-4CD2-A87C-6973996B577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6" name="object 98">
              <a:extLst>
                <a:ext uri="{FF2B5EF4-FFF2-40B4-BE49-F238E27FC236}">
                  <a16:creationId xmlns:a16="http://schemas.microsoft.com/office/drawing/2014/main" id="{FE345FDE-2FD7-4D36-8E8E-D40B1085E0AD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7" name="object 99">
              <a:extLst>
                <a:ext uri="{FF2B5EF4-FFF2-40B4-BE49-F238E27FC236}">
                  <a16:creationId xmlns:a16="http://schemas.microsoft.com/office/drawing/2014/main" id="{A8E74173-72AC-4846-8FCB-C526D7395EC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8" name="object 100">
              <a:extLst>
                <a:ext uri="{FF2B5EF4-FFF2-40B4-BE49-F238E27FC236}">
                  <a16:creationId xmlns:a16="http://schemas.microsoft.com/office/drawing/2014/main" id="{FFC357A4-36BF-4C72-B0A7-76BC374BE18C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9" name="object 101">
              <a:extLst>
                <a:ext uri="{FF2B5EF4-FFF2-40B4-BE49-F238E27FC236}">
                  <a16:creationId xmlns:a16="http://schemas.microsoft.com/office/drawing/2014/main" id="{2A6E715D-11D0-4B9F-BE91-E4DE59DB0A74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0" name="object 102">
              <a:extLst>
                <a:ext uri="{FF2B5EF4-FFF2-40B4-BE49-F238E27FC236}">
                  <a16:creationId xmlns:a16="http://schemas.microsoft.com/office/drawing/2014/main" id="{7418D147-529C-47F1-8EA3-923BE198D802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1" name="object 103">
              <a:extLst>
                <a:ext uri="{FF2B5EF4-FFF2-40B4-BE49-F238E27FC236}">
                  <a16:creationId xmlns:a16="http://schemas.microsoft.com/office/drawing/2014/main" id="{55450F6C-6F6C-4F60-8D6A-2AA6B9DAEBC0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2" name="object 104">
              <a:extLst>
                <a:ext uri="{FF2B5EF4-FFF2-40B4-BE49-F238E27FC236}">
                  <a16:creationId xmlns:a16="http://schemas.microsoft.com/office/drawing/2014/main" id="{1F2E2249-69A4-4AC2-AC82-B7C5EFA9F6D5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3" name="object 105">
              <a:extLst>
                <a:ext uri="{FF2B5EF4-FFF2-40B4-BE49-F238E27FC236}">
                  <a16:creationId xmlns:a16="http://schemas.microsoft.com/office/drawing/2014/main" id="{EDC31699-510C-4E4A-81C6-19587B2BE1F4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4" name="object 106">
              <a:extLst>
                <a:ext uri="{FF2B5EF4-FFF2-40B4-BE49-F238E27FC236}">
                  <a16:creationId xmlns:a16="http://schemas.microsoft.com/office/drawing/2014/main" id="{C001143A-AB7A-4373-A495-67F789B74243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5" name="object 107">
              <a:extLst>
                <a:ext uri="{FF2B5EF4-FFF2-40B4-BE49-F238E27FC236}">
                  <a16:creationId xmlns:a16="http://schemas.microsoft.com/office/drawing/2014/main" id="{A714BAEE-97C5-4F60-A864-4685B2508676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6" name="object 108">
              <a:extLst>
                <a:ext uri="{FF2B5EF4-FFF2-40B4-BE49-F238E27FC236}">
                  <a16:creationId xmlns:a16="http://schemas.microsoft.com/office/drawing/2014/main" id="{B1C50934-20CB-4DC8-85EF-F99D9C020E7B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7" name="object 109">
              <a:extLst>
                <a:ext uri="{FF2B5EF4-FFF2-40B4-BE49-F238E27FC236}">
                  <a16:creationId xmlns:a16="http://schemas.microsoft.com/office/drawing/2014/main" id="{F4C51669-12FB-4E8B-AE8A-DA6232F7A2CF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8" name="object 110">
              <a:extLst>
                <a:ext uri="{FF2B5EF4-FFF2-40B4-BE49-F238E27FC236}">
                  <a16:creationId xmlns:a16="http://schemas.microsoft.com/office/drawing/2014/main" id="{F4C12360-D8A9-423D-A0A1-D2FB33B0DFDF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9" name="object 111">
              <a:extLst>
                <a:ext uri="{FF2B5EF4-FFF2-40B4-BE49-F238E27FC236}">
                  <a16:creationId xmlns:a16="http://schemas.microsoft.com/office/drawing/2014/main" id="{F5DE92FF-94F3-4A87-AC94-D41581F9BEC7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0" name="object 112">
              <a:extLst>
                <a:ext uri="{FF2B5EF4-FFF2-40B4-BE49-F238E27FC236}">
                  <a16:creationId xmlns:a16="http://schemas.microsoft.com/office/drawing/2014/main" id="{F59F5811-958A-4730-BAC9-E61D227A09B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1" name="object 113">
              <a:extLst>
                <a:ext uri="{FF2B5EF4-FFF2-40B4-BE49-F238E27FC236}">
                  <a16:creationId xmlns:a16="http://schemas.microsoft.com/office/drawing/2014/main" id="{7F03121D-205E-4D3C-86A4-68EEF9F60A68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2" name="object 114">
              <a:extLst>
                <a:ext uri="{FF2B5EF4-FFF2-40B4-BE49-F238E27FC236}">
                  <a16:creationId xmlns:a16="http://schemas.microsoft.com/office/drawing/2014/main" id="{B3781D5D-DE6F-4F6F-9760-475C7A52ABF9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3" name="object 115">
              <a:extLst>
                <a:ext uri="{FF2B5EF4-FFF2-40B4-BE49-F238E27FC236}">
                  <a16:creationId xmlns:a16="http://schemas.microsoft.com/office/drawing/2014/main" id="{784513F7-3F90-4CC9-85D9-4BE354CCDA44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4" name="object 116">
              <a:extLst>
                <a:ext uri="{FF2B5EF4-FFF2-40B4-BE49-F238E27FC236}">
                  <a16:creationId xmlns:a16="http://schemas.microsoft.com/office/drawing/2014/main" id="{655083AB-5464-4367-BEA8-A678B7543763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5" name="object 117">
              <a:extLst>
                <a:ext uri="{FF2B5EF4-FFF2-40B4-BE49-F238E27FC236}">
                  <a16:creationId xmlns:a16="http://schemas.microsoft.com/office/drawing/2014/main" id="{77B178B2-BBE2-4491-A057-5CC351A8FD33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6" name="object 118">
              <a:extLst>
                <a:ext uri="{FF2B5EF4-FFF2-40B4-BE49-F238E27FC236}">
                  <a16:creationId xmlns:a16="http://schemas.microsoft.com/office/drawing/2014/main" id="{FCDE97E0-F475-45E5-BF06-7CD513C0069D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7" name="object 119">
              <a:extLst>
                <a:ext uri="{FF2B5EF4-FFF2-40B4-BE49-F238E27FC236}">
                  <a16:creationId xmlns:a16="http://schemas.microsoft.com/office/drawing/2014/main" id="{21984B9E-920D-44BB-A41F-1152C1BD342B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8" name="object 120">
              <a:extLst>
                <a:ext uri="{FF2B5EF4-FFF2-40B4-BE49-F238E27FC236}">
                  <a16:creationId xmlns:a16="http://schemas.microsoft.com/office/drawing/2014/main" id="{86D9D9EC-9733-470B-9415-B818EEEA925F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9" name="object 121">
              <a:extLst>
                <a:ext uri="{FF2B5EF4-FFF2-40B4-BE49-F238E27FC236}">
                  <a16:creationId xmlns:a16="http://schemas.microsoft.com/office/drawing/2014/main" id="{D99C97D9-7A2B-4525-9336-151A7C96A5CE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0" name="object 122">
              <a:extLst>
                <a:ext uri="{FF2B5EF4-FFF2-40B4-BE49-F238E27FC236}">
                  <a16:creationId xmlns:a16="http://schemas.microsoft.com/office/drawing/2014/main" id="{D0925AAB-D273-4EC7-BDE4-7041F860AEB0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1" name="object 123">
              <a:extLst>
                <a:ext uri="{FF2B5EF4-FFF2-40B4-BE49-F238E27FC236}">
                  <a16:creationId xmlns:a16="http://schemas.microsoft.com/office/drawing/2014/main" id="{EEE0698D-CFCA-4ED8-907A-0495DB217211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2" name="object 124">
              <a:extLst>
                <a:ext uri="{FF2B5EF4-FFF2-40B4-BE49-F238E27FC236}">
                  <a16:creationId xmlns:a16="http://schemas.microsoft.com/office/drawing/2014/main" id="{C7C90B32-8F40-4ED1-A1DE-DAF124EE0AAB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3" name="object 125">
              <a:extLst>
                <a:ext uri="{FF2B5EF4-FFF2-40B4-BE49-F238E27FC236}">
                  <a16:creationId xmlns:a16="http://schemas.microsoft.com/office/drawing/2014/main" id="{9665CB65-1943-43E8-9450-0C5C2EC294D9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4" name="object 126">
              <a:extLst>
                <a:ext uri="{FF2B5EF4-FFF2-40B4-BE49-F238E27FC236}">
                  <a16:creationId xmlns:a16="http://schemas.microsoft.com/office/drawing/2014/main" id="{FA76E20C-CA86-4B5C-94F8-F6EFFE80CBD5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5" name="object 127">
              <a:extLst>
                <a:ext uri="{FF2B5EF4-FFF2-40B4-BE49-F238E27FC236}">
                  <a16:creationId xmlns:a16="http://schemas.microsoft.com/office/drawing/2014/main" id="{1A84F4B2-9A0C-4898-9DAD-4509838B6BE1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6" name="object 128">
              <a:extLst>
                <a:ext uri="{FF2B5EF4-FFF2-40B4-BE49-F238E27FC236}">
                  <a16:creationId xmlns:a16="http://schemas.microsoft.com/office/drawing/2014/main" id="{8B663F50-1B52-4822-8537-9412D7F30DCF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7" name="object 129">
              <a:extLst>
                <a:ext uri="{FF2B5EF4-FFF2-40B4-BE49-F238E27FC236}">
                  <a16:creationId xmlns:a16="http://schemas.microsoft.com/office/drawing/2014/main" id="{3B37469B-DB13-40B6-B19C-4F1CBC529AB1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8" name="object 130">
              <a:extLst>
                <a:ext uri="{FF2B5EF4-FFF2-40B4-BE49-F238E27FC236}">
                  <a16:creationId xmlns:a16="http://schemas.microsoft.com/office/drawing/2014/main" id="{EAFF8150-F3DD-437A-9E64-B35089189C5E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9" name="object 131">
              <a:extLst>
                <a:ext uri="{FF2B5EF4-FFF2-40B4-BE49-F238E27FC236}">
                  <a16:creationId xmlns:a16="http://schemas.microsoft.com/office/drawing/2014/main" id="{386E302A-7D87-4724-A395-048FE6111E21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0" name="object 132">
              <a:extLst>
                <a:ext uri="{FF2B5EF4-FFF2-40B4-BE49-F238E27FC236}">
                  <a16:creationId xmlns:a16="http://schemas.microsoft.com/office/drawing/2014/main" id="{D73152AB-7C75-4767-85AE-D806B5911679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1" name="object 133">
              <a:extLst>
                <a:ext uri="{FF2B5EF4-FFF2-40B4-BE49-F238E27FC236}">
                  <a16:creationId xmlns:a16="http://schemas.microsoft.com/office/drawing/2014/main" id="{E1923D3F-F460-4B83-A7C6-43427E941957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2" name="object 134">
              <a:extLst>
                <a:ext uri="{FF2B5EF4-FFF2-40B4-BE49-F238E27FC236}">
                  <a16:creationId xmlns:a16="http://schemas.microsoft.com/office/drawing/2014/main" id="{737684BF-6F30-478E-B032-61BCE038F131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3" name="object 135">
              <a:extLst>
                <a:ext uri="{FF2B5EF4-FFF2-40B4-BE49-F238E27FC236}">
                  <a16:creationId xmlns:a16="http://schemas.microsoft.com/office/drawing/2014/main" id="{CCE06E04-2C8E-4789-8061-D995200B9CE3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4" name="object 136">
              <a:extLst>
                <a:ext uri="{FF2B5EF4-FFF2-40B4-BE49-F238E27FC236}">
                  <a16:creationId xmlns:a16="http://schemas.microsoft.com/office/drawing/2014/main" id="{B46667B3-3541-4CD7-B5AA-E8891BD999C4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5" name="object 137">
              <a:extLst>
                <a:ext uri="{FF2B5EF4-FFF2-40B4-BE49-F238E27FC236}">
                  <a16:creationId xmlns:a16="http://schemas.microsoft.com/office/drawing/2014/main" id="{47D26476-F3E4-42A5-9562-E2D578A45BA0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6" name="object 138">
              <a:extLst>
                <a:ext uri="{FF2B5EF4-FFF2-40B4-BE49-F238E27FC236}">
                  <a16:creationId xmlns:a16="http://schemas.microsoft.com/office/drawing/2014/main" id="{7840DE50-C22E-49E8-9E09-D524CEB9B605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7" name="object 139">
              <a:extLst>
                <a:ext uri="{FF2B5EF4-FFF2-40B4-BE49-F238E27FC236}">
                  <a16:creationId xmlns:a16="http://schemas.microsoft.com/office/drawing/2014/main" id="{2E615000-69CE-473C-8BD5-F44B593F1F1B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8" name="object 140">
              <a:extLst>
                <a:ext uri="{FF2B5EF4-FFF2-40B4-BE49-F238E27FC236}">
                  <a16:creationId xmlns:a16="http://schemas.microsoft.com/office/drawing/2014/main" id="{83F898E8-9578-4FA7-A25C-C32A9CE5E036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9" name="object 141">
              <a:extLst>
                <a:ext uri="{FF2B5EF4-FFF2-40B4-BE49-F238E27FC236}">
                  <a16:creationId xmlns:a16="http://schemas.microsoft.com/office/drawing/2014/main" id="{1BDDC80E-B4C2-4BE9-9FC1-77C4A1E64626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0" name="object 142">
              <a:extLst>
                <a:ext uri="{FF2B5EF4-FFF2-40B4-BE49-F238E27FC236}">
                  <a16:creationId xmlns:a16="http://schemas.microsoft.com/office/drawing/2014/main" id="{A6B0B6E5-2E06-4EC5-AE88-2D4A2402E6F2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1" name="object 143">
              <a:extLst>
                <a:ext uri="{FF2B5EF4-FFF2-40B4-BE49-F238E27FC236}">
                  <a16:creationId xmlns:a16="http://schemas.microsoft.com/office/drawing/2014/main" id="{DC8BB7B0-23EA-45E9-BF81-815CB7E861E7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2" name="object 144">
              <a:extLst>
                <a:ext uri="{FF2B5EF4-FFF2-40B4-BE49-F238E27FC236}">
                  <a16:creationId xmlns:a16="http://schemas.microsoft.com/office/drawing/2014/main" id="{712779C2-07A1-489D-916A-5B62FE6D1E2E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</p:spTree>
    <p:extLst>
      <p:ext uri="{BB962C8B-B14F-4D97-AF65-F5344CB8AC3E}">
        <p14:creationId xmlns:p14="http://schemas.microsoft.com/office/powerpoint/2010/main" val="141560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Motif de la présentation | Lieu |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14A4D-4352-4428-A1E5-77B1918968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0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9" r:id="rId3"/>
    <p:sldLayoutId id="2147483660" r:id="rId4"/>
    <p:sldLayoutId id="2147483661" r:id="rId5"/>
    <p:sldLayoutId id="2147483662" r:id="rId6"/>
  </p:sldLayoutIdLst>
  <p:hf hdr="0" dt="0"/>
  <p:txStyles>
    <p:titleStyle>
      <a:lvl1pPr algn="l" defTabSz="68575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9" indent="-171439" algn="l" defTabSz="68575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7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95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72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50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27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05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83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60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8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6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33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1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89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67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44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22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png"/><Relationship Id="rId3" Type="http://schemas.openxmlformats.org/officeDocument/2006/relationships/image" Target="../media/image23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17.png"/><Relationship Id="rId5" Type="http://schemas.openxmlformats.org/officeDocument/2006/relationships/image" Target="../media/image6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Intelligence artificielle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Partie 1 : une histoire de l'IA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BUT 3 informatique</a:t>
            </a:r>
          </a:p>
          <a:p>
            <a:r>
              <a:t>David Laiymani et Claude</a:t>
            </a:r>
          </a:p>
        </p:txBody>
      </p:sp>
      <p:pic>
        <p:nvPicPr>
          <p:cNvPr id="6" name="Picture 5" descr="cover_CM1_pet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28800"/>
            <a:ext cx="3566160" cy="2971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0"/>
            <a:ext cx="1920240" cy="734637"/>
          </a:xfrm>
          <a:prstGeom prst="rect">
            <a:avLst/>
          </a:prstGeom>
        </p:spPr>
      </p:pic>
      <p:pic>
        <p:nvPicPr>
          <p:cNvPr id="8" name="Picture 7" descr="logo_IUT_N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5687568"/>
            <a:ext cx="1790007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Au programme : six époques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716786"/>
            <a:ext cx="1630503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16786"/>
            <a:ext cx="1630503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855" y="2075774"/>
            <a:ext cx="788953" cy="788953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983" y="2280902"/>
            <a:ext cx="378697" cy="3786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7741" y="3082442"/>
            <a:ext cx="145518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00877A"/>
                </a:solidFill>
                <a:latin typeface="Arial"/>
              </a:rPr>
              <a:t>1943 – 1956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209" y="3506266"/>
            <a:ext cx="1490245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Les pionniers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7140" y="1716786"/>
            <a:ext cx="1630503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37140" y="1716786"/>
            <a:ext cx="1630503" cy="64008"/>
          </a:xfrm>
          <a:prstGeom prst="rect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7915" y="2075774"/>
            <a:ext cx="788953" cy="788953"/>
          </a:xfrm>
          <a:prstGeom prst="ellipse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043" y="2280902"/>
            <a:ext cx="378697" cy="3786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24801" y="3082442"/>
            <a:ext cx="145518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3F63A8"/>
                </a:solidFill>
                <a:latin typeface="Arial"/>
              </a:rPr>
              <a:t>1956 – 1974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7269" y="3506266"/>
            <a:ext cx="1490245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Les premiers espoirs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4200" y="1716786"/>
            <a:ext cx="1630503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4200" y="1716786"/>
            <a:ext cx="1630503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4976" y="2075774"/>
            <a:ext cx="788953" cy="788953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lipboardLis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104" y="2280902"/>
            <a:ext cx="378697" cy="3786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21862" y="3082442"/>
            <a:ext cx="145518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9C8200"/>
                </a:solidFill>
                <a:latin typeface="Arial"/>
              </a:rPr>
              <a:t>1980 – 1987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4330" y="3506266"/>
            <a:ext cx="1490245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Les systèmes experts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1261" y="1716786"/>
            <a:ext cx="1630503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1261" y="1716786"/>
            <a:ext cx="1630503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2036" y="2075774"/>
            <a:ext cx="788953" cy="788953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164" y="2280902"/>
            <a:ext cx="378697" cy="3786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18922" y="3082442"/>
            <a:ext cx="145518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D1452B"/>
                </a:solidFill>
                <a:latin typeface="Arial"/>
              </a:rPr>
              <a:t>1993 – 2011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1390" y="3506266"/>
            <a:ext cx="1490245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L'apprentissage automatique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8321" y="1716786"/>
            <a:ext cx="1630503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28321" y="1716786"/>
            <a:ext cx="1630503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9097" y="2075774"/>
            <a:ext cx="788953" cy="788953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aBrain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225" y="2280902"/>
            <a:ext cx="378697" cy="37869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915983" y="3082442"/>
            <a:ext cx="145518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5F7C17"/>
                </a:solidFill>
                <a:latin typeface="Arial"/>
              </a:rPr>
              <a:t>2012 – 2017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8451" y="3506266"/>
            <a:ext cx="1490245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Le deep learning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5382" y="1716786"/>
            <a:ext cx="1630503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5382" y="1716786"/>
            <a:ext cx="1630503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46157" y="2075774"/>
            <a:ext cx="788953" cy="788953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aCommentDo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1285" y="2280902"/>
            <a:ext cx="378697" cy="3786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13043" y="3082442"/>
            <a:ext cx="145518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712180"/>
                </a:solidFill>
                <a:latin typeface="Arial"/>
              </a:rPr>
              <a:t>2017 – aujourd'hui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5511" y="3506266"/>
            <a:ext cx="1490245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L'IA générative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342839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233" y="5342839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00877A"/>
                </a:solidFill>
                <a:latin typeface="Arial"/>
              </a:rPr>
              <a:t>Fil rouge : des règles écrites à la main à l'apprentissage à partir d'exemples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Qu'est-ce que l'IA 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905152"/>
            <a:ext cx="5435012" cy="1506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1A2E2B"/>
                </a:solidFill>
                <a:latin typeface="Arial"/>
              </a:rPr>
              <a:t>Faire réaliser à une machine des tâches que l'on juge « intelligentes » chez un humain.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00450"/>
            <a:ext cx="543501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0" i="1">
                <a:solidFill>
                  <a:srgbClr val="5A6B68"/>
                </a:solidFill>
                <a:latin typeface="Arial"/>
              </a:rPr>
              <a:t>Reconnaître un visage, comprendre une phrase, jouer aux échecs, conduire…</a:t>
            </a:r>
          </a:p>
        </p:txBody>
      </p:sp>
      <p:sp>
        <p:nvSpPr>
          <p:cNvPr id="8" name="Oval 7"/>
          <p:cNvSpPr/>
          <p:nvPr/>
        </p:nvSpPr>
        <p:spPr>
          <a:xfrm>
            <a:off x="6644891" y="1456004"/>
            <a:ext cx="4383074" cy="4383074"/>
          </a:xfrm>
          <a:prstGeom prst="ellipse">
            <a:avLst/>
          </a:prstGeom>
          <a:solidFill>
            <a:srgbClr val="00ABA2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2553" y="1462491"/>
            <a:ext cx="420775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Intelligence artificielle</a:t>
            </a:r>
          </a:p>
        </p:txBody>
      </p:sp>
      <p:sp>
        <p:nvSpPr>
          <p:cNvPr id="10" name="Oval 9"/>
          <p:cNvSpPr/>
          <p:nvPr/>
        </p:nvSpPr>
        <p:spPr>
          <a:xfrm>
            <a:off x="7170860" y="2547072"/>
            <a:ext cx="3331136" cy="3331136"/>
          </a:xfrm>
          <a:prstGeom prst="ellipse">
            <a:avLst/>
          </a:prstGeom>
          <a:solidFill>
            <a:srgbClr val="ED5D42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8522" y="2592689"/>
            <a:ext cx="3155813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Apprentissage automatique</a:t>
            </a:r>
          </a:p>
        </p:txBody>
      </p:sp>
      <p:sp>
        <p:nvSpPr>
          <p:cNvPr id="12" name="Oval 11"/>
          <p:cNvSpPr/>
          <p:nvPr/>
        </p:nvSpPr>
        <p:spPr>
          <a:xfrm>
            <a:off x="7696829" y="3638140"/>
            <a:ext cx="2279198" cy="2279198"/>
          </a:xfrm>
          <a:prstGeom prst="ellipse">
            <a:avLst/>
          </a:prstGeom>
          <a:solidFill>
            <a:srgbClr val="71218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4491" y="3722888"/>
            <a:ext cx="2103875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Deep learning</a:t>
            </a:r>
          </a:p>
        </p:txBody>
      </p:sp>
      <p:sp>
        <p:nvSpPr>
          <p:cNvPr id="14" name="Oval 13"/>
          <p:cNvSpPr/>
          <p:nvPr/>
        </p:nvSpPr>
        <p:spPr>
          <a:xfrm>
            <a:off x="8244714" y="4774669"/>
            <a:ext cx="1183430" cy="1183430"/>
          </a:xfrm>
          <a:prstGeom prst="ellipse">
            <a:avLst/>
          </a:prstGeom>
          <a:solidFill>
            <a:srgbClr val="71218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2375" y="5083835"/>
            <a:ext cx="1008107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IA</a:t>
            </a:r>
          </a:p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générative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L'IA est déjà partout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4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3374967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6895" y="1984852"/>
            <a:ext cx="876614" cy="876614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15" y="2212772"/>
            <a:ext cx="420775" cy="420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5002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Anti-spam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8031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8031" y="1528419"/>
            <a:ext cx="3374967" cy="64008"/>
          </a:xfrm>
          <a:prstGeom prst="rect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84846" y="1984852"/>
            <a:ext cx="876614" cy="876614"/>
          </a:xfrm>
          <a:prstGeom prst="ellipse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Play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66" y="2212772"/>
            <a:ext cx="420775" cy="420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92954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Recommandations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5983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5983" y="1528419"/>
            <a:ext cx="3374967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2798" y="1984852"/>
            <a:ext cx="876614" cy="876614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MapMarkedAl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718" y="2212772"/>
            <a:ext cx="420775" cy="420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30905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GPS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59175"/>
            <a:ext cx="337496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895" y="3915608"/>
            <a:ext cx="876614" cy="876614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Mob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815" y="4143528"/>
            <a:ext cx="420775" cy="4207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55002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Visage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8031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8031" y="3459175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84846" y="3915608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Languag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766" y="4143528"/>
            <a:ext cx="420775" cy="4207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92954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Traduction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5983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15983" y="3459175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2798" y="3915608"/>
            <a:ext cx="876614" cy="876614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0718" y="4143528"/>
            <a:ext cx="420775" cy="4207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30905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Assistants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437022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233" y="5437022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00877A"/>
                </a:solidFill>
                <a:latin typeface="Arial"/>
              </a:rPr>
              <a:t>Et depuis ce matin, combien de fois l'avez-vous utilisée 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Vue d'ensemble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75 ans d'IA en une frise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5</a:t>
            </a:fld>
          </a:p>
        </p:txBody>
      </p:sp>
      <p:sp>
        <p:nvSpPr>
          <p:cNvPr id="6" name="Rectangle 5"/>
          <p:cNvSpPr/>
          <p:nvPr/>
        </p:nvSpPr>
        <p:spPr>
          <a:xfrm>
            <a:off x="1091638" y="3035350"/>
            <a:ext cx="1550589" cy="470916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8526" y="3035350"/>
            <a:ext cx="2157084" cy="470916"/>
          </a:xfrm>
          <a:prstGeom prst="rect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51908" y="3035350"/>
            <a:ext cx="701495" cy="470916"/>
          </a:xfrm>
          <a:prstGeom prst="rect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1908" y="3035350"/>
            <a:ext cx="701495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hiver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9702" y="3035350"/>
            <a:ext cx="822794" cy="470916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28796" y="3035350"/>
            <a:ext cx="701495" cy="470916"/>
          </a:xfrm>
          <a:prstGeom prst="rect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796" y="3035350"/>
            <a:ext cx="701495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hiver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6590" y="3035350"/>
            <a:ext cx="2278383" cy="470916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1272" y="3035350"/>
            <a:ext cx="580196" cy="470916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67767" y="3035350"/>
            <a:ext cx="1065392" cy="470916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095" y="3600450"/>
            <a:ext cx="701291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5A6B68"/>
                </a:solidFill>
                <a:latin typeface="Arial"/>
              </a:rPr>
              <a:t>1940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3076" y="3600450"/>
            <a:ext cx="701291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5A6B68"/>
                </a:solidFill>
                <a:latin typeface="Arial"/>
              </a:rPr>
              <a:t>1960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9056" y="3600450"/>
            <a:ext cx="701291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5A6B68"/>
                </a:solidFill>
                <a:latin typeface="Arial"/>
              </a:rPr>
              <a:t>1980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5037" y="3600450"/>
            <a:ext cx="701291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5A6B68"/>
                </a:solidFill>
                <a:latin typeface="Arial"/>
              </a:rPr>
              <a:t>2000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1018" y="3600450"/>
            <a:ext cx="701291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0" i="0">
                <a:solidFill>
                  <a:srgbClr val="5A6B68"/>
                </a:solidFill>
                <a:latin typeface="Arial"/>
              </a:rPr>
              <a:t>2020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40731" y="2517343"/>
            <a:ext cx="0" cy="518007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39439" y="1528419"/>
            <a:ext cx="1402583" cy="98892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00877A"/>
                </a:solidFill>
                <a:latin typeface="Arial"/>
              </a:rPr>
              <a:t>1950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Turing</a:t>
            </a:r>
          </a:p>
        </p:txBody>
      </p:sp>
      <p:sp>
        <p:nvSpPr>
          <p:cNvPr id="23" name="Oval 22"/>
          <p:cNvSpPr/>
          <p:nvPr/>
        </p:nvSpPr>
        <p:spPr>
          <a:xfrm>
            <a:off x="1879368" y="2973987"/>
            <a:ext cx="122726" cy="122726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911124" y="3506266"/>
            <a:ext cx="0" cy="565100"/>
          </a:xfrm>
          <a:prstGeom prst="line">
            <a:avLst/>
          </a:prstGeom>
          <a:ln w="19050">
            <a:solidFill>
              <a:srgbClr val="3F6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09832" y="4090202"/>
            <a:ext cx="1402583" cy="988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3F63A8"/>
                </a:solidFill>
                <a:latin typeface="Arial"/>
              </a:rPr>
              <a:t>1958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Perceptron</a:t>
            </a:r>
          </a:p>
        </p:txBody>
      </p:sp>
      <p:sp>
        <p:nvSpPr>
          <p:cNvPr id="26" name="Oval 25"/>
          <p:cNvSpPr/>
          <p:nvPr/>
        </p:nvSpPr>
        <p:spPr>
          <a:xfrm>
            <a:off x="2849761" y="2973987"/>
            <a:ext cx="122726" cy="122726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307497" y="2517343"/>
            <a:ext cx="0" cy="518007"/>
          </a:xfrm>
          <a:prstGeom prst="line">
            <a:avLst/>
          </a:prstGeom>
          <a:ln w="1905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06205" y="1528419"/>
            <a:ext cx="1402583" cy="98892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1986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Rétro-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propagation</a:t>
            </a:r>
          </a:p>
        </p:txBody>
      </p:sp>
      <p:sp>
        <p:nvSpPr>
          <p:cNvPr id="29" name="Oval 28"/>
          <p:cNvSpPr/>
          <p:nvPr/>
        </p:nvSpPr>
        <p:spPr>
          <a:xfrm>
            <a:off x="6246134" y="2973987"/>
            <a:ext cx="122726" cy="122726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641786" y="3506266"/>
            <a:ext cx="0" cy="565100"/>
          </a:xfrm>
          <a:prstGeom prst="line">
            <a:avLst/>
          </a:prstGeom>
          <a:ln w="1905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40494" y="4090202"/>
            <a:ext cx="1402583" cy="988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1997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Deep Blue</a:t>
            </a:r>
          </a:p>
        </p:txBody>
      </p:sp>
      <p:sp>
        <p:nvSpPr>
          <p:cNvPr id="32" name="Oval 31"/>
          <p:cNvSpPr/>
          <p:nvPr/>
        </p:nvSpPr>
        <p:spPr>
          <a:xfrm>
            <a:off x="7580423" y="2973987"/>
            <a:ext cx="122726" cy="122726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461272" y="2517343"/>
            <a:ext cx="0" cy="51800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759980" y="1528419"/>
            <a:ext cx="1402583" cy="98892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2012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AlexNet</a:t>
            </a:r>
          </a:p>
        </p:txBody>
      </p:sp>
      <p:sp>
        <p:nvSpPr>
          <p:cNvPr id="35" name="Oval 34"/>
          <p:cNvSpPr/>
          <p:nvPr/>
        </p:nvSpPr>
        <p:spPr>
          <a:xfrm>
            <a:off x="9399908" y="2973987"/>
            <a:ext cx="122726" cy="122726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0674262" y="3506266"/>
            <a:ext cx="0" cy="565100"/>
          </a:xfrm>
          <a:prstGeom prst="line">
            <a:avLst/>
          </a:prstGeom>
          <a:ln w="19050">
            <a:solidFill>
              <a:srgbClr val="712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972970" y="4090202"/>
            <a:ext cx="1402583" cy="988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2022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ChatGPT</a:t>
            </a:r>
          </a:p>
        </p:txBody>
      </p:sp>
      <p:sp>
        <p:nvSpPr>
          <p:cNvPr id="38" name="Oval 37"/>
          <p:cNvSpPr/>
          <p:nvPr/>
        </p:nvSpPr>
        <p:spPr>
          <a:xfrm>
            <a:off x="10612899" y="2973987"/>
            <a:ext cx="122726" cy="122726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342839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233" y="5342839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6B7876"/>
                </a:solidFill>
                <a:latin typeface="Arial"/>
              </a:rPr>
              <a:t>Deux « hivers de l'IA » : des périodes de désillusion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6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1943 – 1956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LES PIONNIERS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Une machine peut-elle penser ?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560527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19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19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31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1943 – 1956 · Les pionniers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Trois dates fondatrices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7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3374967" cy="339059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3374967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233" y="1810969"/>
            <a:ext cx="2936659" cy="706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60" b="1" i="0">
                <a:solidFill>
                  <a:srgbClr val="00877A"/>
                </a:solidFill>
                <a:latin typeface="Arial"/>
              </a:rPr>
              <a:t>1943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233" y="2611526"/>
            <a:ext cx="2936659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Le neurone formel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233" y="3506266"/>
            <a:ext cx="2936659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Un modèle mathématique du neurone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8031" y="1528419"/>
            <a:ext cx="3374967" cy="339059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8031" y="1528419"/>
            <a:ext cx="3374967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7185" y="1810969"/>
            <a:ext cx="2936659" cy="706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60" b="1" i="0">
                <a:solidFill>
                  <a:srgbClr val="00877A"/>
                </a:solidFill>
                <a:latin typeface="Arial"/>
              </a:rPr>
              <a:t>1950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7185" y="2611526"/>
            <a:ext cx="2936659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Alan 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7185" y="3506266"/>
            <a:ext cx="2936659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« Les machines peuvent-elles penser ? 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5983" y="1528419"/>
            <a:ext cx="3374967" cy="339059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5983" y="1528419"/>
            <a:ext cx="3374967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5137" y="1810969"/>
            <a:ext cx="2936659" cy="706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60" b="1" i="0">
                <a:solidFill>
                  <a:srgbClr val="00877A"/>
                </a:solidFill>
                <a:latin typeface="Arial"/>
              </a:rPr>
              <a:t>1956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5137" y="2611526"/>
            <a:ext cx="2936659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Dartmouth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5137" y="3506266"/>
            <a:ext cx="2936659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Le mot « intelligence artificielle » est né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1943 – 1958 · Les pionniers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 neurone artificiel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8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607040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1" i="0">
                <a:solidFill>
                  <a:srgbClr val="00877A"/>
                </a:solidFill>
                <a:latin typeface="Arial"/>
              </a:rPr>
              <a:t>1943 : </a:t>
            </a:r>
            <a:r>
              <a:rPr sz="1440" b="0" i="0">
                <a:solidFill>
                  <a:srgbClr val="5A6B68"/>
                </a:solidFill>
                <a:latin typeface="Arial"/>
              </a:rPr>
              <a:t>McCulloch et Pitts     ·     </a:t>
            </a:r>
            <a:r>
              <a:rPr sz="1440" b="1" i="0">
                <a:solidFill>
                  <a:srgbClr val="00877A"/>
                </a:solidFill>
                <a:latin typeface="Arial"/>
              </a:rPr>
              <a:t>1958 : </a:t>
            </a:r>
            <a:r>
              <a:rPr sz="1440" b="0" i="0">
                <a:solidFill>
                  <a:srgbClr val="5A6B68"/>
                </a:solidFill>
                <a:latin typeface="Arial"/>
              </a:rPr>
              <a:t>des poids appris (Rosenblatt)</a:t>
            </a:r>
          </a:p>
        </p:txBody>
      </p:sp>
      <p:sp>
        <p:nvSpPr>
          <p:cNvPr id="7" name="Oval 6"/>
          <p:cNvSpPr/>
          <p:nvPr/>
        </p:nvSpPr>
        <p:spPr>
          <a:xfrm>
            <a:off x="1867340" y="2025422"/>
            <a:ext cx="701291" cy="70129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67340" y="1999335"/>
            <a:ext cx="701291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2E2B"/>
                </a:solidFill>
                <a:latin typeface="Arial"/>
              </a:rPr>
              <a:t>x₁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2463" y="2376068"/>
            <a:ext cx="1884722" cy="1177290"/>
          </a:xfrm>
          <a:prstGeom prst="line">
            <a:avLst/>
          </a:prstGeom>
          <a:ln w="31750">
            <a:solidFill>
              <a:srgbClr val="00AB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13755" y="2517343"/>
            <a:ext cx="525968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1">
                <a:solidFill>
                  <a:srgbClr val="5A6B68"/>
                </a:solidFill>
                <a:latin typeface="Arial"/>
              </a:rPr>
              <a:t>w₁</a:t>
            </a:r>
          </a:p>
        </p:txBody>
      </p:sp>
      <p:sp>
        <p:nvSpPr>
          <p:cNvPr id="11" name="Oval 10"/>
          <p:cNvSpPr/>
          <p:nvPr/>
        </p:nvSpPr>
        <p:spPr>
          <a:xfrm>
            <a:off x="1867340" y="3202712"/>
            <a:ext cx="701291" cy="70129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7340" y="3176625"/>
            <a:ext cx="701291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2E2B"/>
                </a:solidFill>
                <a:latin typeface="Arial"/>
              </a:rPr>
              <a:t>x₂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2463" y="3553358"/>
            <a:ext cx="1884722" cy="0"/>
          </a:xfrm>
          <a:prstGeom prst="line">
            <a:avLst/>
          </a:prstGeom>
          <a:ln w="31750">
            <a:solidFill>
              <a:srgbClr val="00AB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13755" y="3176625"/>
            <a:ext cx="525968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1">
                <a:solidFill>
                  <a:srgbClr val="5A6B68"/>
                </a:solidFill>
                <a:latin typeface="Arial"/>
              </a:rPr>
              <a:t>w₂</a:t>
            </a:r>
          </a:p>
        </p:txBody>
      </p:sp>
      <p:sp>
        <p:nvSpPr>
          <p:cNvPr id="15" name="Oval 14"/>
          <p:cNvSpPr/>
          <p:nvPr/>
        </p:nvSpPr>
        <p:spPr>
          <a:xfrm>
            <a:off x="1867340" y="4380002"/>
            <a:ext cx="701291" cy="70129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67340" y="4353915"/>
            <a:ext cx="701291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2E2B"/>
                </a:solidFill>
                <a:latin typeface="Arial"/>
              </a:rPr>
              <a:t>x₃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612463" y="3553358"/>
            <a:ext cx="1884722" cy="1177290"/>
          </a:xfrm>
          <a:prstGeom prst="line">
            <a:avLst/>
          </a:prstGeom>
          <a:ln w="31750">
            <a:solidFill>
              <a:srgbClr val="00AB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13755" y="4353915"/>
            <a:ext cx="525968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1">
                <a:solidFill>
                  <a:srgbClr val="5A6B68"/>
                </a:solidFill>
                <a:latin typeface="Arial"/>
              </a:rPr>
              <a:t>w₃</a:t>
            </a:r>
          </a:p>
        </p:txBody>
      </p:sp>
      <p:sp>
        <p:nvSpPr>
          <p:cNvPr id="19" name="Oval 18"/>
          <p:cNvSpPr/>
          <p:nvPr/>
        </p:nvSpPr>
        <p:spPr>
          <a:xfrm>
            <a:off x="4497185" y="2808235"/>
            <a:ext cx="1490245" cy="149024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7185" y="2752801"/>
            <a:ext cx="1490245" cy="16011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960" b="1" i="0">
                <a:solidFill>
                  <a:srgbClr val="FFFFFF"/>
                </a:solidFill>
                <a:latin typeface="Arial"/>
              </a:rPr>
              <a:t>Σ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1261" y="3553358"/>
            <a:ext cx="832784" cy="0"/>
          </a:xfrm>
          <a:prstGeom prst="line">
            <a:avLst/>
          </a:prstGeom>
          <a:ln w="31750">
            <a:solidFill>
              <a:srgbClr val="00AB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51707" y="3270808"/>
            <a:ext cx="1227260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2E2B"/>
                </a:solidFill>
                <a:latin typeface="Arial"/>
              </a:rPr>
              <a:t>0 ou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629" y="2376068"/>
            <a:ext cx="2980490" cy="21662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20" b="0" i="0">
                <a:solidFill>
                  <a:srgbClr val="2B3A38"/>
                </a:solidFill>
                <a:latin typeface="Arial"/>
              </a:rPr>
              <a:t>Entrées × poids</a:t>
            </a:r>
          </a:p>
          <a:p>
            <a:pPr algn="l">
              <a:spcAft>
                <a:spcPts val="600"/>
              </a:spcAft>
            </a:pPr>
            <a:r>
              <a:rPr sz="1620" b="0" i="0">
                <a:solidFill>
                  <a:srgbClr val="2B3A38"/>
                </a:solidFill>
                <a:latin typeface="Arial"/>
              </a:rPr>
              <a:t>→ somme</a:t>
            </a:r>
          </a:p>
          <a:p>
            <a:pPr algn="l">
              <a:spcAft>
                <a:spcPts val="600"/>
              </a:spcAft>
            </a:pPr>
            <a:r>
              <a:rPr sz="1620" b="0" i="0">
                <a:solidFill>
                  <a:srgbClr val="2B3A38"/>
                </a:solidFill>
                <a:latin typeface="Arial"/>
              </a:rPr>
              <a:t>→ « s'allume » au-delà d'un seuil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42839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33" y="5342839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00877A"/>
                </a:solidFill>
                <a:latin typeface="Arial"/>
              </a:rPr>
              <a:t>La brique de base de tous les réseaux de neurones, jusqu'à ChatGPT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1950 · Les pionniers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 test de Turing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9</a:t>
            </a:fld>
          </a:p>
        </p:txBody>
      </p:sp>
      <p:sp>
        <p:nvSpPr>
          <p:cNvPr id="6" name="Oval 5"/>
          <p:cNvSpPr/>
          <p:nvPr/>
        </p:nvSpPr>
        <p:spPr>
          <a:xfrm>
            <a:off x="1253710" y="2424981"/>
            <a:ext cx="1314922" cy="1314922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User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90" y="2766861"/>
            <a:ext cx="631162" cy="6311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725" y="3882999"/>
            <a:ext cx="1840891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1" i="0">
                <a:solidFill>
                  <a:srgbClr val="1A2E2B"/>
                </a:solidFill>
                <a:latin typeface="Arial"/>
              </a:rPr>
              <a:t>Le juge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4601" y="2564434"/>
            <a:ext cx="2279198" cy="70637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9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263" y="2564434"/>
            <a:ext cx="2103875" cy="706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Aimez-vous la poésie 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24446" y="1622602"/>
            <a:ext cx="219153" cy="3390595"/>
          </a:xfrm>
          <a:prstGeom prst="rect">
            <a:avLst/>
          </a:prstGeom>
          <a:solidFill>
            <a:srgbClr val="C9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5738" y="1755916"/>
            <a:ext cx="1051937" cy="105193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42" y="2029420"/>
            <a:ext cx="504930" cy="5049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5738" y="2894076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6425738" y="3545397"/>
            <a:ext cx="1051937" cy="105193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42" y="3818900"/>
            <a:ext cx="504930" cy="5049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5738" y="4683556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3644" y="2093518"/>
            <a:ext cx="3243475" cy="2825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1710" b="0" i="0">
                <a:solidFill>
                  <a:srgbClr val="1A2E2B"/>
                </a:solidFill>
                <a:latin typeface="Arial"/>
              </a:rPr>
              <a:t>Si le juge ne sait pas qui est la machine, elle « passe » le test.</a:t>
            </a:r>
          </a:p>
          <a:p>
            <a:pPr algn="l">
              <a:spcAft>
                <a:spcPts val="1400"/>
              </a:spcAft>
            </a:pPr>
            <a:r>
              <a:rPr sz="1710" b="1" i="1">
                <a:solidFill>
                  <a:srgbClr val="00877A"/>
                </a:solidFill>
                <a:latin typeface="Arial"/>
              </a:rPr>
              <a:t>Imiter, est-ce penser 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10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1956 – 1974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LES PREMIERS ESPOIRS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Tout semble possible…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560527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19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31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3F63A8"/>
                </a:solidFill>
              </a:rPr>
              <a:t>1956 – 1974 · Les premiers espoirs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Les premiers succès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11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3374967" cy="3202228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3374967" cy="64008"/>
          </a:xfrm>
          <a:prstGeom prst="rect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233" y="1810969"/>
            <a:ext cx="2936659" cy="706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60" b="1" i="0">
                <a:solidFill>
                  <a:srgbClr val="3F63A8"/>
                </a:solidFill>
                <a:latin typeface="Arial"/>
              </a:rPr>
              <a:t>1956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233" y="2611526"/>
            <a:ext cx="2936659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Logic Theorist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233" y="3506266"/>
            <a:ext cx="2936659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Démontre des théorèmes de logique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8031" y="1528419"/>
            <a:ext cx="3374967" cy="3202228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8031" y="1528419"/>
            <a:ext cx="3374967" cy="64008"/>
          </a:xfrm>
          <a:prstGeom prst="rect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7185" y="1810969"/>
            <a:ext cx="2936659" cy="706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60" b="1" i="0">
                <a:solidFill>
                  <a:srgbClr val="3F63A8"/>
                </a:solidFill>
                <a:latin typeface="Arial"/>
              </a:rPr>
              <a:t>1958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7185" y="2611526"/>
            <a:ext cx="2936659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Perceptron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7185" y="3506266"/>
            <a:ext cx="2936659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Une machine qui apprend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5983" y="1528419"/>
            <a:ext cx="3374967" cy="3202228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5983" y="1528419"/>
            <a:ext cx="3374967" cy="64008"/>
          </a:xfrm>
          <a:prstGeom prst="rect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5137" y="1810969"/>
            <a:ext cx="2936659" cy="706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60" b="1" i="0">
                <a:solidFill>
                  <a:srgbClr val="3F63A8"/>
                </a:solidFill>
                <a:latin typeface="Arial"/>
              </a:rPr>
              <a:t>1959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5137" y="2611526"/>
            <a:ext cx="2936659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Jeu de dames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5137" y="3506266"/>
            <a:ext cx="2936659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Naissance du mot « machine learning 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60289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33" y="5060289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3F63A8"/>
                </a:solidFill>
                <a:latin typeface="Arial"/>
              </a:rPr>
              <a:t>1965 : « Dans 20 ans, les machines feront tout travail humain 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3F63A8"/>
                </a:solidFill>
              </a:rPr>
              <a:t>1966 · Les premiers espoirs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ELIZA, le premier « chatbot »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12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2130325" y="1575511"/>
            <a:ext cx="4032428" cy="75346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9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5648" y="1575511"/>
            <a:ext cx="3681782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Je me sens un peu déprimé.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7343"/>
            <a:ext cx="4032428" cy="753465"/>
          </a:xfrm>
          <a:prstGeom prst="roundRect">
            <a:avLst>
              <a:gd name="adj" fmla="val 18000"/>
            </a:avLst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402" y="2517343"/>
            <a:ext cx="3681782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</a:rPr>
              <a:t>Pourquoi vous sentez-vous déprimé 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325" y="3459175"/>
            <a:ext cx="4032428" cy="75346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9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5648" y="3459175"/>
            <a:ext cx="3681782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Ma mère ne me comprend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01007"/>
            <a:ext cx="4032428" cy="753465"/>
          </a:xfrm>
          <a:prstGeom prst="roundRect">
            <a:avLst>
              <a:gd name="adj" fmla="val 18000"/>
            </a:avLst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02" y="4401007"/>
            <a:ext cx="3681782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</a:rPr>
              <a:t>Parlez-moi de votre famille.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045" y="1716786"/>
            <a:ext cx="4383074" cy="3390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Aucune compréhension :</a:t>
            </a:r>
          </a:p>
          <a:p>
            <a:pPr algn="l">
              <a:spcAft>
                <a:spcPts val="0"/>
              </a:spcAft>
            </a:pPr>
            <a:r>
              <a:rPr sz="1710" b="0" i="0">
                <a:solidFill>
                  <a:srgbClr val="1A2E2B"/>
                </a:solidFill>
                <a:latin typeface="Arial"/>
              </a:rPr>
              <a:t>des mots-clés et des règles.</a:t>
            </a:r>
          </a:p>
          <a:p>
            <a:pPr algn="l">
              <a:spcAft>
                <a:spcPts val="0"/>
              </a:spcAft>
            </a:pPr>
            <a:r>
              <a:rPr sz="1710" b="0" i="0">
                <a:solidFill>
                  <a:srgbClr val="1A2E2B"/>
                </a:solidFill>
                <a:latin typeface="Arial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710" b="0" i="1">
                <a:solidFill>
                  <a:srgbClr val="3F63A8"/>
                </a:solidFill>
                <a:latin typeface="Arial"/>
              </a:rPr>
              <a:t>Pourtant, les utilisateurs lui confient leurs secrets.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6B7876"/>
                </a:solidFill>
              </a:rPr>
              <a:t>1974 – 1980 · Hiver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 premier hiver de l'IA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3374967" cy="3202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3374967" cy="64008"/>
          </a:xfrm>
          <a:prstGeom prst="rect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8703" y="1840316"/>
            <a:ext cx="788953" cy="788953"/>
          </a:xfrm>
          <a:prstGeom prst="ellipse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831" y="2045444"/>
            <a:ext cx="378697" cy="3786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402" y="2799892"/>
            <a:ext cx="3024321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Promesses non tenues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064" y="3412083"/>
            <a:ext cx="2848998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La traduction automatique déçoit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8031" y="1528419"/>
            <a:ext cx="3374967" cy="3202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8031" y="1528419"/>
            <a:ext cx="3374967" cy="64008"/>
          </a:xfrm>
          <a:prstGeom prst="rect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66655" y="1840316"/>
            <a:ext cx="788953" cy="788953"/>
          </a:xfrm>
          <a:prstGeom prst="ellipse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Time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783" y="2045444"/>
            <a:ext cx="378697" cy="3786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53354" y="2799892"/>
            <a:ext cx="3024321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Limites théoriques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016" y="3412083"/>
            <a:ext cx="2848998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Le perceptron simple ne sait pas tout apprendre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5983" y="1528419"/>
            <a:ext cx="3374967" cy="3202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15983" y="1528419"/>
            <a:ext cx="3374967" cy="64008"/>
          </a:xfrm>
          <a:prstGeom prst="rect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04607" y="1840316"/>
            <a:ext cx="788953" cy="788953"/>
          </a:xfrm>
          <a:prstGeom prst="ellipse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Micro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735" y="2045444"/>
            <a:ext cx="378697" cy="3786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1306" y="2799892"/>
            <a:ext cx="3024321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Trop peu de calcul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8967" y="3412083"/>
            <a:ext cx="2848998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Des ordinateurs bien trop lents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60289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33" y="5060289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6B7876"/>
                </a:solidFill>
                <a:latin typeface="Arial"/>
              </a:rPr>
              <a:t>Conséquence : les financements s'effondrent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14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1980 – 1987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LES SYSTÈMES EXPERTS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Et si l'on mettait le savoir des experts dans la machine ?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81912" y="560527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31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9C8200"/>
                </a:solidFill>
              </a:rPr>
              <a:t>1980 – 1987 · Les systèmes experts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Les systèmes experts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15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2323029" cy="178948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2323029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5202" y="1747764"/>
            <a:ext cx="832784" cy="832784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UserM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726" y="1964288"/>
            <a:ext cx="399736" cy="3997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7741" y="2705709"/>
            <a:ext cx="2147706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Un expert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06940" y="2423160"/>
            <a:ext cx="350646" cy="0"/>
          </a:xfrm>
          <a:prstGeom prst="line">
            <a:avLst/>
          </a:prstGeom>
          <a:ln w="31750">
            <a:solidFill>
              <a:srgbClr val="9C82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01416" y="1528419"/>
            <a:ext cx="2323029" cy="178948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416" y="1528419"/>
            <a:ext cx="2323029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46539" y="1747764"/>
            <a:ext cx="832784" cy="832784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Boo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063" y="1964288"/>
            <a:ext cx="399736" cy="3997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89078" y="2705709"/>
            <a:ext cx="2147706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Des règles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8277" y="2423160"/>
            <a:ext cx="350645" cy="0"/>
          </a:xfrm>
          <a:prstGeom prst="line">
            <a:avLst/>
          </a:prstGeom>
          <a:ln w="31750">
            <a:solidFill>
              <a:srgbClr val="9C82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62753" y="1528419"/>
            <a:ext cx="2323029" cy="178948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2753" y="1528419"/>
            <a:ext cx="2323029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07876" y="1747764"/>
            <a:ext cx="832784" cy="832784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ogs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400" y="1964288"/>
            <a:ext cx="399736" cy="3997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50415" y="2705709"/>
            <a:ext cx="2147706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Un moteur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29613" y="2423160"/>
            <a:ext cx="350646" cy="0"/>
          </a:xfrm>
          <a:prstGeom prst="line">
            <a:avLst/>
          </a:prstGeom>
          <a:ln w="31750">
            <a:solidFill>
              <a:srgbClr val="9C82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24090" y="1528419"/>
            <a:ext cx="2323029" cy="178948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090" y="1528419"/>
            <a:ext cx="2323029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69213" y="1747764"/>
            <a:ext cx="832784" cy="832784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heckCircl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737" y="1964288"/>
            <a:ext cx="399736" cy="3997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11752" y="2705709"/>
            <a:ext cx="2147706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Un conseil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47541"/>
            <a:ext cx="10607040" cy="2307488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0725" y="3835908"/>
            <a:ext cx="6574611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4D73F"/>
                </a:solidFill>
                <a:latin typeface="Courier New"/>
              </a:rPr>
              <a:t>SI    </a:t>
            </a:r>
            <a:r>
              <a:rPr sz="1800" b="0" i="0">
                <a:solidFill>
                  <a:srgbClr val="FFFFFF"/>
                </a:solidFill>
                <a:latin typeface="Courier New"/>
              </a:rPr>
              <a:t>l'infection est bactérienne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4D73F"/>
                </a:solidFill>
                <a:latin typeface="Courier New"/>
              </a:rPr>
              <a:t>ET    </a:t>
            </a:r>
            <a:r>
              <a:rPr sz="1800" b="0" i="0">
                <a:solidFill>
                  <a:srgbClr val="FFFFFF"/>
                </a:solidFill>
                <a:latin typeface="Courier New"/>
              </a:rPr>
              <a:t>le patient a de la fièvre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4D73F"/>
                </a:solidFill>
                <a:latin typeface="Courier New"/>
              </a:rPr>
              <a:t>ALORS </a:t>
            </a:r>
            <a:r>
              <a:rPr sz="1800" b="0" i="0">
                <a:solidFill>
                  <a:srgbClr val="FFFFFF"/>
                </a:solidFill>
                <a:latin typeface="Courier New"/>
              </a:rPr>
              <a:t>proposer l'antibiotique 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3644" y="3835908"/>
            <a:ext cx="3068152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30" b="1" i="0">
                <a:solidFill>
                  <a:srgbClr val="F4D73F"/>
                </a:solidFill>
                <a:latin typeface="Arial"/>
              </a:rPr>
              <a:t>MYCIN (médecine)</a:t>
            </a:r>
          </a:p>
          <a:p>
            <a:pPr algn="l">
              <a:spcAft>
                <a:spcPts val="800"/>
              </a:spcAft>
            </a:pPr>
            <a:r>
              <a:rPr sz="1530" b="1" i="0">
                <a:solidFill>
                  <a:srgbClr val="F4D73F"/>
                </a:solidFill>
                <a:latin typeface="Arial"/>
              </a:rPr>
              <a:t>XCON (industrie)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6B7876"/>
                </a:solidFill>
              </a:rPr>
              <a:t>1987 – 1993 · Hiver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 second hiver de l'IA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16</a:t>
            </a:fld>
          </a:p>
        </p:txBody>
      </p:sp>
      <p:sp>
        <p:nvSpPr>
          <p:cNvPr id="6" name="Oval 5"/>
          <p:cNvSpPr/>
          <p:nvPr/>
        </p:nvSpPr>
        <p:spPr>
          <a:xfrm>
            <a:off x="815402" y="1651950"/>
            <a:ext cx="788953" cy="788953"/>
          </a:xfrm>
          <a:prstGeom prst="ellipse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o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30" y="1857078"/>
            <a:ext cx="378697" cy="3786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67340" y="1622602"/>
            <a:ext cx="3944766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80" b="1" i="0">
                <a:solidFill>
                  <a:srgbClr val="1A2E2B"/>
                </a:solidFill>
                <a:latin typeface="Arial"/>
              </a:rPr>
              <a:t>Coûteux</a:t>
            </a:r>
          </a:p>
        </p:txBody>
      </p:sp>
      <p:sp>
        <p:nvSpPr>
          <p:cNvPr id="9" name="Oval 8"/>
          <p:cNvSpPr/>
          <p:nvPr/>
        </p:nvSpPr>
        <p:spPr>
          <a:xfrm>
            <a:off x="815402" y="2876332"/>
            <a:ext cx="788953" cy="788953"/>
          </a:xfrm>
          <a:prstGeom prst="ellipse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" y="3081459"/>
            <a:ext cx="378697" cy="3786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67340" y="2846984"/>
            <a:ext cx="3944766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80" b="1" i="0">
                <a:solidFill>
                  <a:srgbClr val="1A2E2B"/>
                </a:solidFill>
                <a:latin typeface="Arial"/>
              </a:rPr>
              <a:t>Fragiles</a:t>
            </a:r>
          </a:p>
        </p:txBody>
      </p:sp>
      <p:sp>
        <p:nvSpPr>
          <p:cNvPr id="12" name="Oval 11"/>
          <p:cNvSpPr/>
          <p:nvPr/>
        </p:nvSpPr>
        <p:spPr>
          <a:xfrm>
            <a:off x="815402" y="4100713"/>
            <a:ext cx="788953" cy="788953"/>
          </a:xfrm>
          <a:prstGeom prst="ellipse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30" y="4305841"/>
            <a:ext cx="378697" cy="3786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67340" y="4071366"/>
            <a:ext cx="3944766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80" b="1" i="0">
                <a:solidFill>
                  <a:srgbClr val="1A2E2B"/>
                </a:solidFill>
                <a:latin typeface="Arial"/>
              </a:rPr>
              <a:t>Incapables d'apprendre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5738" y="1528419"/>
            <a:ext cx="4821381" cy="3955694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6384" y="1716786"/>
            <a:ext cx="4207751" cy="35789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D73F"/>
                </a:solidFill>
                <a:latin typeface="Arial"/>
              </a:rPr>
              <a:t>La leçon</a:t>
            </a:r>
          </a:p>
          <a:p>
            <a:pPr algn="l">
              <a:spcAft>
                <a:spcPts val="0"/>
              </a:spcAft>
            </a:pPr>
            <a:r>
              <a:rPr sz="1980" b="0" i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980" b="1" i="0">
                <a:solidFill>
                  <a:srgbClr val="FFFFFF"/>
                </a:solidFill>
                <a:latin typeface="Arial"/>
              </a:rPr>
              <a:t>On ne peut pas écrire toutes les règles à la main.</a:t>
            </a:r>
          </a:p>
          <a:p>
            <a:pPr algn="l">
              <a:spcAft>
                <a:spcPts val="0"/>
              </a:spcAft>
            </a:pPr>
            <a:r>
              <a:rPr sz="1980" b="0" i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980" b="0" i="1">
                <a:solidFill>
                  <a:srgbClr val="FFFFFF"/>
                </a:solidFill>
                <a:latin typeface="Arial"/>
              </a:rPr>
              <a:t>Et si la machine les apprenait 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Le tournant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Deux façons de faire de l'IA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17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5172027" cy="442661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5172027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064" y="1716786"/>
            <a:ext cx="4646058" cy="518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90" b="1" i="0">
                <a:solidFill>
                  <a:srgbClr val="9C8200"/>
                </a:solidFill>
                <a:latin typeface="Arial"/>
              </a:rPr>
              <a:t>Programmer les règles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03064" y="2564434"/>
            <a:ext cx="1314922" cy="612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3064" y="2564434"/>
            <a:ext cx="1314922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Données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3064" y="3412083"/>
            <a:ext cx="1314922" cy="612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064" y="3412083"/>
            <a:ext cx="1314922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Règles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8632" y="2988259"/>
            <a:ext cx="1446414" cy="612190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8632" y="2988259"/>
            <a:ext cx="1446414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Programme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5693" y="2988259"/>
            <a:ext cx="1183430" cy="612190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5693" y="2988259"/>
            <a:ext cx="1183430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Réponses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35519" y="2875239"/>
            <a:ext cx="315581" cy="348478"/>
          </a:xfrm>
          <a:prstGeom prst="line">
            <a:avLst/>
          </a:prstGeom>
          <a:ln w="25400">
            <a:solidFill>
              <a:srgbClr val="9C82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35519" y="3412083"/>
            <a:ext cx="315581" cy="310805"/>
          </a:xfrm>
          <a:prstGeom prst="line">
            <a:avLst/>
          </a:prstGeom>
          <a:ln w="25400">
            <a:solidFill>
              <a:srgbClr val="9C82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32579" y="3299063"/>
            <a:ext cx="315581" cy="0"/>
          </a:xfrm>
          <a:prstGeom prst="line">
            <a:avLst/>
          </a:prstGeom>
          <a:ln w="25400">
            <a:solidFill>
              <a:srgbClr val="9C82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3064" y="4353915"/>
            <a:ext cx="4646058" cy="1412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 i="1">
                <a:solidFill>
                  <a:srgbClr val="2B3A38"/>
                </a:solidFill>
                <a:latin typeface="Arial"/>
              </a:rPr>
              <a:t>Anti-spam : « si le mail contient “gratuit”, c'est un spam 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5092" y="1528419"/>
            <a:ext cx="5172027" cy="442661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75092" y="1528419"/>
            <a:ext cx="517202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8076" y="1716786"/>
            <a:ext cx="4646058" cy="518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90" b="1" i="0">
                <a:solidFill>
                  <a:srgbClr val="D1452B"/>
                </a:solidFill>
                <a:latin typeface="Arial"/>
              </a:rPr>
              <a:t>Apprendre des exemples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8076" y="2564434"/>
            <a:ext cx="1314922" cy="612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8076" y="2564434"/>
            <a:ext cx="1314922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Données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8076" y="3412083"/>
            <a:ext cx="1314922" cy="612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8076" y="3412083"/>
            <a:ext cx="1314922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A2E2B"/>
                </a:solidFill>
                <a:latin typeface="Arial"/>
              </a:rPr>
              <a:t>Réponses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3644" y="2988259"/>
            <a:ext cx="1446414" cy="612190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3644" y="2988259"/>
            <a:ext cx="1446414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Apprentissage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00705" y="2988259"/>
            <a:ext cx="1183430" cy="612190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0705" y="2988259"/>
            <a:ext cx="1183430" cy="612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Règles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70531" y="2875239"/>
            <a:ext cx="315581" cy="348478"/>
          </a:xfrm>
          <a:prstGeom prst="line">
            <a:avLst/>
          </a:prstGeom>
          <a:ln w="25400">
            <a:solidFill>
              <a:srgbClr val="D145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670531" y="3412083"/>
            <a:ext cx="315581" cy="310805"/>
          </a:xfrm>
          <a:prstGeom prst="line">
            <a:avLst/>
          </a:prstGeom>
          <a:ln w="25400">
            <a:solidFill>
              <a:srgbClr val="D145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67591" y="3299063"/>
            <a:ext cx="315582" cy="0"/>
          </a:xfrm>
          <a:prstGeom prst="line">
            <a:avLst/>
          </a:prstGeom>
          <a:ln w="25400">
            <a:solidFill>
              <a:srgbClr val="D145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38076" y="4353915"/>
            <a:ext cx="4646058" cy="1412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 i="1">
                <a:solidFill>
                  <a:srgbClr val="2B3A38"/>
                </a:solidFill>
                <a:latin typeface="Arial"/>
              </a:rPr>
              <a:t>Anti-spam : 100 000 mails étiquetés, l'algorithme trouve seul les indices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18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1993 – 2011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L'APPRENTISSAGE AUTOMATIQUE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Apprendre à partir des données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39112" y="560527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D1452B"/>
                </a:solidFill>
              </a:rPr>
              <a:t>1986 – 2011 · L'apprentissage automatique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L'apprentissage automatique s'impose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19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2498352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402" y="1810969"/>
            <a:ext cx="2147706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80" b="1" i="0">
                <a:solidFill>
                  <a:srgbClr val="D1452B"/>
                </a:solidFill>
                <a:latin typeface="Arial"/>
              </a:rPr>
              <a:t>1986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402" y="2752801"/>
            <a:ext cx="2147706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Rétro-propagation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1287" y="1528419"/>
            <a:ext cx="2498352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1287" y="1528419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6610" y="1810969"/>
            <a:ext cx="2147706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80" b="1" i="0">
                <a:solidFill>
                  <a:srgbClr val="D1452B"/>
                </a:solidFill>
                <a:latin typeface="Arial"/>
              </a:rPr>
              <a:t>1998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610" y="2752801"/>
            <a:ext cx="2147706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LeNet lit les chèques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2495" y="1528419"/>
            <a:ext cx="2498352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22495" y="1528419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7818" y="1810969"/>
            <a:ext cx="2147706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80" b="1" i="0">
                <a:solidFill>
                  <a:srgbClr val="D1452B"/>
                </a:solidFill>
                <a:latin typeface="Arial"/>
              </a:rPr>
              <a:t>2001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818" y="2752801"/>
            <a:ext cx="2147706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Forêts aléatoires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13703" y="1528419"/>
            <a:ext cx="2498352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13703" y="1528419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9025" y="1810969"/>
            <a:ext cx="2147706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80" b="1" i="0">
                <a:solidFill>
                  <a:srgbClr val="D1452B"/>
                </a:solidFill>
                <a:latin typeface="Arial"/>
              </a:rPr>
              <a:t>2009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9025" y="2752801"/>
            <a:ext cx="2147706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Netflix Prize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30648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33" y="4730648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D1452B"/>
                </a:solidFill>
                <a:latin typeface="Arial"/>
              </a:rPr>
              <a:t>Discrètement, l'IA entre dans les produits : anti-spam, recherche, recommandations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20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2012 –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LE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Les réseaux de neurones prennent leur revanche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31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96312" y="560527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5669280"/>
            <a:ext cx="182880" cy="182880"/>
          </a:xfrm>
          <a:prstGeom prst="ellipse">
            <a:avLst/>
          </a:prstGeom>
          <a:solidFill>
            <a:srgbClr val="7F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Vers 2010 · Le deep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Trois ingrédients réunis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21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3374967" cy="3955694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9679" y="1898821"/>
            <a:ext cx="1095768" cy="1095768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Databas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579" y="2183721"/>
            <a:ext cx="525968" cy="52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402" y="3223717"/>
            <a:ext cx="3024321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5F7C17"/>
                </a:solidFill>
                <a:latin typeface="Arial"/>
              </a:rPr>
              <a:t>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064" y="4071366"/>
            <a:ext cx="2848998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0" i="0">
                <a:solidFill>
                  <a:srgbClr val="2B3A38"/>
                </a:solidFill>
                <a:latin typeface="Arial"/>
              </a:rPr>
              <a:t>14 millions d'images dans ImageNet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8031" y="1528419"/>
            <a:ext cx="3374967" cy="3955694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8031" y="1528419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7631" y="1898821"/>
            <a:ext cx="1095768" cy="1095768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Microchip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530" y="2183721"/>
            <a:ext cx="525968" cy="5259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53354" y="3223717"/>
            <a:ext cx="3024321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5F7C17"/>
                </a:solidFill>
                <a:latin typeface="Arial"/>
              </a:rPr>
              <a:t>Calcul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016" y="4071366"/>
            <a:ext cx="2848998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0" i="0">
                <a:solidFill>
                  <a:srgbClr val="2B3A38"/>
                </a:solidFill>
                <a:latin typeface="Arial"/>
              </a:rPr>
              <a:t>les cartes graphiques (GPU)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5983" y="1528419"/>
            <a:ext cx="3374967" cy="3955694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15983" y="1528419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55582" y="1898821"/>
            <a:ext cx="1095768" cy="1095768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LayerGroup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482" y="2183721"/>
            <a:ext cx="525968" cy="5259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1306" y="3223717"/>
            <a:ext cx="3024321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5F7C17"/>
                </a:solidFill>
                <a:latin typeface="Arial"/>
              </a:rPr>
              <a:t>Algorithmes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8967" y="4071366"/>
            <a:ext cx="2848998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0" i="0">
                <a:solidFill>
                  <a:srgbClr val="2B3A38"/>
                </a:solidFill>
                <a:latin typeface="Arial"/>
              </a:rPr>
              <a:t>des réseaux à nombreuses couches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2012 · Le deep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 choc AlexNet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22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34236"/>
          <a:ext cx="6486950" cy="456788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77676" y="1622602"/>
            <a:ext cx="3769443" cy="4238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5F7C17"/>
                </a:solidFill>
                <a:latin typeface="Arial"/>
              </a:rPr>
              <a:t>2012</a:t>
            </a:r>
          </a:p>
          <a:p>
            <a:pPr algn="l">
              <a:spcAft>
                <a:spcPts val="0"/>
              </a:spcAft>
            </a:pPr>
            <a:r>
              <a:rPr sz="1710" b="0" i="0">
                <a:solidFill>
                  <a:srgbClr val="1A2E2B"/>
                </a:solidFill>
                <a:latin typeface="Arial"/>
              </a:rPr>
              <a:t>L'erreur chute de 10 points d'un coup.</a:t>
            </a:r>
          </a:p>
          <a:p>
            <a:pPr algn="l">
              <a:spcAft>
                <a:spcPts val="0"/>
              </a:spcAft>
            </a:pPr>
            <a:r>
              <a:rPr sz="1710" b="0" i="0">
                <a:solidFill>
                  <a:srgbClr val="1A2E2B"/>
                </a:solidFill>
                <a:latin typeface="Arial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5F7C17"/>
                </a:solidFill>
                <a:latin typeface="Arial"/>
              </a:rPr>
              <a:t>2015</a:t>
            </a:r>
          </a:p>
          <a:p>
            <a:pPr algn="l">
              <a:spcAft>
                <a:spcPts val="0"/>
              </a:spcAft>
            </a:pPr>
            <a:r>
              <a:rPr sz="1710" b="0" i="0">
                <a:solidFill>
                  <a:srgbClr val="1A2E2B"/>
                </a:solidFill>
                <a:latin typeface="Arial"/>
              </a:rPr>
              <a:t>Mieux que l'humain sur cette tâche.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Le deep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Pourquoi « profond » 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810969"/>
            <a:ext cx="1840891" cy="226039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10969"/>
            <a:ext cx="1840891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387" y="2129388"/>
            <a:ext cx="964276" cy="964276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Imag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99" y="2380100"/>
            <a:ext cx="462852" cy="4628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7741" y="3317900"/>
            <a:ext cx="1665568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Pixels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98503" y="2941167"/>
            <a:ext cx="315581" cy="0"/>
          </a:xfrm>
          <a:prstGeom prst="line">
            <a:avLst/>
          </a:prstGeom>
          <a:ln w="31750">
            <a:solidFill>
              <a:srgbClr val="5F7C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831617" y="1810969"/>
            <a:ext cx="1840891" cy="226039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1617" y="1810969"/>
            <a:ext cx="1840891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69924" y="2129388"/>
            <a:ext cx="964276" cy="964276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GripLine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636" y="2380100"/>
            <a:ext cx="462852" cy="4628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19278" y="3317900"/>
            <a:ext cx="1665568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Contours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90040" y="2941167"/>
            <a:ext cx="315582" cy="0"/>
          </a:xfrm>
          <a:prstGeom prst="line">
            <a:avLst/>
          </a:prstGeom>
          <a:ln w="31750">
            <a:solidFill>
              <a:srgbClr val="5F7C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3154" y="1810969"/>
            <a:ext cx="1840891" cy="226039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3154" y="1810969"/>
            <a:ext cx="1840891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61461" y="2129388"/>
            <a:ext cx="964276" cy="964276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Shapes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173" y="2380100"/>
            <a:ext cx="462852" cy="4628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10815" y="3317900"/>
            <a:ext cx="1665568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Formes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81577" y="2941167"/>
            <a:ext cx="315582" cy="0"/>
          </a:xfrm>
          <a:prstGeom prst="line">
            <a:avLst/>
          </a:prstGeom>
          <a:ln w="31750">
            <a:solidFill>
              <a:srgbClr val="5F7C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214691" y="1810969"/>
            <a:ext cx="1840891" cy="226039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14691" y="1810969"/>
            <a:ext cx="1840891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52999" y="2129388"/>
            <a:ext cx="964276" cy="964276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a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710" y="2380100"/>
            <a:ext cx="462852" cy="4628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02353" y="3317900"/>
            <a:ext cx="1665568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Parties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73115" y="2941167"/>
            <a:ext cx="315581" cy="0"/>
          </a:xfrm>
          <a:prstGeom prst="line">
            <a:avLst/>
          </a:prstGeom>
          <a:ln w="31750">
            <a:solidFill>
              <a:srgbClr val="5F7C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406228" y="1810969"/>
            <a:ext cx="1840891" cy="2260396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44536" y="2129388"/>
            <a:ext cx="964276" cy="964276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a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248" y="2380100"/>
            <a:ext cx="462852" cy="4628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3890" y="3317900"/>
            <a:ext cx="1665568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« Chat 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730648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233" y="4730648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5F7C17"/>
                </a:solidFill>
                <a:latin typeface="Arial"/>
              </a:rPr>
              <a:t>Personne ne programme ces étapes : le réseau les découvre seul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1997 vs 2016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Deux victoires, deux philosophies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24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5172027" cy="442661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517202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6895" y="1843577"/>
            <a:ext cx="876614" cy="876614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hessK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15" y="2071497"/>
            <a:ext cx="420775" cy="420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2663" y="1810969"/>
            <a:ext cx="3506459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80" b="1" i="0">
                <a:solidFill>
                  <a:srgbClr val="1A2E2B"/>
                </a:solidFill>
                <a:latin typeface="Arial"/>
              </a:rPr>
              <a:t>1997 · Deep Blue, échecs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895" y="2988259"/>
            <a:ext cx="4558397" cy="1036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500" b="1" i="0">
                <a:solidFill>
                  <a:srgbClr val="D1452B"/>
                </a:solidFill>
                <a:latin typeface="Arial"/>
              </a:rPr>
              <a:t>200 millions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895" y="4024274"/>
            <a:ext cx="4558397" cy="565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A6B68"/>
                </a:solidFill>
                <a:latin typeface="Arial"/>
              </a:rPr>
              <a:t>de positions calculées par seconde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895" y="4777740"/>
            <a:ext cx="4558397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80" b="1" i="1">
                <a:solidFill>
                  <a:srgbClr val="1A2E2B"/>
                </a:solidFill>
                <a:latin typeface="Arial"/>
              </a:rPr>
              <a:t>Force brute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5092" y="1528419"/>
            <a:ext cx="5172027" cy="442661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75092" y="1528419"/>
            <a:ext cx="517202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1907" y="1843577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Gamepa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827" y="2071497"/>
            <a:ext cx="420775" cy="420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77676" y="1810969"/>
            <a:ext cx="3506459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80" b="1" i="0">
                <a:solidFill>
                  <a:srgbClr val="1A2E2B"/>
                </a:solidFill>
                <a:latin typeface="Arial"/>
              </a:rPr>
              <a:t>2016 · AlphaGo,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907" y="2988259"/>
            <a:ext cx="4558397" cy="1036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500" b="1" i="0">
                <a:solidFill>
                  <a:srgbClr val="5F7C17"/>
                </a:solidFill>
                <a:latin typeface="Arial"/>
              </a:rPr>
              <a:t>10</a:t>
            </a:r>
            <a:r>
              <a:rPr sz="4500" b="1" i="0" baseline="30000">
                <a:solidFill>
                  <a:srgbClr val="5F7C17"/>
                </a:solidFill>
                <a:latin typeface="Arial"/>
              </a:rPr>
              <a:t>170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907" y="4024274"/>
            <a:ext cx="4558397" cy="565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A6B68"/>
                </a:solidFill>
                <a:latin typeface="Arial"/>
              </a:rPr>
              <a:t>positions possibles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907" y="4777740"/>
            <a:ext cx="4558397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80" b="1" i="1">
                <a:solidFill>
                  <a:srgbClr val="1A2E2B"/>
                </a:solidFill>
                <a:latin typeface="Arial"/>
              </a:rPr>
              <a:t>Apprentissage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2012 – 2020 · Le deep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 deep learning au quotidien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25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6895" y="1984852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Microphon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15" y="2212772"/>
            <a:ext cx="420775" cy="420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5002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Voix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8031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8031" y="1528419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84846" y="1984852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Languag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66" y="2212772"/>
            <a:ext cx="420775" cy="420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92954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Traduction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5983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5983" y="1528419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2798" y="1984852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XRay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718" y="2212772"/>
            <a:ext cx="420775" cy="420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30905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Médecine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59175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895" y="3915608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CarSid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815" y="4143528"/>
            <a:ext cx="420775" cy="4207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55002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Voitures autonomes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8031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8031" y="3459175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84846" y="3915608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Dna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766" y="4143528"/>
            <a:ext cx="420775" cy="4207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92954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AlphaFold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5983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15983" y="3459175"/>
            <a:ext cx="337496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2798" y="3915608"/>
            <a:ext cx="876614" cy="876614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TheaterMas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0718" y="4143528"/>
            <a:ext cx="420775" cy="4207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30905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Deepfakes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26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2017 – aujourd'hui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L'IA GÉNÉRATIVE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La machine qui écrit, dessine et converse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31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53512" y="560527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Comment ça marche ? · L'IA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Prédire le mot suivant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27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5610335" cy="84764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064" y="1528419"/>
            <a:ext cx="5259689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40" b="0" i="0">
                <a:solidFill>
                  <a:srgbClr val="FFFFFF"/>
                </a:solidFill>
                <a:latin typeface="Arial"/>
              </a:rPr>
              <a:t>Le chat dort sur le  </a:t>
            </a:r>
            <a:r>
              <a:rPr sz="2340" b="1" i="0">
                <a:solidFill>
                  <a:srgbClr val="F4D73F"/>
                </a:solidFill>
                <a:latin typeface="Arial"/>
              </a:rPr>
              <a:t>…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517343"/>
          <a:ext cx="5610335" cy="32022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76384" y="1716786"/>
            <a:ext cx="4470735" cy="40498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2E2B"/>
                </a:solidFill>
                <a:latin typeface="Arial"/>
              </a:rPr>
              <a:t>Entraîné sur d'immenses quantités de textes.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2E2B"/>
                </a:solidFill>
                <a:latin typeface="Arial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2E2B"/>
                </a:solidFill>
                <a:latin typeface="Arial"/>
              </a:rPr>
              <a:t>Il écrit mot après mot.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2E2B"/>
                </a:solidFill>
                <a:latin typeface="Arial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712180"/>
                </a:solidFill>
                <a:latin typeface="Arial"/>
              </a:rPr>
              <a:t>Plausible ≠ vrai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2017 – aujourd'hui · L'IA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De 2017 à aujourd'hui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28</a:t>
            </a:fld>
          </a:p>
        </p:txBody>
      </p:sp>
      <p:cxnSp>
        <p:nvCxnSpPr>
          <p:cNvPr id="6" name="Connector 5"/>
          <p:cNvCxnSpPr/>
          <p:nvPr/>
        </p:nvCxnSpPr>
        <p:spPr>
          <a:xfrm>
            <a:off x="946895" y="2752801"/>
            <a:ext cx="10037240" cy="0"/>
          </a:xfrm>
          <a:prstGeom prst="line">
            <a:avLst/>
          </a:prstGeom>
          <a:ln w="31750">
            <a:solidFill>
              <a:srgbClr val="C9D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472864" y="2577478"/>
            <a:ext cx="350645" cy="35064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6786"/>
            <a:ext cx="2016214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40" b="1" i="0">
                <a:solidFill>
                  <a:srgbClr val="712180"/>
                </a:solidFill>
                <a:latin typeface="Arial"/>
              </a:rPr>
              <a:t>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3717"/>
            <a:ext cx="2016214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Transformer</a:t>
            </a:r>
          </a:p>
        </p:txBody>
      </p:sp>
      <p:sp>
        <p:nvSpPr>
          <p:cNvPr id="10" name="Oval 9"/>
          <p:cNvSpPr/>
          <p:nvPr/>
        </p:nvSpPr>
        <p:spPr>
          <a:xfrm>
            <a:off x="3620570" y="2577478"/>
            <a:ext cx="350645" cy="35064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7786" y="1716786"/>
            <a:ext cx="2016214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40" b="1" i="0">
                <a:solidFill>
                  <a:srgbClr val="712180"/>
                </a:solidFill>
                <a:latin typeface="Arial"/>
              </a:rPr>
              <a:t>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7786" y="3223717"/>
            <a:ext cx="2016214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GPT-3</a:t>
            </a:r>
          </a:p>
        </p:txBody>
      </p:sp>
      <p:sp>
        <p:nvSpPr>
          <p:cNvPr id="13" name="Oval 12"/>
          <p:cNvSpPr/>
          <p:nvPr/>
        </p:nvSpPr>
        <p:spPr>
          <a:xfrm>
            <a:off x="5768277" y="2577478"/>
            <a:ext cx="350645" cy="35064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5492" y="1716786"/>
            <a:ext cx="2016214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40" b="1" i="0">
                <a:solidFill>
                  <a:srgbClr val="712180"/>
                </a:solidFill>
                <a:latin typeface="Arial"/>
              </a:rP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5492" y="3223717"/>
            <a:ext cx="2016214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ChatGPT</a:t>
            </a:r>
          </a:p>
        </p:txBody>
      </p:sp>
      <p:sp>
        <p:nvSpPr>
          <p:cNvPr id="16" name="Oval 15"/>
          <p:cNvSpPr/>
          <p:nvPr/>
        </p:nvSpPr>
        <p:spPr>
          <a:xfrm>
            <a:off x="7915983" y="2577478"/>
            <a:ext cx="350645" cy="35064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3199" y="1716786"/>
            <a:ext cx="2016214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40" b="1" i="0">
                <a:solidFill>
                  <a:srgbClr val="712180"/>
                </a:solidFill>
                <a:latin typeface="Arial"/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3199" y="3223717"/>
            <a:ext cx="2016214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Mistral, Claude, Llama…</a:t>
            </a:r>
          </a:p>
        </p:txBody>
      </p:sp>
      <p:sp>
        <p:nvSpPr>
          <p:cNvPr id="19" name="Oval 18"/>
          <p:cNvSpPr/>
          <p:nvPr/>
        </p:nvSpPr>
        <p:spPr>
          <a:xfrm>
            <a:off x="10063689" y="2577478"/>
            <a:ext cx="350645" cy="35064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0905" y="1716786"/>
            <a:ext cx="2016214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40" b="1" i="0">
                <a:solidFill>
                  <a:srgbClr val="712180"/>
                </a:solidFill>
                <a:latin typeface="Arial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0905" y="3223717"/>
            <a:ext cx="2016214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Agents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2023 · L'IA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Une adoption record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29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34236"/>
          <a:ext cx="6399288" cy="456788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90014" y="1528419"/>
            <a:ext cx="3857105" cy="4426610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5337" y="2093518"/>
            <a:ext cx="3506459" cy="1412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940" b="1" i="0">
                <a:solidFill>
                  <a:srgbClr val="F4D73F"/>
                </a:solidFill>
                <a:latin typeface="Arial"/>
              </a:rPr>
              <a:t>2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2999" y="3600450"/>
            <a:ext cx="3331136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pour 100 millions d'utilisateurs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Aujourd'hui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Les grands enjeux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30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337496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6895" y="1984852"/>
            <a:ext cx="876614" cy="876614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Balance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15" y="2212772"/>
            <a:ext cx="420775" cy="420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5002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Biais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8031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8031" y="1528419"/>
            <a:ext cx="3374967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84846" y="1984852"/>
            <a:ext cx="876614" cy="876614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ExclamationTriang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66" y="2212772"/>
            <a:ext cx="420775" cy="420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92954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Hallucinations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5983" y="1528419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5983" y="1528419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2798" y="1984852"/>
            <a:ext cx="876614" cy="876614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UserSecr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718" y="2212772"/>
            <a:ext cx="420775" cy="420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30905" y="1952244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Désinformation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59175"/>
            <a:ext cx="3374967" cy="64008"/>
          </a:xfrm>
          <a:prstGeom prst="rect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895" y="3915608"/>
            <a:ext cx="876614" cy="876614"/>
          </a:xfrm>
          <a:prstGeom prst="ellipse">
            <a:avLst/>
          </a:prstGeom>
          <a:solidFill>
            <a:srgbClr val="5B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815" y="4143528"/>
            <a:ext cx="420775" cy="4207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55002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Énergie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8031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8031" y="3459175"/>
            <a:ext cx="3374967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84846" y="3915608"/>
            <a:ext cx="876614" cy="876614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Brief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766" y="4143528"/>
            <a:ext cx="420775" cy="4207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92954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Travail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5983" y="3459175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15983" y="3459175"/>
            <a:ext cx="3374967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2798" y="3915608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UserShield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0718" y="4143528"/>
            <a:ext cx="420775" cy="4207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30905" y="3882999"/>
            <a:ext cx="2016214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0">
                <a:solidFill>
                  <a:srgbClr val="1A2E2B"/>
                </a:solidFill>
                <a:latin typeface="Arial"/>
              </a:rPr>
              <a:t>Vie privée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437022"/>
            <a:ext cx="10607040" cy="65928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233" y="5437022"/>
            <a:ext cx="1016873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00877A"/>
                </a:solidFill>
                <a:latin typeface="Arial"/>
              </a:rPr>
              <a:t>Un modèle n'est jamais meilleur que ses données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2024 · Aujourd'hui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Réguler : l'AI Act européen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31</a:t>
            </a:fld>
          </a:p>
        </p:txBody>
      </p:sp>
      <p:sp>
        <p:nvSpPr>
          <p:cNvPr id="6" name="Rectangle 5"/>
          <p:cNvSpPr/>
          <p:nvPr/>
        </p:nvSpPr>
        <p:spPr>
          <a:xfrm>
            <a:off x="2217986" y="1528419"/>
            <a:ext cx="2805167" cy="988923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5648" y="1528419"/>
            <a:ext cx="2629844" cy="988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FFFFFF"/>
                </a:solidFill>
                <a:latin typeface="Arial"/>
              </a:rPr>
              <a:t>Interdit</a:t>
            </a:r>
          </a:p>
          <a:p>
            <a:pPr algn="ctr">
              <a:spcAft>
                <a:spcPts val="0"/>
              </a:spcAft>
            </a:pPr>
            <a:r>
              <a:rPr sz="1170" b="0" i="0">
                <a:solidFill>
                  <a:srgbClr val="FFFFFF"/>
                </a:solidFill>
                <a:latin typeface="Arial"/>
              </a:rPr>
              <a:t>notation sociale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2017" y="2639781"/>
            <a:ext cx="3857105" cy="988923"/>
          </a:xfrm>
          <a:prstGeom prst="rect">
            <a:avLst/>
          </a:prstGeom>
          <a:solidFill>
            <a:srgbClr val="F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9679" y="2639781"/>
            <a:ext cx="3681782" cy="988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FFFFFF"/>
                </a:solidFill>
                <a:latin typeface="Arial"/>
              </a:rPr>
              <a:t>Haut risque</a:t>
            </a:r>
          </a:p>
          <a:p>
            <a:pPr algn="ctr">
              <a:spcAft>
                <a:spcPts val="0"/>
              </a:spcAft>
            </a:pPr>
            <a:r>
              <a:rPr sz="1170" b="0" i="0">
                <a:solidFill>
                  <a:srgbClr val="FFFFFF"/>
                </a:solidFill>
                <a:latin typeface="Arial"/>
              </a:rPr>
              <a:t>recrutement, santé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6048" y="3751143"/>
            <a:ext cx="4909043" cy="988923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3710" y="3751143"/>
            <a:ext cx="4733720" cy="988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Transparence</a:t>
            </a:r>
          </a:p>
          <a:p>
            <a:pPr algn="ctr">
              <a:spcAft>
                <a:spcPts val="0"/>
              </a:spcAft>
            </a:pPr>
            <a:r>
              <a:rPr sz="1170" b="0" i="0">
                <a:solidFill>
                  <a:srgbClr val="1A2E2B"/>
                </a:solidFill>
                <a:latin typeface="Arial"/>
              </a:rPr>
              <a:t>chatbots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62504"/>
            <a:ext cx="5960981" cy="988923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741" y="4862504"/>
            <a:ext cx="5785658" cy="988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Libre</a:t>
            </a:r>
          </a:p>
          <a:p>
            <a:pPr algn="ctr">
              <a:spcAft>
                <a:spcPts val="0"/>
              </a:spcAft>
            </a:pPr>
            <a:r>
              <a:rPr sz="1170" b="0" i="0">
                <a:solidFill>
                  <a:srgbClr val="1A2E2B"/>
                </a:solidFill>
                <a:latin typeface="Arial"/>
              </a:rPr>
              <a:t>anti-spam, jeux vidéo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7030" y="1810969"/>
            <a:ext cx="4120089" cy="35789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877A"/>
                </a:solidFill>
                <a:latin typeface="Arial"/>
              </a:rPr>
              <a:t>Plus c'est risqué,</a:t>
            </a:r>
          </a:p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877A"/>
                </a:solidFill>
                <a:latin typeface="Arial"/>
              </a:rPr>
              <a:t>plus c'est encadré.</a:t>
            </a:r>
          </a:p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00877A"/>
                </a:solidFill>
                <a:latin typeface="Arial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530" b="0" i="0">
                <a:solidFill>
                  <a:srgbClr val="5A6B68"/>
                </a:solidFill>
                <a:latin typeface="Arial"/>
              </a:rPr>
              <a:t>En vigueur de 2025 à 2027.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Ce qu'il faut retenir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32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2454521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2454521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9033" y="1843577"/>
            <a:ext cx="876614" cy="876614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Pe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53" y="2071497"/>
            <a:ext cx="420775" cy="420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72" y="2941167"/>
            <a:ext cx="2191537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Écrire les règles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3367" y="2894076"/>
            <a:ext cx="245452" cy="0"/>
          </a:xfrm>
          <a:prstGeom prst="line">
            <a:avLst/>
          </a:prstGeom>
          <a:ln w="31750">
            <a:solidFill>
              <a:srgbClr val="5A6B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57586" y="1528419"/>
            <a:ext cx="2454521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7586" y="1528419"/>
            <a:ext cx="2454521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46539" y="1843577"/>
            <a:ext cx="876614" cy="876614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59" y="2071497"/>
            <a:ext cx="420775" cy="4207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89078" y="2941167"/>
            <a:ext cx="2191537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Apprendre des exemples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20873" y="2894076"/>
            <a:ext cx="245453" cy="0"/>
          </a:xfrm>
          <a:prstGeom prst="line">
            <a:avLst/>
          </a:prstGeom>
          <a:ln w="31750">
            <a:solidFill>
              <a:srgbClr val="5A6B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75092" y="1528419"/>
            <a:ext cx="2454521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75092" y="1528419"/>
            <a:ext cx="2454521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64045" y="1843577"/>
            <a:ext cx="876614" cy="876614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Brain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965" y="2071497"/>
            <a:ext cx="420775" cy="4207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06584" y="2941167"/>
            <a:ext cx="2191537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Apprendre les représentations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38380" y="2894076"/>
            <a:ext cx="245452" cy="0"/>
          </a:xfrm>
          <a:prstGeom prst="line">
            <a:avLst/>
          </a:prstGeom>
          <a:ln w="31750">
            <a:solidFill>
              <a:srgbClr val="5A6B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792598" y="1528419"/>
            <a:ext cx="2454521" cy="273131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92598" y="1528419"/>
            <a:ext cx="2454521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1551" y="1843577"/>
            <a:ext cx="876614" cy="876614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471" y="2071497"/>
            <a:ext cx="420775" cy="4207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24090" y="2941167"/>
            <a:ext cx="2191537" cy="1130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Générer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36465"/>
            <a:ext cx="10607040" cy="1318564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064" y="4636465"/>
            <a:ext cx="10081071" cy="13185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90" b="1" i="0">
                <a:solidFill>
                  <a:srgbClr val="F4D73F"/>
                </a:solidFill>
                <a:latin typeface="Arial"/>
              </a:rPr>
              <a:t>En TP : </a:t>
            </a:r>
            <a:r>
              <a:rPr sz="1890" b="0" i="0">
                <a:solidFill>
                  <a:srgbClr val="FFFFFF"/>
                </a:solidFill>
                <a:latin typeface="Arial"/>
              </a:rPr>
              <a:t>l'apprentissage automatique, le plus utilisé en entreprise.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1 : une histoire de l'IA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33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DES QUESTIONS 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4D73F"/>
                </a:solidFill>
                <a:latin typeface="Arial"/>
              </a:rPr>
              <a:t>Fin de la partie 1 — Une histoire de l'IA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19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031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56692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53512" y="560527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Personnalisé 2">
      <a:dk1>
        <a:sysClr val="windowText" lastClr="000000"/>
      </a:dk1>
      <a:lt1>
        <a:srgbClr val="FFFFFF"/>
      </a:lt1>
      <a:dk2>
        <a:srgbClr val="00ABA2"/>
      </a:dk2>
      <a:lt2>
        <a:srgbClr val="D8D8D8"/>
      </a:lt2>
      <a:accent1>
        <a:srgbClr val="00ABA2"/>
      </a:accent1>
      <a:accent2>
        <a:srgbClr val="F4D73F"/>
      </a:accent2>
      <a:accent3>
        <a:srgbClr val="ED5D42"/>
      </a:accent3>
      <a:accent4>
        <a:srgbClr val="712180"/>
      </a:accent4>
      <a:accent5>
        <a:srgbClr val="8EAADB"/>
      </a:accent5>
      <a:accent6>
        <a:srgbClr val="A0C14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ABA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4000" dirty="0" smtClean="0">
            <a:solidFill>
              <a:srgbClr val="231F20"/>
            </a:solidFill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EMTO-ST_Template-2022-public-16-9_v2_mai2023" id="{7CE13D5B-39DC-4CA2-A686-CD63EED9A315}" vid="{B2F97892-9AC1-40FD-ADD4-B1B1EC0B3F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1E96338D5CC0459B028C481A9F05FF" ma:contentTypeVersion="2" ma:contentTypeDescription="Crée un document." ma:contentTypeScope="" ma:versionID="f1d18672dbf647336786c938df3fc39f">
  <xsd:schema xmlns:xsd="http://www.w3.org/2001/XMLSchema" xmlns:xs="http://www.w3.org/2001/XMLSchema" xmlns:p="http://schemas.microsoft.com/office/2006/metadata/properties" xmlns:ns2="1b458390-de54-4209-8752-a47d264ba6a4" targetNamespace="http://schemas.microsoft.com/office/2006/metadata/properties" ma:root="true" ma:fieldsID="9f3b38dd7cbd3ded9193db25029395d6" ns2:_="">
    <xsd:import namespace="1b458390-de54-4209-8752-a47d264ba6a4"/>
    <xsd:element name="properties">
      <xsd:complexType>
        <xsd:sequence>
          <xsd:element name="documentManagement">
            <xsd:complexType>
              <xsd:all>
                <xsd:element ref="ns2:Date_x0020_de_x0020_publication" minOccurs="0"/>
                <xsd:element ref="ns2:Observation_x0028_s_x0029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58390-de54-4209-8752-a47d264ba6a4" elementFormDefault="qualified">
    <xsd:import namespace="http://schemas.microsoft.com/office/2006/documentManagement/types"/>
    <xsd:import namespace="http://schemas.microsoft.com/office/infopath/2007/PartnerControls"/>
    <xsd:element name="Date_x0020_de_x0020_publication" ma:index="8" nillable="true" ma:displayName="Date de parution" ma:format="DateOnly" ma:internalName="Date_x0020_de_x0020_publication">
      <xsd:simpleType>
        <xsd:restriction base="dms:DateTime"/>
      </xsd:simpleType>
    </xsd:element>
    <xsd:element name="Observation_x0028_s_x0029_" ma:index="9" nillable="true" ma:displayName="Observation(s)" ma:internalName="Observation_x0028_s_x0029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de_x0020_publication xmlns="1b458390-de54-4209-8752-a47d264ba6a4" xsi:nil="true"/>
    <Observation_x0028_s_x0029_ xmlns="1b458390-de54-4209-8752-a47d264ba6a4" xsi:nil="true"/>
  </documentManagement>
</p:properties>
</file>

<file path=customXml/itemProps1.xml><?xml version="1.0" encoding="utf-8"?>
<ds:datastoreItem xmlns:ds="http://schemas.openxmlformats.org/officeDocument/2006/customXml" ds:itemID="{0BFE559F-77E4-46C6-9E01-F9A64F23DA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528BA6-4CCD-4DA8-8983-9334A8F4B5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458390-de54-4209-8752-a47d264ba6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25A7F9-7485-4FB5-9FB5-35CC2E8031ED}">
  <ds:schemaRefs>
    <ds:schemaRef ds:uri="http://schemas.microsoft.com/office/2006/metadata/properties"/>
    <ds:schemaRef ds:uri="http://schemas.microsoft.com/office/infopath/2007/PartnerControls"/>
    <ds:schemaRef ds:uri="1b458390-de54-4209-8752-a47d264ba6a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FEMTO-ST_Template-2022-public-16-9_v2_dec2023(1)</Template>
  <TotalTime>3</TotalTime>
  <Words>45</Words>
  <Application>Microsoft Office PowerPoint</Application>
  <PresentationFormat>Grand écran</PresentationFormat>
  <Paragraphs>10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Sandrine QUARROZ</dc:creator>
  <cp:lastModifiedBy>Sandrine QUARROZ</cp:lastModifiedBy>
  <cp:revision>2</cp:revision>
  <dcterms:created xsi:type="dcterms:W3CDTF">2025-01-30T09:26:16Z</dcterms:created>
  <dcterms:modified xsi:type="dcterms:W3CDTF">2025-01-30T15:22:22Z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0x010100311E96338D5CC0459B028C481A9F05FF</vt:lpwstr>
  </property>
</Properties>
</file>