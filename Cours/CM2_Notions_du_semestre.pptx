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1" autoAdjust="0"/>
    <p:restoredTop sz="95934"/>
  </p:normalViewPr>
  <p:slideViewPr>
    <p:cSldViewPr snapToGrid="0" snapToObjects="1">
      <p:cViewPr>
        <p:scale>
          <a:sx n="66" d="100"/>
          <a:sy n="66" d="100"/>
        </p:scale>
        <p:origin x="1253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A2E2B"/>
                </a:solidFill>
              </a:rPr>
              <a:t>Locations de vélos par jour à Washington (2011-2012)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Locations par jour (moyenne hebdomadaire)</c:v>
                </c:pt>
              </c:strCache>
            </c:strRef>
          </c:tx>
          <c:spPr>
            <a:ln w="28575">
              <a:solidFill>
                <a:srgbClr val="5F7C17"/>
              </a:solidFill>
            </a:ln>
          </c:spPr>
          <c:marker>
            <c:symbol val="none"/>
          </c:marker>
          <c:cat>
            <c:strRef>
              <c:f>Sheet1!$A$2:$A$107</c:f>
              <c:strCache>
                <c:ptCount val="106"/>
                <c:pt idx="0">
                  <c:v>janv. 2011</c:v>
                </c:pt>
                <c:pt idx="1">
                  <c:v>janv. 2011</c:v>
                </c:pt>
                <c:pt idx="2">
                  <c:v>janv. 2011</c:v>
                </c:pt>
                <c:pt idx="3">
                  <c:v>janv. 2011</c:v>
                </c:pt>
                <c:pt idx="4">
                  <c:v>janv. 2011</c:v>
                </c:pt>
                <c:pt idx="5">
                  <c:v>févr. 2011</c:v>
                </c:pt>
                <c:pt idx="6">
                  <c:v>févr. 2011</c:v>
                </c:pt>
                <c:pt idx="7">
                  <c:v>févr. 2011</c:v>
                </c:pt>
                <c:pt idx="8">
                  <c:v>févr. 2011</c:v>
                </c:pt>
                <c:pt idx="9">
                  <c:v>mars 2011</c:v>
                </c:pt>
                <c:pt idx="10">
                  <c:v>mars 2011</c:v>
                </c:pt>
                <c:pt idx="11">
                  <c:v>mars 2011</c:v>
                </c:pt>
                <c:pt idx="12">
                  <c:v>mars 2011</c:v>
                </c:pt>
                <c:pt idx="13">
                  <c:v>avr. 2011</c:v>
                </c:pt>
                <c:pt idx="14">
                  <c:v>avr. 2011</c:v>
                </c:pt>
                <c:pt idx="15">
                  <c:v>avr. 2011</c:v>
                </c:pt>
                <c:pt idx="16">
                  <c:v>avr. 2011</c:v>
                </c:pt>
                <c:pt idx="17">
                  <c:v>mai 2011</c:v>
                </c:pt>
                <c:pt idx="18">
                  <c:v>mai 2011</c:v>
                </c:pt>
                <c:pt idx="19">
                  <c:v>mai 2011</c:v>
                </c:pt>
                <c:pt idx="20">
                  <c:v>mai 2011</c:v>
                </c:pt>
                <c:pt idx="21">
                  <c:v>mai 2011</c:v>
                </c:pt>
                <c:pt idx="22">
                  <c:v>juin 2011</c:v>
                </c:pt>
                <c:pt idx="23">
                  <c:v>juin 2011</c:v>
                </c:pt>
                <c:pt idx="24">
                  <c:v>juin 2011</c:v>
                </c:pt>
                <c:pt idx="25">
                  <c:v>juin 2011</c:v>
                </c:pt>
                <c:pt idx="26">
                  <c:v>juil. 2011</c:v>
                </c:pt>
                <c:pt idx="27">
                  <c:v>juil. 2011</c:v>
                </c:pt>
                <c:pt idx="28">
                  <c:v>juil. 2011</c:v>
                </c:pt>
                <c:pt idx="29">
                  <c:v>juil. 2011</c:v>
                </c:pt>
                <c:pt idx="30">
                  <c:v>juil. 2011</c:v>
                </c:pt>
                <c:pt idx="31">
                  <c:v>août 2011</c:v>
                </c:pt>
                <c:pt idx="32">
                  <c:v>août 2011</c:v>
                </c:pt>
                <c:pt idx="33">
                  <c:v>août 2011</c:v>
                </c:pt>
                <c:pt idx="34">
                  <c:v>août 2011</c:v>
                </c:pt>
                <c:pt idx="35">
                  <c:v>sept. 2011</c:v>
                </c:pt>
                <c:pt idx="36">
                  <c:v>sept. 2011</c:v>
                </c:pt>
                <c:pt idx="37">
                  <c:v>sept. 2011</c:v>
                </c:pt>
                <c:pt idx="38">
                  <c:v>sept. 2011</c:v>
                </c:pt>
                <c:pt idx="39">
                  <c:v>oct. 2011</c:v>
                </c:pt>
                <c:pt idx="40">
                  <c:v>oct. 2011</c:v>
                </c:pt>
                <c:pt idx="41">
                  <c:v>oct. 2011</c:v>
                </c:pt>
                <c:pt idx="42">
                  <c:v>oct. 2011</c:v>
                </c:pt>
                <c:pt idx="43">
                  <c:v>oct. 2011</c:v>
                </c:pt>
                <c:pt idx="44">
                  <c:v>nov. 2011</c:v>
                </c:pt>
                <c:pt idx="45">
                  <c:v>nov. 2011</c:v>
                </c:pt>
                <c:pt idx="46">
                  <c:v>nov. 2011</c:v>
                </c:pt>
                <c:pt idx="47">
                  <c:v>nov. 2011</c:v>
                </c:pt>
                <c:pt idx="48">
                  <c:v>déc. 2011</c:v>
                </c:pt>
                <c:pt idx="49">
                  <c:v>déc. 2011</c:v>
                </c:pt>
                <c:pt idx="50">
                  <c:v>déc. 2011</c:v>
                </c:pt>
                <c:pt idx="51">
                  <c:v>déc. 2011</c:v>
                </c:pt>
                <c:pt idx="52">
                  <c:v>janv. 2012</c:v>
                </c:pt>
                <c:pt idx="53">
                  <c:v>janv. 2012</c:v>
                </c:pt>
                <c:pt idx="54">
                  <c:v>janv. 2012</c:v>
                </c:pt>
                <c:pt idx="55">
                  <c:v>janv. 2012</c:v>
                </c:pt>
                <c:pt idx="56">
                  <c:v>janv. 2012</c:v>
                </c:pt>
                <c:pt idx="57">
                  <c:v>févr. 2012</c:v>
                </c:pt>
                <c:pt idx="58">
                  <c:v>févr. 2012</c:v>
                </c:pt>
                <c:pt idx="59">
                  <c:v>févr. 2012</c:v>
                </c:pt>
                <c:pt idx="60">
                  <c:v>févr. 2012</c:v>
                </c:pt>
                <c:pt idx="61">
                  <c:v>mars 2012</c:v>
                </c:pt>
                <c:pt idx="62">
                  <c:v>mars 2012</c:v>
                </c:pt>
                <c:pt idx="63">
                  <c:v>mars 2012</c:v>
                </c:pt>
                <c:pt idx="64">
                  <c:v>mars 2012</c:v>
                </c:pt>
                <c:pt idx="65">
                  <c:v>avr. 2012</c:v>
                </c:pt>
                <c:pt idx="66">
                  <c:v>avr. 2012</c:v>
                </c:pt>
                <c:pt idx="67">
                  <c:v>avr. 2012</c:v>
                </c:pt>
                <c:pt idx="68">
                  <c:v>avr. 2012</c:v>
                </c:pt>
                <c:pt idx="69">
                  <c:v>avr. 2012</c:v>
                </c:pt>
                <c:pt idx="70">
                  <c:v>mai 2012</c:v>
                </c:pt>
                <c:pt idx="71">
                  <c:v>mai 2012</c:v>
                </c:pt>
                <c:pt idx="72">
                  <c:v>mai 2012</c:v>
                </c:pt>
                <c:pt idx="73">
                  <c:v>mai 2012</c:v>
                </c:pt>
                <c:pt idx="74">
                  <c:v>juin 2012</c:v>
                </c:pt>
                <c:pt idx="75">
                  <c:v>juin 2012</c:v>
                </c:pt>
                <c:pt idx="76">
                  <c:v>juin 2012</c:v>
                </c:pt>
                <c:pt idx="77">
                  <c:v>juin 2012</c:v>
                </c:pt>
                <c:pt idx="78">
                  <c:v>juil. 2012</c:v>
                </c:pt>
                <c:pt idx="79">
                  <c:v>juil. 2012</c:v>
                </c:pt>
                <c:pt idx="80">
                  <c:v>juil. 2012</c:v>
                </c:pt>
                <c:pt idx="81">
                  <c:v>juil. 2012</c:v>
                </c:pt>
                <c:pt idx="82">
                  <c:v>juil. 2012</c:v>
                </c:pt>
                <c:pt idx="83">
                  <c:v>août 2012</c:v>
                </c:pt>
                <c:pt idx="84">
                  <c:v>août 2012</c:v>
                </c:pt>
                <c:pt idx="85">
                  <c:v>août 2012</c:v>
                </c:pt>
                <c:pt idx="86">
                  <c:v>août 2012</c:v>
                </c:pt>
                <c:pt idx="87">
                  <c:v>sept. 2012</c:v>
                </c:pt>
                <c:pt idx="88">
                  <c:v>sept. 2012</c:v>
                </c:pt>
                <c:pt idx="89">
                  <c:v>sept. 2012</c:v>
                </c:pt>
                <c:pt idx="90">
                  <c:v>sept. 2012</c:v>
                </c:pt>
                <c:pt idx="91">
                  <c:v>sept. 2012</c:v>
                </c:pt>
                <c:pt idx="92">
                  <c:v>oct. 2012</c:v>
                </c:pt>
                <c:pt idx="93">
                  <c:v>oct. 2012</c:v>
                </c:pt>
                <c:pt idx="94">
                  <c:v>oct. 2012</c:v>
                </c:pt>
                <c:pt idx="95">
                  <c:v>oct. 2012</c:v>
                </c:pt>
                <c:pt idx="96">
                  <c:v>nov. 2012</c:v>
                </c:pt>
                <c:pt idx="97">
                  <c:v>nov. 2012</c:v>
                </c:pt>
                <c:pt idx="98">
                  <c:v>nov. 2012</c:v>
                </c:pt>
                <c:pt idx="99">
                  <c:v>nov. 2012</c:v>
                </c:pt>
                <c:pt idx="100">
                  <c:v>déc. 2012</c:v>
                </c:pt>
                <c:pt idx="101">
                  <c:v>déc. 2012</c:v>
                </c:pt>
                <c:pt idx="102">
                  <c:v>déc. 2012</c:v>
                </c:pt>
                <c:pt idx="103">
                  <c:v>déc. 2012</c:v>
                </c:pt>
                <c:pt idx="104">
                  <c:v>déc. 2012</c:v>
                </c:pt>
                <c:pt idx="105">
                  <c:v>janv. 2013</c:v>
                </c:pt>
              </c:strCache>
            </c:strRef>
          </c:cat>
          <c:val>
            <c:numRef>
              <c:f>Sheet1!$B$2:$B$107</c:f>
              <c:numCache>
                <c:formatCode>General</c:formatCode>
                <c:ptCount val="106"/>
                <c:pt idx="0">
                  <c:v>893.0</c:v>
                </c:pt>
                <c:pt idx="1">
                  <c:v>1344.0</c:v>
                </c:pt>
                <c:pt idx="2">
                  <c:v>1289.0</c:v>
                </c:pt>
                <c:pt idx="3">
                  <c:v>1253.0</c:v>
                </c:pt>
                <c:pt idx="4">
                  <c:v>1100.0</c:v>
                </c:pt>
                <c:pt idx="5">
                  <c:v>1468.0</c:v>
                </c:pt>
                <c:pt idx="6">
                  <c:v>1599.0</c:v>
                </c:pt>
                <c:pt idx="7">
                  <c:v>2099.0</c:v>
                </c:pt>
                <c:pt idx="8">
                  <c:v>1730.0</c:v>
                </c:pt>
                <c:pt idx="9">
                  <c:v>1677.0</c:v>
                </c:pt>
                <c:pt idx="10">
                  <c:v>1864.0</c:v>
                </c:pt>
                <c:pt idx="11">
                  <c:v>2552.0</c:v>
                </c:pt>
                <c:pt idx="12">
                  <c:v>2166.0</c:v>
                </c:pt>
                <c:pt idx="13">
                  <c:v>2200.0</c:v>
                </c:pt>
                <c:pt idx="14">
                  <c:v>2526.0</c:v>
                </c:pt>
                <c:pt idx="15">
                  <c:v>2639.0</c:v>
                </c:pt>
                <c:pt idx="16">
                  <c:v>3525.0</c:v>
                </c:pt>
                <c:pt idx="17">
                  <c:v>4237.0</c:v>
                </c:pt>
                <c:pt idx="18">
                  <c:v>4225.0</c:v>
                </c:pt>
                <c:pt idx="19">
                  <c:v>4325.0</c:v>
                </c:pt>
                <c:pt idx="20">
                  <c:v>4556.0</c:v>
                </c:pt>
                <c:pt idx="21">
                  <c:v>4664.0</c:v>
                </c:pt>
                <c:pt idx="22">
                  <c:v>4655.0</c:v>
                </c:pt>
                <c:pt idx="23">
                  <c:v>4530.0</c:v>
                </c:pt>
                <c:pt idx="24">
                  <c:v>4795.0</c:v>
                </c:pt>
                <c:pt idx="25">
                  <c:v>4806.0</c:v>
                </c:pt>
                <c:pt idx="26">
                  <c:v>5032.0</c:v>
                </c:pt>
                <c:pt idx="27">
                  <c:v>4884.0</c:v>
                </c:pt>
                <c:pt idx="28">
                  <c:v>4933.0</c:v>
                </c:pt>
                <c:pt idx="29">
                  <c:v>3913.0</c:v>
                </c:pt>
                <c:pt idx="30">
                  <c:v>4300.0</c:v>
                </c:pt>
                <c:pt idx="31">
                  <c:v>4315.0</c:v>
                </c:pt>
                <c:pt idx="32">
                  <c:v>4482.0</c:v>
                </c:pt>
                <c:pt idx="33">
                  <c:v>4397.0</c:v>
                </c:pt>
                <c:pt idx="34">
                  <c:v>4205.0</c:v>
                </c:pt>
                <c:pt idx="35">
                  <c:v>4880.0</c:v>
                </c:pt>
                <c:pt idx="36">
                  <c:v>3405.0</c:v>
                </c:pt>
                <c:pt idx="37">
                  <c:v>4495.0</c:v>
                </c:pt>
                <c:pt idx="38">
                  <c:v>4308.0</c:v>
                </c:pt>
                <c:pt idx="39">
                  <c:v>4006.0</c:v>
                </c:pt>
                <c:pt idx="40">
                  <c:v>4789.0</c:v>
                </c:pt>
                <c:pt idx="41">
                  <c:v>4130.0</c:v>
                </c:pt>
                <c:pt idx="42">
                  <c:v>4133.0</c:v>
                </c:pt>
                <c:pt idx="43">
                  <c:v>3305.0</c:v>
                </c:pt>
                <c:pt idx="44">
                  <c:v>3931.0</c:v>
                </c:pt>
                <c:pt idx="45">
                  <c:v>3776.0</c:v>
                </c:pt>
                <c:pt idx="46">
                  <c:v>3447.0</c:v>
                </c:pt>
                <c:pt idx="47">
                  <c:v>2481.0</c:v>
                </c:pt>
                <c:pt idx="48">
                  <c:v>3594.0</c:v>
                </c:pt>
                <c:pt idx="49">
                  <c:v>2855.0</c:v>
                </c:pt>
                <c:pt idx="50">
                  <c:v>3290.0</c:v>
                </c:pt>
                <c:pt idx="51">
                  <c:v>2408.0</c:v>
                </c:pt>
                <c:pt idx="52">
                  <c:v>2140.0</c:v>
                </c:pt>
                <c:pt idx="53">
                  <c:v>3124.0</c:v>
                </c:pt>
                <c:pt idx="54">
                  <c:v>2895.0</c:v>
                </c:pt>
                <c:pt idx="55">
                  <c:v>2620.0</c:v>
                </c:pt>
                <c:pt idx="56">
                  <c:v>3691.0</c:v>
                </c:pt>
                <c:pt idx="57">
                  <c:v>3772.0</c:v>
                </c:pt>
                <c:pt idx="58">
                  <c:v>3189.0</c:v>
                </c:pt>
                <c:pt idx="59">
                  <c:v>3668.0</c:v>
                </c:pt>
                <c:pt idx="60">
                  <c:v>3764.0</c:v>
                </c:pt>
                <c:pt idx="61">
                  <c:v>3742.0</c:v>
                </c:pt>
                <c:pt idx="62">
                  <c:v>4455.0</c:v>
                </c:pt>
                <c:pt idx="63">
                  <c:v>5965.0</c:v>
                </c:pt>
                <c:pt idx="64">
                  <c:v>6011.0</c:v>
                </c:pt>
                <c:pt idx="65">
                  <c:v>5747.0</c:v>
                </c:pt>
                <c:pt idx="66">
                  <c:v>6298.0</c:v>
                </c:pt>
                <c:pt idx="67">
                  <c:v>6109.0</c:v>
                </c:pt>
                <c:pt idx="68">
                  <c:v>5562.0</c:v>
                </c:pt>
                <c:pt idx="69">
                  <c:v>5261.0</c:v>
                </c:pt>
                <c:pt idx="70">
                  <c:v>6206.0</c:v>
                </c:pt>
                <c:pt idx="71">
                  <c:v>6267.0</c:v>
                </c:pt>
                <c:pt idx="72">
                  <c:v>6547.0</c:v>
                </c:pt>
                <c:pt idx="73">
                  <c:v>6046.0</c:v>
                </c:pt>
                <c:pt idx="74">
                  <c:v>6552.0</c:v>
                </c:pt>
                <c:pt idx="75">
                  <c:v>7197.0</c:v>
                </c:pt>
                <c:pt idx="76">
                  <c:v>6966.0</c:v>
                </c:pt>
                <c:pt idx="77">
                  <c:v>6316.0</c:v>
                </c:pt>
                <c:pt idx="78">
                  <c:v>6445.0</c:v>
                </c:pt>
                <c:pt idx="79">
                  <c:v>6036.0</c:v>
                </c:pt>
                <c:pt idx="80">
                  <c:v>6867.0</c:v>
                </c:pt>
                <c:pt idx="81">
                  <c:v>6237.0</c:v>
                </c:pt>
                <c:pt idx="82">
                  <c:v>7111.0</c:v>
                </c:pt>
                <c:pt idx="83">
                  <c:v>6946.0</c:v>
                </c:pt>
                <c:pt idx="84">
                  <c:v>6819.0</c:v>
                </c:pt>
                <c:pt idx="85">
                  <c:v>6883.0</c:v>
                </c:pt>
                <c:pt idx="86">
                  <c:v>6795.0</c:v>
                </c:pt>
                <c:pt idx="87">
                  <c:v>6952.0</c:v>
                </c:pt>
                <c:pt idx="88">
                  <c:v>6846.0</c:v>
                </c:pt>
                <c:pt idx="89">
                  <c:v>7860.0</c:v>
                </c:pt>
                <c:pt idx="90">
                  <c:v>7246.0</c:v>
                </c:pt>
                <c:pt idx="91">
                  <c:v>7566.0</c:v>
                </c:pt>
                <c:pt idx="92">
                  <c:v>6564.0</c:v>
                </c:pt>
                <c:pt idx="93">
                  <c:v>6880.0</c:v>
                </c:pt>
                <c:pt idx="94">
                  <c:v>6960.0</c:v>
                </c:pt>
                <c:pt idx="95">
                  <c:v>7047.0</c:v>
                </c:pt>
                <c:pt idx="96">
                  <c:v>4109.0</c:v>
                </c:pt>
                <c:pt idx="97">
                  <c:v>5811.0</c:v>
                </c:pt>
                <c:pt idx="98">
                  <c:v>5328.0</c:v>
                </c:pt>
                <c:pt idx="99">
                  <c:v>3902.0</c:v>
                </c:pt>
                <c:pt idx="100">
                  <c:v>5020.0</c:v>
                </c:pt>
                <c:pt idx="101">
                  <c:v>5395.0</c:v>
                </c:pt>
                <c:pt idx="102">
                  <c:v>5138.0</c:v>
                </c:pt>
                <c:pt idx="103">
                  <c:v>3814.0</c:v>
                </c:pt>
                <c:pt idx="104">
                  <c:v>1531.0</c:v>
                </c:pt>
                <c:pt idx="105">
                  <c:v>2729.0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4"/>
            </a:solidFill>
          </a:ln>
        </c:spPr>
        <c:txPr>
          <a:bodyPr/>
          <a:lstStyle/>
          <a:p>
            <a:pPr>
              <a:defRPr sz="1000">
                <a:solidFill>
                  <a:srgbClr val="5A6B6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3"/>
        <c:tickMarkSkip val="13"/>
      </c:catAx>
      <c:valAx>
        <c:axId val="2140495176"/>
        <c:scaling/>
        <c:delete val="0"/>
        <c:axPos val="l"/>
        <c:majorGridlines>
          <c:spPr>
            <a:ln>
              <a:solidFill>
                <a:srgbClr val="E0E8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B6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402B0A2-3364-EF44-AFC1-B05DE05F8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ABD9D6-9EEB-4B49-9C81-9626DAFCB8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05B58-CDC5-0B43-82BE-E9E87CFAE449}" type="datetimeFigureOut">
              <a:rPr lang="fr-FR" smtClean="0"/>
              <a:t>30/01/2025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5DC3110-15E1-9047-9623-5C07133D65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D81F08-24D0-6743-B8E8-5A5347A39E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8C34F-E734-7B48-91FF-D5A6246855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836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7BC21-B374-3441-A049-915BD53149BC}" type="datetimeFigureOut">
              <a:rPr lang="fr-FR" smtClean="0"/>
              <a:t>30/01/2025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5EEAD-BC61-F64F-B74B-009758B646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00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emf"/><Relationship Id="rId3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icture Placeholder 185">
            <a:extLst>
              <a:ext uri="{FF2B5EF4-FFF2-40B4-BE49-F238E27FC236}">
                <a16:creationId xmlns:a16="http://schemas.microsoft.com/office/drawing/2014/main" id="{9F3FEAEF-AED6-4FB6-8C00-4E271FD14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78265" y="371587"/>
            <a:ext cx="4039989" cy="6144427"/>
          </a:xfrm>
          <a:custGeom>
            <a:avLst/>
            <a:gdLst>
              <a:gd name="connsiteX0" fmla="*/ 0 w 17038640"/>
              <a:gd name="connsiteY0" fmla="*/ 15597745 h 25603201"/>
              <a:gd name="connsiteX1" fmla="*/ 1376468 w 17038640"/>
              <a:gd name="connsiteY1" fmla="*/ 15597745 h 25603201"/>
              <a:gd name="connsiteX2" fmla="*/ 1699886 w 17038640"/>
              <a:gd name="connsiteY2" fmla="*/ 15633825 h 25603201"/>
              <a:gd name="connsiteX3" fmla="*/ 2008988 w 17038640"/>
              <a:gd name="connsiteY3" fmla="*/ 15699567 h 25603201"/>
              <a:gd name="connsiteX4" fmla="*/ 2311510 w 17038640"/>
              <a:gd name="connsiteY4" fmla="*/ 15778833 h 25603201"/>
              <a:gd name="connsiteX5" fmla="*/ 2592704 w 17038640"/>
              <a:gd name="connsiteY5" fmla="*/ 15887173 h 25603201"/>
              <a:gd name="connsiteX6" fmla="*/ 2873846 w 17038640"/>
              <a:gd name="connsiteY6" fmla="*/ 16010107 h 25603201"/>
              <a:gd name="connsiteX7" fmla="*/ 3133128 w 17038640"/>
              <a:gd name="connsiteY7" fmla="*/ 16162647 h 25603201"/>
              <a:gd name="connsiteX8" fmla="*/ 3385464 w 17038640"/>
              <a:gd name="connsiteY8" fmla="*/ 16329249 h 25603201"/>
              <a:gd name="connsiteX9" fmla="*/ 3621336 w 17038640"/>
              <a:gd name="connsiteY9" fmla="*/ 16531931 h 25603201"/>
              <a:gd name="connsiteX10" fmla="*/ 3851752 w 17038640"/>
              <a:gd name="connsiteY10" fmla="*/ 16727605 h 25603201"/>
              <a:gd name="connsiteX11" fmla="*/ 4054274 w 17038640"/>
              <a:gd name="connsiteY11" fmla="*/ 16952361 h 25603201"/>
              <a:gd name="connsiteX12" fmla="*/ 4233434 w 17038640"/>
              <a:gd name="connsiteY12" fmla="*/ 17190635 h 25603201"/>
              <a:gd name="connsiteX13" fmla="*/ 4392178 w 17038640"/>
              <a:gd name="connsiteY13" fmla="*/ 17445593 h 25603201"/>
              <a:gd name="connsiteX14" fmla="*/ 4536546 w 17038640"/>
              <a:gd name="connsiteY14" fmla="*/ 17711981 h 25603201"/>
              <a:gd name="connsiteX15" fmla="*/ 4651940 w 17038640"/>
              <a:gd name="connsiteY15" fmla="*/ 17994941 h 25603201"/>
              <a:gd name="connsiteX16" fmla="*/ 4752000 w 17038640"/>
              <a:gd name="connsiteY16" fmla="*/ 18291957 h 25603201"/>
              <a:gd name="connsiteX17" fmla="*/ 4824156 w 17038640"/>
              <a:gd name="connsiteY17" fmla="*/ 18617035 h 25603201"/>
              <a:gd name="connsiteX18" fmla="*/ 4870068 w 17038640"/>
              <a:gd name="connsiteY18" fmla="*/ 19162533 h 25603201"/>
              <a:gd name="connsiteX19" fmla="*/ 4906460 w 17038640"/>
              <a:gd name="connsiteY19" fmla="*/ 19710499 h 25603201"/>
              <a:gd name="connsiteX20" fmla="*/ 4933138 w 17038640"/>
              <a:gd name="connsiteY20" fmla="*/ 20322923 h 25603201"/>
              <a:gd name="connsiteX21" fmla="*/ 2960968 w 17038640"/>
              <a:gd name="connsiteY21" fmla="*/ 20322923 h 25603201"/>
              <a:gd name="connsiteX22" fmla="*/ 2941512 w 17038640"/>
              <a:gd name="connsiteY22" fmla="*/ 22360405 h 25603201"/>
              <a:gd name="connsiteX23" fmla="*/ 4939072 w 17038640"/>
              <a:gd name="connsiteY23" fmla="*/ 22360405 h 25603201"/>
              <a:gd name="connsiteX24" fmla="*/ 4939072 w 17038640"/>
              <a:gd name="connsiteY24" fmla="*/ 25603201 h 25603201"/>
              <a:gd name="connsiteX25" fmla="*/ 0 w 17038640"/>
              <a:gd name="connsiteY25" fmla="*/ 25603201 h 25603201"/>
              <a:gd name="connsiteX26" fmla="*/ 7017004 w 17038640"/>
              <a:gd name="connsiteY26" fmla="*/ 13468438 h 25603201"/>
              <a:gd name="connsiteX27" fmla="*/ 7017004 w 17038640"/>
              <a:gd name="connsiteY27" fmla="*/ 15579307 h 25603201"/>
              <a:gd name="connsiteX28" fmla="*/ 9110716 w 17038640"/>
              <a:gd name="connsiteY28" fmla="*/ 15579307 h 25603201"/>
              <a:gd name="connsiteX29" fmla="*/ 9110716 w 17038640"/>
              <a:gd name="connsiteY29" fmla="*/ 13468438 h 25603201"/>
              <a:gd name="connsiteX30" fmla="*/ 0 w 17038640"/>
              <a:gd name="connsiteY30" fmla="*/ 0 h 25603201"/>
              <a:gd name="connsiteX31" fmla="*/ 17038640 w 17038640"/>
              <a:gd name="connsiteY31" fmla="*/ 0 h 25603201"/>
              <a:gd name="connsiteX32" fmla="*/ 17038640 w 17038640"/>
              <a:gd name="connsiteY32" fmla="*/ 25603201 h 25603201"/>
              <a:gd name="connsiteX33" fmla="*/ 7011832 w 17038640"/>
              <a:gd name="connsiteY33" fmla="*/ 25603201 h 25603201"/>
              <a:gd name="connsiteX34" fmla="*/ 7011832 w 17038640"/>
              <a:gd name="connsiteY34" fmla="*/ 22360405 h 25603201"/>
              <a:gd name="connsiteX35" fmla="*/ 9174064 w 17038640"/>
              <a:gd name="connsiteY35" fmla="*/ 22360405 h 25603201"/>
              <a:gd name="connsiteX36" fmla="*/ 9174064 w 17038640"/>
              <a:gd name="connsiteY36" fmla="*/ 20322923 h 25603201"/>
              <a:gd name="connsiteX37" fmla="*/ 7008302 w 17038640"/>
              <a:gd name="connsiteY37" fmla="*/ 20322923 h 25603201"/>
              <a:gd name="connsiteX38" fmla="*/ 6998748 w 17038640"/>
              <a:gd name="connsiteY38" fmla="*/ 19802117 h 25603201"/>
              <a:gd name="connsiteX39" fmla="*/ 6987784 w 17038640"/>
              <a:gd name="connsiteY39" fmla="*/ 19450817 h 25603201"/>
              <a:gd name="connsiteX40" fmla="*/ 6968412 w 17038640"/>
              <a:gd name="connsiteY40" fmla="*/ 19109099 h 25603201"/>
              <a:gd name="connsiteX41" fmla="*/ 6933632 w 17038640"/>
              <a:gd name="connsiteY41" fmla="*/ 18617035 h 25603201"/>
              <a:gd name="connsiteX42" fmla="*/ 6896808 w 17038640"/>
              <a:gd name="connsiteY42" fmla="*/ 18321091 h 25603201"/>
              <a:gd name="connsiteX43" fmla="*/ 6840096 w 17038640"/>
              <a:gd name="connsiteY43" fmla="*/ 18038609 h 25603201"/>
              <a:gd name="connsiteX44" fmla="*/ 6775424 w 17038640"/>
              <a:gd name="connsiteY44" fmla="*/ 17763131 h 25603201"/>
              <a:gd name="connsiteX45" fmla="*/ 6688836 w 17038640"/>
              <a:gd name="connsiteY45" fmla="*/ 17502779 h 25603201"/>
              <a:gd name="connsiteX46" fmla="*/ 6601714 w 17038640"/>
              <a:gd name="connsiteY46" fmla="*/ 17234305 h 25603201"/>
              <a:gd name="connsiteX47" fmla="*/ 6502192 w 17038640"/>
              <a:gd name="connsiteY47" fmla="*/ 16988013 h 25603201"/>
              <a:gd name="connsiteX48" fmla="*/ 6393212 w 17038640"/>
              <a:gd name="connsiteY48" fmla="*/ 16742147 h 25603201"/>
              <a:gd name="connsiteX49" fmla="*/ 6263810 w 17038640"/>
              <a:gd name="connsiteY49" fmla="*/ 16510817 h 25603201"/>
              <a:gd name="connsiteX50" fmla="*/ 6141410 w 17038640"/>
              <a:gd name="connsiteY50" fmla="*/ 16272059 h 25603201"/>
              <a:gd name="connsiteX51" fmla="*/ 5997578 w 17038640"/>
              <a:gd name="connsiteY51" fmla="*/ 16053291 h 25603201"/>
              <a:gd name="connsiteX52" fmla="*/ 5846316 w 17038640"/>
              <a:gd name="connsiteY52" fmla="*/ 15837037 h 25603201"/>
              <a:gd name="connsiteX53" fmla="*/ 5514880 w 17038640"/>
              <a:gd name="connsiteY53" fmla="*/ 15431143 h 25603201"/>
              <a:gd name="connsiteX54" fmla="*/ 5327274 w 17038640"/>
              <a:gd name="connsiteY54" fmla="*/ 15243002 h 25603201"/>
              <a:gd name="connsiteX55" fmla="*/ 5133678 w 17038640"/>
              <a:gd name="connsiteY55" fmla="*/ 15054381 h 25603201"/>
              <a:gd name="connsiteX56" fmla="*/ 4493676 w 17038640"/>
              <a:gd name="connsiteY56" fmla="*/ 14540574 h 25603201"/>
              <a:gd name="connsiteX57" fmla="*/ 4038878 w 17038640"/>
              <a:gd name="connsiteY57" fmla="*/ 14258628 h 25603201"/>
              <a:gd name="connsiteX58" fmla="*/ 3808942 w 17038640"/>
              <a:gd name="connsiteY58" fmla="*/ 14120144 h 25603201"/>
              <a:gd name="connsiteX59" fmla="*/ 3319238 w 17038640"/>
              <a:gd name="connsiteY59" fmla="*/ 13903885 h 25603201"/>
              <a:gd name="connsiteX60" fmla="*/ 2809172 w 17038640"/>
              <a:gd name="connsiteY60" fmla="*/ 13729805 h 25603201"/>
              <a:gd name="connsiteX61" fmla="*/ 2275698 w 17038640"/>
              <a:gd name="connsiteY61" fmla="*/ 13599384 h 25603201"/>
              <a:gd name="connsiteX62" fmla="*/ 1722336 w 17038640"/>
              <a:gd name="connsiteY62" fmla="*/ 13513066 h 25603201"/>
              <a:gd name="connsiteX63" fmla="*/ 1146048 w 17038640"/>
              <a:gd name="connsiteY63" fmla="*/ 13468438 h 25603201"/>
              <a:gd name="connsiteX64" fmla="*/ 0 w 17038640"/>
              <a:gd name="connsiteY64" fmla="*/ 13468438 h 2560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7038640" h="25603201">
                <a:moveTo>
                  <a:pt x="0" y="15597745"/>
                </a:moveTo>
                <a:lnTo>
                  <a:pt x="1376468" y="15597745"/>
                </a:lnTo>
                <a:lnTo>
                  <a:pt x="1699886" y="15633825"/>
                </a:lnTo>
                <a:lnTo>
                  <a:pt x="2008988" y="15699567"/>
                </a:lnTo>
                <a:lnTo>
                  <a:pt x="2311510" y="15778833"/>
                </a:lnTo>
                <a:lnTo>
                  <a:pt x="2592704" y="15887173"/>
                </a:lnTo>
                <a:lnTo>
                  <a:pt x="2873846" y="16010107"/>
                </a:lnTo>
                <a:lnTo>
                  <a:pt x="3133128" y="16162647"/>
                </a:lnTo>
                <a:lnTo>
                  <a:pt x="3385464" y="16329249"/>
                </a:lnTo>
                <a:lnTo>
                  <a:pt x="3621336" y="16531931"/>
                </a:lnTo>
                <a:lnTo>
                  <a:pt x="3851752" y="16727605"/>
                </a:lnTo>
                <a:lnTo>
                  <a:pt x="4054274" y="16952361"/>
                </a:lnTo>
                <a:lnTo>
                  <a:pt x="4233434" y="17190635"/>
                </a:lnTo>
                <a:lnTo>
                  <a:pt x="4392178" y="17445593"/>
                </a:lnTo>
                <a:lnTo>
                  <a:pt x="4536546" y="17711981"/>
                </a:lnTo>
                <a:lnTo>
                  <a:pt x="4651940" y="17994941"/>
                </a:lnTo>
                <a:lnTo>
                  <a:pt x="4752000" y="18291957"/>
                </a:lnTo>
                <a:lnTo>
                  <a:pt x="4824156" y="18617035"/>
                </a:lnTo>
                <a:lnTo>
                  <a:pt x="4870068" y="19162533"/>
                </a:lnTo>
                <a:lnTo>
                  <a:pt x="4906460" y="19710499"/>
                </a:lnTo>
                <a:lnTo>
                  <a:pt x="4933138" y="20322923"/>
                </a:lnTo>
                <a:lnTo>
                  <a:pt x="2960968" y="20322923"/>
                </a:lnTo>
                <a:lnTo>
                  <a:pt x="2941512" y="22360405"/>
                </a:lnTo>
                <a:lnTo>
                  <a:pt x="4939072" y="22360405"/>
                </a:lnTo>
                <a:lnTo>
                  <a:pt x="4939072" y="25603201"/>
                </a:lnTo>
                <a:lnTo>
                  <a:pt x="0" y="25603201"/>
                </a:lnTo>
                <a:close/>
                <a:moveTo>
                  <a:pt x="7017004" y="13468438"/>
                </a:moveTo>
                <a:lnTo>
                  <a:pt x="7017004" y="15579307"/>
                </a:lnTo>
                <a:lnTo>
                  <a:pt x="9110716" y="15579307"/>
                </a:lnTo>
                <a:lnTo>
                  <a:pt x="9110716" y="13468438"/>
                </a:lnTo>
                <a:close/>
                <a:moveTo>
                  <a:pt x="0" y="0"/>
                </a:moveTo>
                <a:lnTo>
                  <a:pt x="17038640" y="0"/>
                </a:lnTo>
                <a:lnTo>
                  <a:pt x="17038640" y="25603201"/>
                </a:lnTo>
                <a:lnTo>
                  <a:pt x="7011832" y="25603201"/>
                </a:lnTo>
                <a:lnTo>
                  <a:pt x="7011832" y="22360405"/>
                </a:lnTo>
                <a:lnTo>
                  <a:pt x="9174064" y="22360405"/>
                </a:lnTo>
                <a:lnTo>
                  <a:pt x="9174064" y="20322923"/>
                </a:lnTo>
                <a:lnTo>
                  <a:pt x="7008302" y="20322923"/>
                </a:lnTo>
                <a:lnTo>
                  <a:pt x="6998748" y="19802117"/>
                </a:lnTo>
                <a:lnTo>
                  <a:pt x="6987784" y="19450817"/>
                </a:lnTo>
                <a:lnTo>
                  <a:pt x="6968412" y="19109099"/>
                </a:lnTo>
                <a:lnTo>
                  <a:pt x="6933632" y="18617035"/>
                </a:lnTo>
                <a:lnTo>
                  <a:pt x="6896808" y="18321091"/>
                </a:lnTo>
                <a:lnTo>
                  <a:pt x="6840096" y="18038609"/>
                </a:lnTo>
                <a:lnTo>
                  <a:pt x="6775424" y="17763131"/>
                </a:lnTo>
                <a:lnTo>
                  <a:pt x="6688836" y="17502779"/>
                </a:lnTo>
                <a:lnTo>
                  <a:pt x="6601714" y="17234305"/>
                </a:lnTo>
                <a:lnTo>
                  <a:pt x="6502192" y="16988013"/>
                </a:lnTo>
                <a:lnTo>
                  <a:pt x="6393212" y="16742147"/>
                </a:lnTo>
                <a:lnTo>
                  <a:pt x="6263810" y="16510817"/>
                </a:lnTo>
                <a:lnTo>
                  <a:pt x="6141410" y="16272059"/>
                </a:lnTo>
                <a:lnTo>
                  <a:pt x="5997578" y="16053291"/>
                </a:lnTo>
                <a:lnTo>
                  <a:pt x="5846316" y="15837037"/>
                </a:lnTo>
                <a:lnTo>
                  <a:pt x="5514880" y="15431143"/>
                </a:lnTo>
                <a:lnTo>
                  <a:pt x="5327274" y="15243002"/>
                </a:lnTo>
                <a:lnTo>
                  <a:pt x="5133678" y="15054381"/>
                </a:lnTo>
                <a:lnTo>
                  <a:pt x="4493676" y="14540574"/>
                </a:lnTo>
                <a:lnTo>
                  <a:pt x="4038878" y="14258628"/>
                </a:lnTo>
                <a:lnTo>
                  <a:pt x="3808942" y="14120144"/>
                </a:lnTo>
                <a:lnTo>
                  <a:pt x="3319238" y="13903885"/>
                </a:lnTo>
                <a:lnTo>
                  <a:pt x="2809172" y="13729805"/>
                </a:lnTo>
                <a:lnTo>
                  <a:pt x="2275698" y="13599384"/>
                </a:lnTo>
                <a:lnTo>
                  <a:pt x="1722336" y="13513066"/>
                </a:lnTo>
                <a:lnTo>
                  <a:pt x="1146048" y="13468438"/>
                </a:lnTo>
                <a:lnTo>
                  <a:pt x="0" y="134684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8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1F83BB84-0103-44B3-9760-CDB5CB536805}"/>
              </a:ext>
            </a:extLst>
          </p:cNvPr>
          <p:cNvSpPr/>
          <p:nvPr userDrawn="1"/>
        </p:nvSpPr>
        <p:spPr>
          <a:xfrm rot="5400000">
            <a:off x="4173546" y="4653662"/>
            <a:ext cx="612198" cy="604853"/>
          </a:xfrm>
          <a:custGeom>
            <a:avLst/>
            <a:gdLst>
              <a:gd name="connsiteX0" fmla="*/ 0 w 2550965"/>
              <a:gd name="connsiteY0" fmla="*/ 1709533 h 2550965"/>
              <a:gd name="connsiteX1" fmla="*/ 0 w 2550965"/>
              <a:gd name="connsiteY1" fmla="*/ 841432 h 2550965"/>
              <a:gd name="connsiteX2" fmla="*/ 841435 w 2550965"/>
              <a:gd name="connsiteY2" fmla="*/ 841432 h 2550965"/>
              <a:gd name="connsiteX3" fmla="*/ 841435 w 2550965"/>
              <a:gd name="connsiteY3" fmla="*/ 0 h 2550965"/>
              <a:gd name="connsiteX4" fmla="*/ 1709535 w 2550965"/>
              <a:gd name="connsiteY4" fmla="*/ 0 h 2550965"/>
              <a:gd name="connsiteX5" fmla="*/ 1709535 w 2550965"/>
              <a:gd name="connsiteY5" fmla="*/ 841432 h 2550965"/>
              <a:gd name="connsiteX6" fmla="*/ 2550965 w 2550965"/>
              <a:gd name="connsiteY6" fmla="*/ 841432 h 2550965"/>
              <a:gd name="connsiteX7" fmla="*/ 2550965 w 2550965"/>
              <a:gd name="connsiteY7" fmla="*/ 1709533 h 2550965"/>
              <a:gd name="connsiteX8" fmla="*/ 1709535 w 2550965"/>
              <a:gd name="connsiteY8" fmla="*/ 1709533 h 2550965"/>
              <a:gd name="connsiteX9" fmla="*/ 1709535 w 2550965"/>
              <a:gd name="connsiteY9" fmla="*/ 2550965 h 2550965"/>
              <a:gd name="connsiteX10" fmla="*/ 841435 w 2550965"/>
              <a:gd name="connsiteY10" fmla="*/ 2550965 h 2550965"/>
              <a:gd name="connsiteX11" fmla="*/ 841435 w 2550965"/>
              <a:gd name="connsiteY11" fmla="*/ 1709533 h 25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50965" h="2550965">
                <a:moveTo>
                  <a:pt x="0" y="1709533"/>
                </a:moveTo>
                <a:lnTo>
                  <a:pt x="0" y="841432"/>
                </a:lnTo>
                <a:lnTo>
                  <a:pt x="841435" y="841432"/>
                </a:lnTo>
                <a:lnTo>
                  <a:pt x="841435" y="0"/>
                </a:lnTo>
                <a:lnTo>
                  <a:pt x="1709535" y="0"/>
                </a:lnTo>
                <a:lnTo>
                  <a:pt x="1709535" y="841432"/>
                </a:lnTo>
                <a:lnTo>
                  <a:pt x="2550965" y="841432"/>
                </a:lnTo>
                <a:lnTo>
                  <a:pt x="2550965" y="1709533"/>
                </a:lnTo>
                <a:lnTo>
                  <a:pt x="1709535" y="1709533"/>
                </a:lnTo>
                <a:lnTo>
                  <a:pt x="1709535" y="2550965"/>
                </a:lnTo>
                <a:lnTo>
                  <a:pt x="841435" y="2550965"/>
                </a:lnTo>
                <a:lnTo>
                  <a:pt x="841435" y="17095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 dirty="0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A115397F-3F8E-46F3-8104-A2C3440D04DC}"/>
              </a:ext>
            </a:extLst>
          </p:cNvPr>
          <p:cNvSpPr/>
          <p:nvPr userDrawn="1"/>
        </p:nvSpPr>
        <p:spPr>
          <a:xfrm>
            <a:off x="5381367" y="1947904"/>
            <a:ext cx="463629" cy="933146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494DFAD3-3BAA-43A5-AA03-54CEABE808C7}"/>
              </a:ext>
            </a:extLst>
          </p:cNvPr>
          <p:cNvSpPr/>
          <p:nvPr userDrawn="1"/>
        </p:nvSpPr>
        <p:spPr>
          <a:xfrm>
            <a:off x="3113875" y="1003382"/>
            <a:ext cx="403876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grpSp>
        <p:nvGrpSpPr>
          <p:cNvPr id="176" name="Groupe 156">
            <a:extLst>
              <a:ext uri="{FF2B5EF4-FFF2-40B4-BE49-F238E27FC236}">
                <a16:creationId xmlns:a16="http://schemas.microsoft.com/office/drawing/2014/main" id="{338D252C-84E4-4B71-A163-F60D45448C3B}"/>
              </a:ext>
            </a:extLst>
          </p:cNvPr>
          <p:cNvGrpSpPr/>
          <p:nvPr userDrawn="1"/>
        </p:nvGrpSpPr>
        <p:grpSpPr>
          <a:xfrm>
            <a:off x="4622087" y="19074"/>
            <a:ext cx="888931" cy="498075"/>
            <a:chOff x="3230833" y="6645"/>
            <a:chExt cx="902409" cy="499560"/>
          </a:xfrm>
        </p:grpSpPr>
        <p:sp>
          <p:nvSpPr>
            <p:cNvPr id="177" name="object 23">
              <a:extLst>
                <a:ext uri="{FF2B5EF4-FFF2-40B4-BE49-F238E27FC236}">
                  <a16:creationId xmlns:a16="http://schemas.microsoft.com/office/drawing/2014/main" id="{BD8218E8-3B17-43AB-B33E-949D2318DB62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8" name="object 24">
              <a:extLst>
                <a:ext uri="{FF2B5EF4-FFF2-40B4-BE49-F238E27FC236}">
                  <a16:creationId xmlns:a16="http://schemas.microsoft.com/office/drawing/2014/main" id="{19CA42D6-AC7F-4D87-B5F4-99C1EC242A02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9" name="object 25">
              <a:extLst>
                <a:ext uri="{FF2B5EF4-FFF2-40B4-BE49-F238E27FC236}">
                  <a16:creationId xmlns:a16="http://schemas.microsoft.com/office/drawing/2014/main" id="{D9D68F47-262E-4AC3-A9EC-F0C7CE402647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0" name="object 26">
              <a:extLst>
                <a:ext uri="{FF2B5EF4-FFF2-40B4-BE49-F238E27FC236}">
                  <a16:creationId xmlns:a16="http://schemas.microsoft.com/office/drawing/2014/main" id="{3425C396-CDD6-453C-B569-319CE5A353A0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1" name="object 27">
              <a:extLst>
                <a:ext uri="{FF2B5EF4-FFF2-40B4-BE49-F238E27FC236}">
                  <a16:creationId xmlns:a16="http://schemas.microsoft.com/office/drawing/2014/main" id="{E809289B-2BE0-41C0-8380-F5970B8F92A5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2" name="object 28">
              <a:extLst>
                <a:ext uri="{FF2B5EF4-FFF2-40B4-BE49-F238E27FC236}">
                  <a16:creationId xmlns:a16="http://schemas.microsoft.com/office/drawing/2014/main" id="{B4593CFC-7AC6-49E5-948D-E766EC3BF981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3" name="object 29">
              <a:extLst>
                <a:ext uri="{FF2B5EF4-FFF2-40B4-BE49-F238E27FC236}">
                  <a16:creationId xmlns:a16="http://schemas.microsoft.com/office/drawing/2014/main" id="{E21C0F3C-A547-41D7-87F5-D192C7761AC1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4" name="object 30">
              <a:extLst>
                <a:ext uri="{FF2B5EF4-FFF2-40B4-BE49-F238E27FC236}">
                  <a16:creationId xmlns:a16="http://schemas.microsoft.com/office/drawing/2014/main" id="{6F1B5E9E-8363-4A3D-BF6B-E9631E8A886B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5" name="object 31">
              <a:extLst>
                <a:ext uri="{FF2B5EF4-FFF2-40B4-BE49-F238E27FC236}">
                  <a16:creationId xmlns:a16="http://schemas.microsoft.com/office/drawing/2014/main" id="{B6B38092-9E37-47C3-BAA1-C5A8F919E706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7" name="object 32">
              <a:extLst>
                <a:ext uri="{FF2B5EF4-FFF2-40B4-BE49-F238E27FC236}">
                  <a16:creationId xmlns:a16="http://schemas.microsoft.com/office/drawing/2014/main" id="{38D71171-8579-461A-9DC9-08A9FB9519CC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8" name="object 33">
              <a:extLst>
                <a:ext uri="{FF2B5EF4-FFF2-40B4-BE49-F238E27FC236}">
                  <a16:creationId xmlns:a16="http://schemas.microsoft.com/office/drawing/2014/main" id="{5FE52D49-FD5B-4BD3-8FE7-792A8D1F821B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9" name="object 34">
              <a:extLst>
                <a:ext uri="{FF2B5EF4-FFF2-40B4-BE49-F238E27FC236}">
                  <a16:creationId xmlns:a16="http://schemas.microsoft.com/office/drawing/2014/main" id="{44C0F0BB-C8B0-40DB-9229-92470678AFF5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0" name="object 35">
              <a:extLst>
                <a:ext uri="{FF2B5EF4-FFF2-40B4-BE49-F238E27FC236}">
                  <a16:creationId xmlns:a16="http://schemas.microsoft.com/office/drawing/2014/main" id="{C68A89B2-15BF-42B1-A41B-6C5F9E9E8034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1" name="object 36">
              <a:extLst>
                <a:ext uri="{FF2B5EF4-FFF2-40B4-BE49-F238E27FC236}">
                  <a16:creationId xmlns:a16="http://schemas.microsoft.com/office/drawing/2014/main" id="{9DAB20B9-E8A8-41C0-9DE5-791653500B4F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2" name="object 37">
              <a:extLst>
                <a:ext uri="{FF2B5EF4-FFF2-40B4-BE49-F238E27FC236}">
                  <a16:creationId xmlns:a16="http://schemas.microsoft.com/office/drawing/2014/main" id="{DEFBBC13-8679-4FB6-AC41-0E1EA27372B8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3" name="object 38">
              <a:extLst>
                <a:ext uri="{FF2B5EF4-FFF2-40B4-BE49-F238E27FC236}">
                  <a16:creationId xmlns:a16="http://schemas.microsoft.com/office/drawing/2014/main" id="{DC4F7D1C-2645-4CD3-A1CC-7E6E03FC5D9A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4" name="object 39">
              <a:extLst>
                <a:ext uri="{FF2B5EF4-FFF2-40B4-BE49-F238E27FC236}">
                  <a16:creationId xmlns:a16="http://schemas.microsoft.com/office/drawing/2014/main" id="{B4784042-8E83-4E4E-B14C-E5B2926D842E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5" name="object 40">
              <a:extLst>
                <a:ext uri="{FF2B5EF4-FFF2-40B4-BE49-F238E27FC236}">
                  <a16:creationId xmlns:a16="http://schemas.microsoft.com/office/drawing/2014/main" id="{4CC23F4E-ECD2-44B9-960C-D47F89319F38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6" name="object 41">
              <a:extLst>
                <a:ext uri="{FF2B5EF4-FFF2-40B4-BE49-F238E27FC236}">
                  <a16:creationId xmlns:a16="http://schemas.microsoft.com/office/drawing/2014/main" id="{CABB980C-4023-4D65-83EA-03E370B6FD6F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7" name="object 42">
              <a:extLst>
                <a:ext uri="{FF2B5EF4-FFF2-40B4-BE49-F238E27FC236}">
                  <a16:creationId xmlns:a16="http://schemas.microsoft.com/office/drawing/2014/main" id="{E73703C8-09FB-4415-A9D2-75FE5587A661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8" name="object 43">
              <a:extLst>
                <a:ext uri="{FF2B5EF4-FFF2-40B4-BE49-F238E27FC236}">
                  <a16:creationId xmlns:a16="http://schemas.microsoft.com/office/drawing/2014/main" id="{BA161AA4-892D-4568-981E-DCD706AB6550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9" name="object 44">
              <a:extLst>
                <a:ext uri="{FF2B5EF4-FFF2-40B4-BE49-F238E27FC236}">
                  <a16:creationId xmlns:a16="http://schemas.microsoft.com/office/drawing/2014/main" id="{8533FBF8-7CC9-4F97-8226-DFE99F1AAA5B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0" name="object 45">
              <a:extLst>
                <a:ext uri="{FF2B5EF4-FFF2-40B4-BE49-F238E27FC236}">
                  <a16:creationId xmlns:a16="http://schemas.microsoft.com/office/drawing/2014/main" id="{DE421829-EFAC-4A3F-BEA9-063FC71FE2FD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1" name="object 46">
              <a:extLst>
                <a:ext uri="{FF2B5EF4-FFF2-40B4-BE49-F238E27FC236}">
                  <a16:creationId xmlns:a16="http://schemas.microsoft.com/office/drawing/2014/main" id="{F36BD943-E50F-4A79-B94B-A93C3DC9FA7A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2" name="object 47">
              <a:extLst>
                <a:ext uri="{FF2B5EF4-FFF2-40B4-BE49-F238E27FC236}">
                  <a16:creationId xmlns:a16="http://schemas.microsoft.com/office/drawing/2014/main" id="{F64CAB58-CF20-49B2-9C1D-F653C5793F50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3" name="object 48">
              <a:extLst>
                <a:ext uri="{FF2B5EF4-FFF2-40B4-BE49-F238E27FC236}">
                  <a16:creationId xmlns:a16="http://schemas.microsoft.com/office/drawing/2014/main" id="{ADA5A0FF-7165-466F-8115-53146B147824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4" name="object 49">
              <a:extLst>
                <a:ext uri="{FF2B5EF4-FFF2-40B4-BE49-F238E27FC236}">
                  <a16:creationId xmlns:a16="http://schemas.microsoft.com/office/drawing/2014/main" id="{F85E3CAC-3033-4F5D-8B0E-D2174588FCC9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5" name="object 50">
              <a:extLst>
                <a:ext uri="{FF2B5EF4-FFF2-40B4-BE49-F238E27FC236}">
                  <a16:creationId xmlns:a16="http://schemas.microsoft.com/office/drawing/2014/main" id="{E790185A-EB9D-4C54-8975-331574BB7132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6" name="object 51">
              <a:extLst>
                <a:ext uri="{FF2B5EF4-FFF2-40B4-BE49-F238E27FC236}">
                  <a16:creationId xmlns:a16="http://schemas.microsoft.com/office/drawing/2014/main" id="{5D6D6DF1-DF6F-40C2-8016-D8E3548F1929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7" name="object 52">
              <a:extLst>
                <a:ext uri="{FF2B5EF4-FFF2-40B4-BE49-F238E27FC236}">
                  <a16:creationId xmlns:a16="http://schemas.microsoft.com/office/drawing/2014/main" id="{D6DA3ECC-FEA8-4C15-AD3B-F3EFAA3A9D62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8" name="object 53">
              <a:extLst>
                <a:ext uri="{FF2B5EF4-FFF2-40B4-BE49-F238E27FC236}">
                  <a16:creationId xmlns:a16="http://schemas.microsoft.com/office/drawing/2014/main" id="{BE5CAA6C-A8FF-47B7-861B-B10F250B39B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9" name="object 54">
              <a:extLst>
                <a:ext uri="{FF2B5EF4-FFF2-40B4-BE49-F238E27FC236}">
                  <a16:creationId xmlns:a16="http://schemas.microsoft.com/office/drawing/2014/main" id="{60108C06-C239-41D6-BF9D-9D22570B2F8F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0" name="object 55">
              <a:extLst>
                <a:ext uri="{FF2B5EF4-FFF2-40B4-BE49-F238E27FC236}">
                  <a16:creationId xmlns:a16="http://schemas.microsoft.com/office/drawing/2014/main" id="{6AA429B2-4494-4ADD-9C4E-9F9336522493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1" name="object 56">
              <a:extLst>
                <a:ext uri="{FF2B5EF4-FFF2-40B4-BE49-F238E27FC236}">
                  <a16:creationId xmlns:a16="http://schemas.microsoft.com/office/drawing/2014/main" id="{B225525D-D603-4EEE-A7DE-D51C165D81D8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2" name="object 57">
              <a:extLst>
                <a:ext uri="{FF2B5EF4-FFF2-40B4-BE49-F238E27FC236}">
                  <a16:creationId xmlns:a16="http://schemas.microsoft.com/office/drawing/2014/main" id="{D489A3A9-2158-4B62-9EF2-944B45D5269C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3" name="object 58">
              <a:extLst>
                <a:ext uri="{FF2B5EF4-FFF2-40B4-BE49-F238E27FC236}">
                  <a16:creationId xmlns:a16="http://schemas.microsoft.com/office/drawing/2014/main" id="{13C8E11B-C9B3-45E7-AE1F-D5E891666C70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4" name="object 59">
              <a:extLst>
                <a:ext uri="{FF2B5EF4-FFF2-40B4-BE49-F238E27FC236}">
                  <a16:creationId xmlns:a16="http://schemas.microsoft.com/office/drawing/2014/main" id="{DBEEFE1B-AFF0-4ECA-8F4B-1DA1B1BB1069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5" name="object 60">
              <a:extLst>
                <a:ext uri="{FF2B5EF4-FFF2-40B4-BE49-F238E27FC236}">
                  <a16:creationId xmlns:a16="http://schemas.microsoft.com/office/drawing/2014/main" id="{6F6CD759-6A9C-42D7-ABC4-3AA7A09C5D74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6" name="object 61">
              <a:extLst>
                <a:ext uri="{FF2B5EF4-FFF2-40B4-BE49-F238E27FC236}">
                  <a16:creationId xmlns:a16="http://schemas.microsoft.com/office/drawing/2014/main" id="{08B7CDE3-0C6E-4083-AA57-97C17E1D2260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7" name="object 62">
              <a:extLst>
                <a:ext uri="{FF2B5EF4-FFF2-40B4-BE49-F238E27FC236}">
                  <a16:creationId xmlns:a16="http://schemas.microsoft.com/office/drawing/2014/main" id="{91C79260-DCC2-4566-BFC5-9F97CE36B42B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8" name="object 63">
              <a:extLst>
                <a:ext uri="{FF2B5EF4-FFF2-40B4-BE49-F238E27FC236}">
                  <a16:creationId xmlns:a16="http://schemas.microsoft.com/office/drawing/2014/main" id="{799607A4-BE81-44B1-828E-365B9C1C0831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9" name="object 64">
              <a:extLst>
                <a:ext uri="{FF2B5EF4-FFF2-40B4-BE49-F238E27FC236}">
                  <a16:creationId xmlns:a16="http://schemas.microsoft.com/office/drawing/2014/main" id="{8E9FCEB8-7AA8-4398-B084-B7582950F178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0" name="object 65">
              <a:extLst>
                <a:ext uri="{FF2B5EF4-FFF2-40B4-BE49-F238E27FC236}">
                  <a16:creationId xmlns:a16="http://schemas.microsoft.com/office/drawing/2014/main" id="{8F5B4D47-B2DD-4ED2-9CE3-068408376318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1" name="object 66">
              <a:extLst>
                <a:ext uri="{FF2B5EF4-FFF2-40B4-BE49-F238E27FC236}">
                  <a16:creationId xmlns:a16="http://schemas.microsoft.com/office/drawing/2014/main" id="{19612715-ACD4-409C-BF4B-5101E311D481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2" name="object 67">
              <a:extLst>
                <a:ext uri="{FF2B5EF4-FFF2-40B4-BE49-F238E27FC236}">
                  <a16:creationId xmlns:a16="http://schemas.microsoft.com/office/drawing/2014/main" id="{A36025B0-E137-4137-82EE-3E9D796E8B13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3" name="object 68">
              <a:extLst>
                <a:ext uri="{FF2B5EF4-FFF2-40B4-BE49-F238E27FC236}">
                  <a16:creationId xmlns:a16="http://schemas.microsoft.com/office/drawing/2014/main" id="{854CB5CC-F68E-4CE8-BB22-B7B105FCDEDC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4" name="object 69">
              <a:extLst>
                <a:ext uri="{FF2B5EF4-FFF2-40B4-BE49-F238E27FC236}">
                  <a16:creationId xmlns:a16="http://schemas.microsoft.com/office/drawing/2014/main" id="{1249E9AA-E592-4261-A420-85692AACB2DF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5" name="object 70">
              <a:extLst>
                <a:ext uri="{FF2B5EF4-FFF2-40B4-BE49-F238E27FC236}">
                  <a16:creationId xmlns:a16="http://schemas.microsoft.com/office/drawing/2014/main" id="{60E57261-8568-48CB-ABCA-E3439902FE2E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6" name="object 71">
              <a:extLst>
                <a:ext uri="{FF2B5EF4-FFF2-40B4-BE49-F238E27FC236}">
                  <a16:creationId xmlns:a16="http://schemas.microsoft.com/office/drawing/2014/main" id="{E4F28A9C-23CD-4F11-829E-65E72830AF69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7" name="object 72">
              <a:extLst>
                <a:ext uri="{FF2B5EF4-FFF2-40B4-BE49-F238E27FC236}">
                  <a16:creationId xmlns:a16="http://schemas.microsoft.com/office/drawing/2014/main" id="{94F7B97E-8C1D-40E0-BC4F-3D525BC427DC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8" name="object 73">
              <a:extLst>
                <a:ext uri="{FF2B5EF4-FFF2-40B4-BE49-F238E27FC236}">
                  <a16:creationId xmlns:a16="http://schemas.microsoft.com/office/drawing/2014/main" id="{3B3BF37C-AA70-4941-ADB7-0FD435B79E1B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9" name="object 74">
              <a:extLst>
                <a:ext uri="{FF2B5EF4-FFF2-40B4-BE49-F238E27FC236}">
                  <a16:creationId xmlns:a16="http://schemas.microsoft.com/office/drawing/2014/main" id="{D4227B11-76DD-4E9E-A817-35E31F5AB383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0" name="object 75">
              <a:extLst>
                <a:ext uri="{FF2B5EF4-FFF2-40B4-BE49-F238E27FC236}">
                  <a16:creationId xmlns:a16="http://schemas.microsoft.com/office/drawing/2014/main" id="{A737DD4C-E431-459C-92EC-B247DCE1B35E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1" name="object 76">
              <a:extLst>
                <a:ext uri="{FF2B5EF4-FFF2-40B4-BE49-F238E27FC236}">
                  <a16:creationId xmlns:a16="http://schemas.microsoft.com/office/drawing/2014/main" id="{B2EE1DA8-09B8-468E-BCA0-5C66A9144DB1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2" name="object 77">
              <a:extLst>
                <a:ext uri="{FF2B5EF4-FFF2-40B4-BE49-F238E27FC236}">
                  <a16:creationId xmlns:a16="http://schemas.microsoft.com/office/drawing/2014/main" id="{4F8414AC-FF49-4E36-A9AD-471196EF414E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3" name="object 78">
              <a:extLst>
                <a:ext uri="{FF2B5EF4-FFF2-40B4-BE49-F238E27FC236}">
                  <a16:creationId xmlns:a16="http://schemas.microsoft.com/office/drawing/2014/main" id="{71DCF65D-0D92-421D-82EC-8395A1A66D83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4" name="object 79">
              <a:extLst>
                <a:ext uri="{FF2B5EF4-FFF2-40B4-BE49-F238E27FC236}">
                  <a16:creationId xmlns:a16="http://schemas.microsoft.com/office/drawing/2014/main" id="{237E6913-713C-4CF1-9952-096CE044E1C9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5" name="object 80">
              <a:extLst>
                <a:ext uri="{FF2B5EF4-FFF2-40B4-BE49-F238E27FC236}">
                  <a16:creationId xmlns:a16="http://schemas.microsoft.com/office/drawing/2014/main" id="{05419E5D-0E0D-436A-A983-64BDA1A9C57E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6" name="object 81">
              <a:extLst>
                <a:ext uri="{FF2B5EF4-FFF2-40B4-BE49-F238E27FC236}">
                  <a16:creationId xmlns:a16="http://schemas.microsoft.com/office/drawing/2014/main" id="{B29AA640-03DA-4B90-95A0-864D548D0EF3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7" name="object 82">
              <a:extLst>
                <a:ext uri="{FF2B5EF4-FFF2-40B4-BE49-F238E27FC236}">
                  <a16:creationId xmlns:a16="http://schemas.microsoft.com/office/drawing/2014/main" id="{F3811173-ABF8-46BF-BAAE-A7A5105A000A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8" name="object 83">
              <a:extLst>
                <a:ext uri="{FF2B5EF4-FFF2-40B4-BE49-F238E27FC236}">
                  <a16:creationId xmlns:a16="http://schemas.microsoft.com/office/drawing/2014/main" id="{3F5084CA-0704-4404-A610-0B98B77ECA64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9" name="object 84">
              <a:extLst>
                <a:ext uri="{FF2B5EF4-FFF2-40B4-BE49-F238E27FC236}">
                  <a16:creationId xmlns:a16="http://schemas.microsoft.com/office/drawing/2014/main" id="{7FF4312A-1AAD-40CE-8B8B-C6504CBAC69D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0" name="object 85">
              <a:extLst>
                <a:ext uri="{FF2B5EF4-FFF2-40B4-BE49-F238E27FC236}">
                  <a16:creationId xmlns:a16="http://schemas.microsoft.com/office/drawing/2014/main" id="{BD998134-D7C4-425C-B59C-4752CB02E65B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1" name="object 86">
              <a:extLst>
                <a:ext uri="{FF2B5EF4-FFF2-40B4-BE49-F238E27FC236}">
                  <a16:creationId xmlns:a16="http://schemas.microsoft.com/office/drawing/2014/main" id="{1B5677AF-EBFD-409D-AA1D-7E8E916CA99C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2" name="object 87">
              <a:extLst>
                <a:ext uri="{FF2B5EF4-FFF2-40B4-BE49-F238E27FC236}">
                  <a16:creationId xmlns:a16="http://schemas.microsoft.com/office/drawing/2014/main" id="{B739C9A5-966D-4093-B832-1A60B82D3D25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3" name="object 88">
              <a:extLst>
                <a:ext uri="{FF2B5EF4-FFF2-40B4-BE49-F238E27FC236}">
                  <a16:creationId xmlns:a16="http://schemas.microsoft.com/office/drawing/2014/main" id="{16719953-E109-44EF-BB4A-CA4A1614F0B4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4" name="object 89">
              <a:extLst>
                <a:ext uri="{FF2B5EF4-FFF2-40B4-BE49-F238E27FC236}">
                  <a16:creationId xmlns:a16="http://schemas.microsoft.com/office/drawing/2014/main" id="{9CB65FB4-5E12-4951-83DC-613667EB28E7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5" name="object 90">
              <a:extLst>
                <a:ext uri="{FF2B5EF4-FFF2-40B4-BE49-F238E27FC236}">
                  <a16:creationId xmlns:a16="http://schemas.microsoft.com/office/drawing/2014/main" id="{3E625B92-AC4D-4CE4-92BA-68408CA8A5AB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6" name="object 91">
              <a:extLst>
                <a:ext uri="{FF2B5EF4-FFF2-40B4-BE49-F238E27FC236}">
                  <a16:creationId xmlns:a16="http://schemas.microsoft.com/office/drawing/2014/main" id="{0E534706-F3FF-4BFB-A3C7-484F32916258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7" name="object 92">
              <a:extLst>
                <a:ext uri="{FF2B5EF4-FFF2-40B4-BE49-F238E27FC236}">
                  <a16:creationId xmlns:a16="http://schemas.microsoft.com/office/drawing/2014/main" id="{4CACF6E9-7670-4694-B5E6-F01F7843683F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8" name="object 93">
              <a:extLst>
                <a:ext uri="{FF2B5EF4-FFF2-40B4-BE49-F238E27FC236}">
                  <a16:creationId xmlns:a16="http://schemas.microsoft.com/office/drawing/2014/main" id="{9A881B92-0DD0-4E34-AD82-A417B0FF2C40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9" name="object 94">
              <a:extLst>
                <a:ext uri="{FF2B5EF4-FFF2-40B4-BE49-F238E27FC236}">
                  <a16:creationId xmlns:a16="http://schemas.microsoft.com/office/drawing/2014/main" id="{6816833F-E35C-4276-87A7-0D39A5EF8EA1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0" name="object 95">
              <a:extLst>
                <a:ext uri="{FF2B5EF4-FFF2-40B4-BE49-F238E27FC236}">
                  <a16:creationId xmlns:a16="http://schemas.microsoft.com/office/drawing/2014/main" id="{C2C9AD0A-0119-4ED3-999D-8B4842FB0A47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1" name="object 96">
              <a:extLst>
                <a:ext uri="{FF2B5EF4-FFF2-40B4-BE49-F238E27FC236}">
                  <a16:creationId xmlns:a16="http://schemas.microsoft.com/office/drawing/2014/main" id="{B9F27870-B409-4733-804F-0835EF95C5A1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2" name="object 97">
              <a:extLst>
                <a:ext uri="{FF2B5EF4-FFF2-40B4-BE49-F238E27FC236}">
                  <a16:creationId xmlns:a16="http://schemas.microsoft.com/office/drawing/2014/main" id="{32D7CA9F-DB04-42C7-9639-12B20BFBDFE7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3" name="object 98">
              <a:extLst>
                <a:ext uri="{FF2B5EF4-FFF2-40B4-BE49-F238E27FC236}">
                  <a16:creationId xmlns:a16="http://schemas.microsoft.com/office/drawing/2014/main" id="{05528DF2-24E2-455D-BEC8-17C7EE0BC459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4" name="object 99">
              <a:extLst>
                <a:ext uri="{FF2B5EF4-FFF2-40B4-BE49-F238E27FC236}">
                  <a16:creationId xmlns:a16="http://schemas.microsoft.com/office/drawing/2014/main" id="{1686638F-922F-4690-9769-F2A6353122F0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5" name="object 100">
              <a:extLst>
                <a:ext uri="{FF2B5EF4-FFF2-40B4-BE49-F238E27FC236}">
                  <a16:creationId xmlns:a16="http://schemas.microsoft.com/office/drawing/2014/main" id="{5C543170-5DC2-4278-96FF-ADEC21855889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6" name="object 101">
              <a:extLst>
                <a:ext uri="{FF2B5EF4-FFF2-40B4-BE49-F238E27FC236}">
                  <a16:creationId xmlns:a16="http://schemas.microsoft.com/office/drawing/2014/main" id="{DBF79F5A-E961-4574-86B1-7DF08004CD1F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7" name="object 102">
              <a:extLst>
                <a:ext uri="{FF2B5EF4-FFF2-40B4-BE49-F238E27FC236}">
                  <a16:creationId xmlns:a16="http://schemas.microsoft.com/office/drawing/2014/main" id="{24689F3A-5BB8-4F49-A72A-F0B85CDAE1E6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8" name="object 103">
              <a:extLst>
                <a:ext uri="{FF2B5EF4-FFF2-40B4-BE49-F238E27FC236}">
                  <a16:creationId xmlns:a16="http://schemas.microsoft.com/office/drawing/2014/main" id="{4B249B21-D8B8-4081-B3EC-14952014F8FE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9" name="object 104">
              <a:extLst>
                <a:ext uri="{FF2B5EF4-FFF2-40B4-BE49-F238E27FC236}">
                  <a16:creationId xmlns:a16="http://schemas.microsoft.com/office/drawing/2014/main" id="{8417B82C-D12F-4D15-B9D6-776242C6C12D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0" name="object 105">
              <a:extLst>
                <a:ext uri="{FF2B5EF4-FFF2-40B4-BE49-F238E27FC236}">
                  <a16:creationId xmlns:a16="http://schemas.microsoft.com/office/drawing/2014/main" id="{3ADFE083-3736-4FC2-A9FB-4E39732EA273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1" name="object 106">
              <a:extLst>
                <a:ext uri="{FF2B5EF4-FFF2-40B4-BE49-F238E27FC236}">
                  <a16:creationId xmlns:a16="http://schemas.microsoft.com/office/drawing/2014/main" id="{C30FE6FD-B3B9-4879-B9EF-F4C5E81EE0C9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2" name="object 107">
              <a:extLst>
                <a:ext uri="{FF2B5EF4-FFF2-40B4-BE49-F238E27FC236}">
                  <a16:creationId xmlns:a16="http://schemas.microsoft.com/office/drawing/2014/main" id="{0E74262E-1040-4A2D-916C-4D6FF494030D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3" name="object 108">
              <a:extLst>
                <a:ext uri="{FF2B5EF4-FFF2-40B4-BE49-F238E27FC236}">
                  <a16:creationId xmlns:a16="http://schemas.microsoft.com/office/drawing/2014/main" id="{7A5E086C-ADF3-4D09-881E-F75DA3449307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4" name="object 109">
              <a:extLst>
                <a:ext uri="{FF2B5EF4-FFF2-40B4-BE49-F238E27FC236}">
                  <a16:creationId xmlns:a16="http://schemas.microsoft.com/office/drawing/2014/main" id="{86EE62DA-80CD-4750-AA81-7DB8DE07D2E3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5" name="object 110">
              <a:extLst>
                <a:ext uri="{FF2B5EF4-FFF2-40B4-BE49-F238E27FC236}">
                  <a16:creationId xmlns:a16="http://schemas.microsoft.com/office/drawing/2014/main" id="{C49397E4-C0BF-41E9-8FEA-01F0BF75C687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6" name="object 111">
              <a:extLst>
                <a:ext uri="{FF2B5EF4-FFF2-40B4-BE49-F238E27FC236}">
                  <a16:creationId xmlns:a16="http://schemas.microsoft.com/office/drawing/2014/main" id="{516C767B-5F86-48FF-B44A-BF9FEA21580F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7" name="object 112">
              <a:extLst>
                <a:ext uri="{FF2B5EF4-FFF2-40B4-BE49-F238E27FC236}">
                  <a16:creationId xmlns:a16="http://schemas.microsoft.com/office/drawing/2014/main" id="{7CEDE4DD-E44F-4768-BF2E-5150140989F1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8" name="object 113">
              <a:extLst>
                <a:ext uri="{FF2B5EF4-FFF2-40B4-BE49-F238E27FC236}">
                  <a16:creationId xmlns:a16="http://schemas.microsoft.com/office/drawing/2014/main" id="{0CB7EDB6-B4B8-4705-885D-8B359B98BD30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9" name="object 114">
              <a:extLst>
                <a:ext uri="{FF2B5EF4-FFF2-40B4-BE49-F238E27FC236}">
                  <a16:creationId xmlns:a16="http://schemas.microsoft.com/office/drawing/2014/main" id="{13E2A87F-53B9-47C1-8C9B-6C1B91570A04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0" name="object 115">
              <a:extLst>
                <a:ext uri="{FF2B5EF4-FFF2-40B4-BE49-F238E27FC236}">
                  <a16:creationId xmlns:a16="http://schemas.microsoft.com/office/drawing/2014/main" id="{A623657A-F486-4624-9227-4FB7D94574B3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1" name="object 116">
              <a:extLst>
                <a:ext uri="{FF2B5EF4-FFF2-40B4-BE49-F238E27FC236}">
                  <a16:creationId xmlns:a16="http://schemas.microsoft.com/office/drawing/2014/main" id="{62FE476F-462B-4A03-9B7E-F6C6546EFB7C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2" name="object 117">
              <a:extLst>
                <a:ext uri="{FF2B5EF4-FFF2-40B4-BE49-F238E27FC236}">
                  <a16:creationId xmlns:a16="http://schemas.microsoft.com/office/drawing/2014/main" id="{91859DC4-DCFC-4FA2-A5C8-88AA2FDF4B47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3" name="object 118">
              <a:extLst>
                <a:ext uri="{FF2B5EF4-FFF2-40B4-BE49-F238E27FC236}">
                  <a16:creationId xmlns:a16="http://schemas.microsoft.com/office/drawing/2014/main" id="{5E98C740-36D8-47C8-8BFB-E4130203296F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4" name="object 119">
              <a:extLst>
                <a:ext uri="{FF2B5EF4-FFF2-40B4-BE49-F238E27FC236}">
                  <a16:creationId xmlns:a16="http://schemas.microsoft.com/office/drawing/2014/main" id="{1F65273A-D25F-4A73-9D09-264C04237DCE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5" name="object 120">
              <a:extLst>
                <a:ext uri="{FF2B5EF4-FFF2-40B4-BE49-F238E27FC236}">
                  <a16:creationId xmlns:a16="http://schemas.microsoft.com/office/drawing/2014/main" id="{52400153-CAFB-4940-8464-C91A6C980502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6" name="object 121">
              <a:extLst>
                <a:ext uri="{FF2B5EF4-FFF2-40B4-BE49-F238E27FC236}">
                  <a16:creationId xmlns:a16="http://schemas.microsoft.com/office/drawing/2014/main" id="{192267D8-6BB3-4DE8-A0A8-83C9C7E60AFF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7" name="object 122">
              <a:extLst>
                <a:ext uri="{FF2B5EF4-FFF2-40B4-BE49-F238E27FC236}">
                  <a16:creationId xmlns:a16="http://schemas.microsoft.com/office/drawing/2014/main" id="{E5280981-2FC4-4A34-A32C-3C4A189B2391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8" name="object 123">
              <a:extLst>
                <a:ext uri="{FF2B5EF4-FFF2-40B4-BE49-F238E27FC236}">
                  <a16:creationId xmlns:a16="http://schemas.microsoft.com/office/drawing/2014/main" id="{EBBB47E5-C65A-4CE9-A413-936B4B5D25C5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9" name="object 124">
              <a:extLst>
                <a:ext uri="{FF2B5EF4-FFF2-40B4-BE49-F238E27FC236}">
                  <a16:creationId xmlns:a16="http://schemas.microsoft.com/office/drawing/2014/main" id="{F3BA046B-B236-404D-B0FD-0138C47724C9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0" name="object 125">
              <a:extLst>
                <a:ext uri="{FF2B5EF4-FFF2-40B4-BE49-F238E27FC236}">
                  <a16:creationId xmlns:a16="http://schemas.microsoft.com/office/drawing/2014/main" id="{98C7A876-9574-4355-95A1-BDDF095C1618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1" name="object 126">
              <a:extLst>
                <a:ext uri="{FF2B5EF4-FFF2-40B4-BE49-F238E27FC236}">
                  <a16:creationId xmlns:a16="http://schemas.microsoft.com/office/drawing/2014/main" id="{D234130A-9A90-4E41-806C-FDF9E74883B4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2" name="object 127">
              <a:extLst>
                <a:ext uri="{FF2B5EF4-FFF2-40B4-BE49-F238E27FC236}">
                  <a16:creationId xmlns:a16="http://schemas.microsoft.com/office/drawing/2014/main" id="{6CF857BF-3E64-4DAA-AB64-D0418B8F3BAC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3" name="object 128">
              <a:extLst>
                <a:ext uri="{FF2B5EF4-FFF2-40B4-BE49-F238E27FC236}">
                  <a16:creationId xmlns:a16="http://schemas.microsoft.com/office/drawing/2014/main" id="{442A5A3E-1BEB-4ECA-9968-CE8D2C91DE98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4" name="object 129">
              <a:extLst>
                <a:ext uri="{FF2B5EF4-FFF2-40B4-BE49-F238E27FC236}">
                  <a16:creationId xmlns:a16="http://schemas.microsoft.com/office/drawing/2014/main" id="{90107F6D-0E3B-49C6-A652-C3FBB4A42384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5" name="object 130">
              <a:extLst>
                <a:ext uri="{FF2B5EF4-FFF2-40B4-BE49-F238E27FC236}">
                  <a16:creationId xmlns:a16="http://schemas.microsoft.com/office/drawing/2014/main" id="{900F56F0-8A6F-44FB-8405-82CA1B65DED5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6" name="object 131">
              <a:extLst>
                <a:ext uri="{FF2B5EF4-FFF2-40B4-BE49-F238E27FC236}">
                  <a16:creationId xmlns:a16="http://schemas.microsoft.com/office/drawing/2014/main" id="{12C62FE1-916E-4EFD-9B1A-DAB123ADE64C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7" name="object 132">
              <a:extLst>
                <a:ext uri="{FF2B5EF4-FFF2-40B4-BE49-F238E27FC236}">
                  <a16:creationId xmlns:a16="http://schemas.microsoft.com/office/drawing/2014/main" id="{5363DF88-3B1C-4D3F-8F90-0215965B167F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8" name="object 133">
              <a:extLst>
                <a:ext uri="{FF2B5EF4-FFF2-40B4-BE49-F238E27FC236}">
                  <a16:creationId xmlns:a16="http://schemas.microsoft.com/office/drawing/2014/main" id="{B9842818-CA3B-4123-AB24-DA2142FBDFE2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9" name="object 134">
              <a:extLst>
                <a:ext uri="{FF2B5EF4-FFF2-40B4-BE49-F238E27FC236}">
                  <a16:creationId xmlns:a16="http://schemas.microsoft.com/office/drawing/2014/main" id="{46931542-D8C0-4856-B136-F151F7950235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0" name="object 135">
              <a:extLst>
                <a:ext uri="{FF2B5EF4-FFF2-40B4-BE49-F238E27FC236}">
                  <a16:creationId xmlns:a16="http://schemas.microsoft.com/office/drawing/2014/main" id="{08170950-5ACB-4DAD-82B0-A06A66042382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1" name="object 136">
              <a:extLst>
                <a:ext uri="{FF2B5EF4-FFF2-40B4-BE49-F238E27FC236}">
                  <a16:creationId xmlns:a16="http://schemas.microsoft.com/office/drawing/2014/main" id="{C26A5F12-1E6B-4D6B-9302-46CD1A089717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2" name="object 137">
              <a:extLst>
                <a:ext uri="{FF2B5EF4-FFF2-40B4-BE49-F238E27FC236}">
                  <a16:creationId xmlns:a16="http://schemas.microsoft.com/office/drawing/2014/main" id="{26AC374B-B6C2-4E19-8F64-7148C1E615C8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3" name="object 138">
              <a:extLst>
                <a:ext uri="{FF2B5EF4-FFF2-40B4-BE49-F238E27FC236}">
                  <a16:creationId xmlns:a16="http://schemas.microsoft.com/office/drawing/2014/main" id="{430A5A94-F53C-446B-8815-480A4E29C7CE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4" name="object 139">
              <a:extLst>
                <a:ext uri="{FF2B5EF4-FFF2-40B4-BE49-F238E27FC236}">
                  <a16:creationId xmlns:a16="http://schemas.microsoft.com/office/drawing/2014/main" id="{E163CDBB-15E6-459D-8561-9D999163C628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5" name="object 140">
              <a:extLst>
                <a:ext uri="{FF2B5EF4-FFF2-40B4-BE49-F238E27FC236}">
                  <a16:creationId xmlns:a16="http://schemas.microsoft.com/office/drawing/2014/main" id="{FFC694C9-A017-40C9-B6AF-60DD868E20C8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6" name="object 141">
              <a:extLst>
                <a:ext uri="{FF2B5EF4-FFF2-40B4-BE49-F238E27FC236}">
                  <a16:creationId xmlns:a16="http://schemas.microsoft.com/office/drawing/2014/main" id="{7A66DC09-E0C4-4D8A-AA57-37BC4F797644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7" name="object 142">
              <a:extLst>
                <a:ext uri="{FF2B5EF4-FFF2-40B4-BE49-F238E27FC236}">
                  <a16:creationId xmlns:a16="http://schemas.microsoft.com/office/drawing/2014/main" id="{B02BC211-7E2C-4DA4-8183-FC69C9568424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8" name="object 143">
              <a:extLst>
                <a:ext uri="{FF2B5EF4-FFF2-40B4-BE49-F238E27FC236}">
                  <a16:creationId xmlns:a16="http://schemas.microsoft.com/office/drawing/2014/main" id="{2B6A58BB-28FD-4EAE-9EEE-437C5DD463E1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9" name="object 144">
              <a:extLst>
                <a:ext uri="{FF2B5EF4-FFF2-40B4-BE49-F238E27FC236}">
                  <a16:creationId xmlns:a16="http://schemas.microsoft.com/office/drawing/2014/main" id="{733F1B52-7E3B-4C65-A04C-924C6DD0D18A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</p:grpSp>
      <p:sp>
        <p:nvSpPr>
          <p:cNvPr id="300" name="object 9">
            <a:extLst>
              <a:ext uri="{FF2B5EF4-FFF2-40B4-BE49-F238E27FC236}">
                <a16:creationId xmlns:a16="http://schemas.microsoft.com/office/drawing/2014/main" id="{B6588A17-398E-4217-A3E3-340C99313FB2}"/>
              </a:ext>
            </a:extLst>
          </p:cNvPr>
          <p:cNvSpPr/>
          <p:nvPr userDrawn="1"/>
        </p:nvSpPr>
        <p:spPr>
          <a:xfrm>
            <a:off x="163713" y="4781460"/>
            <a:ext cx="468208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24"/>
          </a:p>
        </p:txBody>
      </p:sp>
      <p:sp>
        <p:nvSpPr>
          <p:cNvPr id="301" name="Text Placeholder 9">
            <a:extLst>
              <a:ext uri="{FF2B5EF4-FFF2-40B4-BE49-F238E27FC236}">
                <a16:creationId xmlns:a16="http://schemas.microsoft.com/office/drawing/2014/main" id="{CD827380-06F0-492D-B363-36043BC839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3746" y="1498277"/>
            <a:ext cx="3730255" cy="1717665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sz="2600" b="1" cap="all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878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2" name="Text Placeholder 15">
            <a:extLst>
              <a:ext uri="{FF2B5EF4-FFF2-40B4-BE49-F238E27FC236}">
                <a16:creationId xmlns:a16="http://schemas.microsoft.com/office/drawing/2014/main" id="{AFE83D49-BD7A-4D42-BE23-D9C762DADB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746" y="3191048"/>
            <a:ext cx="3730255" cy="674031"/>
          </a:xfrm>
        </p:spPr>
        <p:txBody>
          <a:bodyPr wrap="square">
            <a:spAutoFit/>
          </a:bodyPr>
          <a:lstStyle>
            <a:lvl1pPr marL="0" indent="0">
              <a:buNone/>
              <a:defRPr sz="2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F60DA6A-DCEB-4913-BE48-796A9A0B844B}"/>
              </a:ext>
            </a:extLst>
          </p:cNvPr>
          <p:cNvCxnSpPr>
            <a:cxnSpLocks/>
          </p:cNvCxnSpPr>
          <p:nvPr userDrawn="1"/>
        </p:nvCxnSpPr>
        <p:spPr>
          <a:xfrm>
            <a:off x="795400" y="3895859"/>
            <a:ext cx="89116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 Placeholder 37">
            <a:extLst>
              <a:ext uri="{FF2B5EF4-FFF2-40B4-BE49-F238E27FC236}">
                <a16:creationId xmlns:a16="http://schemas.microsoft.com/office/drawing/2014/main" id="{AF7B28B0-575B-4F92-BC55-7F5A112BD6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1781" y="4157795"/>
            <a:ext cx="3702855" cy="480131"/>
          </a:xfrm>
        </p:spPr>
        <p:txBody>
          <a:bodyPr wrap="square">
            <a:spAutoFit/>
          </a:bodyPr>
          <a:lstStyle>
            <a:lvl1pPr marL="0" indent="0">
              <a:buNone/>
              <a:defRPr sz="14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3D4A2F3-202E-4CAC-8965-DFAE48E1A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7634" y="257979"/>
            <a:ext cx="2258225" cy="1133288"/>
          </a:xfrm>
          <a:prstGeom prst="rect">
            <a:avLst/>
          </a:prstGeom>
        </p:spPr>
      </p:pic>
      <p:pic>
        <p:nvPicPr>
          <p:cNvPr id="141" name="Image 140">
            <a:extLst>
              <a:ext uri="{FF2B5EF4-FFF2-40B4-BE49-F238E27FC236}">
                <a16:creationId xmlns:a16="http://schemas.microsoft.com/office/drawing/2014/main" id="{18127CAF-7EAD-420B-BEE3-2F2C31D9A7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647" y="5446573"/>
            <a:ext cx="869920" cy="880569"/>
          </a:xfrm>
          <a:prstGeom prst="rect">
            <a:avLst/>
          </a:prstGeom>
        </p:spPr>
      </p:pic>
      <p:pic>
        <p:nvPicPr>
          <p:cNvPr id="142" name="Image 141">
            <a:extLst>
              <a:ext uri="{FF2B5EF4-FFF2-40B4-BE49-F238E27FC236}">
                <a16:creationId xmlns:a16="http://schemas.microsoft.com/office/drawing/2014/main" id="{D7B1EB4F-F4D5-409A-942E-598EC7F8DC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b="15876"/>
          <a:stretch/>
        </p:blipFill>
        <p:spPr>
          <a:xfrm>
            <a:off x="1660275" y="6243676"/>
            <a:ext cx="840038" cy="366797"/>
          </a:xfrm>
          <a:prstGeom prst="rect">
            <a:avLst/>
          </a:prstGeom>
        </p:spPr>
      </p:pic>
      <p:pic>
        <p:nvPicPr>
          <p:cNvPr id="148" name="Image 147">
            <a:extLst>
              <a:ext uri="{FF2B5EF4-FFF2-40B4-BE49-F238E27FC236}">
                <a16:creationId xmlns:a16="http://schemas.microsoft.com/office/drawing/2014/main" id="{DAC5B31F-919D-40B9-B6EF-4C5027CD8B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57258" y="5560235"/>
            <a:ext cx="1732185" cy="662692"/>
          </a:xfrm>
          <a:prstGeom prst="rect">
            <a:avLst/>
          </a:prstGeom>
        </p:spPr>
      </p:pic>
      <p:pic>
        <p:nvPicPr>
          <p:cNvPr id="149" name="Image 148">
            <a:extLst>
              <a:ext uri="{FF2B5EF4-FFF2-40B4-BE49-F238E27FC236}">
                <a16:creationId xmlns:a16="http://schemas.microsoft.com/office/drawing/2014/main" id="{C9D61C0C-9F56-48C6-9178-BE7854B1965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571717" y="6306923"/>
            <a:ext cx="873435" cy="360350"/>
          </a:xfrm>
          <a:prstGeom prst="rect">
            <a:avLst/>
          </a:prstGeom>
        </p:spPr>
      </p:pic>
      <p:sp>
        <p:nvSpPr>
          <p:cNvPr id="143" name="ZoneTexte 142">
            <a:extLst>
              <a:ext uri="{FF2B5EF4-FFF2-40B4-BE49-F238E27FC236}">
                <a16:creationId xmlns:a16="http://schemas.microsoft.com/office/drawing/2014/main" id="{99545EAE-8F47-438D-B99D-4AE2261B7C17}"/>
              </a:ext>
            </a:extLst>
          </p:cNvPr>
          <p:cNvSpPr txBox="1"/>
          <p:nvPr userDrawn="1"/>
        </p:nvSpPr>
        <p:spPr>
          <a:xfrm>
            <a:off x="692273" y="6308432"/>
            <a:ext cx="7793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  <a:latin typeface="Arial"/>
                <a:cs typeface="Arial"/>
              </a:rPr>
              <a:t>INGENIERIE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841DCBB7-F225-4281-821F-92C24FFD89C7}"/>
              </a:ext>
            </a:extLst>
          </p:cNvPr>
          <p:cNvSpPr txBox="1"/>
          <p:nvPr userDrawn="1"/>
        </p:nvSpPr>
        <p:spPr>
          <a:xfrm>
            <a:off x="589180" y="6456984"/>
            <a:ext cx="937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dirty="0">
                <a:solidFill>
                  <a:schemeClr val="bg1"/>
                </a:solidFill>
                <a:latin typeface="Arial"/>
                <a:cs typeface="Arial"/>
              </a:rPr>
              <a:t>SCIENCES INFORMATIQUES</a:t>
            </a:r>
          </a:p>
        </p:txBody>
      </p:sp>
    </p:spTree>
    <p:extLst>
      <p:ext uri="{BB962C8B-B14F-4D97-AF65-F5344CB8AC3E}">
        <p14:creationId xmlns:p14="http://schemas.microsoft.com/office/powerpoint/2010/main" val="298013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1D546E7-FED9-45FC-A609-037815F84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39137" y="6383574"/>
            <a:ext cx="5991122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491" y="6306043"/>
            <a:ext cx="50077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556577" y="6190841"/>
            <a:ext cx="11318928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 rot="5400000">
            <a:off x="306717" y="5657186"/>
            <a:ext cx="408820" cy="422784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rgbClr val="00AB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E8C8D51-53D9-4678-A88B-69372822CB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4691" y="8314"/>
            <a:ext cx="2147994" cy="2114042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4FE70AC-018A-480E-B72E-70EFFED043F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2892" y="949993"/>
            <a:ext cx="8889911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6800B0C-2FC3-44B4-8458-E260C38A65F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892" y="493174"/>
            <a:ext cx="8889911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8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CCC0405-01DD-2D76-0F19-D672387DB8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577" y="6306043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51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8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duction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93E8E7-6850-41DE-A74A-F056AA8F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4641" y="2003662"/>
            <a:ext cx="3917969" cy="528350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8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04FF4EB-34C8-4B33-8B54-30E132FE97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64641" y="2637449"/>
            <a:ext cx="3917969" cy="380040"/>
          </a:xfrm>
        </p:spPr>
        <p:txBody>
          <a:bodyPr wrap="square">
            <a:spAutoFit/>
          </a:bodyPr>
          <a:lstStyle>
            <a:lvl1pPr marL="0" indent="0">
              <a:lnSpc>
                <a:spcPts val="1134"/>
              </a:lnSpc>
              <a:buNone/>
              <a:defRPr sz="13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D3A31740-3324-490C-A887-2899A5AC46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75825" y="287253"/>
            <a:ext cx="3816445" cy="5559624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lang="en-US" sz="108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8FBBCED-D569-4465-A3E0-7830ADE714A5}"/>
              </a:ext>
            </a:extLst>
          </p:cNvPr>
          <p:cNvSpPr/>
          <p:nvPr userDrawn="1"/>
        </p:nvSpPr>
        <p:spPr>
          <a:xfrm>
            <a:off x="6122142" y="310200"/>
            <a:ext cx="428117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E9ABB687-F85E-47C9-B9CB-36D97F2C9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64151" y="6383574"/>
            <a:ext cx="6066107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B56546-3DB7-4930-ACB1-278A8025E808}"/>
              </a:ext>
            </a:extLst>
          </p:cNvPr>
          <p:cNvCxnSpPr>
            <a:cxnSpLocks/>
          </p:cNvCxnSpPr>
          <p:nvPr userDrawn="1"/>
        </p:nvCxnSpPr>
        <p:spPr>
          <a:xfrm>
            <a:off x="592662" y="6190841"/>
            <a:ext cx="11282843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318B756-AF91-4787-A678-53944781A77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64641" y="3226928"/>
            <a:ext cx="3917969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BFBDDDD-A8FE-47C8-A0E7-12E0CD18C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223" y="6306043"/>
            <a:ext cx="507046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E022893-B075-68CA-E2BA-032767563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62" y="6306043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7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9511228" y="-254014"/>
            <a:ext cx="469259" cy="977289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1D546E7-FED9-45FC-A609-037815F84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64151" y="6383574"/>
            <a:ext cx="6066107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642892" y="6190841"/>
            <a:ext cx="11232613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159306"/>
            <a:ext cx="496311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24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11464152" y="5520073"/>
            <a:ext cx="428117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3E59DB7-19F2-4138-817C-7218E090F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223" y="6306043"/>
            <a:ext cx="507046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2A8725F-ED17-4D80-B8D0-EAD48AA396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2892" y="949993"/>
            <a:ext cx="8889911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5AD56DD-1D2C-4529-A8BD-57E186A2A8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892" y="493174"/>
            <a:ext cx="8889911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A1B01E2-C15A-3CF7-F6D9-DDE643243C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348" y="6333131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5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1D546E7-FED9-45FC-A609-037815F84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64151" y="6383574"/>
            <a:ext cx="6066107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548299" y="6190841"/>
            <a:ext cx="11327206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2892" y="949993"/>
            <a:ext cx="8889911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197916C-570E-4CAE-9929-2316C6CD8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563535" y="2341334"/>
            <a:ext cx="3960290" cy="3849511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242AEB-66E5-4C18-80F8-A920E6007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892" y="493174"/>
            <a:ext cx="8889911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3A7C692-5AA8-4414-AB31-B6A28EFD7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223" y="6306043"/>
            <a:ext cx="507046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B3136A2-7E64-16A2-22C6-65A47011A6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299" y="6314321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35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8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9511374" y="-253868"/>
            <a:ext cx="469259" cy="976998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1D546E7-FED9-45FC-A609-037815F84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65955" y="6383574"/>
            <a:ext cx="6064304" cy="2100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76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Motif de la présentation | Lieu | Date</a:t>
            </a:r>
            <a:endParaRPr lang="en-US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373" y="6306043"/>
            <a:ext cx="506895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 flipV="1">
            <a:off x="556577" y="6190841"/>
            <a:ext cx="11318928" cy="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11464279" y="5479840"/>
            <a:ext cx="42799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2847"/>
          <a:stretch/>
        </p:blipFill>
        <p:spPr>
          <a:xfrm>
            <a:off x="556577" y="6305879"/>
            <a:ext cx="940011" cy="42698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0C119EC-EEE9-4156-BEF6-AA1E3C6B42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050176" y="3049017"/>
            <a:ext cx="3250096" cy="3033553"/>
          </a:xfrm>
          <a:prstGeom prst="rect">
            <a:avLst/>
          </a:prstGeom>
          <a:ln>
            <a:noFill/>
          </a:ln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A181DB1-3D99-4D77-A534-98FD7F71DF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474" y="461141"/>
            <a:ext cx="8887268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8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17D1AAA-3758-498E-9B38-6E4D8881D4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0474" y="1200532"/>
            <a:ext cx="8887268" cy="420628"/>
          </a:xfrm>
        </p:spPr>
        <p:txBody>
          <a:bodyPr wrap="square">
            <a:spAutoFit/>
          </a:bodyPr>
          <a:lstStyle>
            <a:lvl1pPr marL="0" indent="0">
              <a:buNone/>
              <a:defRPr sz="1000"/>
            </a:lvl1pPr>
            <a:lvl2pPr marL="0" indent="-107997">
              <a:defRPr sz="1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grpSp>
        <p:nvGrpSpPr>
          <p:cNvPr id="14" name="Groupe 156">
            <a:extLst>
              <a:ext uri="{FF2B5EF4-FFF2-40B4-BE49-F238E27FC236}">
                <a16:creationId xmlns:a16="http://schemas.microsoft.com/office/drawing/2014/main" id="{09C152B0-7B14-4FA9-81F2-6B3C1510C2FA}"/>
              </a:ext>
            </a:extLst>
          </p:cNvPr>
          <p:cNvGrpSpPr/>
          <p:nvPr userDrawn="1"/>
        </p:nvGrpSpPr>
        <p:grpSpPr>
          <a:xfrm rot="16200000">
            <a:off x="-167773" y="5058296"/>
            <a:ext cx="899813" cy="521431"/>
            <a:chOff x="3230833" y="6645"/>
            <a:chExt cx="902409" cy="499560"/>
          </a:xfrm>
        </p:grpSpPr>
        <p:sp>
          <p:nvSpPr>
            <p:cNvPr id="15" name="object 23">
              <a:extLst>
                <a:ext uri="{FF2B5EF4-FFF2-40B4-BE49-F238E27FC236}">
                  <a16:creationId xmlns:a16="http://schemas.microsoft.com/office/drawing/2014/main" id="{545F1CEB-C1E1-460E-952D-D9F40530EAD9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6" name="object 24">
              <a:extLst>
                <a:ext uri="{FF2B5EF4-FFF2-40B4-BE49-F238E27FC236}">
                  <a16:creationId xmlns:a16="http://schemas.microsoft.com/office/drawing/2014/main" id="{988AA709-5281-406A-8D8E-C29D46512673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FC72AEF-4E23-4EB2-B404-2B7FF6292570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" name="object 26">
              <a:extLst>
                <a:ext uri="{FF2B5EF4-FFF2-40B4-BE49-F238E27FC236}">
                  <a16:creationId xmlns:a16="http://schemas.microsoft.com/office/drawing/2014/main" id="{0BFF7F20-EC01-4E1A-BE0B-C398B8951F66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" name="object 27">
              <a:extLst>
                <a:ext uri="{FF2B5EF4-FFF2-40B4-BE49-F238E27FC236}">
                  <a16:creationId xmlns:a16="http://schemas.microsoft.com/office/drawing/2014/main" id="{5918D399-A461-4B17-9FD1-F8133B669CAC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" name="object 28">
              <a:extLst>
                <a:ext uri="{FF2B5EF4-FFF2-40B4-BE49-F238E27FC236}">
                  <a16:creationId xmlns:a16="http://schemas.microsoft.com/office/drawing/2014/main" id="{3E5A5C7B-B409-4C66-8035-E486CEABCBD4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" name="object 29">
              <a:extLst>
                <a:ext uri="{FF2B5EF4-FFF2-40B4-BE49-F238E27FC236}">
                  <a16:creationId xmlns:a16="http://schemas.microsoft.com/office/drawing/2014/main" id="{5473999C-BB70-4A4C-8AFE-3FBA9BA55317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" name="object 30">
              <a:extLst>
                <a:ext uri="{FF2B5EF4-FFF2-40B4-BE49-F238E27FC236}">
                  <a16:creationId xmlns:a16="http://schemas.microsoft.com/office/drawing/2014/main" id="{FD8DA6FE-2BF5-477C-BA06-F40B2D2E2CC9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" name="object 31">
              <a:extLst>
                <a:ext uri="{FF2B5EF4-FFF2-40B4-BE49-F238E27FC236}">
                  <a16:creationId xmlns:a16="http://schemas.microsoft.com/office/drawing/2014/main" id="{DA371106-1FFD-4972-BA86-FF43CEA28E82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" name="object 32">
              <a:extLst>
                <a:ext uri="{FF2B5EF4-FFF2-40B4-BE49-F238E27FC236}">
                  <a16:creationId xmlns:a16="http://schemas.microsoft.com/office/drawing/2014/main" id="{CD428232-CC88-4441-88B0-22DC8A345813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0" name="object 33">
              <a:extLst>
                <a:ext uri="{FF2B5EF4-FFF2-40B4-BE49-F238E27FC236}">
                  <a16:creationId xmlns:a16="http://schemas.microsoft.com/office/drawing/2014/main" id="{01957A87-08D1-454C-9BED-7D127B9B6E06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2" name="object 34">
              <a:extLst>
                <a:ext uri="{FF2B5EF4-FFF2-40B4-BE49-F238E27FC236}">
                  <a16:creationId xmlns:a16="http://schemas.microsoft.com/office/drawing/2014/main" id="{F7EAA056-0E59-4904-94C8-4E72544DDA32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3" name="object 35">
              <a:extLst>
                <a:ext uri="{FF2B5EF4-FFF2-40B4-BE49-F238E27FC236}">
                  <a16:creationId xmlns:a16="http://schemas.microsoft.com/office/drawing/2014/main" id="{1C14294E-2EEB-4148-A5A5-1ECA6ABFECB4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4" name="object 36">
              <a:extLst>
                <a:ext uri="{FF2B5EF4-FFF2-40B4-BE49-F238E27FC236}">
                  <a16:creationId xmlns:a16="http://schemas.microsoft.com/office/drawing/2014/main" id="{B0EFF8CD-E370-4FB7-99FE-CD609DAF9086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5" name="object 37">
              <a:extLst>
                <a:ext uri="{FF2B5EF4-FFF2-40B4-BE49-F238E27FC236}">
                  <a16:creationId xmlns:a16="http://schemas.microsoft.com/office/drawing/2014/main" id="{6C7185E4-1342-4E79-A067-748CE40102BD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6" name="object 38">
              <a:extLst>
                <a:ext uri="{FF2B5EF4-FFF2-40B4-BE49-F238E27FC236}">
                  <a16:creationId xmlns:a16="http://schemas.microsoft.com/office/drawing/2014/main" id="{04BBF8D5-BA01-4D6E-BFD8-97E8A8DE2E04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7" name="object 39">
              <a:extLst>
                <a:ext uri="{FF2B5EF4-FFF2-40B4-BE49-F238E27FC236}">
                  <a16:creationId xmlns:a16="http://schemas.microsoft.com/office/drawing/2014/main" id="{DADCC5B8-BD21-46C0-B488-3566C46A8D93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8" name="object 40">
              <a:extLst>
                <a:ext uri="{FF2B5EF4-FFF2-40B4-BE49-F238E27FC236}">
                  <a16:creationId xmlns:a16="http://schemas.microsoft.com/office/drawing/2014/main" id="{C3ACCA9D-FE0D-4F92-A2A2-4D030772F75B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9" name="object 41">
              <a:extLst>
                <a:ext uri="{FF2B5EF4-FFF2-40B4-BE49-F238E27FC236}">
                  <a16:creationId xmlns:a16="http://schemas.microsoft.com/office/drawing/2014/main" id="{1B22648B-6A42-4949-B373-1B43567BC8A1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0" name="object 42">
              <a:extLst>
                <a:ext uri="{FF2B5EF4-FFF2-40B4-BE49-F238E27FC236}">
                  <a16:creationId xmlns:a16="http://schemas.microsoft.com/office/drawing/2014/main" id="{7D6F0AB2-0F2F-48FE-9B69-8CB5E571A1AF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1" name="object 43">
              <a:extLst>
                <a:ext uri="{FF2B5EF4-FFF2-40B4-BE49-F238E27FC236}">
                  <a16:creationId xmlns:a16="http://schemas.microsoft.com/office/drawing/2014/main" id="{D24D43F4-872C-4D03-A0BA-5E9DB0AB7CA6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2" name="object 44">
              <a:extLst>
                <a:ext uri="{FF2B5EF4-FFF2-40B4-BE49-F238E27FC236}">
                  <a16:creationId xmlns:a16="http://schemas.microsoft.com/office/drawing/2014/main" id="{E1EC918D-41C0-41EE-BFAC-9F3FD4F6E6A4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3" name="object 45">
              <a:extLst>
                <a:ext uri="{FF2B5EF4-FFF2-40B4-BE49-F238E27FC236}">
                  <a16:creationId xmlns:a16="http://schemas.microsoft.com/office/drawing/2014/main" id="{0E2B2519-840E-4240-A6CA-25871131A2A9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4" name="object 46">
              <a:extLst>
                <a:ext uri="{FF2B5EF4-FFF2-40B4-BE49-F238E27FC236}">
                  <a16:creationId xmlns:a16="http://schemas.microsoft.com/office/drawing/2014/main" id="{0C444211-365D-4C28-B15F-010FCEEA7F98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5" name="object 47">
              <a:extLst>
                <a:ext uri="{FF2B5EF4-FFF2-40B4-BE49-F238E27FC236}">
                  <a16:creationId xmlns:a16="http://schemas.microsoft.com/office/drawing/2014/main" id="{1A42C1A2-ECDF-463F-914E-AD54C3A37417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6" name="object 48">
              <a:extLst>
                <a:ext uri="{FF2B5EF4-FFF2-40B4-BE49-F238E27FC236}">
                  <a16:creationId xmlns:a16="http://schemas.microsoft.com/office/drawing/2014/main" id="{18F21ECE-3685-4C69-AE91-A526A14769EF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7" name="object 49">
              <a:extLst>
                <a:ext uri="{FF2B5EF4-FFF2-40B4-BE49-F238E27FC236}">
                  <a16:creationId xmlns:a16="http://schemas.microsoft.com/office/drawing/2014/main" id="{138D4B13-85F7-41D4-AAD3-082EE78C36B3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8" name="object 50">
              <a:extLst>
                <a:ext uri="{FF2B5EF4-FFF2-40B4-BE49-F238E27FC236}">
                  <a16:creationId xmlns:a16="http://schemas.microsoft.com/office/drawing/2014/main" id="{1C3401A8-80C4-4320-8DCD-3CCBEC69231B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9" name="object 51">
              <a:extLst>
                <a:ext uri="{FF2B5EF4-FFF2-40B4-BE49-F238E27FC236}">
                  <a16:creationId xmlns:a16="http://schemas.microsoft.com/office/drawing/2014/main" id="{FEA0D3DD-502F-41F7-B4B0-A068B54A1341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0" name="object 52">
              <a:extLst>
                <a:ext uri="{FF2B5EF4-FFF2-40B4-BE49-F238E27FC236}">
                  <a16:creationId xmlns:a16="http://schemas.microsoft.com/office/drawing/2014/main" id="{8A184818-F1BB-4BE1-9D1E-7B6F713DF76C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1" name="object 53">
              <a:extLst>
                <a:ext uri="{FF2B5EF4-FFF2-40B4-BE49-F238E27FC236}">
                  <a16:creationId xmlns:a16="http://schemas.microsoft.com/office/drawing/2014/main" id="{E0AA3085-5FD8-4D04-8AF9-E028AB424DA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2" name="object 54">
              <a:extLst>
                <a:ext uri="{FF2B5EF4-FFF2-40B4-BE49-F238E27FC236}">
                  <a16:creationId xmlns:a16="http://schemas.microsoft.com/office/drawing/2014/main" id="{36F58D49-5BE9-4C9A-ADA8-CB6912FB82C7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3" name="object 55">
              <a:extLst>
                <a:ext uri="{FF2B5EF4-FFF2-40B4-BE49-F238E27FC236}">
                  <a16:creationId xmlns:a16="http://schemas.microsoft.com/office/drawing/2014/main" id="{10FCC51D-3441-4914-BFEF-1453D61FB3FF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4" name="object 56">
              <a:extLst>
                <a:ext uri="{FF2B5EF4-FFF2-40B4-BE49-F238E27FC236}">
                  <a16:creationId xmlns:a16="http://schemas.microsoft.com/office/drawing/2014/main" id="{DCD2350A-A12C-4954-A04E-720C62D9307D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5" name="object 57">
              <a:extLst>
                <a:ext uri="{FF2B5EF4-FFF2-40B4-BE49-F238E27FC236}">
                  <a16:creationId xmlns:a16="http://schemas.microsoft.com/office/drawing/2014/main" id="{A2E2188E-B10C-4FEA-B1B4-E55302F3EF8D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6" name="object 58">
              <a:extLst>
                <a:ext uri="{FF2B5EF4-FFF2-40B4-BE49-F238E27FC236}">
                  <a16:creationId xmlns:a16="http://schemas.microsoft.com/office/drawing/2014/main" id="{1EBB6DB4-D9D6-42C8-8006-C30EF3A7AE2C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7" name="object 59">
              <a:extLst>
                <a:ext uri="{FF2B5EF4-FFF2-40B4-BE49-F238E27FC236}">
                  <a16:creationId xmlns:a16="http://schemas.microsoft.com/office/drawing/2014/main" id="{4BE72FD5-2F71-44C0-B05C-5A87AAC47021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8" name="object 60">
              <a:extLst>
                <a:ext uri="{FF2B5EF4-FFF2-40B4-BE49-F238E27FC236}">
                  <a16:creationId xmlns:a16="http://schemas.microsoft.com/office/drawing/2014/main" id="{7D2FD35F-AB58-4742-994E-2874D1FDAB02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9" name="object 61">
              <a:extLst>
                <a:ext uri="{FF2B5EF4-FFF2-40B4-BE49-F238E27FC236}">
                  <a16:creationId xmlns:a16="http://schemas.microsoft.com/office/drawing/2014/main" id="{FA0DC785-9E9D-4C83-B40F-A9050B326E95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0" name="object 62">
              <a:extLst>
                <a:ext uri="{FF2B5EF4-FFF2-40B4-BE49-F238E27FC236}">
                  <a16:creationId xmlns:a16="http://schemas.microsoft.com/office/drawing/2014/main" id="{2B2777D0-BA4E-4D56-9B2C-CDC2B839DA95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1" name="object 63">
              <a:extLst>
                <a:ext uri="{FF2B5EF4-FFF2-40B4-BE49-F238E27FC236}">
                  <a16:creationId xmlns:a16="http://schemas.microsoft.com/office/drawing/2014/main" id="{CED04687-9F1C-4A99-991C-FB3D42A1443F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2" name="object 64">
              <a:extLst>
                <a:ext uri="{FF2B5EF4-FFF2-40B4-BE49-F238E27FC236}">
                  <a16:creationId xmlns:a16="http://schemas.microsoft.com/office/drawing/2014/main" id="{1C2E0E8E-FB1D-4AD1-AB24-22A801A2338E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3" name="object 65">
              <a:extLst>
                <a:ext uri="{FF2B5EF4-FFF2-40B4-BE49-F238E27FC236}">
                  <a16:creationId xmlns:a16="http://schemas.microsoft.com/office/drawing/2014/main" id="{0BECF6B8-A058-4EC3-8450-93CEBEF5A175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4" name="object 66">
              <a:extLst>
                <a:ext uri="{FF2B5EF4-FFF2-40B4-BE49-F238E27FC236}">
                  <a16:creationId xmlns:a16="http://schemas.microsoft.com/office/drawing/2014/main" id="{CBA33DFA-FEF0-424D-A635-AF4C2A3F3E53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5" name="object 67">
              <a:extLst>
                <a:ext uri="{FF2B5EF4-FFF2-40B4-BE49-F238E27FC236}">
                  <a16:creationId xmlns:a16="http://schemas.microsoft.com/office/drawing/2014/main" id="{05B41054-B603-4290-AA3C-08EBAA8A629D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6" name="object 68">
              <a:extLst>
                <a:ext uri="{FF2B5EF4-FFF2-40B4-BE49-F238E27FC236}">
                  <a16:creationId xmlns:a16="http://schemas.microsoft.com/office/drawing/2014/main" id="{F82064FA-B042-4BD5-A348-4051DCD1D03C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7" name="object 69">
              <a:extLst>
                <a:ext uri="{FF2B5EF4-FFF2-40B4-BE49-F238E27FC236}">
                  <a16:creationId xmlns:a16="http://schemas.microsoft.com/office/drawing/2014/main" id="{D18EC0D5-553A-4AFE-84F6-C998D24CAA05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8" name="object 70">
              <a:extLst>
                <a:ext uri="{FF2B5EF4-FFF2-40B4-BE49-F238E27FC236}">
                  <a16:creationId xmlns:a16="http://schemas.microsoft.com/office/drawing/2014/main" id="{CD172667-541E-4FE1-BAC3-9248C9A9A030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9" name="object 71">
              <a:extLst>
                <a:ext uri="{FF2B5EF4-FFF2-40B4-BE49-F238E27FC236}">
                  <a16:creationId xmlns:a16="http://schemas.microsoft.com/office/drawing/2014/main" id="{8D7B2D85-1B2D-4A66-9A22-C0D87B890522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0" name="object 72">
              <a:extLst>
                <a:ext uri="{FF2B5EF4-FFF2-40B4-BE49-F238E27FC236}">
                  <a16:creationId xmlns:a16="http://schemas.microsoft.com/office/drawing/2014/main" id="{ED7A0035-BA18-4246-9272-42852E417608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1" name="object 73">
              <a:extLst>
                <a:ext uri="{FF2B5EF4-FFF2-40B4-BE49-F238E27FC236}">
                  <a16:creationId xmlns:a16="http://schemas.microsoft.com/office/drawing/2014/main" id="{34A90529-C034-43CA-8A63-7FC7A8AB4B72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2" name="object 74">
              <a:extLst>
                <a:ext uri="{FF2B5EF4-FFF2-40B4-BE49-F238E27FC236}">
                  <a16:creationId xmlns:a16="http://schemas.microsoft.com/office/drawing/2014/main" id="{5CFBFAA2-F411-4DFF-96C2-3ED015E628E7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3" name="object 75">
              <a:extLst>
                <a:ext uri="{FF2B5EF4-FFF2-40B4-BE49-F238E27FC236}">
                  <a16:creationId xmlns:a16="http://schemas.microsoft.com/office/drawing/2014/main" id="{E136BF65-E985-44D1-BDA6-879635EEE791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4" name="object 76">
              <a:extLst>
                <a:ext uri="{FF2B5EF4-FFF2-40B4-BE49-F238E27FC236}">
                  <a16:creationId xmlns:a16="http://schemas.microsoft.com/office/drawing/2014/main" id="{3A5FDCFC-06EA-4820-8253-7BEFF11CCF08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5" name="object 77">
              <a:extLst>
                <a:ext uri="{FF2B5EF4-FFF2-40B4-BE49-F238E27FC236}">
                  <a16:creationId xmlns:a16="http://schemas.microsoft.com/office/drawing/2014/main" id="{09C1C76D-7CB0-4B4C-87E3-42FF9B3F0717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6" name="object 78">
              <a:extLst>
                <a:ext uri="{FF2B5EF4-FFF2-40B4-BE49-F238E27FC236}">
                  <a16:creationId xmlns:a16="http://schemas.microsoft.com/office/drawing/2014/main" id="{CEEED1C3-6329-4B05-B6E1-2920EDA6F0B9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7" name="object 79">
              <a:extLst>
                <a:ext uri="{FF2B5EF4-FFF2-40B4-BE49-F238E27FC236}">
                  <a16:creationId xmlns:a16="http://schemas.microsoft.com/office/drawing/2014/main" id="{055F38DE-9A68-4DBC-B1A2-9FD2F144FC7D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8" name="object 80">
              <a:extLst>
                <a:ext uri="{FF2B5EF4-FFF2-40B4-BE49-F238E27FC236}">
                  <a16:creationId xmlns:a16="http://schemas.microsoft.com/office/drawing/2014/main" id="{705D28B6-2FB6-4315-97CB-166E2B00214A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9" name="object 81">
              <a:extLst>
                <a:ext uri="{FF2B5EF4-FFF2-40B4-BE49-F238E27FC236}">
                  <a16:creationId xmlns:a16="http://schemas.microsoft.com/office/drawing/2014/main" id="{4F5F9C27-61AC-46D0-BBF9-909B115E975F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0" name="object 82">
              <a:extLst>
                <a:ext uri="{FF2B5EF4-FFF2-40B4-BE49-F238E27FC236}">
                  <a16:creationId xmlns:a16="http://schemas.microsoft.com/office/drawing/2014/main" id="{2CB4FD65-E27B-4B99-B86B-D148B45639D6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1" name="object 83">
              <a:extLst>
                <a:ext uri="{FF2B5EF4-FFF2-40B4-BE49-F238E27FC236}">
                  <a16:creationId xmlns:a16="http://schemas.microsoft.com/office/drawing/2014/main" id="{4E3E60BD-DCDB-4C34-910B-71DD231F085D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2" name="object 84">
              <a:extLst>
                <a:ext uri="{FF2B5EF4-FFF2-40B4-BE49-F238E27FC236}">
                  <a16:creationId xmlns:a16="http://schemas.microsoft.com/office/drawing/2014/main" id="{18A243AE-C30B-4C35-9F79-37C73020BD87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3" name="object 85">
              <a:extLst>
                <a:ext uri="{FF2B5EF4-FFF2-40B4-BE49-F238E27FC236}">
                  <a16:creationId xmlns:a16="http://schemas.microsoft.com/office/drawing/2014/main" id="{CC02A971-9752-4F40-991C-3A3F85C19607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4" name="object 86">
              <a:extLst>
                <a:ext uri="{FF2B5EF4-FFF2-40B4-BE49-F238E27FC236}">
                  <a16:creationId xmlns:a16="http://schemas.microsoft.com/office/drawing/2014/main" id="{7EC06208-70CF-4DBE-8127-266FF3AFA52F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5" name="object 87">
              <a:extLst>
                <a:ext uri="{FF2B5EF4-FFF2-40B4-BE49-F238E27FC236}">
                  <a16:creationId xmlns:a16="http://schemas.microsoft.com/office/drawing/2014/main" id="{C3445D13-AD50-439F-93E5-166194D1A961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6" name="object 88">
              <a:extLst>
                <a:ext uri="{FF2B5EF4-FFF2-40B4-BE49-F238E27FC236}">
                  <a16:creationId xmlns:a16="http://schemas.microsoft.com/office/drawing/2014/main" id="{7C062D63-D0AE-47AF-8642-F31F608DA00D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7" name="object 89">
              <a:extLst>
                <a:ext uri="{FF2B5EF4-FFF2-40B4-BE49-F238E27FC236}">
                  <a16:creationId xmlns:a16="http://schemas.microsoft.com/office/drawing/2014/main" id="{9F5946C8-EF47-4CB5-82F1-DCB28CA59013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8" name="object 90">
              <a:extLst>
                <a:ext uri="{FF2B5EF4-FFF2-40B4-BE49-F238E27FC236}">
                  <a16:creationId xmlns:a16="http://schemas.microsoft.com/office/drawing/2014/main" id="{C359B038-4D3A-45EE-96A7-5A1B4DA8C0F6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9" name="object 91">
              <a:extLst>
                <a:ext uri="{FF2B5EF4-FFF2-40B4-BE49-F238E27FC236}">
                  <a16:creationId xmlns:a16="http://schemas.microsoft.com/office/drawing/2014/main" id="{C6F167D6-5038-464B-AA83-44FA543FF857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0" name="object 92">
              <a:extLst>
                <a:ext uri="{FF2B5EF4-FFF2-40B4-BE49-F238E27FC236}">
                  <a16:creationId xmlns:a16="http://schemas.microsoft.com/office/drawing/2014/main" id="{01B4F473-B2FD-4973-94D4-7FBF75863003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1" name="object 93">
              <a:extLst>
                <a:ext uri="{FF2B5EF4-FFF2-40B4-BE49-F238E27FC236}">
                  <a16:creationId xmlns:a16="http://schemas.microsoft.com/office/drawing/2014/main" id="{4AE17FD3-4350-4E9B-92F3-9C57628DC17B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2" name="object 94">
              <a:extLst>
                <a:ext uri="{FF2B5EF4-FFF2-40B4-BE49-F238E27FC236}">
                  <a16:creationId xmlns:a16="http://schemas.microsoft.com/office/drawing/2014/main" id="{85CF062C-345D-4502-8421-40BC64FFE547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3" name="object 95">
              <a:extLst>
                <a:ext uri="{FF2B5EF4-FFF2-40B4-BE49-F238E27FC236}">
                  <a16:creationId xmlns:a16="http://schemas.microsoft.com/office/drawing/2014/main" id="{1D7A914D-067A-4349-B116-ED40FA1CECCB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4" name="object 96">
              <a:extLst>
                <a:ext uri="{FF2B5EF4-FFF2-40B4-BE49-F238E27FC236}">
                  <a16:creationId xmlns:a16="http://schemas.microsoft.com/office/drawing/2014/main" id="{685D2F31-3E9B-4917-8A15-2315A546DB22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5" name="object 97">
              <a:extLst>
                <a:ext uri="{FF2B5EF4-FFF2-40B4-BE49-F238E27FC236}">
                  <a16:creationId xmlns:a16="http://schemas.microsoft.com/office/drawing/2014/main" id="{AFC7620E-52F3-4CD2-A87C-6973996B5777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6" name="object 98">
              <a:extLst>
                <a:ext uri="{FF2B5EF4-FFF2-40B4-BE49-F238E27FC236}">
                  <a16:creationId xmlns:a16="http://schemas.microsoft.com/office/drawing/2014/main" id="{FE345FDE-2FD7-4D36-8E8E-D40B1085E0AD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7" name="object 99">
              <a:extLst>
                <a:ext uri="{FF2B5EF4-FFF2-40B4-BE49-F238E27FC236}">
                  <a16:creationId xmlns:a16="http://schemas.microsoft.com/office/drawing/2014/main" id="{A8E74173-72AC-4846-8FCB-C526D7395EC0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8" name="object 100">
              <a:extLst>
                <a:ext uri="{FF2B5EF4-FFF2-40B4-BE49-F238E27FC236}">
                  <a16:creationId xmlns:a16="http://schemas.microsoft.com/office/drawing/2014/main" id="{FFC357A4-36BF-4C72-B0A7-76BC374BE18C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9" name="object 101">
              <a:extLst>
                <a:ext uri="{FF2B5EF4-FFF2-40B4-BE49-F238E27FC236}">
                  <a16:creationId xmlns:a16="http://schemas.microsoft.com/office/drawing/2014/main" id="{2A6E715D-11D0-4B9F-BE91-E4DE59DB0A74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0" name="object 102">
              <a:extLst>
                <a:ext uri="{FF2B5EF4-FFF2-40B4-BE49-F238E27FC236}">
                  <a16:creationId xmlns:a16="http://schemas.microsoft.com/office/drawing/2014/main" id="{7418D147-529C-47F1-8EA3-923BE198D802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1" name="object 103">
              <a:extLst>
                <a:ext uri="{FF2B5EF4-FFF2-40B4-BE49-F238E27FC236}">
                  <a16:creationId xmlns:a16="http://schemas.microsoft.com/office/drawing/2014/main" id="{55450F6C-6F6C-4F60-8D6A-2AA6B9DAEBC0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2" name="object 104">
              <a:extLst>
                <a:ext uri="{FF2B5EF4-FFF2-40B4-BE49-F238E27FC236}">
                  <a16:creationId xmlns:a16="http://schemas.microsoft.com/office/drawing/2014/main" id="{1F2E2249-69A4-4AC2-AC82-B7C5EFA9F6D5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3" name="object 105">
              <a:extLst>
                <a:ext uri="{FF2B5EF4-FFF2-40B4-BE49-F238E27FC236}">
                  <a16:creationId xmlns:a16="http://schemas.microsoft.com/office/drawing/2014/main" id="{EDC31699-510C-4E4A-81C6-19587B2BE1F4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4" name="object 106">
              <a:extLst>
                <a:ext uri="{FF2B5EF4-FFF2-40B4-BE49-F238E27FC236}">
                  <a16:creationId xmlns:a16="http://schemas.microsoft.com/office/drawing/2014/main" id="{C001143A-AB7A-4373-A495-67F789B74243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5" name="object 107">
              <a:extLst>
                <a:ext uri="{FF2B5EF4-FFF2-40B4-BE49-F238E27FC236}">
                  <a16:creationId xmlns:a16="http://schemas.microsoft.com/office/drawing/2014/main" id="{A714BAEE-97C5-4F60-A864-4685B2508676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6" name="object 108">
              <a:extLst>
                <a:ext uri="{FF2B5EF4-FFF2-40B4-BE49-F238E27FC236}">
                  <a16:creationId xmlns:a16="http://schemas.microsoft.com/office/drawing/2014/main" id="{B1C50934-20CB-4DC8-85EF-F99D9C020E7B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7" name="object 109">
              <a:extLst>
                <a:ext uri="{FF2B5EF4-FFF2-40B4-BE49-F238E27FC236}">
                  <a16:creationId xmlns:a16="http://schemas.microsoft.com/office/drawing/2014/main" id="{F4C51669-12FB-4E8B-AE8A-DA6232F7A2CF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8" name="object 110">
              <a:extLst>
                <a:ext uri="{FF2B5EF4-FFF2-40B4-BE49-F238E27FC236}">
                  <a16:creationId xmlns:a16="http://schemas.microsoft.com/office/drawing/2014/main" id="{F4C12360-D8A9-423D-A0A1-D2FB33B0DFDF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9" name="object 111">
              <a:extLst>
                <a:ext uri="{FF2B5EF4-FFF2-40B4-BE49-F238E27FC236}">
                  <a16:creationId xmlns:a16="http://schemas.microsoft.com/office/drawing/2014/main" id="{F5DE92FF-94F3-4A87-AC94-D41581F9BEC7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0" name="object 112">
              <a:extLst>
                <a:ext uri="{FF2B5EF4-FFF2-40B4-BE49-F238E27FC236}">
                  <a16:creationId xmlns:a16="http://schemas.microsoft.com/office/drawing/2014/main" id="{F59F5811-958A-4730-BAC9-E61D227A09B1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1" name="object 113">
              <a:extLst>
                <a:ext uri="{FF2B5EF4-FFF2-40B4-BE49-F238E27FC236}">
                  <a16:creationId xmlns:a16="http://schemas.microsoft.com/office/drawing/2014/main" id="{7F03121D-205E-4D3C-86A4-68EEF9F60A68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2" name="object 114">
              <a:extLst>
                <a:ext uri="{FF2B5EF4-FFF2-40B4-BE49-F238E27FC236}">
                  <a16:creationId xmlns:a16="http://schemas.microsoft.com/office/drawing/2014/main" id="{B3781D5D-DE6F-4F6F-9760-475C7A52ABF9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3" name="object 115">
              <a:extLst>
                <a:ext uri="{FF2B5EF4-FFF2-40B4-BE49-F238E27FC236}">
                  <a16:creationId xmlns:a16="http://schemas.microsoft.com/office/drawing/2014/main" id="{784513F7-3F90-4CC9-85D9-4BE354CCDA44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4" name="object 116">
              <a:extLst>
                <a:ext uri="{FF2B5EF4-FFF2-40B4-BE49-F238E27FC236}">
                  <a16:creationId xmlns:a16="http://schemas.microsoft.com/office/drawing/2014/main" id="{655083AB-5464-4367-BEA8-A678B7543763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5" name="object 117">
              <a:extLst>
                <a:ext uri="{FF2B5EF4-FFF2-40B4-BE49-F238E27FC236}">
                  <a16:creationId xmlns:a16="http://schemas.microsoft.com/office/drawing/2014/main" id="{77B178B2-BBE2-4491-A057-5CC351A8FD33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6" name="object 118">
              <a:extLst>
                <a:ext uri="{FF2B5EF4-FFF2-40B4-BE49-F238E27FC236}">
                  <a16:creationId xmlns:a16="http://schemas.microsoft.com/office/drawing/2014/main" id="{FCDE97E0-F475-45E5-BF06-7CD513C0069D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7" name="object 119">
              <a:extLst>
                <a:ext uri="{FF2B5EF4-FFF2-40B4-BE49-F238E27FC236}">
                  <a16:creationId xmlns:a16="http://schemas.microsoft.com/office/drawing/2014/main" id="{21984B9E-920D-44BB-A41F-1152C1BD342B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8" name="object 120">
              <a:extLst>
                <a:ext uri="{FF2B5EF4-FFF2-40B4-BE49-F238E27FC236}">
                  <a16:creationId xmlns:a16="http://schemas.microsoft.com/office/drawing/2014/main" id="{86D9D9EC-9733-470B-9415-B818EEEA925F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9" name="object 121">
              <a:extLst>
                <a:ext uri="{FF2B5EF4-FFF2-40B4-BE49-F238E27FC236}">
                  <a16:creationId xmlns:a16="http://schemas.microsoft.com/office/drawing/2014/main" id="{D99C97D9-7A2B-4525-9336-151A7C96A5CE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0" name="object 122">
              <a:extLst>
                <a:ext uri="{FF2B5EF4-FFF2-40B4-BE49-F238E27FC236}">
                  <a16:creationId xmlns:a16="http://schemas.microsoft.com/office/drawing/2014/main" id="{D0925AAB-D273-4EC7-BDE4-7041F860AEB0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1" name="object 123">
              <a:extLst>
                <a:ext uri="{FF2B5EF4-FFF2-40B4-BE49-F238E27FC236}">
                  <a16:creationId xmlns:a16="http://schemas.microsoft.com/office/drawing/2014/main" id="{EEE0698D-CFCA-4ED8-907A-0495DB217211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2" name="object 124">
              <a:extLst>
                <a:ext uri="{FF2B5EF4-FFF2-40B4-BE49-F238E27FC236}">
                  <a16:creationId xmlns:a16="http://schemas.microsoft.com/office/drawing/2014/main" id="{C7C90B32-8F40-4ED1-A1DE-DAF124EE0AAB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3" name="object 125">
              <a:extLst>
                <a:ext uri="{FF2B5EF4-FFF2-40B4-BE49-F238E27FC236}">
                  <a16:creationId xmlns:a16="http://schemas.microsoft.com/office/drawing/2014/main" id="{9665CB65-1943-43E8-9450-0C5C2EC294D9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4" name="object 126">
              <a:extLst>
                <a:ext uri="{FF2B5EF4-FFF2-40B4-BE49-F238E27FC236}">
                  <a16:creationId xmlns:a16="http://schemas.microsoft.com/office/drawing/2014/main" id="{FA76E20C-CA86-4B5C-94F8-F6EFFE80CBD5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5" name="object 127">
              <a:extLst>
                <a:ext uri="{FF2B5EF4-FFF2-40B4-BE49-F238E27FC236}">
                  <a16:creationId xmlns:a16="http://schemas.microsoft.com/office/drawing/2014/main" id="{1A84F4B2-9A0C-4898-9DAD-4509838B6BE1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6" name="object 128">
              <a:extLst>
                <a:ext uri="{FF2B5EF4-FFF2-40B4-BE49-F238E27FC236}">
                  <a16:creationId xmlns:a16="http://schemas.microsoft.com/office/drawing/2014/main" id="{8B663F50-1B52-4822-8537-9412D7F30DCF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7" name="object 129">
              <a:extLst>
                <a:ext uri="{FF2B5EF4-FFF2-40B4-BE49-F238E27FC236}">
                  <a16:creationId xmlns:a16="http://schemas.microsoft.com/office/drawing/2014/main" id="{3B37469B-DB13-40B6-B19C-4F1CBC529AB1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8" name="object 130">
              <a:extLst>
                <a:ext uri="{FF2B5EF4-FFF2-40B4-BE49-F238E27FC236}">
                  <a16:creationId xmlns:a16="http://schemas.microsoft.com/office/drawing/2014/main" id="{EAFF8150-F3DD-437A-9E64-B35089189C5E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9" name="object 131">
              <a:extLst>
                <a:ext uri="{FF2B5EF4-FFF2-40B4-BE49-F238E27FC236}">
                  <a16:creationId xmlns:a16="http://schemas.microsoft.com/office/drawing/2014/main" id="{386E302A-7D87-4724-A395-048FE6111E21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0" name="object 132">
              <a:extLst>
                <a:ext uri="{FF2B5EF4-FFF2-40B4-BE49-F238E27FC236}">
                  <a16:creationId xmlns:a16="http://schemas.microsoft.com/office/drawing/2014/main" id="{D73152AB-7C75-4767-85AE-D806B5911679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1" name="object 133">
              <a:extLst>
                <a:ext uri="{FF2B5EF4-FFF2-40B4-BE49-F238E27FC236}">
                  <a16:creationId xmlns:a16="http://schemas.microsoft.com/office/drawing/2014/main" id="{E1923D3F-F460-4B83-A7C6-43427E941957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2" name="object 134">
              <a:extLst>
                <a:ext uri="{FF2B5EF4-FFF2-40B4-BE49-F238E27FC236}">
                  <a16:creationId xmlns:a16="http://schemas.microsoft.com/office/drawing/2014/main" id="{737684BF-6F30-478E-B032-61BCE038F131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3" name="object 135">
              <a:extLst>
                <a:ext uri="{FF2B5EF4-FFF2-40B4-BE49-F238E27FC236}">
                  <a16:creationId xmlns:a16="http://schemas.microsoft.com/office/drawing/2014/main" id="{CCE06E04-2C8E-4789-8061-D995200B9CE3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4" name="object 136">
              <a:extLst>
                <a:ext uri="{FF2B5EF4-FFF2-40B4-BE49-F238E27FC236}">
                  <a16:creationId xmlns:a16="http://schemas.microsoft.com/office/drawing/2014/main" id="{B46667B3-3541-4CD7-B5AA-E8891BD999C4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5" name="object 137">
              <a:extLst>
                <a:ext uri="{FF2B5EF4-FFF2-40B4-BE49-F238E27FC236}">
                  <a16:creationId xmlns:a16="http://schemas.microsoft.com/office/drawing/2014/main" id="{47D26476-F3E4-42A5-9562-E2D578A45BA0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6" name="object 138">
              <a:extLst>
                <a:ext uri="{FF2B5EF4-FFF2-40B4-BE49-F238E27FC236}">
                  <a16:creationId xmlns:a16="http://schemas.microsoft.com/office/drawing/2014/main" id="{7840DE50-C22E-49E8-9E09-D524CEB9B605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7" name="object 139">
              <a:extLst>
                <a:ext uri="{FF2B5EF4-FFF2-40B4-BE49-F238E27FC236}">
                  <a16:creationId xmlns:a16="http://schemas.microsoft.com/office/drawing/2014/main" id="{2E615000-69CE-473C-8BD5-F44B593F1F1B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8" name="object 140">
              <a:extLst>
                <a:ext uri="{FF2B5EF4-FFF2-40B4-BE49-F238E27FC236}">
                  <a16:creationId xmlns:a16="http://schemas.microsoft.com/office/drawing/2014/main" id="{83F898E8-9578-4FA7-A25C-C32A9CE5E036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9" name="object 141">
              <a:extLst>
                <a:ext uri="{FF2B5EF4-FFF2-40B4-BE49-F238E27FC236}">
                  <a16:creationId xmlns:a16="http://schemas.microsoft.com/office/drawing/2014/main" id="{1BDDC80E-B4C2-4BE9-9FC1-77C4A1E64626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0" name="object 142">
              <a:extLst>
                <a:ext uri="{FF2B5EF4-FFF2-40B4-BE49-F238E27FC236}">
                  <a16:creationId xmlns:a16="http://schemas.microsoft.com/office/drawing/2014/main" id="{A6B0B6E5-2E06-4EC5-AE88-2D4A2402E6F2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1" name="object 143">
              <a:extLst>
                <a:ext uri="{FF2B5EF4-FFF2-40B4-BE49-F238E27FC236}">
                  <a16:creationId xmlns:a16="http://schemas.microsoft.com/office/drawing/2014/main" id="{DC8BB7B0-23EA-45E9-BF81-815CB7E861E7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2" name="object 144">
              <a:extLst>
                <a:ext uri="{FF2B5EF4-FFF2-40B4-BE49-F238E27FC236}">
                  <a16:creationId xmlns:a16="http://schemas.microsoft.com/office/drawing/2014/main" id="{712779C2-07A1-489D-916A-5B62FE6D1E2E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</p:grpSp>
    </p:spTree>
    <p:extLst>
      <p:ext uri="{BB962C8B-B14F-4D97-AF65-F5344CB8AC3E}">
        <p14:creationId xmlns:p14="http://schemas.microsoft.com/office/powerpoint/2010/main" val="141560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3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Motif de la présentation | Lieu |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14A4D-4352-4428-A1E5-77B1918968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0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9" r:id="rId3"/>
    <p:sldLayoutId id="2147483660" r:id="rId4"/>
    <p:sldLayoutId id="2147483661" r:id="rId5"/>
    <p:sldLayoutId id="2147483662" r:id="rId6"/>
  </p:sldLayoutIdLst>
  <p:hf hdr="0" dt="0"/>
  <p:txStyles>
    <p:titleStyle>
      <a:lvl1pPr algn="l" defTabSz="68575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9" indent="-171439" algn="l" defTabSz="68575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7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95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72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50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27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05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83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60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8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56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33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11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89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67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44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22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Intelligence artificielle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Partie 2 : les notions du semestre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BUT 3 informatique</a:t>
            </a:r>
          </a:p>
          <a:p>
            <a:r>
              <a:t>David Laiymani et Claude</a:t>
            </a:r>
          </a:p>
        </p:txBody>
      </p:sp>
      <p:pic>
        <p:nvPicPr>
          <p:cNvPr id="6" name="Picture 5" descr="cover_CM2_pet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28800"/>
            <a:ext cx="3566160" cy="2971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0"/>
            <a:ext cx="1920240" cy="734637"/>
          </a:xfrm>
          <a:prstGeom prst="rect">
            <a:avLst/>
          </a:prstGeom>
        </p:spPr>
      </p:pic>
      <p:pic>
        <p:nvPicPr>
          <p:cNvPr id="8" name="Picture 7" descr="logo_IUT_N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5687568"/>
            <a:ext cx="1790007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Deux grandes familles d'IA au programme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172027" cy="4520793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5172027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064" y="1669694"/>
            <a:ext cx="788953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60" b="1" i="0">
                <a:solidFill>
                  <a:srgbClr val="00877A"/>
                </a:solidFill>
                <a:latin typeface="Arial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4804000" y="1791594"/>
            <a:ext cx="745122" cy="745122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har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732" y="1985326"/>
            <a:ext cx="357658" cy="3576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2017" y="1669694"/>
            <a:ext cx="298049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1A2E2B"/>
                </a:solidFill>
                <a:latin typeface="Arial"/>
              </a:rPr>
              <a:t>IA prédictive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064" y="2799892"/>
            <a:ext cx="4646058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20" b="0" i="1">
                <a:solidFill>
                  <a:srgbClr val="2B3A38"/>
                </a:solidFill>
                <a:latin typeface="Arial"/>
              </a:rPr>
              <a:t>Apprendre à partir de données.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064" y="3741724"/>
            <a:ext cx="4646058" cy="2072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30" b="0" i="0">
                <a:solidFill>
                  <a:srgbClr val="2B3A38"/>
                </a:solidFill>
                <a:latin typeface="Arial"/>
              </a:rPr>
              <a:t>•  Clustering, classification</a:t>
            </a:r>
          </a:p>
          <a:p>
            <a:pPr algn="l">
              <a:spcAft>
                <a:spcPts val="1000"/>
              </a:spcAft>
            </a:pPr>
            <a:r>
              <a:rPr sz="1530" b="0" i="0">
                <a:solidFill>
                  <a:srgbClr val="2B3A38"/>
                </a:solidFill>
                <a:latin typeface="Arial"/>
              </a:rPr>
              <a:t>•  Régression, séries temporelles</a:t>
            </a:r>
          </a:p>
          <a:p>
            <a:pPr algn="l">
              <a:spcAft>
                <a:spcPts val="1000"/>
              </a:spcAft>
            </a:pPr>
            <a:r>
              <a:rPr sz="1530" b="0" i="0">
                <a:solidFill>
                  <a:srgbClr val="2B3A38"/>
                </a:solidFill>
                <a:latin typeface="Arial"/>
              </a:rPr>
              <a:t>•  En TP : Python, scikit-learn, XGBoost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5092" y="1481328"/>
            <a:ext cx="5172027" cy="4520793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75092" y="1481328"/>
            <a:ext cx="517202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8076" y="1669694"/>
            <a:ext cx="788953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60" b="1" i="0">
                <a:solidFill>
                  <a:srgbClr val="712180"/>
                </a:solidFill>
                <a:latin typeface="Arial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10239012" y="1791594"/>
            <a:ext cx="745122" cy="745122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Ma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744" y="1985326"/>
            <a:ext cx="357658" cy="3576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27030" y="1669694"/>
            <a:ext cx="298049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1A2E2B"/>
                </a:solidFill>
                <a:latin typeface="Arial"/>
              </a:rPr>
              <a:t>IA générative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8076" y="2799892"/>
            <a:ext cx="4646058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20" b="0" i="1">
                <a:solidFill>
                  <a:srgbClr val="2B3A38"/>
                </a:solidFill>
                <a:latin typeface="Arial"/>
              </a:rPr>
              <a:t>Des modèles qui produisent du contenu.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8076" y="3741724"/>
            <a:ext cx="4646058" cy="2072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30" b="0" i="0">
                <a:solidFill>
                  <a:srgbClr val="2B3A38"/>
                </a:solidFill>
                <a:latin typeface="Arial"/>
              </a:rPr>
              <a:t>•  Utiliser un LLM depuis du code</a:t>
            </a:r>
          </a:p>
          <a:p>
            <a:pPr algn="l">
              <a:spcAft>
                <a:spcPts val="1000"/>
              </a:spcAft>
            </a:pPr>
            <a:r>
              <a:rPr sz="1530" b="0" i="0">
                <a:solidFill>
                  <a:srgbClr val="2B3A38"/>
                </a:solidFill>
                <a:latin typeface="Arial"/>
              </a:rPr>
              <a:t>•  Le relier à des documents et des outils</a:t>
            </a:r>
          </a:p>
          <a:p>
            <a:pPr algn="l">
              <a:spcAft>
                <a:spcPts val="1000"/>
              </a:spcAft>
            </a:pPr>
            <a:r>
              <a:rPr sz="1530" b="0" i="0">
                <a:solidFill>
                  <a:srgbClr val="2B3A38"/>
                </a:solidFill>
                <a:latin typeface="Arial"/>
              </a:rPr>
              <a:t>•  Connaître ses limites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3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D73F"/>
                </a:solidFill>
                <a:latin typeface="Arial"/>
              </a:rPr>
              <a:t>Ce que nous verrons en 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IA PRÉDICTIVE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E3F6F5"/>
                </a:solidFill>
                <a:latin typeface="Arial"/>
              </a:rPr>
              <a:t>Regrouper, classer, estimer, prévoir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A · IA prédictive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Quatre familles de problèmes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4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54521" cy="3343503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454521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233" y="1739611"/>
            <a:ext cx="613630" cy="613630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Object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77" y="1899155"/>
            <a:ext cx="294542" cy="2945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04356" y="1716786"/>
            <a:ext cx="131492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1" i="0">
                <a:solidFill>
                  <a:srgbClr val="00877A"/>
                </a:solidFill>
                <a:latin typeface="Arial"/>
              </a:rPr>
              <a:t>TP1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33" y="2517343"/>
            <a:ext cx="2103875" cy="4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233" y="2941167"/>
            <a:ext cx="2103875" cy="470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1">
                <a:solidFill>
                  <a:srgbClr val="00877A"/>
                </a:solidFill>
                <a:latin typeface="Arial"/>
              </a:rPr>
              <a:t>Quels groupes 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233" y="3506266"/>
            <a:ext cx="2060044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Pas de réponse connue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233" y="4353915"/>
            <a:ext cx="1490245" cy="320222"/>
          </a:xfrm>
          <a:prstGeom prst="roundRect">
            <a:avLst>
              <a:gd name="adj" fmla="val 18000"/>
            </a:avLst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233" y="4353915"/>
            <a:ext cx="1490245" cy="320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Arial"/>
              </a:rPr>
              <a:t>Non supervisé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7586" y="1481328"/>
            <a:ext cx="2454521" cy="3343503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7586" y="1481328"/>
            <a:ext cx="2454521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6739" y="1739611"/>
            <a:ext cx="613630" cy="613630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83" y="1899155"/>
            <a:ext cx="294542" cy="2945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21862" y="1716786"/>
            <a:ext cx="131492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1" i="0">
                <a:solidFill>
                  <a:srgbClr val="D1452B"/>
                </a:solidFill>
                <a:latin typeface="Arial"/>
              </a:rPr>
              <a:t>TP2 et TP3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6739" y="2517343"/>
            <a:ext cx="2103875" cy="4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6739" y="2941167"/>
            <a:ext cx="2103875" cy="470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1">
                <a:solidFill>
                  <a:srgbClr val="D1452B"/>
                </a:solidFill>
                <a:latin typeface="Arial"/>
              </a:rPr>
              <a:t>Quelle catégorie 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6739" y="3506266"/>
            <a:ext cx="2060044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Réponse = une catégorie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76739" y="4353915"/>
            <a:ext cx="1490245" cy="320222"/>
          </a:xfrm>
          <a:prstGeom prst="roundRect">
            <a:avLst>
              <a:gd name="adj" fmla="val 18000"/>
            </a:avLst>
          </a:prstGeom>
          <a:solidFill>
            <a:srgbClr val="D1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6739" y="4353915"/>
            <a:ext cx="1490245" cy="320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Arial"/>
              </a:rPr>
              <a:t>Supervisé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75092" y="1481328"/>
            <a:ext cx="2454521" cy="3343503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75092" y="1481328"/>
            <a:ext cx="2454521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94245" y="1739611"/>
            <a:ext cx="613630" cy="613630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789" y="1899155"/>
            <a:ext cx="294542" cy="29454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39368" y="1716786"/>
            <a:ext cx="131492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1" i="0">
                <a:solidFill>
                  <a:srgbClr val="712180"/>
                </a:solidFill>
                <a:latin typeface="Arial"/>
              </a:rPr>
              <a:t>TP4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4245" y="2517343"/>
            <a:ext cx="2103875" cy="4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Régression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4245" y="2941167"/>
            <a:ext cx="2103875" cy="470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1">
                <a:solidFill>
                  <a:srgbClr val="712180"/>
                </a:solidFill>
                <a:latin typeface="Arial"/>
              </a:rPr>
              <a:t>Combien 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4245" y="3506266"/>
            <a:ext cx="2060044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Réponse = un nombre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4245" y="4353915"/>
            <a:ext cx="1490245" cy="320222"/>
          </a:xfrm>
          <a:prstGeom prst="roundRect">
            <a:avLst>
              <a:gd name="adj" fmla="val 18000"/>
            </a:avLst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4245" y="4353915"/>
            <a:ext cx="1490245" cy="320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Arial"/>
              </a:rPr>
              <a:t>Supervisé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2598" y="1481328"/>
            <a:ext cx="2454521" cy="3343503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92598" y="1481328"/>
            <a:ext cx="2454521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11752" y="1739611"/>
            <a:ext cx="613630" cy="613630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aCalendarAl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295" y="1899155"/>
            <a:ext cx="294542" cy="29454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56874" y="1716786"/>
            <a:ext cx="1314922" cy="65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1" i="0">
                <a:solidFill>
                  <a:srgbClr val="5F7C17"/>
                </a:solidFill>
                <a:latin typeface="Arial"/>
              </a:rPr>
              <a:t>TP5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1752" y="2517343"/>
            <a:ext cx="2103875" cy="4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 i="0">
                <a:solidFill>
                  <a:srgbClr val="1A2E2B"/>
                </a:solidFill>
                <a:latin typeface="Arial"/>
              </a:rPr>
              <a:t>Séries temporelles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1752" y="2941167"/>
            <a:ext cx="2103875" cy="470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10" b="1" i="1">
                <a:solidFill>
                  <a:srgbClr val="5F7C17"/>
                </a:solidFill>
                <a:latin typeface="Arial"/>
              </a:rPr>
              <a:t>Combien demain 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1752" y="3506266"/>
            <a:ext cx="2060044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Un nombre à prévoir dans le futur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11752" y="4353915"/>
            <a:ext cx="1490245" cy="320222"/>
          </a:xfrm>
          <a:prstGeom prst="roundRect">
            <a:avLst>
              <a:gd name="adj" fmla="val 18000"/>
            </a:avLst>
          </a:prstGeom>
          <a:solidFill>
            <a:srgbClr val="5F7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11752" y="4353915"/>
            <a:ext cx="1490245" cy="320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Arial"/>
              </a:rPr>
              <a:t>Supervisé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107381"/>
            <a:ext cx="10607040" cy="89474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233" y="5107381"/>
            <a:ext cx="10256394" cy="894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 i="0">
                <a:solidFill>
                  <a:srgbClr val="00877A"/>
                </a:solidFill>
                <a:latin typeface="Arial"/>
              </a:rPr>
              <a:t>Supervisé ou non ? </a:t>
            </a:r>
            <a:r>
              <a:rPr sz="1440" b="0" i="0">
                <a:solidFill>
                  <a:srgbClr val="2B3A38"/>
                </a:solidFill>
                <a:latin typeface="Arial"/>
              </a:rPr>
              <a:t>supervisé = on apprend à partir d'exemples dont on connaît la réponse ; non supervisé = aucune réponse connue.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A · IA prédictive · Clustering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Clustering : trouver des groupes cachés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5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4909043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 i="0">
                <a:solidFill>
                  <a:srgbClr val="00877A"/>
                </a:solidFill>
                <a:latin typeface="Arial"/>
              </a:rPr>
              <a:t>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5152"/>
            <a:ext cx="4909043" cy="12243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0" i="0">
                <a:solidFill>
                  <a:srgbClr val="2B3A38"/>
                </a:solidFill>
                <a:latin typeface="Arial"/>
              </a:rPr>
              <a:t>Des clients décrits par leur âge, leur revenu et leurs dépenses. Quels segments existent ? Personne ne le sait.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23717"/>
            <a:ext cx="701291" cy="376732"/>
          </a:xfrm>
          <a:prstGeom prst="rect">
            <a:avLst/>
          </a:prstGeom>
          <a:solidFill>
            <a:srgbClr val="00877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10" y="3223717"/>
            <a:ext cx="613630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41371" y="3223717"/>
            <a:ext cx="788953" cy="376732"/>
          </a:xfrm>
          <a:prstGeom prst="rect">
            <a:avLst/>
          </a:prstGeom>
          <a:solidFill>
            <a:srgbClr val="00877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5202" y="3223717"/>
            <a:ext cx="7012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Âge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30325" y="3223717"/>
            <a:ext cx="1183430" cy="376732"/>
          </a:xfrm>
          <a:prstGeom prst="rect">
            <a:avLst/>
          </a:prstGeom>
          <a:solidFill>
            <a:srgbClr val="00877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4156" y="3223717"/>
            <a:ext cx="109576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Revenu (k€)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3755" y="3223717"/>
            <a:ext cx="1095768" cy="376732"/>
          </a:xfrm>
          <a:prstGeom prst="rect">
            <a:avLst/>
          </a:prstGeom>
          <a:solidFill>
            <a:srgbClr val="00877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7586" y="3223717"/>
            <a:ext cx="100810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Dépenses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9523" y="3223717"/>
            <a:ext cx="1139599" cy="376732"/>
          </a:xfrm>
          <a:prstGeom prst="rect">
            <a:avLst/>
          </a:prstGeom>
          <a:solidFill>
            <a:srgbClr val="00877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354" y="3223717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Segment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00450"/>
            <a:ext cx="701291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10" y="3600450"/>
            <a:ext cx="613630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41371" y="3600450"/>
            <a:ext cx="788953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5202" y="3600450"/>
            <a:ext cx="7012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0325" y="3600450"/>
            <a:ext cx="1183430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74156" y="3600450"/>
            <a:ext cx="109576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3755" y="3600450"/>
            <a:ext cx="1095768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7586" y="3600450"/>
            <a:ext cx="100810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39 / 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9523" y="3600450"/>
            <a:ext cx="1139599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354" y="3600450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ED5D42"/>
                </a:solidFill>
                <a:latin typeface="Arial"/>
              </a:rPr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977182"/>
            <a:ext cx="701291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10" y="3977182"/>
            <a:ext cx="613630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1371" y="3977182"/>
            <a:ext cx="788953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5202" y="3977182"/>
            <a:ext cx="7012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30325" y="3977182"/>
            <a:ext cx="1183430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4156" y="3977182"/>
            <a:ext cx="109576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3755" y="3977182"/>
            <a:ext cx="1095768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7586" y="3977182"/>
            <a:ext cx="100810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81 / 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9523" y="3977182"/>
            <a:ext cx="1139599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354" y="3977182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ED5D42"/>
                </a:solidFill>
                <a:latin typeface="Arial"/>
              </a:rPr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353915"/>
            <a:ext cx="701291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910" y="4353915"/>
            <a:ext cx="613630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1371" y="4353915"/>
            <a:ext cx="788953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85202" y="4353915"/>
            <a:ext cx="7012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30325" y="4353915"/>
            <a:ext cx="1183430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74156" y="4353915"/>
            <a:ext cx="109576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120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3755" y="4353915"/>
            <a:ext cx="1095768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57586" y="4353915"/>
            <a:ext cx="100810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12 / 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9523" y="4353915"/>
            <a:ext cx="1139599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354" y="4353915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ED5D42"/>
                </a:solidFill>
                <a:latin typeface="Arial"/>
              </a:rPr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730648"/>
            <a:ext cx="701291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3910" y="4730648"/>
            <a:ext cx="613630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41371" y="4730648"/>
            <a:ext cx="788953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85202" y="4730648"/>
            <a:ext cx="7012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…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0325" y="4730648"/>
            <a:ext cx="1183430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74156" y="4730648"/>
            <a:ext cx="109576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13755" y="4730648"/>
            <a:ext cx="1095768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57586" y="4730648"/>
            <a:ext cx="100810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09523" y="4730648"/>
            <a:ext cx="1139599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53354" y="4730648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ED5D42"/>
                </a:solidFill>
                <a:latin typeface="Arial"/>
              </a:rPr>
              <a:t>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154472"/>
            <a:ext cx="4909043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 i="1">
                <a:solidFill>
                  <a:srgbClr val="5A6B68"/>
                </a:solidFill>
                <a:latin typeface="Arial"/>
              </a:rPr>
              <a:t>Aucune colonne « réponse » : non supervisé.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7430" y="1481328"/>
            <a:ext cx="2366860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Les données brutes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7430" y="1858060"/>
            <a:ext cx="2366860" cy="1930755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91970" y="2320465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35473" y="2336954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97590" y="2171156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67675" y="2317322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00558" y="2361249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09022" y="266822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546062" y="2374171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615508" y="2250729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35258" y="2440579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98390" y="2466846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770728" y="2361134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485515" y="2414261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07280" y="255236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499396" y="2268612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735251" y="2478297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836851" y="2538626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636124" y="2389493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64086" y="2387765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901454" y="3156049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044682" y="3071456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97477" y="3136253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045130" y="3342341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018111" y="2978528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910157" y="3065977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159625" y="3229544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218585" y="3348235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290342" y="320765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48767" y="1481328"/>
            <a:ext cx="2366860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Après clustering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748767" y="1858060"/>
            <a:ext cx="2366860" cy="1930755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153307" y="2320465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196809" y="2336954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358927" y="2171156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229012" y="2317322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161895" y="2361249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270359" y="2668220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307398" y="2374171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376845" y="2250729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196595" y="2440579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259727" y="2466846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532065" y="2361134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246852" y="2414261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68617" y="255236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260733" y="2268612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496588" y="2478297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598188" y="2538626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397461" y="2389493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725423" y="238776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662790" y="3156049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806019" y="3071456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958814" y="3136253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806467" y="3342341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779448" y="2978528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671494" y="3065977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920962" y="3229544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979922" y="3348235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051679" y="3207650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8380589" y="2818729"/>
            <a:ext cx="350646" cy="0"/>
          </a:xfrm>
          <a:prstGeom prst="line">
            <a:avLst/>
          </a:prstGeom>
          <a:ln w="28575">
            <a:solidFill>
              <a:srgbClr val="0087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987430" y="3882999"/>
            <a:ext cx="5128197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0" i="1">
                <a:solidFill>
                  <a:srgbClr val="5A6B68"/>
                </a:solidFill>
                <a:latin typeface="Arial"/>
              </a:rPr>
              <a:t>3 groupes découverts automatiquement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" y="5531205"/>
            <a:ext cx="10607040" cy="47091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5402" y="5531205"/>
            <a:ext cx="10344055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877A"/>
                </a:solidFill>
                <a:latin typeface="Arial"/>
              </a:rPr>
              <a:t>D'autres usages : </a:t>
            </a:r>
            <a:r>
              <a:rPr sz="1350" b="0" i="0">
                <a:solidFill>
                  <a:srgbClr val="2B3A38"/>
                </a:solidFill>
                <a:latin typeface="Arial"/>
              </a:rPr>
              <a:t>biologie, documents, cybersécurité, images.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987430" y="4401007"/>
            <a:ext cx="5128197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Reste à les </a:t>
            </a:r>
            <a:r>
              <a:rPr sz="1350" b="1" i="0">
                <a:solidFill>
                  <a:srgbClr val="00877A"/>
                </a:solidFill>
                <a:latin typeface="Arial"/>
              </a:rPr>
              <a:t>interpréter</a:t>
            </a:r>
            <a:r>
              <a:rPr sz="1350" b="0" i="0">
                <a:solidFill>
                  <a:srgbClr val="2B3A38"/>
                </a:solidFill>
                <a:latin typeface="Arial"/>
              </a:rPr>
              <a:t> : « jeunes gros dépensiers », « aisés économes »…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A · IA prédictive · Clustering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K-Means, pas à pas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6</a:t>
            </a:fld>
          </a:p>
        </p:txBody>
      </p:sp>
      <p:sp>
        <p:nvSpPr>
          <p:cNvPr id="6" name="Oval 5"/>
          <p:cNvSpPr/>
          <p:nvPr/>
        </p:nvSpPr>
        <p:spPr>
          <a:xfrm>
            <a:off x="640080" y="1495023"/>
            <a:ext cx="368178" cy="368178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368178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919" y="1462491"/>
            <a:ext cx="1884721" cy="4332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Placer k centres au hasard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9335"/>
            <a:ext cx="2366860" cy="183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134" y="2438563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8332" y="2454228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5585" y="229672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9568" y="2435578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465" y="2477308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9675" y="276893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5603" y="2489584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2966" y="2372314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8124" y="2552672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9361" y="2577625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53529" y="2477199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76873" y="252767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91985" y="2658863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90337" y="2389303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19117" y="2588504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17669" y="2645817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22964" y="250414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41087" y="2502498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10333" y="3232368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49265" y="3152005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97476" y="3213562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49699" y="3409346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23491" y="3063723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18776" y="314680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60760" y="3302189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17951" y="3414945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87555" y="3281390"/>
            <a:ext cx="96427" cy="96427"/>
          </a:xfrm>
          <a:prstGeom prst="ellipse">
            <a:avLst/>
          </a:prstGeom>
          <a:solidFill>
            <a:srgbClr val="A9B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832935" y="2159447"/>
            <a:ext cx="227919" cy="24487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1183581" y="2206538"/>
            <a:ext cx="227919" cy="24487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2542334" y="3430920"/>
            <a:ext cx="227919" cy="24487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930091"/>
            <a:ext cx="2366860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On choisit k = 3 et on place 3 centres au hasard.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050770" y="2912912"/>
            <a:ext cx="280517" cy="0"/>
          </a:xfrm>
          <a:prstGeom prst="line">
            <a:avLst/>
          </a:prstGeom>
          <a:ln w="25400">
            <a:solidFill>
              <a:srgbClr val="0087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357586" y="1495023"/>
            <a:ext cx="368178" cy="368178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57586" y="1481328"/>
            <a:ext cx="368178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3425" y="1462491"/>
            <a:ext cx="1884721" cy="4332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Affecter chaque 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57586" y="1999335"/>
            <a:ext cx="2366860" cy="183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733640" y="2438563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75838" y="245422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933091" y="229672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807074" y="243557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741971" y="2477308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847181" y="276893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883109" y="2489584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50472" y="2372314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775630" y="2552672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806868" y="257762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071035" y="2477199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794379" y="252767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009491" y="2658863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807843" y="2389303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036623" y="2588504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135175" y="2645817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940470" y="250414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258593" y="2502498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7839" y="323236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366771" y="315200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514982" y="3213562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67205" y="3409346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340998" y="3063723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236282" y="314680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478266" y="3302189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535457" y="3414945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605061" y="3281390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3550441" y="2159447"/>
            <a:ext cx="227919" cy="244876"/>
          </a:xfrm>
          <a:prstGeom prst="diamond">
            <a:avLst/>
          </a:prstGeom>
          <a:solidFill>
            <a:srgbClr val="00ABA2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iamond 73"/>
          <p:cNvSpPr/>
          <p:nvPr/>
        </p:nvSpPr>
        <p:spPr>
          <a:xfrm>
            <a:off x="3901087" y="2206538"/>
            <a:ext cx="227919" cy="244876"/>
          </a:xfrm>
          <a:prstGeom prst="diamond">
            <a:avLst/>
          </a:prstGeom>
          <a:solidFill>
            <a:srgbClr val="712180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iamond 74"/>
          <p:cNvSpPr/>
          <p:nvPr/>
        </p:nvSpPr>
        <p:spPr>
          <a:xfrm>
            <a:off x="5259840" y="3430920"/>
            <a:ext cx="227919" cy="244876"/>
          </a:xfrm>
          <a:prstGeom prst="diamond">
            <a:avLst/>
          </a:prstGeom>
          <a:solidFill>
            <a:srgbClr val="ED5D42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57586" y="3930091"/>
            <a:ext cx="2366860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Chaque point rejoint le centre le plus proche.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768277" y="2912912"/>
            <a:ext cx="280516" cy="0"/>
          </a:xfrm>
          <a:prstGeom prst="line">
            <a:avLst/>
          </a:prstGeom>
          <a:ln w="25400">
            <a:solidFill>
              <a:srgbClr val="0087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6075092" y="1495023"/>
            <a:ext cx="368178" cy="368178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75092" y="1481328"/>
            <a:ext cx="368178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30931" y="1462491"/>
            <a:ext cx="1884721" cy="4332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Déplacer les centres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75092" y="1999335"/>
            <a:ext cx="2366860" cy="183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451147" y="2438563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93344" y="245422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650598" y="229672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24581" y="243557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459477" y="2477308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64687" y="276893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600615" y="2489584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667978" y="2372314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493136" y="2552672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524374" y="257762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788542" y="2477199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511885" y="252767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726997" y="2658863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525350" y="2389303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54129" y="2588504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852681" y="2645817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57976" y="250414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976099" y="2502498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945345" y="323236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084277" y="315200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232488" y="3213562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084711" y="3409346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058504" y="3063723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953788" y="314680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195772" y="3302189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252963" y="3414945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322567" y="3281390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iamond 108"/>
          <p:cNvSpPr/>
          <p:nvPr/>
        </p:nvSpPr>
        <p:spPr>
          <a:xfrm>
            <a:off x="6389566" y="2383711"/>
            <a:ext cx="227919" cy="244876"/>
          </a:xfrm>
          <a:prstGeom prst="diamond">
            <a:avLst/>
          </a:prstGeom>
          <a:solidFill>
            <a:srgbClr val="00ABA2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iamond 109"/>
          <p:cNvSpPr/>
          <p:nvPr/>
        </p:nvSpPr>
        <p:spPr>
          <a:xfrm>
            <a:off x="6884683" y="2590020"/>
            <a:ext cx="227919" cy="244876"/>
          </a:xfrm>
          <a:prstGeom prst="diamond">
            <a:avLst/>
          </a:prstGeom>
          <a:solidFill>
            <a:srgbClr val="712180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iamond 110"/>
          <p:cNvSpPr/>
          <p:nvPr/>
        </p:nvSpPr>
        <p:spPr>
          <a:xfrm>
            <a:off x="7452949" y="2875207"/>
            <a:ext cx="227919" cy="244876"/>
          </a:xfrm>
          <a:prstGeom prst="diamond">
            <a:avLst/>
          </a:prstGeom>
          <a:solidFill>
            <a:srgbClr val="ED5D42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075092" y="3930091"/>
            <a:ext cx="2366860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Chaque centre va au milieu de son groupe.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485783" y="2912912"/>
            <a:ext cx="280516" cy="0"/>
          </a:xfrm>
          <a:prstGeom prst="line">
            <a:avLst/>
          </a:prstGeom>
          <a:ln w="25400">
            <a:solidFill>
              <a:srgbClr val="0087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8792598" y="1495023"/>
            <a:ext cx="368178" cy="368178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792598" y="1481328"/>
            <a:ext cx="368178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48438" y="1462491"/>
            <a:ext cx="1884721" cy="4332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Recommencer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792598" y="1999335"/>
            <a:ext cx="2366860" cy="183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168653" y="2438563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210850" y="2454228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9368104" y="2296720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242087" y="2435578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176983" y="2477308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282193" y="2768930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318121" y="2489584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385485" y="2372314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210642" y="2552672"/>
            <a:ext cx="96427" cy="96427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241880" y="2577625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506048" y="2477199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229391" y="2527670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444503" y="2658863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242856" y="2389303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471635" y="2588504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570187" y="2645817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375482" y="2504140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693605" y="2502498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62852" y="323236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801783" y="315200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949994" y="3213562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802218" y="3409346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776010" y="3063723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71294" y="314680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913278" y="3302189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970469" y="341494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040074" y="328139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Diamond 144"/>
          <p:cNvSpPr/>
          <p:nvPr/>
        </p:nvSpPr>
        <p:spPr>
          <a:xfrm>
            <a:off x="9196822" y="2401986"/>
            <a:ext cx="227919" cy="244876"/>
          </a:xfrm>
          <a:prstGeom prst="diamond">
            <a:avLst/>
          </a:prstGeom>
          <a:solidFill>
            <a:srgbClr val="00ABA2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Diamond 145"/>
          <p:cNvSpPr/>
          <p:nvPr/>
        </p:nvSpPr>
        <p:spPr>
          <a:xfrm>
            <a:off x="9777362" y="3172034"/>
            <a:ext cx="227919" cy="244876"/>
          </a:xfrm>
          <a:prstGeom prst="diamond">
            <a:avLst/>
          </a:prstGeom>
          <a:solidFill>
            <a:srgbClr val="712180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Diamond 146"/>
          <p:cNvSpPr/>
          <p:nvPr/>
        </p:nvSpPr>
        <p:spPr>
          <a:xfrm>
            <a:off x="10353764" y="2467067"/>
            <a:ext cx="227919" cy="244876"/>
          </a:xfrm>
          <a:prstGeom prst="diamond">
            <a:avLst/>
          </a:prstGeom>
          <a:solidFill>
            <a:srgbClr val="ED5D42"/>
          </a:solidFill>
          <a:ln w="15875">
            <a:solidFill>
              <a:srgbClr val="1A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792598" y="3930091"/>
            <a:ext cx="2366860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On répète jusqu'à ce que plus rien ne bouge.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0080" y="4777740"/>
            <a:ext cx="6048642" cy="1224381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40080" y="4777740"/>
            <a:ext cx="6048642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15402" y="4937851"/>
            <a:ext cx="1402583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946895" y="5050871"/>
            <a:ext cx="157790" cy="395569"/>
          </a:xfrm>
          <a:prstGeom prst="line">
            <a:avLst/>
          </a:prstGeom>
          <a:ln w="22225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104685" y="5446440"/>
            <a:ext cx="157791" cy="188367"/>
          </a:xfrm>
          <a:prstGeom prst="line">
            <a:avLst/>
          </a:prstGeom>
          <a:ln w="22225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262476" y="5634807"/>
            <a:ext cx="157791" cy="75346"/>
          </a:xfrm>
          <a:prstGeom prst="line">
            <a:avLst/>
          </a:prstGeom>
          <a:ln w="22225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420267" y="5710153"/>
            <a:ext cx="157790" cy="37673"/>
          </a:xfrm>
          <a:prstGeom prst="line">
            <a:avLst/>
          </a:prstGeom>
          <a:ln w="22225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578057" y="5747826"/>
            <a:ext cx="157791" cy="28255"/>
          </a:xfrm>
          <a:prstGeom prst="line">
            <a:avLst/>
          </a:prstGeom>
          <a:ln w="22225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735848" y="5776081"/>
            <a:ext cx="157791" cy="18837"/>
          </a:xfrm>
          <a:prstGeom prst="line">
            <a:avLst/>
          </a:prstGeom>
          <a:ln w="22225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911830" y="5015806"/>
            <a:ext cx="70129" cy="70129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69621" y="5411376"/>
            <a:ext cx="70129" cy="70129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227411" y="5599742"/>
            <a:ext cx="70129" cy="70129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385202" y="5675089"/>
            <a:ext cx="70129" cy="70129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542993" y="5712762"/>
            <a:ext cx="70129" cy="70129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700784" y="5741017"/>
            <a:ext cx="70129" cy="70129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858574" y="5759853"/>
            <a:ext cx="70129" cy="70129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4815" y="5547145"/>
            <a:ext cx="175322" cy="17532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D5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393309" y="4871923"/>
            <a:ext cx="4163920" cy="10831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00877A"/>
                </a:solidFill>
                <a:latin typeface="Arial"/>
              </a:rPr>
              <a:t>Combien de groupes ? </a:t>
            </a:r>
            <a:r>
              <a:rPr sz="1260" b="0" i="0">
                <a:solidFill>
                  <a:srgbClr val="2B3A38"/>
                </a:solidFill>
                <a:latin typeface="Arial"/>
              </a:rPr>
              <a:t>on cherche le « coude » : au-delà, un groupe de plus n'aide plus.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951707" y="4777740"/>
            <a:ext cx="4295412" cy="1224381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51707" y="4777740"/>
            <a:ext cx="429541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127030" y="4871923"/>
            <a:ext cx="3988597" cy="10831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D1452B"/>
                </a:solidFill>
                <a:latin typeface="Arial"/>
              </a:rPr>
              <a:t>Attention aux échelles : </a:t>
            </a:r>
            <a:r>
              <a:rPr sz="1260" b="0" i="0">
                <a:solidFill>
                  <a:srgbClr val="2B3A38"/>
                </a:solidFill>
                <a:latin typeface="Arial"/>
              </a:rPr>
              <a:t>on standardise les variables avant de calculer des distances.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A · IA prédictive · Clustering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Clustering : quel algorithme choisir 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7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498352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402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877A"/>
                </a:solidFill>
                <a:latin typeface="Arial"/>
              </a:rPr>
              <a:t>K-Means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402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216" y="2473905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4503" y="2488039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73461" y="2345927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62106" y="2471212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04577" y="2508863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97546" y="2771981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29294" y="2519939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8375" y="2606103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41808" y="2515493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97340" y="2561030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87424" y="2679400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09238" y="2436188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11399" y="2615918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98485" y="2667629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15316" y="3297759"/>
            <a:ext cx="87661" cy="87661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38083" y="3225250"/>
            <a:ext cx="87661" cy="87661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9050" y="3280791"/>
            <a:ext cx="87661" cy="87661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38467" y="3457438"/>
            <a:ext cx="87661" cy="87661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15308" y="3145598"/>
            <a:ext cx="87661" cy="87661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22776" y="3220554"/>
            <a:ext cx="87661" cy="87661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36606" y="3360755"/>
            <a:ext cx="87661" cy="87661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402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Rapide. Groupes ronds, k à choisir.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1287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1287" y="1481328"/>
            <a:ext cx="2498352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6610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877A"/>
                </a:solidFill>
                <a:latin typeface="Arial"/>
              </a:rPr>
              <a:t>CAH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6610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3725764" y="3364991"/>
            <a:ext cx="0" cy="329642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5764" y="3364991"/>
            <a:ext cx="341880" cy="0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067644" y="3364991"/>
            <a:ext cx="0" cy="329642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409523" y="3412083"/>
            <a:ext cx="0" cy="282550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409523" y="3412083"/>
            <a:ext cx="341880" cy="0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751403" y="3412083"/>
            <a:ext cx="0" cy="282550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896704" y="2988259"/>
            <a:ext cx="0" cy="376732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96704" y="2988259"/>
            <a:ext cx="683759" cy="0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80463" y="2988259"/>
            <a:ext cx="0" cy="423824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093283" y="3223717"/>
            <a:ext cx="0" cy="470916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093283" y="3223717"/>
            <a:ext cx="341880" cy="0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435163" y="3223717"/>
            <a:ext cx="0" cy="470916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238584" y="2611526"/>
            <a:ext cx="0" cy="376733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238584" y="2611526"/>
            <a:ext cx="1025639" cy="0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64223" y="2611526"/>
            <a:ext cx="0" cy="612191"/>
          </a:xfrm>
          <a:prstGeom prst="line">
            <a:avLst/>
          </a:prstGeom>
          <a:ln w="19050">
            <a:solidFill>
              <a:srgbClr val="008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94272" y="2799892"/>
            <a:ext cx="1972383" cy="0"/>
          </a:xfrm>
          <a:prstGeom prst="line">
            <a:avLst/>
          </a:prstGeom>
          <a:ln w="15875">
            <a:solidFill>
              <a:srgbClr val="ED5D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681933" y="3726149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023813" y="3726149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365693" y="3726149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707573" y="3726149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049452" y="3726149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391332" y="3726149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06610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 arbre de regroupements, que l'on coupe.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22495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22495" y="1481328"/>
            <a:ext cx="2498352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7818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877A"/>
                </a:solidFill>
                <a:latin typeface="Arial"/>
              </a:rPr>
              <a:t>DBSCAN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97818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00460" y="2889947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91337" y="2788484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277144" y="2734541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879801" y="287759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241615" y="2656394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900692" y="2978419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192180" y="2514840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927438" y="3060340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054680" y="2424449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81299" y="3141258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982265" y="2405263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28819" y="3163022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871857" y="2393873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59605" y="3204017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747200" y="2330207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342840" y="3165860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07535" y="2445437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411039" y="3223322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550569" y="2458246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583935" y="3162904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82439" y="2535844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643281" y="3055636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62977" y="2634513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704217" y="300948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298540" y="2711027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741031" y="2814008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3720" y="2786580"/>
            <a:ext cx="78895" cy="7889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772658" y="2745605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33693" y="2242437"/>
            <a:ext cx="78895" cy="7889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911600" y="2289529"/>
            <a:ext cx="78895" cy="7889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867769" y="3325544"/>
            <a:ext cx="78895" cy="7889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9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97818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Zones denses, formes libres, points isolés.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713703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713703" y="1481328"/>
            <a:ext cx="2498352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89025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877A"/>
                </a:solidFill>
                <a:latin typeface="Arial"/>
              </a:rPr>
              <a:t>Mélanges gaussiens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889025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108179" y="2376068"/>
            <a:ext cx="1095768" cy="753465"/>
          </a:xfrm>
          <a:prstGeom prst="ellipse">
            <a:avLst/>
          </a:prstGeom>
          <a:solidFill>
            <a:srgbClr val="00ABA2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721810" y="2611526"/>
            <a:ext cx="964276" cy="800557"/>
          </a:xfrm>
          <a:prstGeom prst="ellipse">
            <a:avLst/>
          </a:prstGeom>
          <a:solidFill>
            <a:srgbClr val="71218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371164" y="2614787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546487" y="2803153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283502" y="2850245"/>
            <a:ext cx="87661" cy="87661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247779" y="2991520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379271" y="2803153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116286" y="3179886"/>
            <a:ext cx="87661" cy="87661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883983" y="2808841"/>
            <a:ext cx="113959" cy="113959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84794" y="2187702"/>
            <a:ext cx="788953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1" i="0">
                <a:solidFill>
                  <a:srgbClr val="ED5D42"/>
                </a:solidFill>
                <a:latin typeface="Arial"/>
              </a:rPr>
              <a:t>60 % / 40 %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889025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Une probabilité par groupe pour chaque point.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5389930"/>
            <a:ext cx="10607040" cy="47091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5402" y="5389930"/>
            <a:ext cx="10344055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877A"/>
                </a:solidFill>
                <a:latin typeface="Arial"/>
              </a:rPr>
              <a:t>Au TP1 : </a:t>
            </a:r>
            <a:r>
              <a:rPr sz="1350" b="0" i="0">
                <a:solidFill>
                  <a:srgbClr val="2B3A38"/>
                </a:solidFill>
                <a:latin typeface="Arial"/>
              </a:rPr>
              <a:t>K-Means, et la CAH en facultatif.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D1452B"/>
                </a:solidFill>
              </a:rPr>
              <a:t>A · IA prédictive ·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Classification : apprendre à reconnaître des catégories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8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084366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D1452B"/>
                </a:solidFill>
                <a:latin typeface="Arial"/>
              </a:rPr>
              <a:t>1. Des exemples étiquetés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58060"/>
            <a:ext cx="1271091" cy="357896"/>
          </a:xfrm>
          <a:prstGeom prst="rect">
            <a:avLst/>
          </a:prstGeom>
          <a:solidFill>
            <a:srgbClr val="D1452B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10" y="1858060"/>
            <a:ext cx="1183430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« gratuit » 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11171" y="1858060"/>
            <a:ext cx="1051937" cy="357896"/>
          </a:xfrm>
          <a:prstGeom prst="rect">
            <a:avLst/>
          </a:prstGeom>
          <a:solidFill>
            <a:srgbClr val="D1452B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5002" y="1858060"/>
            <a:ext cx="964276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Liens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3109" y="1858060"/>
            <a:ext cx="1358753" cy="357896"/>
          </a:xfrm>
          <a:prstGeom prst="rect">
            <a:avLst/>
          </a:prstGeom>
          <a:solidFill>
            <a:srgbClr val="D1452B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6940" y="1858060"/>
            <a:ext cx="1271091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Expéditeur connu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1862" y="1858060"/>
            <a:ext cx="1139599" cy="357896"/>
          </a:xfrm>
          <a:prstGeom prst="rect">
            <a:avLst/>
          </a:prstGeom>
          <a:solidFill>
            <a:srgbClr val="D1452B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5693" y="1858060"/>
            <a:ext cx="1051937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Étiquette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15956"/>
            <a:ext cx="1271091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10" y="2215956"/>
            <a:ext cx="1183430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oui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1171" y="2215956"/>
            <a:ext cx="1051937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55002" y="2215956"/>
            <a:ext cx="964276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3109" y="2215956"/>
            <a:ext cx="1358753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6940" y="2215956"/>
            <a:ext cx="1271091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non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1862" y="2215956"/>
            <a:ext cx="1139599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5693" y="2215956"/>
            <a:ext cx="1051937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D1452B"/>
                </a:solidFill>
                <a:latin typeface="Arial"/>
              </a:rPr>
              <a:t>spam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573853"/>
            <a:ext cx="1271091" cy="357896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10" y="2573853"/>
            <a:ext cx="1183430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non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11171" y="2573853"/>
            <a:ext cx="1051937" cy="357896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5002" y="2573853"/>
            <a:ext cx="964276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63109" y="2573853"/>
            <a:ext cx="1358753" cy="357896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6940" y="2573853"/>
            <a:ext cx="1271091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oui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1862" y="2573853"/>
            <a:ext cx="1139599" cy="357896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5693" y="2573853"/>
            <a:ext cx="1051937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D1452B"/>
                </a:solidFill>
                <a:latin typeface="Arial"/>
              </a:rPr>
              <a:t>normal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31749"/>
            <a:ext cx="1271091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10" y="2931749"/>
            <a:ext cx="1183430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oui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11171" y="2931749"/>
            <a:ext cx="1051937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55002" y="2931749"/>
            <a:ext cx="964276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63109" y="2931749"/>
            <a:ext cx="1358753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6940" y="2931749"/>
            <a:ext cx="1271091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oui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1862" y="2931749"/>
            <a:ext cx="1139599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5693" y="2931749"/>
            <a:ext cx="1051937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D1452B"/>
                </a:solidFill>
                <a:latin typeface="Arial"/>
              </a:rPr>
              <a:t>normal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289645"/>
            <a:ext cx="1271091" cy="357896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10" y="3289645"/>
            <a:ext cx="1183430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non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11171" y="3289645"/>
            <a:ext cx="1051937" cy="357896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55002" y="3289645"/>
            <a:ext cx="964276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63109" y="3289645"/>
            <a:ext cx="1358753" cy="357896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06940" y="3289645"/>
            <a:ext cx="1271091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non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1862" y="3289645"/>
            <a:ext cx="1139599" cy="357896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5693" y="3289645"/>
            <a:ext cx="1051937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D1452B"/>
                </a:solidFill>
                <a:latin typeface="Arial"/>
              </a:rPr>
              <a:t>spam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647541"/>
            <a:ext cx="1271091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910" y="3647541"/>
            <a:ext cx="1183430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11171" y="3647541"/>
            <a:ext cx="1051937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55002" y="3647541"/>
            <a:ext cx="964276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63109" y="3647541"/>
            <a:ext cx="1358753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06940" y="3647541"/>
            <a:ext cx="1271091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0">
                <a:solidFill>
                  <a:srgbClr val="2B3A38"/>
                </a:solidFill>
                <a:latin typeface="Arial"/>
              </a:rPr>
              <a:t>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1862" y="3647541"/>
            <a:ext cx="1139599" cy="357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65693" y="3647541"/>
            <a:ext cx="1051937" cy="357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D1452B"/>
                </a:solidFill>
                <a:latin typeface="Arial"/>
              </a:rPr>
              <a:t>…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505292" y="2752801"/>
            <a:ext cx="525969" cy="0"/>
          </a:xfrm>
          <a:prstGeom prst="line">
            <a:avLst/>
          </a:prstGeom>
          <a:ln w="28575">
            <a:solidFill>
              <a:srgbClr val="D145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075092" y="2140610"/>
            <a:ext cx="1665568" cy="1224381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75092" y="2140610"/>
            <a:ext cx="1665568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44891" y="2301450"/>
            <a:ext cx="525968" cy="525968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FaC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43" y="2438202"/>
            <a:ext cx="252465" cy="25246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075092" y="2894076"/>
            <a:ext cx="1665568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1A2E2B"/>
                </a:solidFill>
                <a:latin typeface="Arial"/>
              </a:rPr>
              <a:t>Modèle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84491" y="2752801"/>
            <a:ext cx="438307" cy="0"/>
          </a:xfrm>
          <a:prstGeom prst="line">
            <a:avLst/>
          </a:prstGeom>
          <a:ln w="28575">
            <a:solidFill>
              <a:srgbClr val="D145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266629" y="1481328"/>
            <a:ext cx="2980490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D1452B"/>
                </a:solidFill>
                <a:latin typeface="Arial"/>
              </a:rPr>
              <a:t>2. Un nouveau cas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66629" y="1905152"/>
            <a:ext cx="298049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98121" y="1952244"/>
            <a:ext cx="2717506" cy="847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2B3A38"/>
                </a:solidFill>
                <a:latin typeface="Arial"/>
              </a:rPr>
              <a:t>Nouveau mail</a:t>
            </a:r>
          </a:p>
          <a:p>
            <a:pPr algn="l">
              <a:spcAft>
                <a:spcPts val="0"/>
              </a:spcAft>
            </a:pPr>
            <a:r>
              <a:rPr sz="1080" b="0" i="0">
                <a:solidFill>
                  <a:srgbClr val="2B3A38"/>
                </a:solidFill>
                <a:latin typeface="Arial"/>
              </a:rPr>
              <a:t>« gratuit » : oui · 5 liens · inconnu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6629" y="2988259"/>
            <a:ext cx="2980490" cy="565099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66629" y="2988259"/>
            <a:ext cx="2980490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Arial"/>
              </a:rPr>
              <a:t>Prédiction : spam (94 %)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4118457"/>
            <a:ext cx="5172027" cy="1883664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" y="4118457"/>
            <a:ext cx="517202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9233" y="4240895"/>
            <a:ext cx="473372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Classification binaire</a:t>
            </a:r>
            <a:r>
              <a:rPr sz="1080" b="0" i="1">
                <a:solidFill>
                  <a:srgbClr val="5A6B68"/>
                </a:solidFill>
                <a:latin typeface="Arial"/>
              </a:rPr>
              <a:t>  ·  deux catégories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233" y="4683556"/>
            <a:ext cx="4733720" cy="1271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Spam ou non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Fraude ou non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Client qui résilie ou non (TP2)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75092" y="4118457"/>
            <a:ext cx="5172027" cy="1883664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75092" y="4118457"/>
            <a:ext cx="517202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94245" y="4240895"/>
            <a:ext cx="473372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Classification multiclasse</a:t>
            </a:r>
            <a:r>
              <a:rPr sz="1080" b="0" i="1">
                <a:solidFill>
                  <a:srgbClr val="5A6B68"/>
                </a:solidFill>
                <a:latin typeface="Arial"/>
              </a:rPr>
              <a:t>  ·  plus de deux catégories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94245" y="4683556"/>
            <a:ext cx="4733720" cy="1271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Chiffre manuscrit : 0 à 9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Espèce d'une plante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Avis : positif, neutre, négatif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D1452B"/>
                </a:solidFill>
              </a:rPr>
              <a:t>A · IA prédictive ·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Classification : évaluer un modèle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9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4909043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Tester sur des données jamais vues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52244"/>
            <a:ext cx="3857105" cy="518007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52244"/>
            <a:ext cx="3857105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80 % : entraînement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7185" y="1952244"/>
            <a:ext cx="1051937" cy="518007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7185" y="1952244"/>
            <a:ext cx="1051937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20 % :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4434"/>
            <a:ext cx="4909043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1">
                <a:solidFill>
                  <a:srgbClr val="5A6B68"/>
                </a:solidFill>
                <a:latin typeface="Arial"/>
              </a:rPr>
              <a:t>Sinon, c'est comme donner les questions de l'examen à l'avance.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59175"/>
            <a:ext cx="4909043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Dépistage sur 100 patients de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0091"/>
            <a:ext cx="1183430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 i="0">
                <a:solidFill>
                  <a:srgbClr val="5A6B68"/>
                </a:solidFill>
                <a:latin typeface="Arial"/>
              </a:rPr>
              <a:t>réalité : malade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77740"/>
            <a:ext cx="1183430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 i="0">
                <a:solidFill>
                  <a:srgbClr val="5A6B68"/>
                </a:solidFill>
                <a:latin typeface="Arial"/>
              </a:rPr>
              <a:t>réalité : sain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7340" y="5578297"/>
            <a:ext cx="1753229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5A6B68"/>
                </a:solidFill>
                <a:latin typeface="Arial"/>
              </a:rPr>
              <a:t>prédit : malade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8232" y="5578297"/>
            <a:ext cx="1753229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5A6B68"/>
                </a:solidFill>
                <a:latin typeface="Arial"/>
              </a:rPr>
              <a:t>prédit : sain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67340" y="3930091"/>
            <a:ext cx="1753229" cy="772302"/>
          </a:xfrm>
          <a:prstGeom prst="rect">
            <a:avLst/>
          </a:prstGeom>
          <a:solidFill>
            <a:srgbClr val="E1F5F3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55002" y="3930091"/>
            <a:ext cx="1621737" cy="7723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877A"/>
                </a:solidFill>
                <a:latin typeface="Arial"/>
              </a:rPr>
              <a:t>8  </a:t>
            </a:r>
            <a:r>
              <a:rPr sz="1035" b="0" i="0">
                <a:solidFill>
                  <a:srgbClr val="2B3A38"/>
                </a:solidFill>
                <a:latin typeface="Arial"/>
              </a:rPr>
              <a:t>malades détectés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8232" y="3930091"/>
            <a:ext cx="1753229" cy="772302"/>
          </a:xfrm>
          <a:prstGeom prst="rect">
            <a:avLst/>
          </a:prstGeom>
          <a:solidFill>
            <a:srgbClr val="FDECE8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5893" y="3930091"/>
            <a:ext cx="1621737" cy="7723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1452B"/>
                </a:solidFill>
                <a:latin typeface="Arial"/>
              </a:rPr>
              <a:t>2  </a:t>
            </a:r>
            <a:r>
              <a:rPr sz="1035" b="0" i="0">
                <a:solidFill>
                  <a:srgbClr val="2B3A38"/>
                </a:solidFill>
                <a:latin typeface="Arial"/>
              </a:rPr>
              <a:t>malades manqués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7340" y="4777740"/>
            <a:ext cx="1753229" cy="772302"/>
          </a:xfrm>
          <a:prstGeom prst="rect">
            <a:avLst/>
          </a:prstGeom>
          <a:solidFill>
            <a:srgbClr val="FDECE8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5002" y="4777740"/>
            <a:ext cx="1621737" cy="7723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1452B"/>
                </a:solidFill>
                <a:latin typeface="Arial"/>
              </a:rPr>
              <a:t>5  </a:t>
            </a:r>
            <a:r>
              <a:rPr sz="1035" b="0" i="0">
                <a:solidFill>
                  <a:srgbClr val="2B3A38"/>
                </a:solidFill>
                <a:latin typeface="Arial"/>
              </a:rPr>
              <a:t>fausses alertes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8232" y="4777740"/>
            <a:ext cx="1753229" cy="772302"/>
          </a:xfrm>
          <a:prstGeom prst="rect">
            <a:avLst/>
          </a:prstGeom>
          <a:solidFill>
            <a:srgbClr val="E1F5F3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5893" y="4777740"/>
            <a:ext cx="1621737" cy="7723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877A"/>
                </a:solidFill>
                <a:latin typeface="Arial"/>
              </a:rPr>
              <a:t>85  </a:t>
            </a:r>
            <a:r>
              <a:rPr sz="1035" b="0" i="0">
                <a:solidFill>
                  <a:srgbClr val="2B3A38"/>
                </a:solidFill>
                <a:latin typeface="Arial"/>
              </a:rPr>
              <a:t>sains reconnus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5092" y="1481328"/>
            <a:ext cx="5172027" cy="94183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75092" y="1481328"/>
            <a:ext cx="517202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6584" y="1556674"/>
            <a:ext cx="1314922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20" b="1" i="0">
                <a:solidFill>
                  <a:srgbClr val="D1452B"/>
                </a:solidFill>
                <a:latin typeface="Arial"/>
              </a:rPr>
              <a:t>93 %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5337" y="1556674"/>
            <a:ext cx="2279198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2B3A38"/>
                </a:solidFill>
                <a:latin typeface="Arial"/>
              </a:rPr>
              <a:t>Exactitude</a:t>
            </a:r>
          </a:p>
          <a:p>
            <a:pPr algn="l">
              <a:spcAft>
                <a:spcPts val="0"/>
              </a:spcAft>
            </a:pPr>
            <a:r>
              <a:rPr sz="1170" b="0" i="0">
                <a:solidFill>
                  <a:srgbClr val="2B3A38"/>
                </a:solidFill>
                <a:latin typeface="Arial"/>
              </a:rPr>
              <a:t>des prédictions correctes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0705" y="1556674"/>
            <a:ext cx="1314922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90" b="0" i="1">
                <a:solidFill>
                  <a:srgbClr val="5A6B68"/>
                </a:solidFill>
                <a:latin typeface="Arial"/>
              </a:rPr>
              <a:t>(8 + 85) / 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5092" y="2536179"/>
            <a:ext cx="5172027" cy="94183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75092" y="2536179"/>
            <a:ext cx="517202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6584" y="2611526"/>
            <a:ext cx="1314922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20" b="1" i="0">
                <a:solidFill>
                  <a:srgbClr val="D1452B"/>
                </a:solidFill>
                <a:latin typeface="Arial"/>
              </a:rPr>
              <a:t>80 %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5337" y="2611526"/>
            <a:ext cx="2279198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2B3A38"/>
                </a:solidFill>
                <a:latin typeface="Arial"/>
              </a:rPr>
              <a:t>Rappel</a:t>
            </a:r>
          </a:p>
          <a:p>
            <a:pPr algn="l">
              <a:spcAft>
                <a:spcPts val="0"/>
              </a:spcAft>
            </a:pPr>
            <a:r>
              <a:rPr sz="1170" b="0" i="0">
                <a:solidFill>
                  <a:srgbClr val="2B3A38"/>
                </a:solidFill>
                <a:latin typeface="Arial"/>
              </a:rPr>
              <a:t>des malades sont détectés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0705" y="2611526"/>
            <a:ext cx="1314922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90" b="0" i="1">
                <a:solidFill>
                  <a:srgbClr val="5A6B68"/>
                </a:solidFill>
                <a:latin typeface="Arial"/>
              </a:rPr>
              <a:t>8 / (8 + 2)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5092" y="3591031"/>
            <a:ext cx="5172027" cy="94183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75092" y="3591031"/>
            <a:ext cx="5172027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6584" y="3666378"/>
            <a:ext cx="1314922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20" b="1" i="0">
                <a:solidFill>
                  <a:srgbClr val="D1452B"/>
                </a:solidFill>
                <a:latin typeface="Arial"/>
              </a:rPr>
              <a:t>62 %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5337" y="3666378"/>
            <a:ext cx="2279198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2B3A38"/>
                </a:solidFill>
                <a:latin typeface="Arial"/>
              </a:rPr>
              <a:t>Précision</a:t>
            </a:r>
          </a:p>
          <a:p>
            <a:pPr algn="l">
              <a:spcAft>
                <a:spcPts val="0"/>
              </a:spcAft>
            </a:pPr>
            <a:r>
              <a:rPr sz="1170" b="0" i="0">
                <a:solidFill>
                  <a:srgbClr val="2B3A38"/>
                </a:solidFill>
                <a:latin typeface="Arial"/>
              </a:rPr>
              <a:t>des alertes sont justifiées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0705" y="3666378"/>
            <a:ext cx="1314922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90" b="0" i="1">
                <a:solidFill>
                  <a:srgbClr val="5A6B68"/>
                </a:solidFill>
                <a:latin typeface="Arial"/>
              </a:rPr>
              <a:t>8 / (8 + 5)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75092" y="4730648"/>
            <a:ext cx="5172027" cy="1271473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4245" y="4777740"/>
            <a:ext cx="4777551" cy="1177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4D73F"/>
                </a:solidFill>
                <a:latin typeface="Arial"/>
              </a:rPr>
              <a:t>Piège : </a:t>
            </a:r>
            <a:r>
              <a:rPr sz="1350" b="0" i="0">
                <a:solidFill>
                  <a:srgbClr val="FFFFFF"/>
                </a:solidFill>
                <a:latin typeface="Arial"/>
              </a:rPr>
              <a:t>répondre toujours « sain » donne 90 % d'exactitude… et aucun malade détecté.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D1452B"/>
                </a:solidFill>
              </a:rPr>
              <a:t>A · IA prédictive ·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Classification : quelques algorithmes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10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402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Régression logistique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402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946895" y="3634819"/>
            <a:ext cx="62824" cy="3582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09719" y="3629851"/>
            <a:ext cx="62824" cy="4968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72543" y="3622978"/>
            <a:ext cx="62824" cy="6873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35367" y="3613503"/>
            <a:ext cx="62824" cy="9475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98191" y="3600501"/>
            <a:ext cx="62824" cy="13002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61015" y="3582774"/>
            <a:ext cx="62824" cy="17727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23839" y="3558816"/>
            <a:ext cx="62824" cy="23958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86663" y="3526818"/>
            <a:ext cx="62824" cy="31998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9487" y="3484751"/>
            <a:ext cx="62824" cy="42067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512311" y="3430580"/>
            <a:ext cx="62824" cy="54171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75135" y="3362654"/>
            <a:ext cx="62824" cy="67926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37959" y="3280260"/>
            <a:ext cx="62825" cy="82394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00784" y="3184251"/>
            <a:ext cx="62824" cy="96009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63608" y="3077475"/>
            <a:ext cx="62824" cy="106776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26432" y="2964713"/>
            <a:ext cx="62824" cy="112762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89256" y="2851950"/>
            <a:ext cx="62824" cy="112763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52080" y="2745175"/>
            <a:ext cx="62824" cy="106775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014904" y="2649166"/>
            <a:ext cx="62824" cy="96009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77728" y="2566772"/>
            <a:ext cx="62824" cy="82394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40552" y="2498845"/>
            <a:ext cx="62824" cy="67927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203376" y="2444675"/>
            <a:ext cx="62824" cy="54170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66200" y="2402608"/>
            <a:ext cx="62824" cy="42067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329024" y="2370610"/>
            <a:ext cx="62824" cy="31998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91848" y="2346652"/>
            <a:ext cx="62824" cy="23958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454672" y="2328925"/>
            <a:ext cx="62824" cy="17727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517496" y="2315923"/>
            <a:ext cx="62824" cy="13002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80320" y="2306448"/>
            <a:ext cx="62824" cy="9475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643144" y="2299575"/>
            <a:ext cx="62825" cy="6873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05969" y="2294607"/>
            <a:ext cx="62824" cy="4968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68793" y="2291025"/>
            <a:ext cx="62824" cy="3582"/>
          </a:xfrm>
          <a:prstGeom prst="line">
            <a:avLst/>
          </a:prstGeom>
          <a:ln w="25400">
            <a:solidFill>
              <a:srgbClr val="D1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3064" y="2964713"/>
            <a:ext cx="1972383" cy="0"/>
          </a:xfrm>
          <a:prstGeom prst="line">
            <a:avLst/>
          </a:prstGeom>
          <a:ln w="12700">
            <a:solidFill>
              <a:srgbClr val="A9B4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03064" y="2112355"/>
            <a:ext cx="1051937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5" b="0" i="1">
                <a:solidFill>
                  <a:srgbClr val="5A6B68"/>
                </a:solidFill>
                <a:latin typeface="Arial"/>
              </a:rPr>
              <a:t>probabilité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7986" y="2757510"/>
            <a:ext cx="701291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5" b="0" i="1">
                <a:solidFill>
                  <a:srgbClr val="5A6B68"/>
                </a:solidFill>
                <a:latin typeface="Arial"/>
              </a:rPr>
              <a:t>seuil 50 %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402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Une probabilité calculée à partir des variables. Simple et lisible.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1287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31287" y="1481328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06610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k plus proches voisins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06610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142156" y="2549951"/>
            <a:ext cx="876614" cy="87661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313096" y="2751678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07573" y="2704587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77702" y="3128411"/>
            <a:ext cx="96427" cy="964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69265" y="3128411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49782" y="3250849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830958" y="2516220"/>
            <a:ext cx="96427" cy="964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89711" y="3410961"/>
            <a:ext cx="96427" cy="964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77372" y="2657495"/>
            <a:ext cx="96427" cy="964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87127" y="3363869"/>
            <a:ext cx="96427" cy="9642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75270" y="2856402"/>
            <a:ext cx="210387" cy="263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06610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Vote des k exemples les plus proches.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22495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22495" y="1481328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7818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Arbre de décision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97818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89533" y="2234793"/>
            <a:ext cx="964276" cy="301386"/>
          </a:xfrm>
          <a:prstGeom prst="rect">
            <a:avLst/>
          </a:prstGeom>
          <a:solidFill>
            <a:srgbClr val="D1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89533" y="2234793"/>
            <a:ext cx="964276" cy="3013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5" b="1" i="0">
                <a:solidFill>
                  <a:srgbClr val="FFFFFF"/>
                </a:solidFill>
                <a:latin typeface="Arial"/>
              </a:rPr>
              <a:t>au mois ?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6679956" y="2536179"/>
            <a:ext cx="591715" cy="235458"/>
          </a:xfrm>
          <a:prstGeom prst="line">
            <a:avLst/>
          </a:prstGeom>
          <a:ln w="15875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271671" y="2536179"/>
            <a:ext cx="416392" cy="235458"/>
          </a:xfrm>
          <a:prstGeom prst="line">
            <a:avLst/>
          </a:prstGeom>
          <a:ln w="15875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614210" y="2517343"/>
            <a:ext cx="350645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5" b="0" i="1">
                <a:solidFill>
                  <a:srgbClr val="5A6B68"/>
                </a:solidFill>
                <a:latin typeface="Arial"/>
              </a:rPr>
              <a:t>non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2317" y="2517343"/>
            <a:ext cx="350645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5" b="0" i="1">
                <a:solidFill>
                  <a:srgbClr val="5A6B68"/>
                </a:solidFill>
                <a:latin typeface="Arial"/>
              </a:rPr>
              <a:t>oui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29310" y="2771637"/>
            <a:ext cx="701291" cy="301386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29310" y="2771637"/>
            <a:ext cx="701291" cy="3013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5" b="1" i="0">
                <a:solidFill>
                  <a:srgbClr val="FFFFFF"/>
                </a:solidFill>
                <a:latin typeface="Arial"/>
              </a:rPr>
              <a:t>reste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71671" y="2771637"/>
            <a:ext cx="832784" cy="301386"/>
          </a:xfrm>
          <a:prstGeom prst="rect">
            <a:avLst/>
          </a:prstGeom>
          <a:solidFill>
            <a:srgbClr val="D1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71671" y="2771637"/>
            <a:ext cx="832784" cy="3013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5" b="1" i="0">
                <a:solidFill>
                  <a:srgbClr val="FFFFFF"/>
                </a:solidFill>
                <a:latin typeface="Arial"/>
              </a:rPr>
              <a:t>fibre ?</a:t>
            </a:r>
          </a:p>
        </p:txBody>
      </p:sp>
      <p:cxnSp>
        <p:nvCxnSpPr>
          <p:cNvPr id="74" name="Connector 73"/>
          <p:cNvCxnSpPr/>
          <p:nvPr/>
        </p:nvCxnSpPr>
        <p:spPr>
          <a:xfrm flipH="1">
            <a:off x="7319885" y="3073024"/>
            <a:ext cx="368178" cy="150693"/>
          </a:xfrm>
          <a:prstGeom prst="line">
            <a:avLst/>
          </a:prstGeom>
          <a:ln w="1270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004304" y="3223717"/>
            <a:ext cx="631162" cy="301386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04304" y="3223717"/>
            <a:ext cx="631162" cy="3013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65" b="1" i="0">
                <a:solidFill>
                  <a:srgbClr val="FFFFFF"/>
                </a:solidFill>
                <a:latin typeface="Arial"/>
              </a:rPr>
              <a:t>reste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688063" y="3073024"/>
            <a:ext cx="368178" cy="150693"/>
          </a:xfrm>
          <a:prstGeom prst="line">
            <a:avLst/>
          </a:prstGeom>
          <a:ln w="1270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740660" y="3223717"/>
            <a:ext cx="631162" cy="301386"/>
          </a:xfrm>
          <a:prstGeom prst="rect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40660" y="3223717"/>
            <a:ext cx="631162" cy="3013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65" b="1" i="0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97818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Une suite de questions. Lisible, mais fragile seul.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713703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713703" y="1481328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89025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Forêts et XGBoost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89025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064348" y="2298189"/>
            <a:ext cx="438307" cy="43830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Fa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308" y="2412149"/>
            <a:ext cx="210387" cy="210387"/>
          </a:xfrm>
          <a:prstGeom prst="rect">
            <a:avLst/>
          </a:prstGeom>
        </p:spPr>
      </p:pic>
      <p:cxnSp>
        <p:nvCxnSpPr>
          <p:cNvPr id="87" name="Connector 86"/>
          <p:cNvCxnSpPr/>
          <p:nvPr/>
        </p:nvCxnSpPr>
        <p:spPr>
          <a:xfrm>
            <a:off x="9283502" y="2771637"/>
            <a:ext cx="679377" cy="310805"/>
          </a:xfrm>
          <a:prstGeom prst="line">
            <a:avLst/>
          </a:prstGeom>
          <a:ln w="15875">
            <a:solidFill>
              <a:srgbClr val="8C9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9607850" y="2298189"/>
            <a:ext cx="438307" cy="43830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Fa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810" y="2412149"/>
            <a:ext cx="210387" cy="210387"/>
          </a:xfrm>
          <a:prstGeom prst="rect">
            <a:avLst/>
          </a:prstGeom>
        </p:spPr>
      </p:pic>
      <p:cxnSp>
        <p:nvCxnSpPr>
          <p:cNvPr id="90" name="Connector 89"/>
          <p:cNvCxnSpPr/>
          <p:nvPr/>
        </p:nvCxnSpPr>
        <p:spPr>
          <a:xfrm>
            <a:off x="9827003" y="2771637"/>
            <a:ext cx="135876" cy="310805"/>
          </a:xfrm>
          <a:prstGeom prst="line">
            <a:avLst/>
          </a:prstGeom>
          <a:ln w="15875">
            <a:solidFill>
              <a:srgbClr val="8C9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0151351" y="2298189"/>
            <a:ext cx="438307" cy="43830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Fa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311" y="2412149"/>
            <a:ext cx="210387" cy="210387"/>
          </a:xfrm>
          <a:prstGeom prst="rect">
            <a:avLst/>
          </a:prstGeom>
        </p:spPr>
      </p:pic>
      <p:cxnSp>
        <p:nvCxnSpPr>
          <p:cNvPr id="93" name="Connector 92"/>
          <p:cNvCxnSpPr/>
          <p:nvPr/>
        </p:nvCxnSpPr>
        <p:spPr>
          <a:xfrm flipH="1">
            <a:off x="9962879" y="2771637"/>
            <a:ext cx="407626" cy="310805"/>
          </a:xfrm>
          <a:prstGeom prst="line">
            <a:avLst/>
          </a:prstGeom>
          <a:ln w="15875">
            <a:solidFill>
              <a:srgbClr val="8C9A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0686086" y="2357231"/>
            <a:ext cx="262984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5A6B68"/>
                </a:solidFill>
                <a:latin typeface="Arial"/>
              </a:rPr>
              <a:t>…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80741" y="3082442"/>
            <a:ext cx="964276" cy="320222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80741" y="3082442"/>
            <a:ext cx="964276" cy="320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vote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89025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Des centaines d'arbres. Souvent les meilleurs (TP3).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" y="5389930"/>
            <a:ext cx="10607040" cy="47091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5402" y="5389930"/>
            <a:ext cx="10344055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D1452B"/>
                </a:solidFill>
                <a:latin typeface="Arial"/>
              </a:rPr>
              <a:t>Aux TP2 et TP3 : </a:t>
            </a:r>
            <a:r>
              <a:rPr sz="1350" b="0" i="0">
                <a:solidFill>
                  <a:srgbClr val="2B3A38"/>
                </a:solidFill>
                <a:latin typeface="Arial"/>
              </a:rPr>
              <a:t>la résiliation d'abonnements, puis XGBoost sur des données de recensement.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A · IA prédictive · Régression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Régression : prédire une valeur numérique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11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259689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Exemple : estimer le prix d'un logement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52244"/>
            <a:ext cx="1928552" cy="376732"/>
          </a:xfrm>
          <a:prstGeom prst="rect">
            <a:avLst/>
          </a:prstGeom>
          <a:solidFill>
            <a:srgbClr val="712180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10" y="1952244"/>
            <a:ext cx="18408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Caractéristique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8632" y="1952244"/>
            <a:ext cx="1139599" cy="376732"/>
          </a:xfrm>
          <a:prstGeom prst="rect">
            <a:avLst/>
          </a:prstGeom>
          <a:solidFill>
            <a:srgbClr val="712180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12463" y="1952244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Valeur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28976"/>
            <a:ext cx="1928552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10" y="2328976"/>
            <a:ext cx="18408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i="0">
                <a:solidFill>
                  <a:srgbClr val="2B3A38"/>
                </a:solidFill>
                <a:latin typeface="Arial"/>
              </a:rPr>
              <a:t>Revenu médian du quartier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8632" y="2328976"/>
            <a:ext cx="1139599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463" y="2328976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i="0">
                <a:solidFill>
                  <a:srgbClr val="2B3A38"/>
                </a:solidFill>
                <a:latin typeface="Arial"/>
              </a:rPr>
              <a:t>48 k$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05709"/>
            <a:ext cx="1928552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10" y="2705709"/>
            <a:ext cx="18408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i="0">
                <a:solidFill>
                  <a:srgbClr val="2B3A38"/>
                </a:solidFill>
                <a:latin typeface="Arial"/>
              </a:rPr>
              <a:t>Âge des logements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8632" y="2705709"/>
            <a:ext cx="1139599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12463" y="2705709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i="0">
                <a:solidFill>
                  <a:srgbClr val="2B3A38"/>
                </a:solidFill>
                <a:latin typeface="Arial"/>
              </a:rPr>
              <a:t>25 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82442"/>
            <a:ext cx="1928552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10" y="3082442"/>
            <a:ext cx="18408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i="0">
                <a:solidFill>
                  <a:srgbClr val="2B3A38"/>
                </a:solidFill>
                <a:latin typeface="Arial"/>
              </a:rPr>
              <a:t>Pièces par logement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8632" y="3082442"/>
            <a:ext cx="1139599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2463" y="3082442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i="0">
                <a:solidFill>
                  <a:srgbClr val="2B3A38"/>
                </a:solidFill>
                <a:latin typeface="Arial"/>
              </a:rPr>
              <a:t>5,2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59175"/>
            <a:ext cx="1928552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10" y="3459175"/>
            <a:ext cx="1840891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i="0">
                <a:solidFill>
                  <a:srgbClr val="2B3A38"/>
                </a:solidFill>
                <a:latin typeface="Arial"/>
              </a:rPr>
              <a:t>Distance à la côte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8632" y="3459175"/>
            <a:ext cx="1139599" cy="376732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12463" y="3459175"/>
            <a:ext cx="1051937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i="0">
                <a:solidFill>
                  <a:srgbClr val="2B3A38"/>
                </a:solidFill>
                <a:latin typeface="Arial"/>
              </a:rPr>
              <a:t>12 km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95893" y="2894076"/>
            <a:ext cx="438307" cy="0"/>
          </a:xfrm>
          <a:prstGeom prst="line">
            <a:avLst/>
          </a:prstGeom>
          <a:ln w="28575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278031" y="2470251"/>
            <a:ext cx="1621737" cy="84764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8031" y="2470251"/>
            <a:ext cx="1621737" cy="847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Arial"/>
              </a:rPr>
              <a:t>Prix estimé</a:t>
            </a:r>
          </a:p>
          <a:p>
            <a:pPr algn="ctr">
              <a:spcAft>
                <a:spcPts val="0"/>
              </a:spcAft>
            </a:pPr>
            <a:r>
              <a:rPr sz="1530" b="1" i="0">
                <a:solidFill>
                  <a:srgbClr val="FFFFFF"/>
                </a:solidFill>
                <a:latin typeface="Arial"/>
              </a:rPr>
              <a:t>245 000 $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24274"/>
            <a:ext cx="5259689" cy="1977847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850" y="545357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1536" y="563817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8222" y="5492880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64908" y="539418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01594" y="554392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038280" y="5339901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74966" y="522029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11652" y="546503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8338" y="5050557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85024" y="4866484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21710" y="4781437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58396" y="484096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95082" y="495118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931768" y="4912104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68454" y="488701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05140" y="4926257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41826" y="4838562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78512" y="4611171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115198" y="4647155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351884" y="4477748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88570" y="4225929"/>
            <a:ext cx="96427" cy="96427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859233" y="4335078"/>
            <a:ext cx="4821382" cy="1403330"/>
          </a:xfrm>
          <a:prstGeom prst="line">
            <a:avLst/>
          </a:prstGeom>
          <a:ln w="25400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146539" y="5719572"/>
            <a:ext cx="1665568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5" b="0" i="1">
                <a:solidFill>
                  <a:srgbClr val="5A6B68"/>
                </a:solidFill>
                <a:latin typeface="Arial"/>
              </a:rPr>
              <a:t>revenu du quartier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741" y="4071366"/>
            <a:ext cx="70129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5" b="0" i="1">
                <a:solidFill>
                  <a:srgbClr val="5A6B68"/>
                </a:solidFill>
                <a:latin typeface="Arial"/>
              </a:rPr>
              <a:t>prix 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2753" y="1481328"/>
            <a:ext cx="5084366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Classification ou régression ?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62753" y="1952244"/>
            <a:ext cx="2980490" cy="395569"/>
          </a:xfrm>
          <a:prstGeom prst="rect">
            <a:avLst/>
          </a:prstGeom>
          <a:solidFill>
            <a:srgbClr val="8C9A98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06584" y="1952244"/>
            <a:ext cx="2892829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3244" y="1952244"/>
            <a:ext cx="1008107" cy="395569"/>
          </a:xfrm>
          <a:prstGeom prst="rect">
            <a:avLst/>
          </a:prstGeom>
          <a:solidFill>
            <a:srgbClr val="8C9A98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87075" y="1952244"/>
            <a:ext cx="920445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Arial"/>
              </a:rPr>
              <a:t>Réponse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51351" y="1952244"/>
            <a:ext cx="1095768" cy="395569"/>
          </a:xfrm>
          <a:prstGeom prst="rect">
            <a:avLst/>
          </a:prstGeom>
          <a:solidFill>
            <a:srgbClr val="8C9A98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95182" y="1952244"/>
            <a:ext cx="1008107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Arial"/>
              </a:rPr>
              <a:t>Problème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62753" y="2347813"/>
            <a:ext cx="2980490" cy="39556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06584" y="2347813"/>
            <a:ext cx="2892829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Ce mail est-il un spam 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3244" y="2347813"/>
            <a:ext cx="1008107" cy="39556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87075" y="2347813"/>
            <a:ext cx="920445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catégorie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51351" y="2347813"/>
            <a:ext cx="1095768" cy="39556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95182" y="2347813"/>
            <a:ext cx="1008107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classification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62753" y="2743382"/>
            <a:ext cx="2980490" cy="39556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06584" y="2743382"/>
            <a:ext cx="2892829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Combien vaut ce logement 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3244" y="2743382"/>
            <a:ext cx="1008107" cy="39556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87075" y="2743382"/>
            <a:ext cx="920445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nombre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51351" y="2743382"/>
            <a:ext cx="1095768" cy="39556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95182" y="2743382"/>
            <a:ext cx="1008107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régression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62753" y="3138952"/>
            <a:ext cx="2980490" cy="39556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06584" y="3138952"/>
            <a:ext cx="2892829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Ce client va-t-il résilier 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3244" y="3138952"/>
            <a:ext cx="1008107" cy="39556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87075" y="3138952"/>
            <a:ext cx="920445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catégorie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51351" y="3138952"/>
            <a:ext cx="1095768" cy="39556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95182" y="3138952"/>
            <a:ext cx="1008107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classification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62753" y="3534521"/>
            <a:ext cx="2980490" cy="39556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06584" y="3534521"/>
            <a:ext cx="2892829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Combien de jours avant la panne 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43244" y="3534521"/>
            <a:ext cx="1008107" cy="39556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87075" y="3534521"/>
            <a:ext cx="920445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nombre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51351" y="3534521"/>
            <a:ext cx="1095768" cy="39556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95182" y="3534521"/>
            <a:ext cx="1008107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90" i="0">
                <a:solidFill>
                  <a:srgbClr val="2B3A38"/>
                </a:solidFill>
                <a:latin typeface="Arial"/>
              </a:rPr>
              <a:t>régression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62753" y="4165549"/>
            <a:ext cx="5084366" cy="183657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62753" y="4165549"/>
            <a:ext cx="5084366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81907" y="4278569"/>
            <a:ext cx="4646058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1" i="0">
                <a:solidFill>
                  <a:srgbClr val="712180"/>
                </a:solidFill>
                <a:latin typeface="Arial"/>
              </a:rPr>
              <a:t>D'autres exemples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81907" y="4636465"/>
            <a:ext cx="4646058" cy="131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Énergie consommée par un bâtiment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Durée d'une livraison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•  Salaire selon l'expérience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A · IA prédictive · Régression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Régression : modèles et mesure de l'erreur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12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374967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402" y="1622602"/>
            <a:ext cx="3024321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Régression linéaire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402" y="2093518"/>
            <a:ext cx="3024321" cy="1271473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1278" y="2979059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2255" y="2924766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33231" y="303877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24208" y="2702490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15185" y="2847851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06162" y="2591688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97139" y="285068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88115" y="2708917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79092" y="2760367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70069" y="2527956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61046" y="255576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52023" y="2434152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43000" y="2334356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33976" y="2360398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24953" y="2171121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946895" y="2300721"/>
            <a:ext cx="2761337" cy="857067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3064" y="2140610"/>
            <a:ext cx="2848998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5" b="1" i="1">
                <a:solidFill>
                  <a:srgbClr val="712180"/>
                </a:solidFill>
                <a:latin typeface="Arial"/>
              </a:rPr>
              <a:t>prix = a × revenu +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402" y="3506266"/>
            <a:ext cx="3024321" cy="988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Une droite au plus près des points. Chaque coefficient s'interprète.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8031" y="1481328"/>
            <a:ext cx="3374967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8031" y="1481328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354" y="1622602"/>
            <a:ext cx="3024321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Ridge et Lasso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354" y="2093518"/>
            <a:ext cx="3024321" cy="1271473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541016" y="2776347"/>
            <a:ext cx="2848998" cy="0"/>
          </a:xfrm>
          <a:prstGeom prst="line">
            <a:avLst/>
          </a:prstGeom>
          <a:ln w="12700">
            <a:solidFill>
              <a:srgbClr val="A9B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628677" y="2267757"/>
            <a:ext cx="131492" cy="508589"/>
          </a:xfrm>
          <a:prstGeom prst="rect">
            <a:avLst/>
          </a:prstGeom>
          <a:solidFill>
            <a:srgbClr val="C9B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77702" y="2465542"/>
            <a:ext cx="131492" cy="310804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96855" y="2776347"/>
            <a:ext cx="131492" cy="395569"/>
          </a:xfrm>
          <a:prstGeom prst="rect">
            <a:avLst/>
          </a:prstGeom>
          <a:solidFill>
            <a:srgbClr val="C9B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45880" y="2776347"/>
            <a:ext cx="131492" cy="226039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65034" y="2493797"/>
            <a:ext cx="131492" cy="282549"/>
          </a:xfrm>
          <a:prstGeom prst="rect">
            <a:avLst/>
          </a:prstGeom>
          <a:solidFill>
            <a:srgbClr val="C9B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14058" y="2635072"/>
            <a:ext cx="131492" cy="141274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3212" y="2776347"/>
            <a:ext cx="131492" cy="197784"/>
          </a:xfrm>
          <a:prstGeom prst="rect">
            <a:avLst/>
          </a:prstGeom>
          <a:solidFill>
            <a:srgbClr val="C9B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01390" y="2635072"/>
            <a:ext cx="131492" cy="141274"/>
          </a:xfrm>
          <a:prstGeom prst="rect">
            <a:avLst/>
          </a:prstGeom>
          <a:solidFill>
            <a:srgbClr val="C9B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1016" y="2140610"/>
            <a:ext cx="2848998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 i="1">
                <a:solidFill>
                  <a:srgbClr val="5A6B68"/>
                </a:solidFill>
                <a:latin typeface="Arial"/>
              </a:rPr>
              <a:t>avant / après régularisation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3354" y="3506266"/>
            <a:ext cx="3024321" cy="988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Une régression linéaire « freinée » contre le sur-apprentissage.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15983" y="1481328"/>
            <a:ext cx="3374967" cy="3108045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15983" y="1481328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1306" y="1622602"/>
            <a:ext cx="3024321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Arbres, forêts, XGBoost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1306" y="2093518"/>
            <a:ext cx="3024321" cy="1271473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7181" y="2972111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94286" y="292319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61391" y="2892051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28495" y="2818670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895600" y="2717080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62705" y="257031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229810" y="2541297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96914" y="245688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64019" y="2343320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731124" y="2379183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898228" y="2462635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065333" y="2391707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232438" y="2334068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99542" y="2266354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66647" y="2328472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33752" y="2283521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00857" y="2322991"/>
            <a:ext cx="78895" cy="7889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8222798" y="2940954"/>
            <a:ext cx="588976" cy="0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811774" y="2610841"/>
            <a:ext cx="79443" cy="330113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891217" y="2610841"/>
            <a:ext cx="588976" cy="0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480193" y="2433659"/>
            <a:ext cx="79443" cy="177182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559636" y="2433659"/>
            <a:ext cx="588975" cy="0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48611" y="2342552"/>
            <a:ext cx="79444" cy="91107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228055" y="2342552"/>
            <a:ext cx="588975" cy="0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817030" y="2342552"/>
            <a:ext cx="79444" cy="19887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896474" y="2362439"/>
            <a:ext cx="87661" cy="0"/>
          </a:xfrm>
          <a:prstGeom prst="line">
            <a:avLst/>
          </a:prstGeom>
          <a:ln w="2222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091306" y="3506266"/>
            <a:ext cx="3024321" cy="988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Une prédiction en escalier. Souvent les plus précis.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" y="4777740"/>
            <a:ext cx="10607040" cy="1224381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" y="4777740"/>
            <a:ext cx="10607040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9233" y="4871923"/>
            <a:ext cx="2103875" cy="1036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Mesurer l'erreur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19278" y="4871923"/>
            <a:ext cx="2586013" cy="1036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 i="0">
                <a:solidFill>
                  <a:srgbClr val="712180"/>
                </a:solidFill>
                <a:latin typeface="Arial"/>
              </a:rPr>
              <a:t>MAE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l'erreur moyenne, en $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36784" y="4871923"/>
            <a:ext cx="2586013" cy="1036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 i="0">
                <a:solidFill>
                  <a:srgbClr val="712180"/>
                </a:solidFill>
                <a:latin typeface="Arial"/>
              </a:rPr>
              <a:t>RMSE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pénalise les grosses erreurs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54290" y="4871923"/>
            <a:ext cx="2586013" cy="1036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 i="0">
                <a:solidFill>
                  <a:srgbClr val="712180"/>
                </a:solidFill>
                <a:latin typeface="Arial"/>
              </a:rPr>
              <a:t>R²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la part expliquée (1 = parfait)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5F7C17"/>
                </a:solidFill>
              </a:rPr>
              <a:t>A · IA prédictive · Séries temporelles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Séries temporelles : prévoir à partir du passé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81328"/>
          <a:ext cx="6136304" cy="400278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31205"/>
            <a:ext cx="6136304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5" b="0" i="1">
                <a:solidFill>
                  <a:srgbClr val="5A6B68"/>
                </a:solidFill>
                <a:latin typeface="Arial"/>
              </a:rPr>
              <a:t>Données réelles utilisées au TP5 (Capital Bikeshare).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9368" y="1481328"/>
            <a:ext cx="4207751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Ce qui rend le problème particulier</a:t>
            </a:r>
          </a:p>
        </p:txBody>
      </p:sp>
      <p:sp>
        <p:nvSpPr>
          <p:cNvPr id="9" name="Oval 8"/>
          <p:cNvSpPr/>
          <p:nvPr/>
        </p:nvSpPr>
        <p:spPr>
          <a:xfrm>
            <a:off x="7039368" y="1971809"/>
            <a:ext cx="525968" cy="525968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Rout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20" y="2108561"/>
            <a:ext cx="252465" cy="2524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40660" y="1905152"/>
            <a:ext cx="3506459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L'ordre compte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Aujourd'hui dépend d'hier.</a:t>
            </a:r>
          </a:p>
        </p:txBody>
      </p:sp>
      <p:sp>
        <p:nvSpPr>
          <p:cNvPr id="12" name="Oval 11"/>
          <p:cNvSpPr/>
          <p:nvPr/>
        </p:nvSpPr>
        <p:spPr>
          <a:xfrm>
            <a:off x="7039368" y="2866549"/>
            <a:ext cx="525968" cy="525968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ChartLin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120" y="3003301"/>
            <a:ext cx="252465" cy="2524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40660" y="2799892"/>
            <a:ext cx="3506459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Une tendance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Plus d'utilisateurs chaque année.</a:t>
            </a:r>
          </a:p>
        </p:txBody>
      </p:sp>
      <p:sp>
        <p:nvSpPr>
          <p:cNvPr id="15" name="Oval 14"/>
          <p:cNvSpPr/>
          <p:nvPr/>
        </p:nvSpPr>
        <p:spPr>
          <a:xfrm>
            <a:off x="7039368" y="3761289"/>
            <a:ext cx="525968" cy="525968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CalendarAl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3898041"/>
            <a:ext cx="252465" cy="2524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40660" y="3694633"/>
            <a:ext cx="3506459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Des saisonnalités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L'été, la semaine, les heures de pointe.</a:t>
            </a:r>
          </a:p>
        </p:txBody>
      </p:sp>
      <p:sp>
        <p:nvSpPr>
          <p:cNvPr id="18" name="Oval 17"/>
          <p:cNvSpPr/>
          <p:nvPr/>
        </p:nvSpPr>
        <p:spPr>
          <a:xfrm>
            <a:off x="7039368" y="4656030"/>
            <a:ext cx="525968" cy="525968"/>
          </a:xfrm>
          <a:prstGeom prst="ellipse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Bolt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6120" y="4792782"/>
            <a:ext cx="252465" cy="2524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40660" y="4589373"/>
            <a:ext cx="3506459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Des événements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Pluie, jours fériés, ouragan.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39368" y="5578297"/>
            <a:ext cx="4207751" cy="423824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0860" y="5578297"/>
            <a:ext cx="4032428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5F7C17"/>
                </a:solidFill>
                <a:latin typeface="Arial"/>
              </a:rPr>
              <a:t>Autres exemples : </a:t>
            </a:r>
            <a:r>
              <a:rPr sz="1170" b="0" i="0">
                <a:solidFill>
                  <a:srgbClr val="2B3A38"/>
                </a:solidFill>
                <a:latin typeface="Arial"/>
              </a:rPr>
              <a:t>ventes, électricité, trafic web.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5F7C17"/>
                </a:solidFill>
              </a:rPr>
              <a:t>A · IA prédictive · Séries temporelles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Séries temporelles : décomposer et évaluer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14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172027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Décomposer une série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52244"/>
            <a:ext cx="1227260" cy="706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Tendance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11171" y="1952244"/>
            <a:ext cx="2279198" cy="706374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998833" y="2555655"/>
            <a:ext cx="35658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034491" y="2546875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070150" y="2538095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05809" y="2529315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41468" y="2520535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177127" y="2511756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212786" y="2502976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248445" y="2494196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84104" y="2485416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19763" y="2476636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55422" y="2467857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91081" y="2459077"/>
            <a:ext cx="35658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426739" y="2450297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462398" y="2441517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498057" y="2432737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533716" y="2423958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69375" y="2415178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605034" y="2406398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640693" y="2397618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676352" y="2388839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712011" y="2380059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47670" y="2371279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783329" y="2362499"/>
            <a:ext cx="35658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818987" y="2353719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854646" y="2344940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890305" y="2336160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25964" y="2327380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961623" y="2318600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997282" y="2309820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32941" y="2301041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68600" y="2292261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104259" y="2283481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139918" y="2274701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75577" y="2265921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11236" y="2257142"/>
            <a:ext cx="35658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246894" y="2248362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282553" y="2239582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18212" y="2230802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353871" y="2222022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389530" y="2213243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425189" y="2204463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460848" y="2195683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496507" y="2186903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532166" y="2178124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567825" y="2169344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603484" y="2160564"/>
            <a:ext cx="35658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639142" y="2151784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674801" y="2143004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710460" y="2134225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746119" y="2125445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781778" y="2116665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817437" y="2107885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853096" y="2099105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888755" y="2090326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924414" y="2081546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960073" y="2072766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95732" y="2063986"/>
            <a:ext cx="35658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031390" y="2055206"/>
            <a:ext cx="35659" cy="878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67049" y="2046427"/>
            <a:ext cx="35659" cy="877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278031" y="2470251"/>
            <a:ext cx="262984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40" b="1" i="0">
                <a:solidFill>
                  <a:srgbClr val="5A6B68"/>
                </a:solidFill>
                <a:latin typeface="Arial"/>
              </a:rPr>
              <a:t>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2846984"/>
            <a:ext cx="1227260" cy="706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Saisonnalité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11171" y="2846984"/>
            <a:ext cx="2279198" cy="706374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1998833" y="3094244"/>
            <a:ext cx="35658" cy="10592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034491" y="3006633"/>
            <a:ext cx="35659" cy="87611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070150" y="2952487"/>
            <a:ext cx="35659" cy="5414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105809" y="2941167"/>
            <a:ext cx="35659" cy="113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141468" y="2941167"/>
            <a:ext cx="35659" cy="334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177127" y="2974632"/>
            <a:ext cx="35659" cy="724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212786" y="3047094"/>
            <a:ext cx="35659" cy="9893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248445" y="3146024"/>
            <a:ext cx="35659" cy="10829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284104" y="3254317"/>
            <a:ext cx="35659" cy="98931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319763" y="3353248"/>
            <a:ext cx="35659" cy="724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355422" y="3425710"/>
            <a:ext cx="35659" cy="334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391081" y="3447855"/>
            <a:ext cx="35658" cy="113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426739" y="3393708"/>
            <a:ext cx="35659" cy="5414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462398" y="3306098"/>
            <a:ext cx="35659" cy="8761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498057" y="3200171"/>
            <a:ext cx="35659" cy="10592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533716" y="3094244"/>
            <a:ext cx="35659" cy="10592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569375" y="3006633"/>
            <a:ext cx="35659" cy="87611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605034" y="2952487"/>
            <a:ext cx="35659" cy="5414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640693" y="2941167"/>
            <a:ext cx="35659" cy="113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676352" y="2941167"/>
            <a:ext cx="35659" cy="334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712011" y="2974632"/>
            <a:ext cx="35659" cy="724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747670" y="3047094"/>
            <a:ext cx="35659" cy="9893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783329" y="3146024"/>
            <a:ext cx="35658" cy="10829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818987" y="3254317"/>
            <a:ext cx="35659" cy="98931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854646" y="3353248"/>
            <a:ext cx="35659" cy="724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890305" y="3425710"/>
            <a:ext cx="35659" cy="334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925964" y="3447855"/>
            <a:ext cx="35659" cy="113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961623" y="3393708"/>
            <a:ext cx="35659" cy="5414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997282" y="3306098"/>
            <a:ext cx="35659" cy="8761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032941" y="3200171"/>
            <a:ext cx="35659" cy="10592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068600" y="3094244"/>
            <a:ext cx="35659" cy="10592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104259" y="3006633"/>
            <a:ext cx="35659" cy="87611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139918" y="2952487"/>
            <a:ext cx="35659" cy="5414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175577" y="2941167"/>
            <a:ext cx="35659" cy="113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211236" y="2941167"/>
            <a:ext cx="35658" cy="334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246894" y="2974632"/>
            <a:ext cx="35659" cy="724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282553" y="3047094"/>
            <a:ext cx="35659" cy="9893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318212" y="3146024"/>
            <a:ext cx="35659" cy="10829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353871" y="3254317"/>
            <a:ext cx="35659" cy="98931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389530" y="3353248"/>
            <a:ext cx="35659" cy="724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425189" y="3425710"/>
            <a:ext cx="35659" cy="334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460848" y="3447855"/>
            <a:ext cx="35659" cy="113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496507" y="3393708"/>
            <a:ext cx="35659" cy="5414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532166" y="3306098"/>
            <a:ext cx="35659" cy="8761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567825" y="3200171"/>
            <a:ext cx="35659" cy="10592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603484" y="3094244"/>
            <a:ext cx="35658" cy="10592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639142" y="3006633"/>
            <a:ext cx="35659" cy="87611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674801" y="2952487"/>
            <a:ext cx="35659" cy="5414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710460" y="2941167"/>
            <a:ext cx="35659" cy="113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746119" y="2941167"/>
            <a:ext cx="35659" cy="334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781778" y="2974632"/>
            <a:ext cx="35659" cy="724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17437" y="3047094"/>
            <a:ext cx="35659" cy="9893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853096" y="3146024"/>
            <a:ext cx="35659" cy="10829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888755" y="3254317"/>
            <a:ext cx="35659" cy="98931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24414" y="3353248"/>
            <a:ext cx="35659" cy="724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60073" y="3425710"/>
            <a:ext cx="35659" cy="334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995732" y="3447855"/>
            <a:ext cx="35658" cy="113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4031390" y="3393708"/>
            <a:ext cx="35659" cy="5414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4067049" y="3306098"/>
            <a:ext cx="35659" cy="8761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4278031" y="3364992"/>
            <a:ext cx="262984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40" b="1" i="0">
                <a:solidFill>
                  <a:srgbClr val="5A6B68"/>
                </a:solidFill>
                <a:latin typeface="Arial"/>
              </a:rPr>
              <a:t>+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741724"/>
            <a:ext cx="1227260" cy="7063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Bruit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911171" y="3741724"/>
            <a:ext cx="2279198" cy="706374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998833" y="4054851"/>
            <a:ext cx="35658" cy="52482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034491" y="4054851"/>
            <a:ext cx="35659" cy="114588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070150" y="4068743"/>
            <a:ext cx="35659" cy="100696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105809" y="3997751"/>
            <a:ext cx="35659" cy="70992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141468" y="3997751"/>
            <a:ext cx="35659" cy="63730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177127" y="3919042"/>
            <a:ext cx="35659" cy="142439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212786" y="3919042"/>
            <a:ext cx="35659" cy="302901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248445" y="4104049"/>
            <a:ext cx="35659" cy="117894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284104" y="4104049"/>
            <a:ext cx="35659" cy="95632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319763" y="4199681"/>
            <a:ext cx="35659" cy="9700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355422" y="4135148"/>
            <a:ext cx="35659" cy="74233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2391081" y="4085001"/>
            <a:ext cx="35658" cy="5014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2426739" y="4060530"/>
            <a:ext cx="35659" cy="24471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462398" y="4049495"/>
            <a:ext cx="35659" cy="11035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498057" y="3835908"/>
            <a:ext cx="35659" cy="21358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533716" y="3835908"/>
            <a:ext cx="35659" cy="16971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2569375" y="4005625"/>
            <a:ext cx="35659" cy="304132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605034" y="4087093"/>
            <a:ext cx="35659" cy="222664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640693" y="4087093"/>
            <a:ext cx="35659" cy="102415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676352" y="4176228"/>
            <a:ext cx="35659" cy="13280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712011" y="3950709"/>
            <a:ext cx="35659" cy="225519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747670" y="3950709"/>
            <a:ext cx="35659" cy="189276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783329" y="4139985"/>
            <a:ext cx="35658" cy="213930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818987" y="4073947"/>
            <a:ext cx="35659" cy="279968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854646" y="4073947"/>
            <a:ext cx="35659" cy="74521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890305" y="4148468"/>
            <a:ext cx="35659" cy="109289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925964" y="4226400"/>
            <a:ext cx="35659" cy="3135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961623" y="4189786"/>
            <a:ext cx="35659" cy="36614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997282" y="4115287"/>
            <a:ext cx="35659" cy="74499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032941" y="4115287"/>
            <a:ext cx="35659" cy="49920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068600" y="4103544"/>
            <a:ext cx="35659" cy="61663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104259" y="3885107"/>
            <a:ext cx="35659" cy="21843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139918" y="3885107"/>
            <a:ext cx="35659" cy="32633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3175577" y="4211444"/>
            <a:ext cx="35659" cy="890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211236" y="4143233"/>
            <a:ext cx="35658" cy="69101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246894" y="3976786"/>
            <a:ext cx="35659" cy="16644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282553" y="3976786"/>
            <a:ext cx="35659" cy="223018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318212" y="3934858"/>
            <a:ext cx="35659" cy="264946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353871" y="3934858"/>
            <a:ext cx="35659" cy="33944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389530" y="4240171"/>
            <a:ext cx="35659" cy="34134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425189" y="4119119"/>
            <a:ext cx="35659" cy="121052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460848" y="4119119"/>
            <a:ext cx="35659" cy="100146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496507" y="4188929"/>
            <a:ext cx="35659" cy="30336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3532166" y="4056543"/>
            <a:ext cx="35659" cy="132386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3567825" y="4022754"/>
            <a:ext cx="35659" cy="33789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603484" y="4022754"/>
            <a:ext cx="35658" cy="75533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639142" y="4098287"/>
            <a:ext cx="35659" cy="48096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3674801" y="3946015"/>
            <a:ext cx="35659" cy="200368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710460" y="3946015"/>
            <a:ext cx="35659" cy="11653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746119" y="4062552"/>
            <a:ext cx="35659" cy="78935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3781778" y="3962086"/>
            <a:ext cx="35659" cy="179401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3817437" y="3962086"/>
            <a:ext cx="35659" cy="261879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3853096" y="4092006"/>
            <a:ext cx="35659" cy="131959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3888755" y="4030742"/>
            <a:ext cx="35659" cy="61264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924414" y="4030742"/>
            <a:ext cx="35659" cy="83045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960073" y="4113787"/>
            <a:ext cx="35659" cy="69714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3995732" y="4068995"/>
            <a:ext cx="35658" cy="114506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4031390" y="4068995"/>
            <a:ext cx="35659" cy="110314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067049" y="4179309"/>
            <a:ext cx="35659" cy="6777"/>
          </a:xfrm>
          <a:prstGeom prst="line">
            <a:avLst/>
          </a:prstGeom>
          <a:ln w="19050">
            <a:solidFill>
              <a:srgbClr val="8C9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4278031" y="4024274"/>
            <a:ext cx="262984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40" b="1" i="0">
                <a:solidFill>
                  <a:srgbClr val="5A6B68"/>
                </a:solidFill>
                <a:latin typeface="Arial"/>
              </a:rPr>
              <a:t>=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584846" y="1952244"/>
            <a:ext cx="1227260" cy="2495854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 flipV="1">
            <a:off x="4628677" y="3645915"/>
            <a:ext cx="19315" cy="32489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4647992" y="3580587"/>
            <a:ext cx="19316" cy="65328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4667308" y="3305524"/>
            <a:ext cx="19315" cy="275063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4686623" y="3163103"/>
            <a:ext cx="19315" cy="14242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4705938" y="3163103"/>
            <a:ext cx="19315" cy="13248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4725253" y="3242421"/>
            <a:ext cx="19316" cy="5317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4744569" y="3242421"/>
            <a:ext cx="19315" cy="589854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4763884" y="3832275"/>
            <a:ext cx="19315" cy="5739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4783199" y="3889674"/>
            <a:ext cx="19315" cy="317504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4802514" y="4207178"/>
            <a:ext cx="19316" cy="146737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4821830" y="4305124"/>
            <a:ext cx="19315" cy="4879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4841145" y="4190092"/>
            <a:ext cx="19315" cy="115032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4860460" y="4015189"/>
            <a:ext cx="19315" cy="174903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4879775" y="3784792"/>
            <a:ext cx="19316" cy="230397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4899091" y="3248212"/>
            <a:ext cx="19315" cy="53658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4918406" y="3215288"/>
            <a:ext cx="19315" cy="32924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4937721" y="3215288"/>
            <a:ext cx="19315" cy="18373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4957036" y="2963691"/>
            <a:ext cx="19316" cy="435327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4976352" y="2963691"/>
            <a:ext cx="19315" cy="85434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4995667" y="3049125"/>
            <a:ext cx="19315" cy="3130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5014982" y="2918087"/>
            <a:ext cx="19315" cy="162338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5034297" y="2918087"/>
            <a:ext cx="19316" cy="440552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5053613" y="3358639"/>
            <a:ext cx="19315" cy="49341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5072928" y="3676021"/>
            <a:ext cx="19315" cy="17602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5092243" y="3676021"/>
            <a:ext cx="19315" cy="23191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5111558" y="3907932"/>
            <a:ext cx="19316" cy="192354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5130874" y="4009944"/>
            <a:ext cx="19315" cy="90342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5150189" y="3819084"/>
            <a:ext cx="19315" cy="19086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5169504" y="3505298"/>
            <a:ext cx="19315" cy="313786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5188819" y="3314962"/>
            <a:ext cx="19315" cy="190336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5208134" y="2978008"/>
            <a:ext cx="19316" cy="336954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5227450" y="2475088"/>
            <a:ext cx="19315" cy="50292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5246765" y="2475088"/>
            <a:ext cx="19315" cy="286054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5266080" y="2713172"/>
            <a:ext cx="19315" cy="4797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5285395" y="2671124"/>
            <a:ext cx="19316" cy="42048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5304711" y="2586406"/>
            <a:ext cx="19315" cy="84718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5324026" y="2586406"/>
            <a:ext cx="19315" cy="48488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5343341" y="2935470"/>
            <a:ext cx="19315" cy="135825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5362656" y="2935470"/>
            <a:ext cx="19316" cy="637875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381972" y="3573345"/>
            <a:ext cx="19315" cy="8913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5401287" y="3552172"/>
            <a:ext cx="19315" cy="110312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5420602" y="3552172"/>
            <a:ext cx="19315" cy="82453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5439917" y="3452014"/>
            <a:ext cx="19316" cy="18261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5459233" y="3062165"/>
            <a:ext cx="19315" cy="38984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5478548" y="2761836"/>
            <a:ext cx="19315" cy="30032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5497863" y="2605156"/>
            <a:ext cx="19315" cy="15668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5517178" y="2452458"/>
            <a:ext cx="19316" cy="152698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5536494" y="2046427"/>
            <a:ext cx="19315" cy="40603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555809" y="2046427"/>
            <a:ext cx="19315" cy="10398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575124" y="2150416"/>
            <a:ext cx="19315" cy="15247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5594439" y="2201147"/>
            <a:ext cx="19316" cy="101739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5613755" y="2201147"/>
            <a:ext cx="19315" cy="53595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5633070" y="2737098"/>
            <a:ext cx="19315" cy="38918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5652385" y="2776016"/>
            <a:ext cx="19315" cy="111345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5671700" y="2887361"/>
            <a:ext cx="19316" cy="243111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5691016" y="3130472"/>
            <a:ext cx="19315" cy="140354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5710331" y="3071226"/>
            <a:ext cx="19315" cy="19960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5729646" y="3071226"/>
            <a:ext cx="19315" cy="2202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5748961" y="2866438"/>
            <a:ext cx="19316" cy="206990"/>
          </a:xfrm>
          <a:prstGeom prst="line">
            <a:avLst/>
          </a:prstGeom>
          <a:ln w="15875">
            <a:solidFill>
              <a:srgbClr val="1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TextBox 252"/>
          <p:cNvSpPr txBox="1"/>
          <p:nvPr/>
        </p:nvSpPr>
        <p:spPr>
          <a:xfrm>
            <a:off x="4584846" y="4495190"/>
            <a:ext cx="1227260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5" b="1" i="0">
                <a:solidFill>
                  <a:srgbClr val="1A2E2B"/>
                </a:solidFill>
                <a:latin typeface="Arial"/>
              </a:rPr>
              <a:t>Série observée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162753" y="1481328"/>
            <a:ext cx="5084366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Évaluer une prévision sans tricher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62753" y="1999335"/>
            <a:ext cx="3857105" cy="518007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162753" y="1999335"/>
            <a:ext cx="3857105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passé : entraînement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0019859" y="1999335"/>
            <a:ext cx="1227260" cy="518007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10019859" y="1999335"/>
            <a:ext cx="1227260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Arial"/>
              </a:rPr>
              <a:t>futur : test</a:t>
            </a:r>
          </a:p>
        </p:txBody>
      </p:sp>
      <p:cxnSp>
        <p:nvCxnSpPr>
          <p:cNvPr id="259" name="Connector 258"/>
          <p:cNvCxnSpPr/>
          <p:nvPr/>
        </p:nvCxnSpPr>
        <p:spPr>
          <a:xfrm>
            <a:off x="6162753" y="2658618"/>
            <a:ext cx="5084366" cy="0"/>
          </a:xfrm>
          <a:prstGeom prst="line">
            <a:avLst/>
          </a:prstGeom>
          <a:ln w="19050">
            <a:solidFill>
              <a:srgbClr val="5A6B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10633489" y="2677454"/>
            <a:ext cx="613630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5" b="0" i="1">
                <a:solidFill>
                  <a:srgbClr val="5A6B68"/>
                </a:solidFill>
                <a:latin typeface="Arial"/>
              </a:rPr>
              <a:t>temps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162753" y="2988259"/>
            <a:ext cx="5084366" cy="89474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162753" y="2988259"/>
            <a:ext cx="5084366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338076" y="3035350"/>
            <a:ext cx="4733720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Ne jamais mélanger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Le passé pour apprendre, le futur pour tester.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6162753" y="3996019"/>
            <a:ext cx="5084366" cy="89474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162753" y="3996019"/>
            <a:ext cx="5084366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338076" y="4043111"/>
            <a:ext cx="4733720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Battre une référence naïve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« Demain comme aujourd'hui ».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162753" y="5003779"/>
            <a:ext cx="5084366" cy="89474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162753" y="5003779"/>
            <a:ext cx="5084366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338076" y="5050871"/>
            <a:ext cx="4733720" cy="800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Préciser l'horizon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Demain n'est pas le mois prochain.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5F7C17"/>
                </a:solidFill>
              </a:rPr>
              <a:t>A · IA prédictive · Séries temporelles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Séries temporelles : les modèles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15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498352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402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Références naïves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402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946895" y="3055772"/>
            <a:ext cx="60797" cy="4259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7692" y="3055772"/>
            <a:ext cx="60798" cy="13116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68490" y="3186938"/>
            <a:ext cx="60797" cy="376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9287" y="3224600"/>
            <a:ext cx="60798" cy="4020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90085" y="3122643"/>
            <a:ext cx="60797" cy="1421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50882" y="3091766"/>
            <a:ext cx="60798" cy="3087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11680" y="2968408"/>
            <a:ext cx="60797" cy="12335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72477" y="2830743"/>
            <a:ext cx="60798" cy="1376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33275" y="2721770"/>
            <a:ext cx="60797" cy="10897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4072" y="2637272"/>
            <a:ext cx="60798" cy="8449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54870" y="2581557"/>
            <a:ext cx="60797" cy="5571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15667" y="2528471"/>
            <a:ext cx="60798" cy="5308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76465" y="2528471"/>
            <a:ext cx="60797" cy="8311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37262" y="2611586"/>
            <a:ext cx="60797" cy="1429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98059" y="2589190"/>
            <a:ext cx="60798" cy="36694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58857" y="2589190"/>
            <a:ext cx="60797" cy="30723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19654" y="2896429"/>
            <a:ext cx="60798" cy="2085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80452" y="2917282"/>
            <a:ext cx="60797" cy="5678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41249" y="2974068"/>
            <a:ext cx="60798" cy="8557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02047" y="3052590"/>
            <a:ext cx="60797" cy="705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162844" y="2994870"/>
            <a:ext cx="60798" cy="577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23642" y="2864645"/>
            <a:ext cx="60797" cy="13022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284439" y="2800313"/>
            <a:ext cx="60798" cy="6433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45237" y="2800313"/>
            <a:ext cx="486380" cy="0"/>
          </a:xfrm>
          <a:prstGeom prst="line">
            <a:avLst/>
          </a:prstGeom>
          <a:ln w="25400">
            <a:solidFill>
              <a:srgbClr val="ED5D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5402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« Demain comme aujourd'hui ». Le plancher à battre.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1287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31287" y="1481328"/>
            <a:ext cx="2498352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06610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Lissage exponentiel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06610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3638102" y="2820314"/>
            <a:ext cx="60798" cy="4259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98900" y="2820314"/>
            <a:ext cx="60797" cy="13116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59697" y="2951480"/>
            <a:ext cx="60798" cy="376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820495" y="2989142"/>
            <a:ext cx="60797" cy="4020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881292" y="2887185"/>
            <a:ext cx="60798" cy="1421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942090" y="2856308"/>
            <a:ext cx="60797" cy="3087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002887" y="2732950"/>
            <a:ext cx="60798" cy="12335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063685" y="2595285"/>
            <a:ext cx="60797" cy="1376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24482" y="2486312"/>
            <a:ext cx="60798" cy="10897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85280" y="2401814"/>
            <a:ext cx="60797" cy="8449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246077" y="2346099"/>
            <a:ext cx="60798" cy="5571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06875" y="2293013"/>
            <a:ext cx="60797" cy="5308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67672" y="2293013"/>
            <a:ext cx="60798" cy="8311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428470" y="2376128"/>
            <a:ext cx="60797" cy="1429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489267" y="2353732"/>
            <a:ext cx="60798" cy="36694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50065" y="2353732"/>
            <a:ext cx="60797" cy="30723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610862" y="2660971"/>
            <a:ext cx="60798" cy="2085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671660" y="2681824"/>
            <a:ext cx="60797" cy="5678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732457" y="2738610"/>
            <a:ext cx="60798" cy="8557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793255" y="2817132"/>
            <a:ext cx="60797" cy="705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854052" y="2759412"/>
            <a:ext cx="60798" cy="577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914850" y="2629187"/>
            <a:ext cx="60797" cy="13022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975647" y="2564855"/>
            <a:ext cx="60797" cy="6433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4458586" y="3732306"/>
            <a:ext cx="61363" cy="37673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19383" y="3689924"/>
            <a:ext cx="61363" cy="80055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80181" y="3647541"/>
            <a:ext cx="61363" cy="12243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40978" y="3605159"/>
            <a:ext cx="61363" cy="164820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01776" y="3562776"/>
            <a:ext cx="61363" cy="207203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762573" y="3520394"/>
            <a:ext cx="61363" cy="249585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823371" y="3478011"/>
            <a:ext cx="61363" cy="291967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84168" y="3435629"/>
            <a:ext cx="61363" cy="334350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944965" y="3393246"/>
            <a:ext cx="61363" cy="376732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05763" y="3350864"/>
            <a:ext cx="61363" cy="419115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94272" y="3553358"/>
            <a:ext cx="1139599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5" b="0" i="1">
                <a:solidFill>
                  <a:srgbClr val="5A6B68"/>
                </a:solidFill>
                <a:latin typeface="Arial"/>
              </a:rPr>
              <a:t>poids des valeurs passées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06610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Une moyenne du passé, le récent pèse plus.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22495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22495" y="1481328"/>
            <a:ext cx="2498352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97818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ARIMA / SARIMA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97818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6329310" y="3055772"/>
            <a:ext cx="57113" cy="4259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386423" y="3055772"/>
            <a:ext cx="57113" cy="13116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43536" y="3186938"/>
            <a:ext cx="57112" cy="3766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500648" y="3224600"/>
            <a:ext cx="57113" cy="4020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557761" y="3122643"/>
            <a:ext cx="57113" cy="1421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614874" y="3091766"/>
            <a:ext cx="57113" cy="3087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71987" y="2968408"/>
            <a:ext cx="57113" cy="12335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729100" y="2830743"/>
            <a:ext cx="57112" cy="13766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786212" y="2721770"/>
            <a:ext cx="57113" cy="10897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843325" y="2637272"/>
            <a:ext cx="57113" cy="8449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900438" y="2581557"/>
            <a:ext cx="57113" cy="5571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957551" y="2528471"/>
            <a:ext cx="57112" cy="5308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014663" y="2528471"/>
            <a:ext cx="57113" cy="8311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071776" y="2611586"/>
            <a:ext cx="57113" cy="1429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128889" y="2589190"/>
            <a:ext cx="57113" cy="36694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186002" y="2589190"/>
            <a:ext cx="57113" cy="307239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243115" y="2896429"/>
            <a:ext cx="57112" cy="20853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300227" y="2917282"/>
            <a:ext cx="57113" cy="56786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357340" y="2974068"/>
            <a:ext cx="57113" cy="8557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414453" y="3052590"/>
            <a:ext cx="57113" cy="705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471566" y="2994870"/>
            <a:ext cx="57113" cy="57720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528679" y="2864645"/>
            <a:ext cx="57112" cy="130225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585791" y="2800313"/>
            <a:ext cx="57113" cy="64332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642904" y="2595355"/>
            <a:ext cx="57113" cy="204958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700017" y="2595355"/>
            <a:ext cx="57113" cy="24617"/>
          </a:xfrm>
          <a:prstGeom prst="line">
            <a:avLst/>
          </a:prstGeom>
          <a:ln w="19050">
            <a:solidFill>
              <a:srgbClr val="5F7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757130" y="2460505"/>
            <a:ext cx="57113" cy="91491"/>
          </a:xfrm>
          <a:prstGeom prst="line">
            <a:avLst/>
          </a:prstGeom>
          <a:ln w="25400">
            <a:solidFill>
              <a:srgbClr val="ED5D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814243" y="2405942"/>
            <a:ext cx="57112" cy="54563"/>
          </a:xfrm>
          <a:prstGeom prst="line">
            <a:avLst/>
          </a:prstGeom>
          <a:ln w="25400">
            <a:solidFill>
              <a:srgbClr val="ED5D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871355" y="2395137"/>
            <a:ext cx="57113" cy="10805"/>
          </a:xfrm>
          <a:prstGeom prst="line">
            <a:avLst/>
          </a:prstGeom>
          <a:ln w="25400">
            <a:solidFill>
              <a:srgbClr val="ED5D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928468" y="2395137"/>
            <a:ext cx="57113" cy="32874"/>
          </a:xfrm>
          <a:prstGeom prst="line">
            <a:avLst/>
          </a:prstGeom>
          <a:ln w="25400">
            <a:solidFill>
              <a:srgbClr val="ED5D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985581" y="2428011"/>
            <a:ext cx="57113" cy="69580"/>
          </a:xfrm>
          <a:prstGeom prst="line">
            <a:avLst/>
          </a:prstGeom>
          <a:ln w="25400">
            <a:solidFill>
              <a:srgbClr val="ED5D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042694" y="2497591"/>
            <a:ext cx="57112" cy="93515"/>
          </a:xfrm>
          <a:prstGeom prst="line">
            <a:avLst/>
          </a:prstGeom>
          <a:ln w="25400">
            <a:solidFill>
              <a:srgbClr val="ED5D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7713299" y="2222355"/>
            <a:ext cx="430338" cy="659282"/>
          </a:xfrm>
          <a:prstGeom prst="ellipse">
            <a:avLst/>
          </a:prstGeom>
          <a:solidFill>
            <a:srgbClr val="ED5D42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97818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Modèle statistique : tendance et saisonnalité.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13703" y="1481328"/>
            <a:ext cx="2498352" cy="372023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713703" y="1481328"/>
            <a:ext cx="2498352" cy="64008"/>
          </a:xfrm>
          <a:prstGeom prst="rect">
            <a:avLst/>
          </a:prstGeom>
          <a:solidFill>
            <a:srgbClr val="A0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889025" y="1622602"/>
            <a:ext cx="214770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Approche supervisée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89025" y="2093518"/>
            <a:ext cx="2147706" cy="178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976687" y="2206538"/>
            <a:ext cx="613630" cy="282549"/>
          </a:xfrm>
          <a:prstGeom prst="rect">
            <a:avLst/>
          </a:prstGeom>
          <a:solidFill>
            <a:srgbClr val="5F7C17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20518" y="2206538"/>
            <a:ext cx="525968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rial"/>
              </a:rPr>
              <a:t>J-1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590317" y="2206538"/>
            <a:ext cx="613630" cy="282549"/>
          </a:xfrm>
          <a:prstGeom prst="rect">
            <a:avLst/>
          </a:prstGeom>
          <a:solidFill>
            <a:srgbClr val="5F7C17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34148" y="2206538"/>
            <a:ext cx="525968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rial"/>
              </a:rPr>
              <a:t>J-7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203948" y="2206538"/>
            <a:ext cx="657461" cy="282549"/>
          </a:xfrm>
          <a:prstGeom prst="rect">
            <a:avLst/>
          </a:prstGeom>
          <a:solidFill>
            <a:srgbClr val="5F7C17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247779" y="2206538"/>
            <a:ext cx="569799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rial"/>
              </a:rPr>
              <a:t>météo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976687" y="2489088"/>
            <a:ext cx="613630" cy="28254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020518" y="2489088"/>
            <a:ext cx="525968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i="0">
                <a:solidFill>
                  <a:srgbClr val="2B3A38"/>
                </a:solidFill>
                <a:latin typeface="Arial"/>
              </a:rPr>
              <a:t>5 120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590317" y="2489088"/>
            <a:ext cx="613630" cy="28254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34148" y="2489088"/>
            <a:ext cx="525968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i="0">
                <a:solidFill>
                  <a:srgbClr val="2B3A38"/>
                </a:solidFill>
                <a:latin typeface="Arial"/>
              </a:rPr>
              <a:t>4 870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203948" y="2489088"/>
            <a:ext cx="657461" cy="282549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247779" y="2489088"/>
            <a:ext cx="569799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i="0">
                <a:solidFill>
                  <a:srgbClr val="2B3A38"/>
                </a:solidFill>
                <a:latin typeface="Arial"/>
              </a:rPr>
              <a:t>pluie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976687" y="2771637"/>
            <a:ext cx="613630" cy="28254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020518" y="2771637"/>
            <a:ext cx="525968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i="0">
                <a:solidFill>
                  <a:srgbClr val="2B3A38"/>
                </a:solidFill>
                <a:latin typeface="Arial"/>
              </a:rPr>
              <a:t>4 980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590317" y="2771637"/>
            <a:ext cx="613630" cy="28254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34148" y="2771637"/>
            <a:ext cx="525968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i="0">
                <a:solidFill>
                  <a:srgbClr val="2B3A38"/>
                </a:solidFill>
                <a:latin typeface="Arial"/>
              </a:rPr>
              <a:t>5 300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203948" y="2771637"/>
            <a:ext cx="657461" cy="282549"/>
          </a:xfrm>
          <a:prstGeom prst="rect">
            <a:avLst/>
          </a:prstGeom>
          <a:solidFill>
            <a:srgbClr val="F7FAFA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247779" y="2771637"/>
            <a:ext cx="569799" cy="2825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10" i="0">
                <a:solidFill>
                  <a:srgbClr val="2B3A38"/>
                </a:solidFill>
                <a:latin typeface="Arial"/>
              </a:rPr>
              <a:t>soleil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9962879" y="3082442"/>
            <a:ext cx="0" cy="188366"/>
          </a:xfrm>
          <a:prstGeom prst="line">
            <a:avLst/>
          </a:prstGeom>
          <a:ln w="19050">
            <a:solidFill>
              <a:srgbClr val="5F7C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9480741" y="3270808"/>
            <a:ext cx="964276" cy="263712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480741" y="3270808"/>
            <a:ext cx="964276" cy="263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5" b="1" i="0">
                <a:solidFill>
                  <a:srgbClr val="FFFFFF"/>
                </a:solidFill>
                <a:latin typeface="Arial"/>
              </a:rPr>
              <a:t>XGBoost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889025" y="4024274"/>
            <a:ext cx="2147706" cy="1083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Veille, calendrier, météo… puis XGBoost.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40080" y="5389930"/>
            <a:ext cx="10607040" cy="47091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15402" y="5389930"/>
            <a:ext cx="10344055" cy="4709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F7C17"/>
                </a:solidFill>
                <a:latin typeface="Arial"/>
              </a:rPr>
              <a:t>Pour aller plus loin : </a:t>
            </a:r>
            <a:r>
              <a:rPr sz="1350" b="0" i="0">
                <a:solidFill>
                  <a:srgbClr val="2B3A38"/>
                </a:solidFill>
                <a:latin typeface="Arial"/>
              </a:rPr>
              <a:t>réseaux récurrents (LSTM), modèles pré-entraînés.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 1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16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4D73F"/>
                </a:solidFill>
                <a:latin typeface="Arial"/>
              </a:rPr>
              <a:t>Utiliser, pas construire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IA GÉNÉRATIVE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E3F6F5"/>
                </a:solidFill>
                <a:latin typeface="Arial"/>
              </a:rPr>
              <a:t>Intégrer un grand modèle de langage dans une application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B · 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Dialoguer avec un LLM depuis son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17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785658" cy="3484778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233" y="1669694"/>
            <a:ext cx="5347350" cy="31080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7FD5D0"/>
                </a:solidFill>
                <a:latin typeface="Courier New"/>
              </a:rPr>
              <a:t>from</a:t>
            </a:r>
            <a:r>
              <a:rPr sz="990" b="0" i="0">
                <a:solidFill>
                  <a:srgbClr val="FFFFFF"/>
                </a:solidFill>
                <a:latin typeface="Courier New"/>
              </a:rPr>
              <a:t> mistralai </a:t>
            </a:r>
            <a:r>
              <a:rPr sz="990" b="0" i="0">
                <a:solidFill>
                  <a:srgbClr val="7FD5D0"/>
                </a:solidFill>
                <a:latin typeface="Courier New"/>
              </a:rPr>
              <a:t>import</a:t>
            </a:r>
            <a:r>
              <a:rPr sz="990" b="0" i="0">
                <a:solidFill>
                  <a:srgbClr val="FFFFFF"/>
                </a:solidFill>
                <a:latin typeface="Courier New"/>
              </a:rPr>
              <a:t> Mistral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client = Mistral(api_key=CLE)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reponse = client.chat.complete(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    model=</a:t>
            </a:r>
            <a:r>
              <a:rPr sz="990" b="0" i="0">
                <a:solidFill>
                  <a:srgbClr val="F2A99B"/>
                </a:solidFill>
                <a:latin typeface="Courier New"/>
              </a:rPr>
              <a:t>"mistral-small-latest"</a:t>
            </a:r>
            <a:r>
              <a:rPr sz="990" b="0" i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    messages=[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        {"role": </a:t>
            </a:r>
            <a:r>
              <a:rPr sz="990" b="0" i="0">
                <a:solidFill>
                  <a:srgbClr val="F4D73F"/>
                </a:solidFill>
                <a:latin typeface="Courier New"/>
              </a:rPr>
              <a:t>"system"</a:t>
            </a:r>
            <a:r>
              <a:rPr sz="990" b="0" i="0">
                <a:solidFill>
                  <a:srgbClr val="FFFFFF"/>
                </a:solidFill>
                <a:latin typeface="Courier New"/>
              </a:rPr>
              <a:t>, "content": </a:t>
            </a:r>
            <a:r>
              <a:rPr sz="990" b="0" i="0">
                <a:solidFill>
                  <a:srgbClr val="F2A99B"/>
                </a:solidFill>
                <a:latin typeface="Courier New"/>
              </a:rPr>
              <a:t>"Tu es un assistant de l'IUT."</a:t>
            </a:r>
            <a:r>
              <a:rPr sz="990" b="0" i="0">
                <a:solidFill>
                  <a:srgbClr val="FFFFFF"/>
                </a:solidFill>
                <a:latin typeface="Courier New"/>
              </a:rPr>
              <a:t>},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        {"role": </a:t>
            </a:r>
            <a:r>
              <a:rPr sz="990" b="0" i="0">
                <a:solidFill>
                  <a:srgbClr val="F4D73F"/>
                </a:solidFill>
                <a:latin typeface="Courier New"/>
              </a:rPr>
              <a:t>"user"</a:t>
            </a:r>
            <a:r>
              <a:rPr sz="990" b="0" i="0">
                <a:solidFill>
                  <a:srgbClr val="FFFFFF"/>
                </a:solidFill>
                <a:latin typeface="Courier New"/>
              </a:rPr>
              <a:t>,   "content": </a:t>
            </a:r>
            <a:r>
              <a:rPr sz="990" b="0" i="0">
                <a:solidFill>
                  <a:srgbClr val="F2A99B"/>
                </a:solidFill>
                <a:latin typeface="Courier New"/>
              </a:rPr>
              <a:t>"Résume ce texte : …"</a:t>
            </a:r>
            <a:r>
              <a:rPr sz="990" b="0" i="0">
                <a:solidFill>
                  <a:srgbClr val="FFFFFF"/>
                </a:solidFill>
                <a:latin typeface="Courier New"/>
              </a:rPr>
              <a:t>},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    ],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    temperature=0.2,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990" b="0" i="0">
                <a:solidFill>
                  <a:srgbClr val="FFFFFF"/>
                </a:solidFill>
                <a:latin typeface="Courier New"/>
              </a:rPr>
              <a:t>print(reponse.choices[0].message.content)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60289"/>
            <a:ext cx="5785658" cy="565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 i="1">
                <a:solidFill>
                  <a:srgbClr val="5A6B68"/>
                </a:solidFill>
                <a:latin typeface="Arial"/>
              </a:rPr>
              <a:t>Exemple avec Mistral AI ; OpenAI, Anthropic ou Ollama : même principe.</a:t>
            </a:r>
          </a:p>
        </p:txBody>
      </p:sp>
      <p:sp>
        <p:nvSpPr>
          <p:cNvPr id="9" name="Oval 8"/>
          <p:cNvSpPr/>
          <p:nvPr/>
        </p:nvSpPr>
        <p:spPr>
          <a:xfrm>
            <a:off x="6732553" y="1502523"/>
            <a:ext cx="569799" cy="569799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701" y="1650671"/>
            <a:ext cx="273503" cy="2735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77676" y="1434236"/>
            <a:ext cx="3769443" cy="131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 i="0">
                <a:solidFill>
                  <a:srgbClr val="2B3A38"/>
                </a:solidFill>
                <a:latin typeface="Arial"/>
              </a:rPr>
              <a:t>Un simple appel d'API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Une requête, une clé, du texte en retour.</a:t>
            </a:r>
          </a:p>
        </p:txBody>
      </p:sp>
      <p:sp>
        <p:nvSpPr>
          <p:cNvPr id="12" name="Oval 11"/>
          <p:cNvSpPr/>
          <p:nvPr/>
        </p:nvSpPr>
        <p:spPr>
          <a:xfrm>
            <a:off x="6732553" y="2962363"/>
            <a:ext cx="569799" cy="569799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701" y="3110511"/>
            <a:ext cx="273503" cy="2735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77676" y="2894076"/>
            <a:ext cx="3769443" cy="131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 i="0">
                <a:solidFill>
                  <a:srgbClr val="2B3A38"/>
                </a:solidFill>
                <a:latin typeface="Arial"/>
              </a:rPr>
              <a:t>Des messages avec des rôles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« system » : le cadre ; « user » : la demande.</a:t>
            </a:r>
          </a:p>
        </p:txBody>
      </p:sp>
      <p:sp>
        <p:nvSpPr>
          <p:cNvPr id="15" name="Oval 14"/>
          <p:cNvSpPr/>
          <p:nvPr/>
        </p:nvSpPr>
        <p:spPr>
          <a:xfrm>
            <a:off x="6732553" y="4422202"/>
            <a:ext cx="569799" cy="569799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Sync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701" y="4570350"/>
            <a:ext cx="273503" cy="2735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77676" y="4353915"/>
            <a:ext cx="3769443" cy="131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 i="0">
                <a:solidFill>
                  <a:srgbClr val="2B3A38"/>
                </a:solidFill>
                <a:latin typeface="Arial"/>
              </a:rPr>
              <a:t>Aucune mémoire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B3A38"/>
                </a:solidFill>
                <a:latin typeface="Arial"/>
              </a:rPr>
              <a:t>Le programme renvoie tout l'historique à chaque appel.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B · 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Tokens, contexte et température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18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259689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Le texte est découpé en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99335"/>
            <a:ext cx="604864" cy="395569"/>
          </a:xfrm>
          <a:prstGeom prst="rect">
            <a:avLst/>
          </a:prstGeom>
          <a:solidFill>
            <a:srgbClr val="E9D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9335"/>
            <a:ext cx="60486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7541" y="1999335"/>
            <a:ext cx="604864" cy="395569"/>
          </a:xfrm>
          <a:prstGeom prst="rect">
            <a:avLst/>
          </a:prstGeom>
          <a:solidFill>
            <a:srgbClr val="D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7541" y="1999335"/>
            <a:ext cx="60486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mod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55002" y="1999335"/>
            <a:ext cx="718824" cy="395569"/>
          </a:xfrm>
          <a:prstGeom prst="rect">
            <a:avLst/>
          </a:prstGeom>
          <a:solidFill>
            <a:srgbClr val="FD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5002" y="1999335"/>
            <a:ext cx="71882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èles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6423" y="1999335"/>
            <a:ext cx="490904" cy="395569"/>
          </a:xfrm>
          <a:prstGeom prst="rect">
            <a:avLst/>
          </a:prstGeom>
          <a:solidFill>
            <a:srgbClr val="FD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6423" y="1999335"/>
            <a:ext cx="49090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9924" y="1999335"/>
            <a:ext cx="718824" cy="395569"/>
          </a:xfrm>
          <a:prstGeom prst="rect">
            <a:avLst/>
          </a:prstGeom>
          <a:solidFill>
            <a:srgbClr val="E6F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9924" y="1999335"/>
            <a:ext cx="71882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lang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345" y="1999335"/>
            <a:ext cx="604864" cy="395569"/>
          </a:xfrm>
          <a:prstGeom prst="rect">
            <a:avLst/>
          </a:prstGeom>
          <a:solidFill>
            <a:srgbClr val="E9D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345" y="1999335"/>
            <a:ext cx="60486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8806" y="1999335"/>
            <a:ext cx="604864" cy="395569"/>
          </a:xfrm>
          <a:prstGeom prst="rect">
            <a:avLst/>
          </a:prstGeom>
          <a:solidFill>
            <a:srgbClr val="D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8806" y="1999335"/>
            <a:ext cx="60486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déc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517343"/>
            <a:ext cx="604864" cy="395569"/>
          </a:xfrm>
          <a:prstGeom prst="rect">
            <a:avLst/>
          </a:prstGeom>
          <a:solidFill>
            <a:srgbClr val="FD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17343"/>
            <a:ext cx="60486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oup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7541" y="2517343"/>
            <a:ext cx="604864" cy="395569"/>
          </a:xfrm>
          <a:prstGeom prst="rect">
            <a:avLst/>
          </a:prstGeom>
          <a:solidFill>
            <a:srgbClr val="FD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7541" y="2517343"/>
            <a:ext cx="60486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55002" y="2517343"/>
            <a:ext cx="490904" cy="395569"/>
          </a:xfrm>
          <a:prstGeom prst="rect">
            <a:avLst/>
          </a:prstGeom>
          <a:solidFill>
            <a:srgbClr val="E6F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5002" y="2517343"/>
            <a:ext cx="49090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98503" y="2517343"/>
            <a:ext cx="832784" cy="395569"/>
          </a:xfrm>
          <a:prstGeom prst="rect">
            <a:avLst/>
          </a:prstGeom>
          <a:solidFill>
            <a:srgbClr val="E9D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8503" y="2517343"/>
            <a:ext cx="83278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texte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884" y="2517343"/>
            <a:ext cx="490904" cy="395569"/>
          </a:xfrm>
          <a:prstGeom prst="rect">
            <a:avLst/>
          </a:prstGeom>
          <a:solidFill>
            <a:srgbClr val="D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884" y="2517343"/>
            <a:ext cx="49090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27385" y="2517343"/>
            <a:ext cx="604864" cy="395569"/>
          </a:xfrm>
          <a:prstGeom prst="rect">
            <a:avLst/>
          </a:prstGeom>
          <a:solidFill>
            <a:srgbClr val="FD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7385" y="2517343"/>
            <a:ext cx="60486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tok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84846" y="2517343"/>
            <a:ext cx="604864" cy="395569"/>
          </a:xfrm>
          <a:prstGeom prst="rect">
            <a:avLst/>
          </a:prstGeom>
          <a:solidFill>
            <a:srgbClr val="FD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4846" y="2517343"/>
            <a:ext cx="60486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42308" y="2517343"/>
            <a:ext cx="376944" cy="395569"/>
          </a:xfrm>
          <a:prstGeom prst="rect">
            <a:avLst/>
          </a:prstGeom>
          <a:solidFill>
            <a:srgbClr val="E6F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42308" y="2517343"/>
            <a:ext cx="376944" cy="395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035350"/>
            <a:ext cx="5259689" cy="470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 i="1">
                <a:solidFill>
                  <a:srgbClr val="5A6B68"/>
                </a:solidFill>
                <a:latin typeface="Arial"/>
              </a:rPr>
              <a:t>Découpage illustratif · environ 1 token pour 3 à 4 caractères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600450"/>
            <a:ext cx="5259689" cy="1111361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3600450"/>
            <a:ext cx="5259689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402" y="3694633"/>
            <a:ext cx="1314922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 i="0">
                <a:solidFill>
                  <a:srgbClr val="712180"/>
                </a:solidFill>
                <a:latin typeface="Arial"/>
              </a:rPr>
              <a:t>Contexte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4156" y="3675796"/>
            <a:ext cx="3594120" cy="988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Une taille maximale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Consignes, historique et réponse doivent tenir dans la fenêtre.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824831"/>
            <a:ext cx="5259689" cy="1111361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824831"/>
            <a:ext cx="5259689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402" y="4919014"/>
            <a:ext cx="1314922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 i="0">
                <a:solidFill>
                  <a:srgbClr val="712180"/>
                </a:solidFill>
                <a:latin typeface="Arial"/>
              </a:rPr>
              <a:t>Coût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74156" y="4900178"/>
            <a:ext cx="3594120" cy="988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B3A38"/>
                </a:solidFill>
                <a:latin typeface="Arial"/>
              </a:rPr>
              <a:t>On paie au token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Chaque token envoyé ou reçu est facturé.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2753" y="1481328"/>
            <a:ext cx="5084366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La température : un curseur de créativité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2753" y="1905152"/>
            <a:ext cx="5084366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 i="1">
                <a:solidFill>
                  <a:srgbClr val="5A6B68"/>
                </a:solidFill>
                <a:latin typeface="Arial"/>
              </a:rPr>
              <a:t>Même question, posée trois fois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62753" y="2423160"/>
            <a:ext cx="5084366" cy="145983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2753" y="2423160"/>
            <a:ext cx="5084366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8076" y="2536179"/>
            <a:ext cx="4733720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1" i="0">
                <a:solidFill>
                  <a:srgbClr val="712180"/>
                </a:solidFill>
                <a:latin typeface="Arial"/>
              </a:rPr>
              <a:t>Température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8076" y="2894076"/>
            <a:ext cx="473372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25" b="0" i="0">
                <a:solidFill>
                  <a:srgbClr val="2B3A38"/>
                </a:solidFill>
                <a:latin typeface="Arial"/>
              </a:rPr>
              <a:t>→  canapé.</a:t>
            </a:r>
          </a:p>
          <a:p>
            <a:pPr algn="l">
              <a:spcAft>
                <a:spcPts val="100"/>
              </a:spcAft>
            </a:pPr>
            <a:r>
              <a:rPr sz="1125" b="0" i="0">
                <a:solidFill>
                  <a:srgbClr val="2B3A38"/>
                </a:solidFill>
                <a:latin typeface="Arial"/>
              </a:rPr>
              <a:t>→  canapé.</a:t>
            </a:r>
          </a:p>
          <a:p>
            <a:pPr algn="l">
              <a:spcAft>
                <a:spcPts val="100"/>
              </a:spcAft>
            </a:pPr>
            <a:r>
              <a:rPr sz="1125" b="0" i="0">
                <a:solidFill>
                  <a:srgbClr val="2B3A38"/>
                </a:solidFill>
                <a:latin typeface="Arial"/>
              </a:rPr>
              <a:t>→  canapé.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62753" y="4071366"/>
            <a:ext cx="5084366" cy="1459839"/>
          </a:xfrm>
          <a:prstGeom prst="rect">
            <a:avLst/>
          </a:prstGeom>
          <a:solidFill>
            <a:srgbClr val="F3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62753" y="4071366"/>
            <a:ext cx="5084366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38076" y="4184385"/>
            <a:ext cx="4733720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1" i="0">
                <a:solidFill>
                  <a:srgbClr val="712180"/>
                </a:solidFill>
                <a:latin typeface="Arial"/>
              </a:rPr>
              <a:t>Température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8076" y="4542282"/>
            <a:ext cx="473372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25" b="0" i="0">
                <a:solidFill>
                  <a:srgbClr val="2B3A38"/>
                </a:solidFill>
                <a:latin typeface="Arial"/>
              </a:rPr>
              <a:t>→  canapé.</a:t>
            </a:r>
          </a:p>
          <a:p>
            <a:pPr algn="l">
              <a:spcAft>
                <a:spcPts val="100"/>
              </a:spcAft>
            </a:pPr>
            <a:r>
              <a:rPr sz="1125" b="0" i="0">
                <a:solidFill>
                  <a:srgbClr val="2B3A38"/>
                </a:solidFill>
                <a:latin typeface="Arial"/>
              </a:rPr>
              <a:t>→  rebord de la fenêtre.</a:t>
            </a:r>
          </a:p>
          <a:p>
            <a:pPr algn="l">
              <a:spcAft>
                <a:spcPts val="100"/>
              </a:spcAft>
            </a:pPr>
            <a:r>
              <a:rPr sz="1125" b="0" i="0">
                <a:solidFill>
                  <a:srgbClr val="2B3A38"/>
                </a:solidFill>
                <a:latin typeface="Arial"/>
              </a:rPr>
              <a:t>→  clavier de mon ordinateur !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2753" y="5766663"/>
            <a:ext cx="5084366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712180"/>
                </a:solidFill>
                <a:latin typeface="Arial"/>
              </a:rPr>
              <a:t>Température basse : </a:t>
            </a:r>
            <a:r>
              <a:rPr sz="1260" b="0" i="0">
                <a:solidFill>
                  <a:srgbClr val="2B3A38"/>
                </a:solidFill>
                <a:latin typeface="Arial"/>
              </a:rPr>
              <a:t>stable. </a:t>
            </a:r>
            <a:r>
              <a:rPr sz="1260" b="1" i="0">
                <a:solidFill>
                  <a:srgbClr val="712180"/>
                </a:solidFill>
                <a:latin typeface="Arial"/>
              </a:rPr>
              <a:t>Haute : </a:t>
            </a:r>
            <a:r>
              <a:rPr sz="1260" b="0" i="0">
                <a:solidFill>
                  <a:srgbClr val="2B3A38"/>
                </a:solidFill>
                <a:latin typeface="Arial"/>
              </a:rPr>
              <a:t>variée.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B · 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Bien formuler sa demande : l'ingénierie de prompt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19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769443" cy="178948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769443" cy="64008"/>
          </a:xfrm>
          <a:prstGeom prst="rect">
            <a:avLst/>
          </a:prstGeom>
          <a:solidFill>
            <a:srgbClr val="8C9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402" y="1603766"/>
            <a:ext cx="3418798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1" i="0">
                <a:solidFill>
                  <a:srgbClr val="6B7876"/>
                </a:solidFill>
                <a:latin typeface="Arial"/>
              </a:rPr>
              <a:t>Prompt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402" y="1999335"/>
            <a:ext cx="3418798" cy="470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1">
                <a:solidFill>
                  <a:srgbClr val="1A2E2B"/>
                </a:solidFill>
                <a:latin typeface="Arial"/>
              </a:rPr>
              <a:t>« Analyse cet avis client. 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402" y="2470251"/>
            <a:ext cx="3418798" cy="753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5A6B68"/>
                </a:solidFill>
                <a:latin typeface="Arial"/>
              </a:rPr>
              <a:t>Réponse longue et imprévisible.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53354" y="2376068"/>
            <a:ext cx="350646" cy="0"/>
          </a:xfrm>
          <a:prstGeom prst="line">
            <a:avLst/>
          </a:prstGeom>
          <a:ln w="28575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847831" y="1481328"/>
            <a:ext cx="6399288" cy="1789480"/>
          </a:xfrm>
          <a:prstGeom prst="rect">
            <a:avLst/>
          </a:prstGeom>
          <a:solidFill>
            <a:srgbClr val="F3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7831" y="1481328"/>
            <a:ext cx="6399288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3154" y="1603766"/>
            <a:ext cx="6048642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1" i="0">
                <a:solidFill>
                  <a:srgbClr val="712180"/>
                </a:solidFill>
                <a:latin typeface="Arial"/>
              </a:rPr>
              <a:t>Prompt précis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3154" y="1952244"/>
            <a:ext cx="6048642" cy="12243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1A2E2B"/>
                </a:solidFill>
                <a:latin typeface="Arial"/>
              </a:rPr>
              <a:t>« Classe cet avis en positif, neutre ou négatif et cite le problème en moins de 10 mots. Format : sentiment | problème. 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53358"/>
            <a:ext cx="2016214" cy="197784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53358"/>
            <a:ext cx="2016214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402" y="3756398"/>
            <a:ext cx="394476" cy="394476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402" y="3741724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7541" y="3694633"/>
            <a:ext cx="1314922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Donner un rôle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402" y="4306824"/>
            <a:ext cx="1709399" cy="1177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« Tu es un professeur… 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96552" y="3553358"/>
            <a:ext cx="2016214" cy="197784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96552" y="3553358"/>
            <a:ext cx="2016214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71875" y="3756398"/>
            <a:ext cx="394476" cy="394476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75" y="3741724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4013" y="3694633"/>
            <a:ext cx="1314922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Être précis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75" y="4306824"/>
            <a:ext cx="1709399" cy="1177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Tâche, public, longueur, ton.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3025" y="3553358"/>
            <a:ext cx="2016214" cy="197784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3025" y="3553358"/>
            <a:ext cx="2016214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28348" y="3756398"/>
            <a:ext cx="394476" cy="394476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8348" y="3741724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0486" y="3694633"/>
            <a:ext cx="1314922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Montrer des exemples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8348" y="4306824"/>
            <a:ext cx="1709399" cy="1177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2 ou 3 cas résolus (few-shot).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9497" y="3553358"/>
            <a:ext cx="2016214" cy="197784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09497" y="3553358"/>
            <a:ext cx="2016214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84820" y="3756398"/>
            <a:ext cx="394476" cy="394476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4820" y="3741724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66958" y="3694633"/>
            <a:ext cx="1314922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Faire raisonner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4820" y="4306824"/>
            <a:ext cx="1709399" cy="1177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« Procède étape par étape. 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65970" y="3553358"/>
            <a:ext cx="2016214" cy="197784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65970" y="3553358"/>
            <a:ext cx="2016214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41293" y="3756398"/>
            <a:ext cx="394476" cy="394476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41293" y="3741724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3431" y="3694633"/>
            <a:ext cx="1314922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Imposer le format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1293" y="4306824"/>
            <a:ext cx="1709399" cy="1177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Liste, tableau, JSON.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672480"/>
            <a:ext cx="10607040" cy="376732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5402" y="5672480"/>
            <a:ext cx="10344055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712180"/>
                </a:solidFill>
                <a:latin typeface="Arial"/>
              </a:rPr>
              <a:t>À retenir : </a:t>
            </a:r>
            <a:r>
              <a:rPr sz="1260" b="0" i="0">
                <a:solidFill>
                  <a:srgbClr val="2B3A38"/>
                </a:solidFill>
                <a:latin typeface="Arial"/>
              </a:rPr>
              <a:t>un prompt se teste sur plusieurs exemples, comme du code.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B · 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Obtenir des sorties exploitables par un programme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4032428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712180"/>
                </a:solidFill>
                <a:latin typeface="Arial"/>
              </a:rPr>
              <a:t>Texte libre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58060"/>
            <a:ext cx="4032428" cy="2166213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402" y="1999335"/>
            <a:ext cx="3681782" cy="1930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1A2E2B"/>
                </a:solidFill>
                <a:latin typeface="Arial"/>
              </a:rPr>
              <a:t>« Ma trottinette (commande 58213) est arrivée avec la batterie cassée. Je demande un remboursement. Camille M. 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60169" y="2941167"/>
            <a:ext cx="525969" cy="0"/>
          </a:xfrm>
          <a:prstGeom prst="line">
            <a:avLst/>
          </a:prstGeom>
          <a:ln w="3175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28677" y="2517343"/>
            <a:ext cx="788953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12180"/>
                </a:solidFill>
                <a:latin typeface="Arial"/>
              </a:rPr>
              <a:t>LLM + schéma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3800" y="1481328"/>
            <a:ext cx="5873319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712180"/>
                </a:solidFill>
                <a:latin typeface="Arial"/>
              </a:rPr>
              <a:t>JSON conforme au schéma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73800" y="1858060"/>
            <a:ext cx="5873319" cy="2166213"/>
          </a:xfrm>
          <a:prstGeom prst="rect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2954" y="2046427"/>
            <a:ext cx="5435012" cy="1789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5" b="0" i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>
              <a:spcAft>
                <a:spcPts val="200"/>
              </a:spcAft>
            </a:pPr>
            <a:r>
              <a:rPr sz="1035" b="0" i="0">
                <a:solidFill>
                  <a:srgbClr val="FFFFFF"/>
                </a:solidFill>
                <a:latin typeface="Courier New"/>
              </a:rPr>
              <a:t>  "client": </a:t>
            </a:r>
            <a:r>
              <a:rPr sz="1035" b="0" i="0">
                <a:solidFill>
                  <a:srgbClr val="F2A99B"/>
                </a:solidFill>
                <a:latin typeface="Courier New"/>
              </a:rPr>
              <a:t>"Camille M."</a:t>
            </a:r>
            <a:r>
              <a:rPr sz="1035" b="0" i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spcAft>
                <a:spcPts val="200"/>
              </a:spcAft>
            </a:pPr>
            <a:r>
              <a:rPr sz="1035" b="0" i="0">
                <a:solidFill>
                  <a:srgbClr val="FFFFFF"/>
                </a:solidFill>
                <a:latin typeface="Courier New"/>
              </a:rPr>
              <a:t>  "commande": </a:t>
            </a:r>
            <a:r>
              <a:rPr sz="1035" b="0" i="0">
                <a:solidFill>
                  <a:srgbClr val="F4D73F"/>
                </a:solidFill>
                <a:latin typeface="Courier New"/>
              </a:rPr>
              <a:t>58213</a:t>
            </a:r>
            <a:r>
              <a:rPr sz="1035" b="0" i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spcAft>
                <a:spcPts val="200"/>
              </a:spcAft>
            </a:pPr>
            <a:r>
              <a:rPr sz="1035" b="0" i="0">
                <a:solidFill>
                  <a:srgbClr val="FFFFFF"/>
                </a:solidFill>
                <a:latin typeface="Courier New"/>
              </a:rPr>
              <a:t>  "produit": </a:t>
            </a:r>
            <a:r>
              <a:rPr sz="1035" b="0" i="0">
                <a:solidFill>
                  <a:srgbClr val="F2A99B"/>
                </a:solidFill>
                <a:latin typeface="Courier New"/>
              </a:rPr>
              <a:t>"trottinette"</a:t>
            </a:r>
            <a:r>
              <a:rPr sz="1035" b="0" i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spcAft>
                <a:spcPts val="200"/>
              </a:spcAft>
            </a:pPr>
            <a:r>
              <a:rPr sz="1035" b="0" i="0">
                <a:solidFill>
                  <a:srgbClr val="FFFFFF"/>
                </a:solidFill>
                <a:latin typeface="Courier New"/>
              </a:rPr>
              <a:t>  "probleme": </a:t>
            </a:r>
            <a:r>
              <a:rPr sz="1035" b="0" i="0">
                <a:solidFill>
                  <a:srgbClr val="F2A99B"/>
                </a:solidFill>
                <a:latin typeface="Courier New"/>
              </a:rPr>
              <a:t>"batterie cassée"</a:t>
            </a:r>
            <a:r>
              <a:rPr sz="1035" b="0" i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spcAft>
                <a:spcPts val="200"/>
              </a:spcAft>
            </a:pPr>
            <a:r>
              <a:rPr sz="1035" b="0" i="0">
                <a:solidFill>
                  <a:srgbClr val="FFFFFF"/>
                </a:solidFill>
                <a:latin typeface="Courier New"/>
              </a:rPr>
              <a:t>  "demande": </a:t>
            </a:r>
            <a:r>
              <a:rPr sz="1035" b="0" i="0">
                <a:solidFill>
                  <a:srgbClr val="F2A99B"/>
                </a:solidFill>
                <a:latin typeface="Courier New"/>
              </a:rPr>
              <a:t>"remboursement"</a:t>
            </a:r>
          </a:p>
          <a:p>
            <a:pPr algn="l">
              <a:spcAft>
                <a:spcPts val="200"/>
              </a:spcAft>
            </a:pPr>
            <a:r>
              <a:rPr sz="1035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06824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306824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5402" y="4484870"/>
            <a:ext cx="482138" cy="482138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File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58" y="4610226"/>
            <a:ext cx="231426" cy="2314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29033" y="4448098"/>
            <a:ext cx="2454521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1" i="0">
                <a:solidFill>
                  <a:srgbClr val="1A2E2B"/>
                </a:solidFill>
                <a:latin typeface="Arial"/>
              </a:rPr>
              <a:t>Extraire l'information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402" y="5060289"/>
            <a:ext cx="3024321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0" i="0">
                <a:solidFill>
                  <a:srgbClr val="2B3A38"/>
                </a:solidFill>
                <a:latin typeface="Arial"/>
              </a:rPr>
              <a:t>Un schéma (Pydantic), des champs remplis, prêts pour la 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8031" y="4306824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8031" y="4306824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53354" y="4484870"/>
            <a:ext cx="482138" cy="482138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710" y="4610226"/>
            <a:ext cx="231426" cy="23142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66985" y="4448098"/>
            <a:ext cx="2454521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1" i="0">
                <a:solidFill>
                  <a:srgbClr val="1A2E2B"/>
                </a:solidFill>
                <a:latin typeface="Arial"/>
              </a:rPr>
              <a:t>Classer sans entraînement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354" y="5060289"/>
            <a:ext cx="3024321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0" i="0">
                <a:solidFill>
                  <a:srgbClr val="2B3A38"/>
                </a:solidFill>
                <a:latin typeface="Arial"/>
              </a:rPr>
              <a:t>Spam, sentiment, ticket… sans données d'entraînement.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15983" y="4306824"/>
            <a:ext cx="3374967" cy="174238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15983" y="4306824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91306" y="4484870"/>
            <a:ext cx="482138" cy="482138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662" y="4610226"/>
            <a:ext cx="231426" cy="2314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04936" y="4448098"/>
            <a:ext cx="2454521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1" i="0">
                <a:solidFill>
                  <a:srgbClr val="1A2E2B"/>
                </a:solidFill>
                <a:latin typeface="Arial"/>
              </a:rPr>
              <a:t>Évaluer comme en IA prédictive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1306" y="5060289"/>
            <a:ext cx="3024321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5" b="0" i="0">
                <a:solidFill>
                  <a:srgbClr val="2B3A38"/>
                </a:solidFill>
                <a:latin typeface="Arial"/>
              </a:rPr>
              <a:t>Précision, rappel… et comparer à un modèle classique.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B · 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Donner accès à ses documents : le RAG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21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607040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 i="0">
                <a:solidFill>
                  <a:srgbClr val="712180"/>
                </a:solidFill>
                <a:latin typeface="Arial"/>
              </a:rPr>
              <a:t>RAG </a:t>
            </a:r>
            <a:r>
              <a:rPr sz="1440" b="0" i="0">
                <a:solidFill>
                  <a:srgbClr val="2B3A38"/>
                </a:solidFill>
                <a:latin typeface="Arial"/>
              </a:rPr>
              <a:t>: chercher les passages utiles dans ses documents, puis les ajouter au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0610"/>
            <a:ext cx="3506459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712180"/>
                </a:solidFill>
                <a:latin typeface="Arial"/>
              </a:rPr>
              <a:t>1. Indexation (une fois)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17343"/>
            <a:ext cx="2279198" cy="753465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10" y="2517343"/>
            <a:ext cx="2191537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Documents</a:t>
            </a:r>
          </a:p>
          <a:p>
            <a:pPr algn="ctr">
              <a:spcAft>
                <a:spcPts val="0"/>
              </a:spcAft>
            </a:pPr>
            <a:r>
              <a:rPr sz="990" b="0" i="0">
                <a:solidFill>
                  <a:srgbClr val="1A2E2B"/>
                </a:solidFill>
                <a:latin typeface="Arial"/>
              </a:rPr>
              <a:t>règlement, cours, docs…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36810" y="2894076"/>
            <a:ext cx="403243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357586" y="2517343"/>
            <a:ext cx="2279198" cy="753465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416" y="2517343"/>
            <a:ext cx="2191537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Découpage</a:t>
            </a:r>
          </a:p>
          <a:p>
            <a:pPr algn="ctr">
              <a:spcAft>
                <a:spcPts val="0"/>
              </a:spcAft>
            </a:pPr>
            <a:r>
              <a:rPr sz="990" b="0" i="0">
                <a:solidFill>
                  <a:srgbClr val="1A2E2B"/>
                </a:solidFill>
                <a:latin typeface="Arial"/>
              </a:rPr>
              <a:t>en passages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54317" y="2894076"/>
            <a:ext cx="403242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075092" y="2517343"/>
            <a:ext cx="2279198" cy="753465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8922" y="2517343"/>
            <a:ext cx="2191537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Embeddings</a:t>
            </a:r>
          </a:p>
          <a:p>
            <a:pPr algn="ctr">
              <a:spcAft>
                <a:spcPts val="0"/>
              </a:spcAft>
            </a:pPr>
            <a:r>
              <a:rPr sz="990" b="0" i="0">
                <a:solidFill>
                  <a:srgbClr val="1A2E2B"/>
                </a:solidFill>
                <a:latin typeface="Arial"/>
              </a:rPr>
              <a:t>chaque passage → un vecteur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71823" y="2894076"/>
            <a:ext cx="403243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792598" y="2517343"/>
            <a:ext cx="2279198" cy="753465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6429" y="2517343"/>
            <a:ext cx="2191537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FFFFFF"/>
                </a:solidFill>
                <a:latin typeface="Arial"/>
              </a:rPr>
              <a:t>Base vectorielle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06266"/>
            <a:ext cx="3506459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 i="0">
                <a:solidFill>
                  <a:srgbClr val="712180"/>
                </a:solidFill>
                <a:latin typeface="Arial"/>
              </a:rPr>
              <a:t>2. À chaque question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2999"/>
            <a:ext cx="1840891" cy="8947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10" y="3882999"/>
            <a:ext cx="1753229" cy="894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Question</a:t>
            </a:r>
          </a:p>
          <a:p>
            <a:pPr algn="ctr">
              <a:spcAft>
                <a:spcPts val="0"/>
              </a:spcAft>
            </a:pPr>
            <a:r>
              <a:rPr sz="945" b="0" i="0">
                <a:solidFill>
                  <a:srgbClr val="1A2E2B"/>
                </a:solidFill>
                <a:latin typeface="Arial"/>
              </a:rPr>
              <a:t>« Combien d'absences sont autorisées ? 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98503" y="4325660"/>
            <a:ext cx="298049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814084" y="3882999"/>
            <a:ext cx="1840891" cy="8947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7915" y="3882999"/>
            <a:ext cx="1753229" cy="894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Recherche</a:t>
            </a:r>
          </a:p>
          <a:p>
            <a:pPr algn="ctr">
              <a:spcAft>
                <a:spcPts val="0"/>
              </a:spcAft>
            </a:pPr>
            <a:r>
              <a:rPr sz="945" b="0" i="0">
                <a:solidFill>
                  <a:srgbClr val="1A2E2B"/>
                </a:solidFill>
                <a:latin typeface="Arial"/>
              </a:rPr>
              <a:t>des passages les plus proches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72508" y="4325660"/>
            <a:ext cx="298049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988089" y="3882999"/>
            <a:ext cx="1840891" cy="8947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1920" y="3882999"/>
            <a:ext cx="1753229" cy="894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Prompt enrichi</a:t>
            </a:r>
          </a:p>
          <a:p>
            <a:pPr algn="ctr">
              <a:spcAft>
                <a:spcPts val="0"/>
              </a:spcAft>
            </a:pPr>
            <a:r>
              <a:rPr sz="945" b="0" i="0">
                <a:solidFill>
                  <a:srgbClr val="1A2E2B"/>
                </a:solidFill>
                <a:latin typeface="Arial"/>
              </a:rPr>
              <a:t>question + passages trouvés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46513" y="4325660"/>
            <a:ext cx="298049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62094" y="3882999"/>
            <a:ext cx="1840891" cy="894740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925" y="3882999"/>
            <a:ext cx="1753229" cy="894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20518" y="4325660"/>
            <a:ext cx="298049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336099" y="3882999"/>
            <a:ext cx="1840891" cy="894740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9930" y="3882999"/>
            <a:ext cx="1753229" cy="894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Réponse</a:t>
            </a:r>
          </a:p>
          <a:p>
            <a:pPr algn="ctr">
              <a:spcAft>
                <a:spcPts val="0"/>
              </a:spcAft>
            </a:pPr>
            <a:r>
              <a:rPr sz="945" b="0" i="0">
                <a:solidFill>
                  <a:srgbClr val="1A2E2B"/>
                </a:solidFill>
                <a:latin typeface="Arial"/>
              </a:rPr>
              <a:t>avec ses sources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3269924" y="3270808"/>
            <a:ext cx="5785658" cy="612191"/>
          </a:xfrm>
          <a:prstGeom prst="line">
            <a:avLst/>
          </a:prstGeom>
          <a:ln w="19050">
            <a:solidFill>
              <a:srgbClr val="A9B4B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49123" y="3364992"/>
            <a:ext cx="2103875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B68"/>
                </a:solidFill>
                <a:latin typeface="Arial"/>
              </a:rPr>
              <a:t>similarité entre vecteurs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966106"/>
            <a:ext cx="3374967" cy="108310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966106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402" y="5032034"/>
            <a:ext cx="3068152" cy="960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Pourquoi ?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Le modèle ne connaît pas vos documents.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8031" y="4966106"/>
            <a:ext cx="3374967" cy="108310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8031" y="4966106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53354" y="5032034"/>
            <a:ext cx="3068152" cy="960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Embeddings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Sens proche = vecteurs proches.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15983" y="4966106"/>
            <a:ext cx="3374967" cy="108310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15983" y="4966106"/>
            <a:ext cx="3374967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1306" y="5032034"/>
            <a:ext cx="3068152" cy="960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Limites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Mauvaise recherche = mauvaise réponse.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712180"/>
                </a:solidFill>
              </a:rPr>
              <a:t>B · IA générative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Donner accès à des outils : les agents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22</a:t>
            </a:fld>
          </a:p>
        </p:txBody>
      </p:sp>
      <p:sp>
        <p:nvSpPr>
          <p:cNvPr id="6" name="Oval 5"/>
          <p:cNvSpPr/>
          <p:nvPr/>
        </p:nvSpPr>
        <p:spPr>
          <a:xfrm>
            <a:off x="727741" y="1741242"/>
            <a:ext cx="657461" cy="657461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81" y="1912182"/>
            <a:ext cx="315581" cy="3155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470251"/>
            <a:ext cx="2103875" cy="847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35" b="0" i="1">
                <a:solidFill>
                  <a:srgbClr val="1A2E2B"/>
                </a:solidFill>
                <a:latin typeface="Arial"/>
              </a:rPr>
              <a:t>« Quel temps fera-t-il à Belfort demain ? 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16694" y="2074682"/>
            <a:ext cx="2147707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708232" y="1609750"/>
            <a:ext cx="920445" cy="920445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547" y="1849066"/>
            <a:ext cx="441813" cy="4418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08232" y="2611526"/>
            <a:ext cx="920445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70" b="1" i="0">
                <a:solidFill>
                  <a:srgbClr val="1A2E2B"/>
                </a:solidFill>
                <a:latin typeface="Arial"/>
              </a:rPr>
              <a:t>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72508" y="1858060"/>
            <a:ext cx="1577907" cy="0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84846" y="1500164"/>
            <a:ext cx="1840891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712180"/>
                </a:solidFill>
                <a:latin typeface="Arial"/>
              </a:rPr>
              <a:t>demande : meteo(« Belfort »)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672508" y="2328976"/>
            <a:ext cx="1577907" cy="0"/>
          </a:xfrm>
          <a:prstGeom prst="line">
            <a:avLst/>
          </a:prstGeom>
          <a:ln w="25400">
            <a:solidFill>
              <a:srgbClr val="00AB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84846" y="2376068"/>
            <a:ext cx="1840891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00877A"/>
                </a:solidFill>
                <a:latin typeface="Arial"/>
              </a:rPr>
              <a:t>résultat : 14 °C, pluie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4245" y="1481328"/>
            <a:ext cx="2279198" cy="1977847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4245" y="1481328"/>
            <a:ext cx="2279198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5738" y="1556674"/>
            <a:ext cx="2016214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5" b="1" i="0">
                <a:solidFill>
                  <a:srgbClr val="00877A"/>
                </a:solidFill>
                <a:latin typeface="Arial"/>
              </a:rPr>
              <a:t>Outils disponibles</a:t>
            </a:r>
          </a:p>
        </p:txBody>
      </p:sp>
      <p:sp>
        <p:nvSpPr>
          <p:cNvPr id="20" name="Oval 19"/>
          <p:cNvSpPr/>
          <p:nvPr/>
        </p:nvSpPr>
        <p:spPr>
          <a:xfrm>
            <a:off x="6425738" y="1915913"/>
            <a:ext cx="289282" cy="289282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CloudS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951" y="1991126"/>
            <a:ext cx="138855" cy="1388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93916" y="1905152"/>
            <a:ext cx="1665568" cy="3108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 i="0">
                <a:solidFill>
                  <a:srgbClr val="2B3A38"/>
                </a:solidFill>
                <a:latin typeface="Arial"/>
              </a:rPr>
              <a:t>API météo</a:t>
            </a:r>
          </a:p>
        </p:txBody>
      </p:sp>
      <p:sp>
        <p:nvSpPr>
          <p:cNvPr id="23" name="Oval 22"/>
          <p:cNvSpPr/>
          <p:nvPr/>
        </p:nvSpPr>
        <p:spPr>
          <a:xfrm>
            <a:off x="6425738" y="2292646"/>
            <a:ext cx="289282" cy="289282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951" y="2367859"/>
            <a:ext cx="138855" cy="1388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93916" y="2281885"/>
            <a:ext cx="1665568" cy="3108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 i="0">
                <a:solidFill>
                  <a:srgbClr val="2B3A38"/>
                </a:solidFill>
                <a:latin typeface="Arial"/>
              </a:rPr>
              <a:t>Base SQL</a:t>
            </a:r>
          </a:p>
        </p:txBody>
      </p:sp>
      <p:sp>
        <p:nvSpPr>
          <p:cNvPr id="26" name="Oval 25"/>
          <p:cNvSpPr/>
          <p:nvPr/>
        </p:nvSpPr>
        <p:spPr>
          <a:xfrm>
            <a:off x="6425738" y="2669378"/>
            <a:ext cx="289282" cy="289282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alc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951" y="2744592"/>
            <a:ext cx="138855" cy="13885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93916" y="2658618"/>
            <a:ext cx="1665568" cy="3108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 i="0">
                <a:solidFill>
                  <a:srgbClr val="2B3A38"/>
                </a:solidFill>
                <a:latin typeface="Arial"/>
              </a:rPr>
              <a:t>Calcul</a:t>
            </a:r>
          </a:p>
        </p:txBody>
      </p:sp>
      <p:sp>
        <p:nvSpPr>
          <p:cNvPr id="29" name="Oval 28"/>
          <p:cNvSpPr/>
          <p:nvPr/>
        </p:nvSpPr>
        <p:spPr>
          <a:xfrm>
            <a:off x="6425738" y="3046111"/>
            <a:ext cx="289282" cy="289282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951" y="3121325"/>
            <a:ext cx="138855" cy="13885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93916" y="3035350"/>
            <a:ext cx="1665568" cy="3108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0" i="0">
                <a:solidFill>
                  <a:srgbClr val="2B3A38"/>
                </a:solidFill>
                <a:latin typeface="Arial"/>
              </a:rPr>
              <a:t>Recherche web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64071" y="2988259"/>
            <a:ext cx="0" cy="470916"/>
          </a:xfrm>
          <a:prstGeom prst="line">
            <a:avLst/>
          </a:prstGeom>
          <a:ln w="25400">
            <a:solidFill>
              <a:srgbClr val="7121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050770" y="3506266"/>
            <a:ext cx="2235367" cy="565099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4601" y="3506266"/>
            <a:ext cx="2147706" cy="5650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A2E2B"/>
                </a:solidFill>
                <a:latin typeface="Arial"/>
              </a:rPr>
              <a:t>« Demain à Belfort : 14 °C et pluie, prévoyez un parapluie. 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6429" y="1481328"/>
            <a:ext cx="2410690" cy="2637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12180"/>
                </a:solidFill>
                <a:latin typeface="Arial"/>
              </a:rPr>
              <a:t>Le principe : </a:t>
            </a:r>
            <a:r>
              <a:rPr sz="1350" b="0" i="0">
                <a:solidFill>
                  <a:srgbClr val="2B3A38"/>
                </a:solidFill>
                <a:latin typeface="Arial"/>
              </a:rPr>
              <a:t>le modèle demande un outil, le programme l'exécute. Un agent répète en boucle.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06824"/>
            <a:ext cx="5259689" cy="329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i="0">
                <a:solidFill>
                  <a:srgbClr val="712180"/>
                </a:solidFill>
                <a:latin typeface="Arial"/>
              </a:rPr>
              <a:t>Des risques à maîtriser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683556"/>
            <a:ext cx="2498352" cy="136565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683556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1572" y="4841135"/>
            <a:ext cx="438307" cy="43830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aExclamationTriang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532" y="4955095"/>
            <a:ext cx="210387" cy="21038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97541" y="4805994"/>
            <a:ext cx="1753229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Hallucinations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572" y="5371094"/>
            <a:ext cx="2279198" cy="6592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 i="0">
                <a:solidFill>
                  <a:srgbClr val="2B3A38"/>
                </a:solidFill>
                <a:latin typeface="Arial"/>
              </a:rPr>
              <a:t>Fausses mais convaincantes.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1287" y="4683556"/>
            <a:ext cx="2498352" cy="136565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31287" y="4683556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462779" y="4841135"/>
            <a:ext cx="438307" cy="43830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aShieldA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6739" y="4955095"/>
            <a:ext cx="210387" cy="21038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988748" y="4805994"/>
            <a:ext cx="1753229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Injection de prompt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2779" y="5371094"/>
            <a:ext cx="2279198" cy="6592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 i="0">
                <a:solidFill>
                  <a:srgbClr val="2B3A38"/>
                </a:solidFill>
                <a:latin typeface="Arial"/>
              </a:rPr>
              <a:t>Un texte piégé détourne le modèle.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22495" y="4683556"/>
            <a:ext cx="2498352" cy="136565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22495" y="4683556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53987" y="4841135"/>
            <a:ext cx="438307" cy="43830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aUserSecr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947" y="4955095"/>
            <a:ext cx="210387" cy="21038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79956" y="4805994"/>
            <a:ext cx="1753229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Confidentialité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3987" y="5371094"/>
            <a:ext cx="2279198" cy="6592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 i="0">
                <a:solidFill>
                  <a:srgbClr val="2B3A38"/>
                </a:solidFill>
                <a:latin typeface="Arial"/>
              </a:rPr>
              <a:t>Les données partent chez le fournisseur.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13703" y="4683556"/>
            <a:ext cx="2498352" cy="1365656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13703" y="4683556"/>
            <a:ext cx="2498352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845195" y="4841135"/>
            <a:ext cx="438307" cy="438307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FaBo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9155" y="4955095"/>
            <a:ext cx="210387" cy="21038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371164" y="4805994"/>
            <a:ext cx="1753229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1" i="0">
                <a:solidFill>
                  <a:srgbClr val="1A2E2B"/>
                </a:solidFill>
                <a:latin typeface="Arial"/>
              </a:rPr>
              <a:t>Coût et énergie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45195" y="5371094"/>
            <a:ext cx="2279198" cy="6592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 i="0">
                <a:solidFill>
                  <a:srgbClr val="2B3A38"/>
                </a:solidFill>
                <a:latin typeface="Arial"/>
              </a:rPr>
              <a:t>Un prix financier et environnemental.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Organisation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Toutes les ressources du cours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6486950" cy="4426610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6486950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6895" y="1890669"/>
            <a:ext cx="876614" cy="876614"/>
          </a:xfrm>
          <a:prstGeom prst="ellipse">
            <a:avLst/>
          </a:prstGeom>
          <a:solidFill>
            <a:srgbClr val="1A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15" y="2118589"/>
            <a:ext cx="420775" cy="420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2663" y="1858060"/>
            <a:ext cx="4909043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2E2B"/>
                </a:solidFill>
                <a:latin typeface="Arial"/>
              </a:rPr>
              <a:t>Le dépôt GitHub du cours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6895" y="3082442"/>
            <a:ext cx="5873319" cy="753465"/>
          </a:xfrm>
          <a:prstGeom prst="rect">
            <a:avLst/>
          </a:prstGeom>
          <a:solidFill>
            <a:srgbClr val="FFFFFF"/>
          </a:solidFill>
          <a:ln w="19050">
            <a:solidFill>
              <a:srgbClr val="00AB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4556" y="3082442"/>
            <a:ext cx="5697996" cy="753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90" b="1" i="0">
                <a:solidFill>
                  <a:srgbClr val="00877A"/>
                </a:solidFill>
                <a:latin typeface="Courier New"/>
              </a:rPr>
              <a:t>github.com/davidlaiymani/IA_BUT3</a:t>
            </a:r>
          </a:p>
        </p:txBody>
      </p:sp>
      <p:sp>
        <p:nvSpPr>
          <p:cNvPr id="13" name="Oval 12"/>
          <p:cNvSpPr/>
          <p:nvPr/>
        </p:nvSpPr>
        <p:spPr>
          <a:xfrm>
            <a:off x="990725" y="4134109"/>
            <a:ext cx="420775" cy="42077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Chalkboard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27" y="4243511"/>
            <a:ext cx="201972" cy="2019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60525" y="4118457"/>
            <a:ext cx="5259689" cy="452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0" i="0">
                <a:solidFill>
                  <a:srgbClr val="2B3A38"/>
                </a:solidFill>
                <a:latin typeface="Arial"/>
              </a:rPr>
              <a:t>Les diapositives du cours</a:t>
            </a:r>
          </a:p>
        </p:txBody>
      </p:sp>
      <p:sp>
        <p:nvSpPr>
          <p:cNvPr id="16" name="Oval 15"/>
          <p:cNvSpPr/>
          <p:nvPr/>
        </p:nvSpPr>
        <p:spPr>
          <a:xfrm>
            <a:off x="990725" y="4718045"/>
            <a:ext cx="420775" cy="42077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Book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27" y="4827447"/>
            <a:ext cx="201972" cy="2019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60525" y="4702393"/>
            <a:ext cx="5259689" cy="452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0" i="0">
                <a:solidFill>
                  <a:srgbClr val="2B3A38"/>
                </a:solidFill>
                <a:latin typeface="Arial"/>
              </a:rPr>
              <a:t>Le cours et l'énoncé de chaque TP</a:t>
            </a:r>
          </a:p>
        </p:txBody>
      </p:sp>
      <p:sp>
        <p:nvSpPr>
          <p:cNvPr id="19" name="Oval 18"/>
          <p:cNvSpPr/>
          <p:nvPr/>
        </p:nvSpPr>
        <p:spPr>
          <a:xfrm>
            <a:off x="990725" y="5301981"/>
            <a:ext cx="420775" cy="420775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Folder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127" y="5411382"/>
            <a:ext cx="201972" cy="2019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60525" y="5286329"/>
            <a:ext cx="5259689" cy="4520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0" i="0">
                <a:solidFill>
                  <a:srgbClr val="2B3A38"/>
                </a:solidFill>
                <a:latin typeface="Arial"/>
              </a:rPr>
              <a:t>Les données et le pense-bête pandas</a:t>
            </a:r>
          </a:p>
        </p:txBody>
      </p:sp>
      <p:pic>
        <p:nvPicPr>
          <p:cNvPr id="22" name="Picture 21" descr="qr_IA_BUT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168" y="1528419"/>
            <a:ext cx="3418798" cy="341879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33845" y="5437022"/>
            <a:ext cx="3769443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1">
                <a:solidFill>
                  <a:srgbClr val="5A6B68"/>
                </a:solidFill>
                <a:latin typeface="Arial"/>
              </a:rPr>
              <a:t>Publié au fil du semestre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b="1" sz="1400">
                <a:solidFill>
                  <a:srgbClr val="00877A"/>
                </a:solidFill>
              </a:rPr>
              <a:t>Organisation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L'évaluation : un projet en binôme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 sz="quarter"/>
          </p:nvPr>
        </p:nvSpPr>
        <p:spPr/>
        <p:txBody>
          <a:bodyPr/>
          <a:p>
            <a:r>
              <a:t>Cours d'IA — BUT 3 informatique | Partie 2 : les notions du semestre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 sz="quarter"/>
          </p:nvPr>
        </p:nvSpPr>
        <p:spPr/>
        <p:txBody>
          <a:bodyPr/>
          <a:p>
            <a:fld id="{B6F15528-21DE-4FAA-801E-634DDDAF4B2B}" type="slidenum">
              <a:rPr lang="fr-FR"/>
              <a:t>24</a:t>
            </a:fld>
          </a:p>
        </p:txBody>
      </p:sp>
      <p:sp>
        <p:nvSpPr>
          <p:cNvPr id="6" name="Rectangle 5"/>
          <p:cNvSpPr/>
          <p:nvPr/>
        </p:nvSpPr>
        <p:spPr>
          <a:xfrm>
            <a:off x="640080" y="1528419"/>
            <a:ext cx="2454521" cy="291967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28419"/>
            <a:ext cx="2454521" cy="64008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5402" y="1731459"/>
            <a:ext cx="394476" cy="394476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402" y="1716786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472864" y="1887408"/>
            <a:ext cx="788953" cy="788953"/>
          </a:xfrm>
          <a:prstGeom prst="ellipse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92" y="2092536"/>
            <a:ext cx="378697" cy="3786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572" y="2846984"/>
            <a:ext cx="2191537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En binôme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402" y="3412083"/>
            <a:ext cx="2103875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Deux étudiants par projet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3367" y="2988259"/>
            <a:ext cx="245452" cy="0"/>
          </a:xfrm>
          <a:prstGeom prst="line">
            <a:avLst/>
          </a:prstGeom>
          <a:ln w="31750">
            <a:solidFill>
              <a:srgbClr val="5A6B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57586" y="1528419"/>
            <a:ext cx="2454521" cy="291967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7586" y="1528419"/>
            <a:ext cx="2454521" cy="64008"/>
          </a:xfrm>
          <a:prstGeom prst="rect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909" y="1731459"/>
            <a:ext cx="394476" cy="394476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909" y="1716786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1A2E2B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4190370" y="1887408"/>
            <a:ext cx="788953" cy="788953"/>
          </a:xfrm>
          <a:prstGeom prst="ellipse">
            <a:avLst/>
          </a:prstGeom>
          <a:solidFill>
            <a:srgbClr val="F4D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Dic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498" y="2092536"/>
            <a:ext cx="378697" cy="3786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89078" y="2846984"/>
            <a:ext cx="2191537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Tirage au 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2909" y="3412083"/>
            <a:ext cx="2103875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Une notion d'IA prédictive</a:t>
            </a:r>
          </a:p>
          <a:p>
            <a:pPr algn="ctr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+ une notion d'IA générative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20873" y="2988259"/>
            <a:ext cx="245453" cy="0"/>
          </a:xfrm>
          <a:prstGeom prst="line">
            <a:avLst/>
          </a:prstGeom>
          <a:ln w="31750">
            <a:solidFill>
              <a:srgbClr val="5A6B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075092" y="1528419"/>
            <a:ext cx="2454521" cy="291967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75092" y="1528419"/>
            <a:ext cx="2454521" cy="64008"/>
          </a:xfrm>
          <a:prstGeom prst="rect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50415" y="1731459"/>
            <a:ext cx="394476" cy="394476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0415" y="1716786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6907876" y="1887408"/>
            <a:ext cx="788953" cy="788953"/>
          </a:xfrm>
          <a:prstGeom prst="ellipse">
            <a:avLst/>
          </a:prstGeom>
          <a:solidFill>
            <a:srgbClr val="ED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004" y="2092536"/>
            <a:ext cx="378697" cy="37869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06584" y="2846984"/>
            <a:ext cx="2191537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Une application web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0415" y="3412083"/>
            <a:ext cx="2103875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Sujet au choix, validé par l'enseignant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38380" y="2988259"/>
            <a:ext cx="245452" cy="0"/>
          </a:xfrm>
          <a:prstGeom prst="line">
            <a:avLst/>
          </a:prstGeom>
          <a:ln w="31750">
            <a:solidFill>
              <a:srgbClr val="5A6B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792598" y="1528419"/>
            <a:ext cx="2454521" cy="2919679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92598" y="1528419"/>
            <a:ext cx="2454521" cy="64008"/>
          </a:xfrm>
          <a:prstGeom prst="rect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7921" y="1731459"/>
            <a:ext cx="394476" cy="394476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7921" y="1716786"/>
            <a:ext cx="394476" cy="423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Oval 36"/>
          <p:cNvSpPr/>
          <p:nvPr/>
        </p:nvSpPr>
        <p:spPr>
          <a:xfrm>
            <a:off x="9625382" y="1887408"/>
            <a:ext cx="788953" cy="788953"/>
          </a:xfrm>
          <a:prstGeom prst="ellipse">
            <a:avLst/>
          </a:prstGeom>
          <a:solidFill>
            <a:srgbClr val="712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ChalkboardTeac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510" y="2092536"/>
            <a:ext cx="378697" cy="37869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24090" y="2846984"/>
            <a:ext cx="2191537" cy="518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20" b="1" i="0">
                <a:solidFill>
                  <a:srgbClr val="1A2E2B"/>
                </a:solidFill>
                <a:latin typeface="Arial"/>
              </a:rPr>
              <a:t>Un cours inversé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7921" y="3412083"/>
            <a:ext cx="2103875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0" i="0">
                <a:solidFill>
                  <a:srgbClr val="2B3A38"/>
                </a:solidFill>
                <a:latin typeface="Arial"/>
              </a:rPr>
              <a:t>Vous présentez vos notions à la classe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683556"/>
            <a:ext cx="10607040" cy="1318564"/>
          </a:xfrm>
          <a:prstGeom prst="rect">
            <a:avLst/>
          </a:prstGeom>
          <a:solidFill>
            <a:srgbClr val="00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3064" y="4683556"/>
            <a:ext cx="10081071" cy="13185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10" b="1" i="0">
                <a:solidFill>
                  <a:srgbClr val="F4D73F"/>
                </a:solidFill>
                <a:latin typeface="Arial"/>
              </a:rPr>
              <a:t>Bien plus qu'une démo : </a:t>
            </a:r>
            <a:r>
              <a:rPr sz="1710" b="0" i="0">
                <a:solidFill>
                  <a:srgbClr val="FFFFFF"/>
                </a:solidFill>
                <a:latin typeface="Arial"/>
              </a:rPr>
              <a:t>vous faites cours à vos camarades sur vos deux notions, en vous appuyant sur votre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Personnalisé 2">
      <a:dk1>
        <a:sysClr val="windowText" lastClr="000000"/>
      </a:dk1>
      <a:lt1>
        <a:srgbClr val="FFFFFF"/>
      </a:lt1>
      <a:dk2>
        <a:srgbClr val="00ABA2"/>
      </a:dk2>
      <a:lt2>
        <a:srgbClr val="D8D8D8"/>
      </a:lt2>
      <a:accent1>
        <a:srgbClr val="00ABA2"/>
      </a:accent1>
      <a:accent2>
        <a:srgbClr val="F4D73F"/>
      </a:accent2>
      <a:accent3>
        <a:srgbClr val="ED5D42"/>
      </a:accent3>
      <a:accent4>
        <a:srgbClr val="712180"/>
      </a:accent4>
      <a:accent5>
        <a:srgbClr val="8EAADB"/>
      </a:accent5>
      <a:accent6>
        <a:srgbClr val="A0C14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ABA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4000" dirty="0" smtClean="0">
            <a:solidFill>
              <a:srgbClr val="231F20"/>
            </a:solidFill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EMTO-ST_Template-2022-public-16-9_v2_mai2023" id="{7CE13D5B-39DC-4CA2-A686-CD63EED9A315}" vid="{B2F97892-9AC1-40FD-ADD4-B1B1EC0B3F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1E96338D5CC0459B028C481A9F05FF" ma:contentTypeVersion="2" ma:contentTypeDescription="Crée un document." ma:contentTypeScope="" ma:versionID="f1d18672dbf647336786c938df3fc39f">
  <xsd:schema xmlns:xsd="http://www.w3.org/2001/XMLSchema" xmlns:xs="http://www.w3.org/2001/XMLSchema" xmlns:p="http://schemas.microsoft.com/office/2006/metadata/properties" xmlns:ns2="1b458390-de54-4209-8752-a47d264ba6a4" targetNamespace="http://schemas.microsoft.com/office/2006/metadata/properties" ma:root="true" ma:fieldsID="9f3b38dd7cbd3ded9193db25029395d6" ns2:_="">
    <xsd:import namespace="1b458390-de54-4209-8752-a47d264ba6a4"/>
    <xsd:element name="properties">
      <xsd:complexType>
        <xsd:sequence>
          <xsd:element name="documentManagement">
            <xsd:complexType>
              <xsd:all>
                <xsd:element ref="ns2:Date_x0020_de_x0020_publication" minOccurs="0"/>
                <xsd:element ref="ns2:Observation_x0028_s_x0029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58390-de54-4209-8752-a47d264ba6a4" elementFormDefault="qualified">
    <xsd:import namespace="http://schemas.microsoft.com/office/2006/documentManagement/types"/>
    <xsd:import namespace="http://schemas.microsoft.com/office/infopath/2007/PartnerControls"/>
    <xsd:element name="Date_x0020_de_x0020_publication" ma:index="8" nillable="true" ma:displayName="Date de parution" ma:format="DateOnly" ma:internalName="Date_x0020_de_x0020_publication">
      <xsd:simpleType>
        <xsd:restriction base="dms:DateTime"/>
      </xsd:simpleType>
    </xsd:element>
    <xsd:element name="Observation_x0028_s_x0029_" ma:index="9" nillable="true" ma:displayName="Observation(s)" ma:internalName="Observation_x0028_s_x0029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_x0020_de_x0020_publication xmlns="1b458390-de54-4209-8752-a47d264ba6a4" xsi:nil="true"/>
    <Observation_x0028_s_x0029_ xmlns="1b458390-de54-4209-8752-a47d264ba6a4" xsi:nil="true"/>
  </documentManagement>
</p:properties>
</file>

<file path=customXml/itemProps1.xml><?xml version="1.0" encoding="utf-8"?>
<ds:datastoreItem xmlns:ds="http://schemas.openxmlformats.org/officeDocument/2006/customXml" ds:itemID="{0BFE559F-77E4-46C6-9E01-F9A64F23DA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528BA6-4CCD-4DA8-8983-9334A8F4B5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458390-de54-4209-8752-a47d264ba6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25A7F9-7485-4FB5-9FB5-35CC2E8031ED}">
  <ds:schemaRefs>
    <ds:schemaRef ds:uri="http://schemas.microsoft.com/office/2006/metadata/properties"/>
    <ds:schemaRef ds:uri="http://schemas.microsoft.com/office/infopath/2007/PartnerControls"/>
    <ds:schemaRef ds:uri="1b458390-de54-4209-8752-a47d264ba6a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FEMTO-ST_Template-2022-public-16-9_v2_dec2023(1)</Template>
  <TotalTime>3</TotalTime>
  <Words>45</Words>
  <Application>Microsoft Office PowerPoint</Application>
  <PresentationFormat>Grand écran</PresentationFormat>
  <Paragraphs>10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Sandrine QUARROZ</dc:creator>
  <cp:lastModifiedBy>Sandrine QUARROZ</cp:lastModifiedBy>
  <cp:revision>2</cp:revision>
  <dcterms:created xsi:type="dcterms:W3CDTF">2025-01-30T09:26:16Z</dcterms:created>
  <dcterms:modified xsi:type="dcterms:W3CDTF">2025-01-30T15:22:22Z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0x010100311E96338D5CC0459B028C481A9F05FF</vt:lpwstr>
  </property>
</Properties>
</file>