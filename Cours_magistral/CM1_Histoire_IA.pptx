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
  </p:notesMasterIdLst>
  <p:handoutMasterIdLst>
    <p:handoutMasterId r:id="rId12"/>
  </p:handoutMasterIdLst>
  <p:sldIdLst>
    <p:sldId id="256" r:id="rId10"/>
    <p:sldId id="257" r:id="rId9"/>
    <p:sldId id="258" r:id="rId8"/>
    <p:sldId id="259" r:id="rId7"/>
    <p:sldId id="260" r:id="rId6"/>
    <p:sldId id="261" r:id="rId5"/>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1" autoAdjust="0"/>
    <p:restoredTop sz="95934"/>
  </p:normalViewPr>
  <p:slideViewPr>
    <p:cSldViewPr snapToGrid="0" snapToObjects="1">
      <p:cViewPr>
        <p:scale>
          <a:sx n="66" d="100"/>
          <a:sy n="66" d="100"/>
        </p:scale>
        <p:origin x="1253" y="701"/>
      </p:cViewPr>
      <p:guideLst/>
    </p:cSldViewPr>
  </p:slideViewPr>
  <p:notesTextViewPr>
    <p:cViewPr>
      <p:scale>
        <a:sx n="1" d="1"/>
        <a:sy n="1" d="1"/>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A2E2B"/>
                </a:solidFill>
                <a:latin typeface="Arial"/>
              </a:rPr>
              <a:t>Taux d'erreur au concours ImageNet (%)</a:t>
            </a:r>
          </a:p>
        </c:rich>
      </c:tx>
      <c:layout/>
      <c:overlay val="0"/>
    </c:title>
    <c:autoTitleDeleted val="0"/>
    <c:plotArea>
      <c:barChart>
        <c:barDir val="col"/>
        <c:grouping val="clustered"/>
        <c:ser>
          <c:idx val="0"/>
          <c:order val="0"/>
          <c:tx>
            <c:strRef>
              <c:f>Sheet1!$B$1</c:f>
              <c:strCache>
                <c:ptCount val="1"/>
                <c:pt idx="0">
                  <c:v>s</c:v>
                </c:pt>
              </c:strCache>
            </c:strRef>
          </c:tx>
          <c:spPr>
            <a:solidFill>
              <a:srgbClr val="A0C145"/>
            </a:solidFill>
          </c:spPr>
          <c:cat>
            <c:strRef>
              <c:f>Sheet1!$A$2:$A$7</c:f>
              <c:strCache>
                <c:ptCount val="6"/>
                <c:pt idx="0">
                  <c:v>2010</c:v>
                </c:pt>
                <c:pt idx="1">
                  <c:v>2011</c:v>
                </c:pt>
                <c:pt idx="2">
                  <c:v>2012</c:v>
                </c:pt>
                <c:pt idx="3">
                  <c:v>2013</c:v>
                </c:pt>
                <c:pt idx="4">
                  <c:v>2014</c:v>
                </c:pt>
                <c:pt idx="5">
                  <c:v>2015</c:v>
                </c:pt>
              </c:strCache>
            </c:strRef>
          </c:cat>
          <c:val>
            <c:numRef>
              <c:f>Sheet1!$B$2:$B$7</c:f>
              <c:numCache>
                <c:formatCode>General</c:formatCode>
                <c:ptCount val="6"/>
                <c:pt idx="0">
                  <c:v>28.2</c:v>
                </c:pt>
                <c:pt idx="1">
                  <c:v>25.8</c:v>
                </c:pt>
                <c:pt idx="2">
                  <c:v>16.4</c:v>
                </c:pt>
                <c:pt idx="3">
                  <c:v>11.7</c:v>
                </c:pt>
                <c:pt idx="4">
                  <c:v>6.7</c:v>
                </c:pt>
                <c:pt idx="5">
                  <c:v>3.6</c:v>
                </c:pt>
              </c:numCache>
            </c:numRef>
          </c:val>
        </c:ser>
        <c:dLbls>
          <c:numFmt formatCode="0.0" sourceLinked="0"/>
          <c:txPr>
            <a:bodyPr/>
            <a:lstStyle/>
            <a:p>
              <a:pPr>
                <a:defRPr sz="1100">
                  <a:solidFill>
                    <a:srgbClr val="1A2E2B"/>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9D6D4"/>
            </a:solidFill>
          </a:ln>
        </c:spPr>
        <c:txPr>
          <a:bodyPr/>
          <a:lstStyle/>
          <a:p>
            <a:pPr>
              <a:defRPr sz="1200">
                <a:solidFill>
                  <a:srgbClr val="1A2E2B"/>
                </a:solidFill>
              </a:defRPr>
            </a:pPr>
          </a:p>
        </c:txPr>
        <c:crossAx val="-2113994440"/>
        <c:crosses val="autoZero"/>
        <c:auto val="1"/>
        <c:lblAlgn val="ctr"/>
        <c:lblOffset val="100"/>
        <c:noMultiLvlLbl val="0"/>
      </c:catAx>
      <c:valAx>
        <c:axId val="-2113994440"/>
        <c:scaling>
          <c:max val="32.0"/>
          <c:min val="0.0"/>
        </c:scaling>
        <c:delete val="0"/>
        <c:axPos val="l"/>
        <c:majorGridlines>
          <c:spPr>
            <a:ln>
              <a:solidFill>
                <a:srgbClr val="E0E8E7"/>
              </a:solidFill>
            </a:ln>
          </c:spPr>
        </c:majorGridlines>
        <c:majorTickMark val="out"/>
        <c:minorTickMark val="none"/>
        <c:tickLblPos val="nextTo"/>
        <c:spPr>
          <a:ln>
            <a:noFill/>
          </a:ln>
        </c:spPr>
        <c:txPr>
          <a:bodyPr/>
          <a:lstStyle/>
          <a:p>
            <a:pPr>
              <a:defRPr sz="1000">
                <a:solidFill>
                  <a:srgbClr val="5A6B68"/>
                </a:solidFill>
              </a:defRPr>
            </a:pPr>
          </a:p>
        </c:txPr>
        <c:crossAx val="-2068027336"/>
        <c:crosses val="autoZero"/>
      </c:valAx>
    </c:plotArea>
    <c:dispBlanksAs val="gap"/>
  </c:chart>
  <c:txPr>
    <a:bodyPr/>
    <a:lstStyle/>
    <a:p>
      <a:pPr>
        <a:defRPr sz="1100">
          <a:solidFill>
            <a:srgbClr val="2B3A3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spPr>
            <a:solidFill>
              <a:srgbClr val="712180"/>
            </a:solidFill>
          </c:spPr>
          <c:cat>
            <c:strRef>
              <c:f>Sheet1!$A$2:$A$6</c:f>
              <c:strCache>
                <c:ptCount val="5"/>
                <c:pt idx="0">
                  <c:v>canapé</c:v>
                </c:pt>
                <c:pt idx="1">
                  <c:v>lit</c:v>
                </c:pt>
                <c:pt idx="2">
                  <c:v>tapis</c:v>
                </c:pt>
                <c:pt idx="3">
                  <c:v>toit</c:v>
                </c:pt>
                <c:pt idx="4">
                  <c:v>radiateur</c:v>
                </c:pt>
              </c:strCache>
            </c:strRef>
          </c:cat>
          <c:val>
            <c:numRef>
              <c:f>Sheet1!$B$2:$B$6</c:f>
              <c:numCache>
                <c:formatCode>General</c:formatCode>
                <c:ptCount val="5"/>
                <c:pt idx="0">
                  <c:v>0.41</c:v>
                </c:pt>
                <c:pt idx="1">
                  <c:v>0.23</c:v>
                </c:pt>
                <c:pt idx="2">
                  <c:v>0.17</c:v>
                </c:pt>
                <c:pt idx="3">
                  <c:v>0.08</c:v>
                </c:pt>
                <c:pt idx="4">
                  <c:v>0.05</c:v>
                </c:pt>
              </c:numCache>
            </c:numRef>
          </c:val>
        </c:ser>
        <c:dLbls>
          <c:numFmt formatCode="0%" sourceLinked="0"/>
          <c:txPr>
            <a:bodyPr/>
            <a:lstStyle/>
            <a:p>
              <a:pPr>
                <a:defRPr sz="1100">
                  <a:solidFill>
                    <a:srgbClr val="1A2E2B"/>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6D4"/>
            </a:solidFill>
          </a:ln>
        </c:spPr>
        <c:txPr>
          <a:bodyPr/>
          <a:lstStyle/>
          <a:p>
            <a:pPr>
              <a:defRPr sz="1200">
                <a:solidFill>
                  <a:srgbClr val="1A2E2B"/>
                </a:solidFill>
              </a:defRPr>
            </a:pPr>
          </a:p>
        </c:txPr>
        <c:crossAx val="-2113994440"/>
        <c:crosses val="autoZero"/>
        <c:auto val="1"/>
        <c:lblAlgn val="ctr"/>
        <c:lblOffset val="100"/>
        <c:noMultiLvlLbl val="0"/>
      </c:catAx>
      <c:valAx>
        <c:axId val="-2113994440"/>
        <c:scaling>
          <c:max val="0.5"/>
          <c:min val="0.0"/>
        </c:scaling>
        <c:delete/>
        <c:axPos val="b"/>
        <c:majorTickMark val="out"/>
        <c:minorTickMark val="none"/>
        <c:tickLblPos val="nextTo"/>
        <c:crossAx val="-2068027336"/>
        <c:crosses val="autoZero"/>
      </c:valAx>
    </c:plotArea>
    <c:dispBlanksAs val="gap"/>
  </c:chart>
  <c:txPr>
    <a:bodyPr/>
    <a:lstStyle/>
    <a:p>
      <a:pPr>
        <a:defRPr sz="1100">
          <a:solidFill>
            <a:srgbClr val="2B3A3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A2E2B"/>
                </a:solidFill>
                <a:latin typeface="Arial"/>
              </a:rPr>
              <a:t>Mois nécessaires pour atteindre 100 millions d'utilisateurs</a:t>
            </a:r>
          </a:p>
        </c:rich>
      </c:tx>
      <c:layout/>
      <c:overlay val="0"/>
    </c:title>
    <c:autoTitleDeleted val="0"/>
    <c:plotArea>
      <c:barChart>
        <c:barDir val="bar"/>
        <c:grouping val="clustered"/>
        <c:ser>
          <c:idx val="0"/>
          <c:order val="0"/>
          <c:tx>
            <c:strRef>
              <c:f>Sheet1!$B$1</c:f>
              <c:strCache>
                <c:ptCount val="1"/>
                <c:pt idx="0">
                  <c:v>s</c:v>
                </c:pt>
              </c:strCache>
            </c:strRef>
          </c:tx>
          <c:spPr>
            <a:solidFill>
              <a:srgbClr val="712180"/>
            </a:solidFill>
          </c:spPr>
          <c:cat>
            <c:strRef>
              <c:f>Sheet1!$A$2:$A$5</c:f>
              <c:strCache>
                <c:ptCount val="4"/>
                <c:pt idx="0">
                  <c:v>ChatGPT</c:v>
                </c:pt>
                <c:pt idx="1">
                  <c:v>TikTok</c:v>
                </c:pt>
                <c:pt idx="2">
                  <c:v>Instagram</c:v>
                </c:pt>
                <c:pt idx="3">
                  <c:v>Facebook</c:v>
                </c:pt>
              </c:strCache>
            </c:strRef>
          </c:cat>
          <c:val>
            <c:numRef>
              <c:f>Sheet1!$B$2:$B$5</c:f>
              <c:numCache>
                <c:formatCode>General</c:formatCode>
                <c:ptCount val="4"/>
                <c:pt idx="0">
                  <c:v>2</c:v>
                </c:pt>
                <c:pt idx="1">
                  <c:v>9</c:v>
                </c:pt>
                <c:pt idx="2">
                  <c:v>30</c:v>
                </c:pt>
                <c:pt idx="3">
                  <c:v>54</c:v>
                </c:pt>
              </c:numCache>
            </c:numRef>
          </c:val>
        </c:ser>
        <c:dLbls>
          <c:numFmt formatCode="0" sourceLinked="0"/>
          <c:txPr>
            <a:bodyPr/>
            <a:lstStyle/>
            <a:p>
              <a:pPr>
                <a:defRPr sz="1100">
                  <a:solidFill>
                    <a:srgbClr val="1A2E2B"/>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6D4"/>
            </a:solidFill>
          </a:ln>
        </c:spPr>
        <c:txPr>
          <a:bodyPr/>
          <a:lstStyle/>
          <a:p>
            <a:pPr>
              <a:defRPr sz="1200">
                <a:solidFill>
                  <a:srgbClr val="1A2E2B"/>
                </a:solidFill>
              </a:defRPr>
            </a:pPr>
          </a:p>
        </c:txPr>
        <c:crossAx val="-2113994440"/>
        <c:crosses val="autoZero"/>
        <c:auto val="1"/>
        <c:lblAlgn val="ctr"/>
        <c:lblOffset val="100"/>
        <c:noMultiLvlLbl val="0"/>
      </c:catAx>
      <c:valAx>
        <c:axId val="-2113994440"/>
        <c:scaling>
          <c:max val="62.0"/>
          <c:min val="0.0"/>
        </c:scaling>
        <c:delete/>
        <c:axPos val="b"/>
        <c:majorTickMark val="out"/>
        <c:minorTickMark val="none"/>
        <c:tickLblPos val="nextTo"/>
        <c:crossAx val="-2068027336"/>
        <c:crosses val="autoZero"/>
      </c:valAx>
    </c:plotArea>
    <c:dispBlanksAs val="gap"/>
  </c:chart>
  <c:txPr>
    <a:bodyPr/>
    <a:lstStyle/>
    <a:p>
      <a:pPr>
        <a:defRPr sz="1100">
          <a:solidFill>
            <a:srgbClr val="2B3A38"/>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402B0A2-3364-EF44-AFC1-B05DE05F82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4ABD9D6-9EEB-4B49-9C81-9626DAFCB8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105B58-CDC5-0B43-82BE-E9E87CFAE449}" type="datetimeFigureOut">
              <a:rPr lang="fr-FR" smtClean="0"/>
              <a:t>30/01/2025</a:t>
            </a:fld>
            <a:endParaRPr lang="fr-FR"/>
          </a:p>
        </p:txBody>
      </p:sp>
      <p:sp>
        <p:nvSpPr>
          <p:cNvPr id="4" name="Espace réservé du pied de page 3">
            <a:extLst>
              <a:ext uri="{FF2B5EF4-FFF2-40B4-BE49-F238E27FC236}">
                <a16:creationId xmlns:a16="http://schemas.microsoft.com/office/drawing/2014/main" id="{45DC3110-15E1-9047-9623-5C07133D65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7D81F08-24D0-6743-B8E8-5A5347A39E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88C34F-E734-7B48-91FF-D5A62468551C}" type="slidenum">
              <a:rPr lang="fr-FR" smtClean="0"/>
              <a:t>‹N°›</a:t>
            </a:fld>
            <a:endParaRPr lang="fr-FR"/>
          </a:p>
        </p:txBody>
      </p:sp>
    </p:spTree>
    <p:extLst>
      <p:ext uri="{BB962C8B-B14F-4D97-AF65-F5344CB8AC3E}">
        <p14:creationId xmlns:p14="http://schemas.microsoft.com/office/powerpoint/2010/main" val="1764836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C7BC21-B374-3441-A049-915BD53149BC}" type="datetimeFigureOut">
              <a:rPr lang="fr-FR" smtClean="0"/>
              <a:t>30/01/2025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5EEAD-BC61-F64F-B74B-009758B646E9}" type="slidenum">
              <a:rPr lang="fr-FR" smtClean="0"/>
              <a:t>‹N°›</a:t>
            </a:fld>
            <a:endParaRPr lang="fr-FR"/>
          </a:p>
        </p:txBody>
      </p:sp>
    </p:spTree>
    <p:extLst>
      <p:ext uri="{BB962C8B-B14F-4D97-AF65-F5344CB8AC3E}">
        <p14:creationId xmlns:p14="http://schemas.microsoft.com/office/powerpoint/2010/main" val="97600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totale de la partie : 35 à 40 minutes.</a:t>
            </a:r>
          </a:p>
          <a:p/>
          <a:p>
            <a:r>
              <a:t>Objectif : donner aux étudiants une vision d'ensemble de l'IA, de ses origines à aujourd'hui, pour situer ce qu'ils feront en TP. Chaque époque a une couleur, que l'on retrouve sur la frise, sur les intercalaires et dans les cartes.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a:t>
            </a:r>
          </a:p>
          <a:p/>
          <a:p>
            <a:r>
              <a:t>Annoncer le plan : six époques, entrecoupées de deux « hivers de l'IA » (périodes de désillusion). Insister sur le fil rouge : l'histoire de l'IA est largement celle du passage de règles écrites à la main à des modèles qui apprennent à partir de données. C'est exactement ce que les étudiants pratiqueront en TP.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Demander d'abord aux étudiants leur propre définition de l'IA.</a:t>
            </a:r>
          </a:p>
          <a:p/>
          <a:p>
            <a:r>
              <a:t>Le schéma est essentiel pour la suite du cours :</a:t>
            </a:r>
          </a:p>
          <a:p>
            <a:r>
              <a:t>- l'IA est le domaine général ;</a:t>
            </a:r>
          </a:p>
          <a:p>
            <a:r>
              <a:t>- l'apprentissage automatique (machine learning) est la partie de l'IA où la machine apprend à partir de données au lieu d'être programmée règle par règle ;</a:t>
            </a:r>
          </a:p>
          <a:p>
            <a:r>
              <a:t>- le deep learning est une famille de méthodes d'apprentissage automatique fondée sur des réseaux de neurones à nombreuses couches ;</a:t>
            </a:r>
          </a:p>
          <a:p>
            <a:r>
              <a:t>- l'IA générative (ChatGPT, Midjourney…) est une application récente du deep learning.</a:t>
            </a:r>
          </a:p>
          <a:p/>
          <a:p>
            <a:r>
              <a:t>« Cible mouvante » : c'est l'« effet IA » (AI effect) : dès qu'un problème est résolu, il n'est plus considéré comme de l'intelligence.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Question à la salle : « Combien de fois avez-vous utilisé une IA depuis ce matin ? » La plupart sous-estiment : filtre anti-spam, fil d'actualité, clavier prédictif, GPS, déverrouillage du téléphone…</a:t>
            </a:r>
          </a:p>
          <a:p/>
          <a:p>
            <a:r>
              <a:t>Message : l'IA n'est pas seulement ChatGPT ; l'essentiel des IA en production sont des modèles d'apprentissage automatique « classiques », invisibles, comme ceux que nous verrons en TP.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a:t>
            </a:r>
          </a:p>
          <a:p/>
          <a:p>
            <a:r>
              <a:t>Vue d'ensemble avant d'entrer dans le détail. Faire remarquer :</a:t>
            </a:r>
          </a:p>
          <a:p>
            <a:r>
              <a:t>- l'histoire n'est pas linéaire : des phases d'enthousiasme suivies de déceptions (les hivers) ;</a:t>
            </a:r>
          </a:p>
          <a:p>
            <a:r>
              <a:t>- l'accélération spectaculaire depuis 2012 ;</a:t>
            </a:r>
          </a:p>
          <a:p>
            <a:r>
              <a:t>- les couleurs des époques, qu'on retrouvera sur les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Transition : on remonte aux années 1940, avant même les premiers ordinateurs commerciaux.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1943 : le neurone formel est une idée de biologistes/logiciens, bien avant qu'on sache l'implémenter efficacement. Insister sur le schéma : entrées × poids, somme, seuil. C'est la brique de base de tous les réseaux de neurones, y compris les grands modèles de langage actuels : on la retrouvera en 1958, 1986, 2012 et 2017.</a:t>
            </a:r>
          </a:p>
          <a:p/>
          <a:p>
            <a:r>
              <a:t>1950 : Turing (mathématicien britannique, père de l'informatique théorique) publie « Computing Machinery and Intelligence ».</a:t>
            </a:r>
          </a:p>
          <a:p/>
          <a:p>
            <a:r>
              <a:t>1956 : le séminaire d'été de Dartmouth (New Hampshire) est considéré comme l'acte de naissance du domaine ; John McCarthy y impose le terme « artificial intelligence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Turing appelle ce test le « jeu de l'imitation ». Détail amusant : la troisième question du schéma est un piège classique ; une machine trop rapide ou trop exacte se trahit, elle doit donc parfois imiter nos faiblesses.</a:t>
            </a:r>
          </a:p>
          <a:p/>
          <a:p>
            <a:r>
              <a:t>Ouvrir la discussion : un programme qui imite parfaitement une conversation est-il intelligent ? On reviendra sur cette question avec ELIZA (1966) puis avec ChatGPT : l'illusion de compréhension est un fil rouge de l'histoire de l'IA.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Après Dartmouth, vingt ans d'enthousiasme et de financements généreux, surtout militaires (guerre froide).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Logic Theorist est souvent considéré comme le premier programme d'IA : il démontre des théorèmes des Principia Mathematica de Russell et Whitehead.</a:t>
            </a:r>
          </a:p>
          <a:p/>
          <a:p>
            <a:r>
              <a:t>Le Perceptron (Rosenblatt, 1957-1958) est la première machine qui apprend : c'est un neurone formel dont les poids s'ajustent automatiquement. Le New York Times annonce alors une machine qui pourra bientôt marcher, parler et être consciente d'elle-même !</a:t>
            </a:r>
          </a:p>
          <a:p/>
          <a:p>
            <a:r>
              <a:t>Arthur Samuel : premier programme qui apprend par l'expérience ; il finit par battre son créateur. C'est lui qui popularise le terme « machine learning » (1959).</a:t>
            </a:r>
          </a:p>
          <a:p/>
          <a:p>
            <a:r>
              <a:t>L'optimisme des chercheurs est immense, ce qui prépare la désillusion.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ELIZA (1964-1966) simule un psychothérapeute rogérien, qui relance le patient en reformulant ses phrases : un contexte idéal pour masquer l'absence de compréhension.</a:t>
            </a:r>
          </a:p>
          <a:p/>
          <a:p>
            <a:r>
              <a:t>Anecdote : la secrétaire de Weizenbaum lui aurait demandé de quitter la pièce pour parler « en privé » avec ELIZA. Weizenbaum est devenu ensuite un critique de l'IA.</a:t>
            </a:r>
          </a:p>
          <a:p/>
          <a:p>
            <a:r>
              <a:t>Faire le lien avec aujourd'hui : les chatbots modernes sont incomparablement plus puissants, mais le biais humain qui consiste à leur prêter des intentions est le même.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Trois causes à retenir : promesses excessives, limites mathématiques, manque de puissance de calcul.</a:t>
            </a:r>
          </a:p>
          <a:p/>
          <a:p>
            <a:r>
              <a:t>Le « OU exclusif » (XOR) : la sortie vaut 1 si exactement une des deux entrées vaut 1. Sur le petit schéma, les points pleins (sortie 1) sont sur une diagonale, les points vides sur l'autre : aucune droite ne peut les séparer. Or un perceptron à une couche ne sait tracer qu'une droite. La solution (plusieurs couches de neurones) existait en théorie, mais on ne savait pas encore les entraîner : il faudra attendre 1986.</a:t>
            </a:r>
          </a:p>
          <a:p/>
          <a:p>
            <a:r>
              <a:t>Explosion combinatoire : aux échecs, le nombre de parties possibles dépasse de loin le nombre d'atomes de l'univers ; tout explorer est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Au début des années 1980, l'IA renaît avec une approche pragmatique et commerciale.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30.</a:t>
            </a:r>
          </a:p>
          <a:p/>
          <a:p>
            <a:r>
              <a:t>Idée : plutôt que de viser une intelligence générale, on se concentre sur un domaine précis et on « code » le savoir d'un expert sous forme de règles SI… ALORS…. Un moteur d'inférence enchaîne les règles pour aboutir à une conclusion, et peut expliquer son raisonnement (« j'ai conclu X parce que les règles 12 et 37 s'appliquaient ») : un atout majeur.</a:t>
            </a:r>
          </a:p>
          <a:p/>
          <a:p>
            <a:r>
              <a:t>MYCIN n'a jamais été utilisé en pratique (questions de responsabilité juridique et d'intégration à l'hôpital), mais il a démontré la faisabilité. XCON a été le grand succès commercial : les entreprises investissent massivement, le Japon lance un grand programme national (« ordinateurs de cinquième génération », 1982).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a:t>
            </a:r>
          </a:p>
          <a:p/>
          <a:p>
            <a:r>
              <a:t>Les systèmes experts atteignent leurs limites : ils sont chers, fragiles hors de leur domaine et incapables d'apprendre. En 1987, les « machines LISP » (ordinateurs spécialisés pour l'IA) sont balayées par les stations de travail et PC généralistes.</a:t>
            </a:r>
          </a:p>
          <a:p/>
          <a:p>
            <a:r>
              <a:t>Mais la leçon est fondamentale et prépare la suite : pour reconnaître un chat, personne ne sait écrire les règles (« un chat a deux oreilles pointues… » ne marche pas). En revanche, on peut facilement fournir des milliers de photos de chats. D'où l'idée de l'apprentissage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min — diapositive clé du cours.</a:t>
            </a:r>
          </a:p>
          <a:p/>
          <a:p>
            <a:r>
              <a:t>Programmation classique : le développeur écrit les règles ; la machine les applique aux données pour produire des réponses.</a:t>
            </a:r>
          </a:p>
          <a:p/>
          <a:p>
            <a:r>
              <a:t>Apprentissage automatique : on fournit des données ET les réponses attendues (les étiquettes) ; l'algorithme en déduit les règles, c'est-à-dire un modèle, qu'on appliquera ensuite à de nouvelles données.</a:t>
            </a:r>
          </a:p>
          <a:p/>
          <a:p>
            <a:r>
              <a:t>L'exemple du filtre anti-spam est parlant pour des informaticiens : maintenir des règles à la main est une course sans fin, alors qu'un modèle entraîné sur des exemples s'adapte.</a:t>
            </a:r>
          </a:p>
          <a:p/>
          <a:p>
            <a:r>
              <a:t>Annoncer que c'est exactement ce qu'ils feront en TP : fournir des données à un algorithme (K-Means, arbres, XGBoost…) pour qu'il en tire un modèle.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Des années 1990 à 2011, l'apprentissage automatique s'impose, souvent sans que le grand public le sache.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30.</a:t>
            </a:r>
          </a:p>
          <a:p/>
          <a:p>
            <a:r>
              <a:t>1986 : la rétro-propagation du gradient permet enfin d'entraîner des réseaux à plusieurs couches (la réponse au problème du XOR de 1969). Geoffrey Hinton recevra le prix Nobel de physique en 2024 avec John Hopfield pour ces travaux fondateurs.</a:t>
            </a:r>
          </a:p>
          <a:p/>
          <a:p>
            <a:r>
              <a:t>LeNet : Yann LeCun, chercheur français, crée les réseaux convolutifs, ancêtres des modèles de vision actuels. Il recevra le prix Turing en 2018 avec Hinton et Bengio.</a:t>
            </a:r>
          </a:p>
          <a:p/>
          <a:p>
            <a:r>
              <a:t>Années 1990-2000 : les méthodes « statistiques » (SVM, arbres, forêts aléatoires, boosting) dominent, car les réseaux de neurones restent difficiles à entraîner faute de données et de puissance.</a:t>
            </a:r>
          </a:p>
          <a:p/>
          <a:p>
            <a:r>
              <a:t>Netflix Prize : exemple parfait de problème de recommandation ; la solution gagnante combinait des centaines de modèles.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Les réseaux de neurones, marginalisés pendant vingt ans, reviennent au premier plan à partir de 2012.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Les idées des réseaux de neurones existaient depuis les années 1980. Ce qui change vers 2010 :</a:t>
            </a:r>
          </a:p>
          <a:p>
            <a:r>
              <a:t>1. Les données : ImageNet, lancé par Fei-Fei Li (Stanford), rassemble plus de 14 millions d'images annotées par des milliers de travailleurs en ligne.</a:t>
            </a:r>
          </a:p>
          <a:p>
            <a:r>
              <a:t>2. Le calcul : les GPU, développés pour le jeu vidéo (calculs matriciels massivement parallèles), accélèrent l'entraînement d'un facteur 10 à 100. AlexNet a été entraîné en environ une semaine sur deux cartes graphiques grand public.</a:t>
            </a:r>
          </a:p>
          <a:p>
            <a:r>
              <a:t>3. Les algorithmes : fonctions d'activation ReLU, dropout, meilleures initialisations…</a:t>
            </a:r>
          </a:p>
          <a:p/>
          <a:p>
            <a:r>
              <a:t>Message : les progrès de l'IA dépendent autant des données et du matériel que des idées.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Le graphique montre le taux d'erreur « top-5 » du vainqueur de chaque édition du concours ILSVRC (ImageNet Large Scale Visual Recognition Challenge). Jusqu'en 2011, les progrès sont lents, avec des méthodes de vision « à la main ». En 2012, AlexNet passe à 16,4 % contre 25,8 % l'année précédente.</a:t>
            </a:r>
          </a:p>
          <a:p/>
          <a:p>
            <a:r>
              <a:t>Le chiffre de 5 % pour l'humain vient d'une expérience d'Andrej Karpathy (2014) : c'est une estimation sur une tâche particulière, pas une preuve que la machine « voit mieux » que nous en général.</a:t>
            </a:r>
          </a:p>
          <a:p/>
          <a:p>
            <a:r>
              <a:t>Ilya Sutskever, co-auteur d'AlexNet, co-fondera OpenAI trois ans plus tard.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 Profond » fait simplement référence au nombre de couches du réseau.</a:t>
            </a:r>
          </a:p>
          <a:p/>
          <a:p>
            <a:r>
              <a:t>Avant le deep learning, les experts en vision concevaient à la main des « descripteurs » (détecteurs de coins, de textures…). Le deep learning apprend lui-même ces descripteurs : c'est l'apprentissage de représentations. On retrouve le fil rouge : on remplace ce qui était écrit à la main par ce qui est appris.</a:t>
            </a:r>
          </a:p>
          <a:p/>
          <a:p>
            <a:r>
              <a:t>La progression contours → formes → parties d'objets a été observée en visualisant les neurones de réseaux entraînés.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30.</a:t>
            </a:r>
          </a:p>
          <a:p/>
          <a:p>
            <a:r>
              <a:t>Deux victoires contre des champions du monde, mais deux philosophies opposées :</a:t>
            </a:r>
          </a:p>
          <a:p>
            <a:r>
              <a:t>- Deep Blue est l'aboutissement de l'IA symbolique et de la puissance de calcul : une fonction d'évaluation écrite à la main et une recherche massive.</a:t>
            </a:r>
          </a:p>
          <a:p>
            <a:r>
              <a:t>- AlphaGo combine réseaux de neurones profonds et apprentissage par renforcement (apprendre en jouant, en étant récompensé quand on gagne). Au go, le nombre de positions rend la force brute inenvisageable : il faut une forme d'« intuition » apprise.</a:t>
            </a:r>
          </a:p>
          <a:p/>
          <a:p>
            <a:r>
              <a:t>Le « coup 37 » de la deuxième partie contre Lee Sedol a stupéfié les commentateurs, qui l'ont d'abord pris pour une erreur. Son successeur, AlphaZero (2017), apprend uniquement en jouant contre lui-même, sans aucune partie humaine.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a:t>
            </a:r>
          </a:p>
          <a:p/>
          <a:p>
            <a:r>
              <a:t>Passer rapidement : l'idée est de montrer l'étendue des applications en quelques années.</a:t>
            </a:r>
          </a:p>
          <a:p/>
          <a:p>
            <a:r>
              <a:t>AlphaFold (DeepMind) : la structure 3D d'une protéine détermine sa fonction ; la déterminer expérimentalement pouvait prendre des années. Demis Hassabis et John Jumper ont reçu le prix Nobel de chimie 2024 (avec David Baker, pour la conception de protéines).</a:t>
            </a:r>
          </a:p>
          <a:p/>
          <a:p>
            <a:r>
              <a:t>Deepfakes : premier signe que la puissance de ces modèles pose des questions éthiques et sociétales, thème que l'on retrouvera à la fin.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Depuis 2017, les modèles ne se contentent plus de reconnaître : ils génèrent du texte, des images, du son, du code.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min — deuxième diapositive clé.</a:t>
            </a:r>
          </a:p>
          <a:p/>
          <a:p>
            <a:r>
              <a:t>Démystifier ChatGPT : c'est un modèle qui, étant donné un début de texte, calcule la probabilité de chaque mot possible pour la suite. En pratique, il travaille sur des « tokens » (morceaux de mots) plutôt que sur des mots entiers.</a:t>
            </a:r>
          </a:p>
          <a:p/>
          <a:p>
            <a:r>
              <a:t>L'architecture sous-jacente est le Transformer, inventé chez Google en 2017 (article « Attention Is All You Need ») : son mécanisme d'« attention » permet de tenir compte de tout le contexte, même éloigné.</a:t>
            </a:r>
          </a:p>
          <a:p/>
          <a:p>
            <a:r>
              <a:t>L'affinage par retour humain (RLHF) transforme un simple « compléteur de texte » en assistant conversationnel.</a:t>
            </a:r>
          </a:p>
          <a:p/>
          <a:p>
            <a:r>
              <a:t>Conséquence importante : comme le modèle produit du texte plausible, il peut affirmer des choses fausses avec aplomb. On parle d'« hallucinations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30.</a:t>
            </a:r>
          </a:p>
          <a:p/>
          <a:p>
            <a:r>
              <a:t>Passer en revue la frise en insistant sur l'accélération :</a:t>
            </a:r>
          </a:p>
          <a:p>
            <a:r>
              <a:t>- 2017 : le Transformer, publié par une équipe de Google, sera repris par tous.</a:t>
            </a:r>
          </a:p>
          <a:p>
            <a:r>
              <a:t>- GPT = Generative Pre-trained Transformer. Le nombre de paramètres (les poids des neurones) explose : 117 millions pour GPT-1 (2018), 175 milliards pour GPT-3 (2020).</a:t>
            </a:r>
          </a:p>
          <a:p>
            <a:r>
              <a:t>- 2022 : l'IA générative d'images devient accessible à tous ; ChatGPT, fondé sur GPT-3.5, provoque un choc mondial.</a:t>
            </a:r>
          </a:p>
          <a:p>
            <a:r>
              <a:t>- 2023 : de nombreux acteurs entrent dans la course, y compris des modèles « ouverts » (Llama, Mistral). Mistral AI est une start-up française fondée en 2023.</a:t>
            </a:r>
          </a:p>
          <a:p>
            <a:r>
              <a:t>- 2024-2025 : les modèles deviennent multimodaux, capables de raisonner plus longuement et d'agir (agents).</a:t>
            </a:r>
          </a:p>
          <a:p/>
          <a:p>
            <a:r>
              <a:t>Mentionner les prix Nobel 2024 (physique : Hopfield et Hinton ; chimie : Hassabis, Jumper et Baker) comme signe de la reconnaissance scientifique du domaine.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a:t>
            </a:r>
          </a:p>
          <a:p/>
          <a:p>
            <a:r>
              <a:t>ChatGPT est l'application grand public qui s'est diffusée le plus vite de l'histoire (jusqu'alors). La raison principale : l'interface. On converse en langage naturel, sans rien installer ni programmer.</a:t>
            </a:r>
          </a:p>
          <a:p/>
          <a:p>
            <a:r>
              <a:t>Question à la salle : qui utilise un assistant conversationnel pour ses études ? Pour quoi faire ? Bonne transition vers les enjeux.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30.</a:t>
            </a:r>
          </a:p>
          <a:p/>
          <a:p>
            <a:r>
              <a:t>Ne pas faire un catalogue : choisir deux ou trois enjeux et susciter la discussion.</a:t>
            </a:r>
          </a:p>
          <a:p/>
          <a:p>
            <a:r>
              <a:t>Biais : l'outil d'Amazon avait appris à partir des CV reçus pendant dix ans, majoritairement masculins ; il pénalisait par exemple les CV mentionnant un club « féminin ». Leçon directement liée aux TP : un modèle n'est jamais meilleur que ses données.</a:t>
            </a:r>
          </a:p>
          <a:p/>
          <a:p>
            <a:r>
              <a:t>Hallucinations : affaire Mata contre Avianca (2023). Rappeler la diapositive précédente : le modèle produit du texte plausible, pas vérifié.</a:t>
            </a:r>
          </a:p>
          <a:p/>
          <a:p>
            <a:r>
              <a:t>Pour des étudiants en informatique : l'IA transforme déjà le métier de développeur (assistants de code). Savoir vérifier ce qu'elle produit devient essentiel.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a:t>
            </a:r>
          </a:p>
          <a:p/>
          <a:p>
            <a:r>
              <a:t>L'AI Act (règlement européen sur l'intelligence artificielle) est entré en vigueur en août 2024. Les interdictions s'appliquent depuis février 2025, les obligations pour les modèles d'IA à usage général depuis août 2025, et celles pour les systèmes à haut risque à partir de 2026-2027.</a:t>
            </a:r>
          </a:p>
          <a:p/>
          <a:p>
            <a:r>
              <a:t>L'approche par niveaux de risque est la notion à retenir. Exemple parlant : un outil de tri de CV (haut risque) devra démontrer la qualité de ses données et l'absence de discrimination, ce qui fait écho à l'affaire Amazon de la diapositive précédente.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a:t>
            </a:r>
          </a:p>
          <a:p/>
          <a:p>
            <a:r>
              <a:t>Résumer le fil rouge : à chaque étape, on remplace un peu plus ce que l'humain écrivait à la main par ce que la machine apprend à partir de données.</a:t>
            </a:r>
          </a:p>
          <a:p/>
          <a:p>
            <a:r>
              <a:t>Faire le lien avec la suite du cours : même à l'heure de ChatGPT, la grande majorité des modèles en production dans les entreprises sont des modèles d'apprentissage automatique sur données tabulaires (prévision des ventes, détection de fraude, maintenance prédictive…). C'est ce que les étudiants apprendront à construire et à évaluer.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Prévoir quelques minutes de questions. Pistes si la salle est silencieuse : « Pensez-vous qu'un troisième hiver de l'IA soit possible ? », « ChatGPT passe-t-il le test de Turing ? Est-il intelligent pour autant ?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emf"/><Relationship Id="rId3"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p:bg>
      <p:bgPr>
        <a:solidFill>
          <a:schemeClr val="tx2"/>
        </a:solidFill>
        <a:effectLst/>
      </p:bgPr>
    </p:bg>
    <p:spTree>
      <p:nvGrpSpPr>
        <p:cNvPr id="1" name=""/>
        <p:cNvGrpSpPr/>
        <p:nvPr/>
      </p:nvGrpSpPr>
      <p:grpSpPr>
        <a:xfrm>
          <a:off x="0" y="0"/>
          <a:ext cx="0" cy="0"/>
          <a:chOff x="0" y="0"/>
          <a:chExt cx="0" cy="0"/>
        </a:xfrm>
      </p:grpSpPr>
      <p:sp>
        <p:nvSpPr>
          <p:cNvPr id="169" name="Picture Placeholder 185">
            <a:extLst>
              <a:ext uri="{FF2B5EF4-FFF2-40B4-BE49-F238E27FC236}">
                <a16:creationId xmlns:a16="http://schemas.microsoft.com/office/drawing/2014/main" id="{9F3FEAEF-AED6-4FB6-8C00-4E271FD14626}"/>
              </a:ext>
            </a:extLst>
          </p:cNvPr>
          <p:cNvSpPr>
            <a:spLocks noGrp="1"/>
          </p:cNvSpPr>
          <p:nvPr>
            <p:ph type="pic" sz="quarter" idx="13"/>
          </p:nvPr>
        </p:nvSpPr>
        <p:spPr>
          <a:xfrm>
            <a:off x="7678265" y="371587"/>
            <a:ext cx="4039989" cy="6144427"/>
          </a:xfrm>
          <a:custGeom>
            <a:avLst/>
            <a:gdLst>
              <a:gd name="connsiteX0" fmla="*/ 0 w 17038640"/>
              <a:gd name="connsiteY0" fmla="*/ 15597745 h 25603201"/>
              <a:gd name="connsiteX1" fmla="*/ 1376468 w 17038640"/>
              <a:gd name="connsiteY1" fmla="*/ 15597745 h 25603201"/>
              <a:gd name="connsiteX2" fmla="*/ 1699886 w 17038640"/>
              <a:gd name="connsiteY2" fmla="*/ 15633825 h 25603201"/>
              <a:gd name="connsiteX3" fmla="*/ 2008988 w 17038640"/>
              <a:gd name="connsiteY3" fmla="*/ 15699567 h 25603201"/>
              <a:gd name="connsiteX4" fmla="*/ 2311510 w 17038640"/>
              <a:gd name="connsiteY4" fmla="*/ 15778833 h 25603201"/>
              <a:gd name="connsiteX5" fmla="*/ 2592704 w 17038640"/>
              <a:gd name="connsiteY5" fmla="*/ 15887173 h 25603201"/>
              <a:gd name="connsiteX6" fmla="*/ 2873846 w 17038640"/>
              <a:gd name="connsiteY6" fmla="*/ 16010107 h 25603201"/>
              <a:gd name="connsiteX7" fmla="*/ 3133128 w 17038640"/>
              <a:gd name="connsiteY7" fmla="*/ 16162647 h 25603201"/>
              <a:gd name="connsiteX8" fmla="*/ 3385464 w 17038640"/>
              <a:gd name="connsiteY8" fmla="*/ 16329249 h 25603201"/>
              <a:gd name="connsiteX9" fmla="*/ 3621336 w 17038640"/>
              <a:gd name="connsiteY9" fmla="*/ 16531931 h 25603201"/>
              <a:gd name="connsiteX10" fmla="*/ 3851752 w 17038640"/>
              <a:gd name="connsiteY10" fmla="*/ 16727605 h 25603201"/>
              <a:gd name="connsiteX11" fmla="*/ 4054274 w 17038640"/>
              <a:gd name="connsiteY11" fmla="*/ 16952361 h 25603201"/>
              <a:gd name="connsiteX12" fmla="*/ 4233434 w 17038640"/>
              <a:gd name="connsiteY12" fmla="*/ 17190635 h 25603201"/>
              <a:gd name="connsiteX13" fmla="*/ 4392178 w 17038640"/>
              <a:gd name="connsiteY13" fmla="*/ 17445593 h 25603201"/>
              <a:gd name="connsiteX14" fmla="*/ 4536546 w 17038640"/>
              <a:gd name="connsiteY14" fmla="*/ 17711981 h 25603201"/>
              <a:gd name="connsiteX15" fmla="*/ 4651940 w 17038640"/>
              <a:gd name="connsiteY15" fmla="*/ 17994941 h 25603201"/>
              <a:gd name="connsiteX16" fmla="*/ 4752000 w 17038640"/>
              <a:gd name="connsiteY16" fmla="*/ 18291957 h 25603201"/>
              <a:gd name="connsiteX17" fmla="*/ 4824156 w 17038640"/>
              <a:gd name="connsiteY17" fmla="*/ 18617035 h 25603201"/>
              <a:gd name="connsiteX18" fmla="*/ 4870068 w 17038640"/>
              <a:gd name="connsiteY18" fmla="*/ 19162533 h 25603201"/>
              <a:gd name="connsiteX19" fmla="*/ 4906460 w 17038640"/>
              <a:gd name="connsiteY19" fmla="*/ 19710499 h 25603201"/>
              <a:gd name="connsiteX20" fmla="*/ 4933138 w 17038640"/>
              <a:gd name="connsiteY20" fmla="*/ 20322923 h 25603201"/>
              <a:gd name="connsiteX21" fmla="*/ 2960968 w 17038640"/>
              <a:gd name="connsiteY21" fmla="*/ 20322923 h 25603201"/>
              <a:gd name="connsiteX22" fmla="*/ 2941512 w 17038640"/>
              <a:gd name="connsiteY22" fmla="*/ 22360405 h 25603201"/>
              <a:gd name="connsiteX23" fmla="*/ 4939072 w 17038640"/>
              <a:gd name="connsiteY23" fmla="*/ 22360405 h 25603201"/>
              <a:gd name="connsiteX24" fmla="*/ 4939072 w 17038640"/>
              <a:gd name="connsiteY24" fmla="*/ 25603201 h 25603201"/>
              <a:gd name="connsiteX25" fmla="*/ 0 w 17038640"/>
              <a:gd name="connsiteY25" fmla="*/ 25603201 h 25603201"/>
              <a:gd name="connsiteX26" fmla="*/ 7017004 w 17038640"/>
              <a:gd name="connsiteY26" fmla="*/ 13468438 h 25603201"/>
              <a:gd name="connsiteX27" fmla="*/ 7017004 w 17038640"/>
              <a:gd name="connsiteY27" fmla="*/ 15579307 h 25603201"/>
              <a:gd name="connsiteX28" fmla="*/ 9110716 w 17038640"/>
              <a:gd name="connsiteY28" fmla="*/ 15579307 h 25603201"/>
              <a:gd name="connsiteX29" fmla="*/ 9110716 w 17038640"/>
              <a:gd name="connsiteY29" fmla="*/ 13468438 h 25603201"/>
              <a:gd name="connsiteX30" fmla="*/ 0 w 17038640"/>
              <a:gd name="connsiteY30" fmla="*/ 0 h 25603201"/>
              <a:gd name="connsiteX31" fmla="*/ 17038640 w 17038640"/>
              <a:gd name="connsiteY31" fmla="*/ 0 h 25603201"/>
              <a:gd name="connsiteX32" fmla="*/ 17038640 w 17038640"/>
              <a:gd name="connsiteY32" fmla="*/ 25603201 h 25603201"/>
              <a:gd name="connsiteX33" fmla="*/ 7011832 w 17038640"/>
              <a:gd name="connsiteY33" fmla="*/ 25603201 h 25603201"/>
              <a:gd name="connsiteX34" fmla="*/ 7011832 w 17038640"/>
              <a:gd name="connsiteY34" fmla="*/ 22360405 h 25603201"/>
              <a:gd name="connsiteX35" fmla="*/ 9174064 w 17038640"/>
              <a:gd name="connsiteY35" fmla="*/ 22360405 h 25603201"/>
              <a:gd name="connsiteX36" fmla="*/ 9174064 w 17038640"/>
              <a:gd name="connsiteY36" fmla="*/ 20322923 h 25603201"/>
              <a:gd name="connsiteX37" fmla="*/ 7008302 w 17038640"/>
              <a:gd name="connsiteY37" fmla="*/ 20322923 h 25603201"/>
              <a:gd name="connsiteX38" fmla="*/ 6998748 w 17038640"/>
              <a:gd name="connsiteY38" fmla="*/ 19802117 h 25603201"/>
              <a:gd name="connsiteX39" fmla="*/ 6987784 w 17038640"/>
              <a:gd name="connsiteY39" fmla="*/ 19450817 h 25603201"/>
              <a:gd name="connsiteX40" fmla="*/ 6968412 w 17038640"/>
              <a:gd name="connsiteY40" fmla="*/ 19109099 h 25603201"/>
              <a:gd name="connsiteX41" fmla="*/ 6933632 w 17038640"/>
              <a:gd name="connsiteY41" fmla="*/ 18617035 h 25603201"/>
              <a:gd name="connsiteX42" fmla="*/ 6896808 w 17038640"/>
              <a:gd name="connsiteY42" fmla="*/ 18321091 h 25603201"/>
              <a:gd name="connsiteX43" fmla="*/ 6840096 w 17038640"/>
              <a:gd name="connsiteY43" fmla="*/ 18038609 h 25603201"/>
              <a:gd name="connsiteX44" fmla="*/ 6775424 w 17038640"/>
              <a:gd name="connsiteY44" fmla="*/ 17763131 h 25603201"/>
              <a:gd name="connsiteX45" fmla="*/ 6688836 w 17038640"/>
              <a:gd name="connsiteY45" fmla="*/ 17502779 h 25603201"/>
              <a:gd name="connsiteX46" fmla="*/ 6601714 w 17038640"/>
              <a:gd name="connsiteY46" fmla="*/ 17234305 h 25603201"/>
              <a:gd name="connsiteX47" fmla="*/ 6502192 w 17038640"/>
              <a:gd name="connsiteY47" fmla="*/ 16988013 h 25603201"/>
              <a:gd name="connsiteX48" fmla="*/ 6393212 w 17038640"/>
              <a:gd name="connsiteY48" fmla="*/ 16742147 h 25603201"/>
              <a:gd name="connsiteX49" fmla="*/ 6263810 w 17038640"/>
              <a:gd name="connsiteY49" fmla="*/ 16510817 h 25603201"/>
              <a:gd name="connsiteX50" fmla="*/ 6141410 w 17038640"/>
              <a:gd name="connsiteY50" fmla="*/ 16272059 h 25603201"/>
              <a:gd name="connsiteX51" fmla="*/ 5997578 w 17038640"/>
              <a:gd name="connsiteY51" fmla="*/ 16053291 h 25603201"/>
              <a:gd name="connsiteX52" fmla="*/ 5846316 w 17038640"/>
              <a:gd name="connsiteY52" fmla="*/ 15837037 h 25603201"/>
              <a:gd name="connsiteX53" fmla="*/ 5514880 w 17038640"/>
              <a:gd name="connsiteY53" fmla="*/ 15431143 h 25603201"/>
              <a:gd name="connsiteX54" fmla="*/ 5327274 w 17038640"/>
              <a:gd name="connsiteY54" fmla="*/ 15243002 h 25603201"/>
              <a:gd name="connsiteX55" fmla="*/ 5133678 w 17038640"/>
              <a:gd name="connsiteY55" fmla="*/ 15054381 h 25603201"/>
              <a:gd name="connsiteX56" fmla="*/ 4493676 w 17038640"/>
              <a:gd name="connsiteY56" fmla="*/ 14540574 h 25603201"/>
              <a:gd name="connsiteX57" fmla="*/ 4038878 w 17038640"/>
              <a:gd name="connsiteY57" fmla="*/ 14258628 h 25603201"/>
              <a:gd name="connsiteX58" fmla="*/ 3808942 w 17038640"/>
              <a:gd name="connsiteY58" fmla="*/ 14120144 h 25603201"/>
              <a:gd name="connsiteX59" fmla="*/ 3319238 w 17038640"/>
              <a:gd name="connsiteY59" fmla="*/ 13903885 h 25603201"/>
              <a:gd name="connsiteX60" fmla="*/ 2809172 w 17038640"/>
              <a:gd name="connsiteY60" fmla="*/ 13729805 h 25603201"/>
              <a:gd name="connsiteX61" fmla="*/ 2275698 w 17038640"/>
              <a:gd name="connsiteY61" fmla="*/ 13599384 h 25603201"/>
              <a:gd name="connsiteX62" fmla="*/ 1722336 w 17038640"/>
              <a:gd name="connsiteY62" fmla="*/ 13513066 h 25603201"/>
              <a:gd name="connsiteX63" fmla="*/ 1146048 w 17038640"/>
              <a:gd name="connsiteY63" fmla="*/ 13468438 h 25603201"/>
              <a:gd name="connsiteX64" fmla="*/ 0 w 17038640"/>
              <a:gd name="connsiteY64" fmla="*/ 13468438 h 2560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038640" h="25603201">
                <a:moveTo>
                  <a:pt x="0" y="15597745"/>
                </a:moveTo>
                <a:lnTo>
                  <a:pt x="1376468" y="15597745"/>
                </a:lnTo>
                <a:lnTo>
                  <a:pt x="1699886" y="15633825"/>
                </a:lnTo>
                <a:lnTo>
                  <a:pt x="2008988" y="15699567"/>
                </a:lnTo>
                <a:lnTo>
                  <a:pt x="2311510" y="15778833"/>
                </a:lnTo>
                <a:lnTo>
                  <a:pt x="2592704" y="15887173"/>
                </a:lnTo>
                <a:lnTo>
                  <a:pt x="2873846" y="16010107"/>
                </a:lnTo>
                <a:lnTo>
                  <a:pt x="3133128" y="16162647"/>
                </a:lnTo>
                <a:lnTo>
                  <a:pt x="3385464" y="16329249"/>
                </a:lnTo>
                <a:lnTo>
                  <a:pt x="3621336" y="16531931"/>
                </a:lnTo>
                <a:lnTo>
                  <a:pt x="3851752" y="16727605"/>
                </a:lnTo>
                <a:lnTo>
                  <a:pt x="4054274" y="16952361"/>
                </a:lnTo>
                <a:lnTo>
                  <a:pt x="4233434" y="17190635"/>
                </a:lnTo>
                <a:lnTo>
                  <a:pt x="4392178" y="17445593"/>
                </a:lnTo>
                <a:lnTo>
                  <a:pt x="4536546" y="17711981"/>
                </a:lnTo>
                <a:lnTo>
                  <a:pt x="4651940" y="17994941"/>
                </a:lnTo>
                <a:lnTo>
                  <a:pt x="4752000" y="18291957"/>
                </a:lnTo>
                <a:lnTo>
                  <a:pt x="4824156" y="18617035"/>
                </a:lnTo>
                <a:lnTo>
                  <a:pt x="4870068" y="19162533"/>
                </a:lnTo>
                <a:lnTo>
                  <a:pt x="4906460" y="19710499"/>
                </a:lnTo>
                <a:lnTo>
                  <a:pt x="4933138" y="20322923"/>
                </a:lnTo>
                <a:lnTo>
                  <a:pt x="2960968" y="20322923"/>
                </a:lnTo>
                <a:lnTo>
                  <a:pt x="2941512" y="22360405"/>
                </a:lnTo>
                <a:lnTo>
                  <a:pt x="4939072" y="22360405"/>
                </a:lnTo>
                <a:lnTo>
                  <a:pt x="4939072" y="25603201"/>
                </a:lnTo>
                <a:lnTo>
                  <a:pt x="0" y="25603201"/>
                </a:lnTo>
                <a:close/>
                <a:moveTo>
                  <a:pt x="7017004" y="13468438"/>
                </a:moveTo>
                <a:lnTo>
                  <a:pt x="7017004" y="15579307"/>
                </a:lnTo>
                <a:lnTo>
                  <a:pt x="9110716" y="15579307"/>
                </a:lnTo>
                <a:lnTo>
                  <a:pt x="9110716" y="13468438"/>
                </a:lnTo>
                <a:close/>
                <a:moveTo>
                  <a:pt x="0" y="0"/>
                </a:moveTo>
                <a:lnTo>
                  <a:pt x="17038640" y="0"/>
                </a:lnTo>
                <a:lnTo>
                  <a:pt x="17038640" y="25603201"/>
                </a:lnTo>
                <a:lnTo>
                  <a:pt x="7011832" y="25603201"/>
                </a:lnTo>
                <a:lnTo>
                  <a:pt x="7011832" y="22360405"/>
                </a:lnTo>
                <a:lnTo>
                  <a:pt x="9174064" y="22360405"/>
                </a:lnTo>
                <a:lnTo>
                  <a:pt x="9174064" y="20322923"/>
                </a:lnTo>
                <a:lnTo>
                  <a:pt x="7008302" y="20322923"/>
                </a:lnTo>
                <a:lnTo>
                  <a:pt x="6998748" y="19802117"/>
                </a:lnTo>
                <a:lnTo>
                  <a:pt x="6987784" y="19450817"/>
                </a:lnTo>
                <a:lnTo>
                  <a:pt x="6968412" y="19109099"/>
                </a:lnTo>
                <a:lnTo>
                  <a:pt x="6933632" y="18617035"/>
                </a:lnTo>
                <a:lnTo>
                  <a:pt x="6896808" y="18321091"/>
                </a:lnTo>
                <a:lnTo>
                  <a:pt x="6840096" y="18038609"/>
                </a:lnTo>
                <a:lnTo>
                  <a:pt x="6775424" y="17763131"/>
                </a:lnTo>
                <a:lnTo>
                  <a:pt x="6688836" y="17502779"/>
                </a:lnTo>
                <a:lnTo>
                  <a:pt x="6601714" y="17234305"/>
                </a:lnTo>
                <a:lnTo>
                  <a:pt x="6502192" y="16988013"/>
                </a:lnTo>
                <a:lnTo>
                  <a:pt x="6393212" y="16742147"/>
                </a:lnTo>
                <a:lnTo>
                  <a:pt x="6263810" y="16510817"/>
                </a:lnTo>
                <a:lnTo>
                  <a:pt x="6141410" y="16272059"/>
                </a:lnTo>
                <a:lnTo>
                  <a:pt x="5997578" y="16053291"/>
                </a:lnTo>
                <a:lnTo>
                  <a:pt x="5846316" y="15837037"/>
                </a:lnTo>
                <a:lnTo>
                  <a:pt x="5514880" y="15431143"/>
                </a:lnTo>
                <a:lnTo>
                  <a:pt x="5327274" y="15243002"/>
                </a:lnTo>
                <a:lnTo>
                  <a:pt x="5133678" y="15054381"/>
                </a:lnTo>
                <a:lnTo>
                  <a:pt x="4493676" y="14540574"/>
                </a:lnTo>
                <a:lnTo>
                  <a:pt x="4038878" y="14258628"/>
                </a:lnTo>
                <a:lnTo>
                  <a:pt x="3808942" y="14120144"/>
                </a:lnTo>
                <a:lnTo>
                  <a:pt x="3319238" y="13903885"/>
                </a:lnTo>
                <a:lnTo>
                  <a:pt x="2809172" y="13729805"/>
                </a:lnTo>
                <a:lnTo>
                  <a:pt x="2275698" y="13599384"/>
                </a:lnTo>
                <a:lnTo>
                  <a:pt x="1722336" y="13513066"/>
                </a:lnTo>
                <a:lnTo>
                  <a:pt x="1146048" y="13468438"/>
                </a:lnTo>
                <a:lnTo>
                  <a:pt x="0" y="13468438"/>
                </a:lnTo>
                <a:close/>
              </a:path>
            </a:pathLst>
          </a:custGeom>
          <a:solidFill>
            <a:schemeClr val="bg1">
              <a:lumMod val="95000"/>
            </a:schemeClr>
          </a:solidFill>
        </p:spPr>
        <p:txBody>
          <a:bodyPr wrap="square" anchor="ctr">
            <a:noAutofit/>
          </a:bodyPr>
          <a:lstStyle>
            <a:lvl1pPr marL="0" indent="0" algn="ctr">
              <a:buNone/>
              <a:defRPr sz="1080">
                <a:latin typeface="Arial" panose="020B0604020202020204" pitchFamily="34" charset="0"/>
                <a:cs typeface="Arial" panose="020B0604020202020204" pitchFamily="34" charset="0"/>
              </a:defRPr>
            </a:lvl1pPr>
          </a:lstStyle>
          <a:p>
            <a:r>
              <a:rPr lang="fr-FR"/>
              <a:t>Cliquez sur l'icône pour ajouter une image</a:t>
            </a:r>
            <a:endParaRPr lang="en-US" dirty="0"/>
          </a:p>
        </p:txBody>
      </p:sp>
      <p:sp>
        <p:nvSpPr>
          <p:cNvPr id="173" name="Freeform: Shape 172">
            <a:extLst>
              <a:ext uri="{FF2B5EF4-FFF2-40B4-BE49-F238E27FC236}">
                <a16:creationId xmlns:a16="http://schemas.microsoft.com/office/drawing/2014/main" id="{1F83BB84-0103-44B3-9760-CDB5CB536805}"/>
              </a:ext>
            </a:extLst>
          </p:cNvPr>
          <p:cNvSpPr/>
          <p:nvPr userDrawn="1"/>
        </p:nvSpPr>
        <p:spPr>
          <a:xfrm rot="5400000">
            <a:off x="4173546" y="4653662"/>
            <a:ext cx="612198" cy="604853"/>
          </a:xfrm>
          <a:custGeom>
            <a:avLst/>
            <a:gdLst>
              <a:gd name="connsiteX0" fmla="*/ 0 w 2550965"/>
              <a:gd name="connsiteY0" fmla="*/ 1709533 h 2550965"/>
              <a:gd name="connsiteX1" fmla="*/ 0 w 2550965"/>
              <a:gd name="connsiteY1" fmla="*/ 841432 h 2550965"/>
              <a:gd name="connsiteX2" fmla="*/ 841435 w 2550965"/>
              <a:gd name="connsiteY2" fmla="*/ 841432 h 2550965"/>
              <a:gd name="connsiteX3" fmla="*/ 841435 w 2550965"/>
              <a:gd name="connsiteY3" fmla="*/ 0 h 2550965"/>
              <a:gd name="connsiteX4" fmla="*/ 1709535 w 2550965"/>
              <a:gd name="connsiteY4" fmla="*/ 0 h 2550965"/>
              <a:gd name="connsiteX5" fmla="*/ 1709535 w 2550965"/>
              <a:gd name="connsiteY5" fmla="*/ 841432 h 2550965"/>
              <a:gd name="connsiteX6" fmla="*/ 2550965 w 2550965"/>
              <a:gd name="connsiteY6" fmla="*/ 841432 h 2550965"/>
              <a:gd name="connsiteX7" fmla="*/ 2550965 w 2550965"/>
              <a:gd name="connsiteY7" fmla="*/ 1709533 h 2550965"/>
              <a:gd name="connsiteX8" fmla="*/ 1709535 w 2550965"/>
              <a:gd name="connsiteY8" fmla="*/ 1709533 h 2550965"/>
              <a:gd name="connsiteX9" fmla="*/ 1709535 w 2550965"/>
              <a:gd name="connsiteY9" fmla="*/ 2550965 h 2550965"/>
              <a:gd name="connsiteX10" fmla="*/ 841435 w 2550965"/>
              <a:gd name="connsiteY10" fmla="*/ 2550965 h 2550965"/>
              <a:gd name="connsiteX11" fmla="*/ 841435 w 2550965"/>
              <a:gd name="connsiteY11" fmla="*/ 1709533 h 255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50965" h="2550965">
                <a:moveTo>
                  <a:pt x="0" y="1709533"/>
                </a:moveTo>
                <a:lnTo>
                  <a:pt x="0" y="841432"/>
                </a:lnTo>
                <a:lnTo>
                  <a:pt x="841435" y="841432"/>
                </a:lnTo>
                <a:lnTo>
                  <a:pt x="841435" y="0"/>
                </a:lnTo>
                <a:lnTo>
                  <a:pt x="1709535" y="0"/>
                </a:lnTo>
                <a:lnTo>
                  <a:pt x="1709535" y="841432"/>
                </a:lnTo>
                <a:lnTo>
                  <a:pt x="2550965" y="841432"/>
                </a:lnTo>
                <a:lnTo>
                  <a:pt x="2550965" y="1709533"/>
                </a:lnTo>
                <a:lnTo>
                  <a:pt x="1709535" y="1709533"/>
                </a:lnTo>
                <a:lnTo>
                  <a:pt x="1709535" y="2550965"/>
                </a:lnTo>
                <a:lnTo>
                  <a:pt x="841435" y="2550965"/>
                </a:lnTo>
                <a:lnTo>
                  <a:pt x="841435" y="170953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dirty="0"/>
          </a:p>
        </p:txBody>
      </p:sp>
      <p:sp>
        <p:nvSpPr>
          <p:cNvPr id="174" name="Freeform: Shape 173">
            <a:extLst>
              <a:ext uri="{FF2B5EF4-FFF2-40B4-BE49-F238E27FC236}">
                <a16:creationId xmlns:a16="http://schemas.microsoft.com/office/drawing/2014/main" id="{A115397F-3F8E-46F3-8104-A2C3440D04DC}"/>
              </a:ext>
            </a:extLst>
          </p:cNvPr>
          <p:cNvSpPr/>
          <p:nvPr userDrawn="1"/>
        </p:nvSpPr>
        <p:spPr>
          <a:xfrm>
            <a:off x="5381367" y="1947904"/>
            <a:ext cx="463629" cy="933146"/>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175" name="Freeform: Shape 174">
            <a:extLst>
              <a:ext uri="{FF2B5EF4-FFF2-40B4-BE49-F238E27FC236}">
                <a16:creationId xmlns:a16="http://schemas.microsoft.com/office/drawing/2014/main" id="{494DFAD3-3BAA-43A5-AA03-54CEABE808C7}"/>
              </a:ext>
            </a:extLst>
          </p:cNvPr>
          <p:cNvSpPr/>
          <p:nvPr userDrawn="1"/>
        </p:nvSpPr>
        <p:spPr>
          <a:xfrm>
            <a:off x="3113875" y="1003382"/>
            <a:ext cx="403876"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nvGrpSpPr>
          <p:cNvPr id="176" name="Groupe 156">
            <a:extLst>
              <a:ext uri="{FF2B5EF4-FFF2-40B4-BE49-F238E27FC236}">
                <a16:creationId xmlns:a16="http://schemas.microsoft.com/office/drawing/2014/main" id="{338D252C-84E4-4B71-A163-F60D45448C3B}"/>
              </a:ext>
            </a:extLst>
          </p:cNvPr>
          <p:cNvGrpSpPr/>
          <p:nvPr userDrawn="1"/>
        </p:nvGrpSpPr>
        <p:grpSpPr>
          <a:xfrm>
            <a:off x="4622087" y="19074"/>
            <a:ext cx="888931" cy="498075"/>
            <a:chOff x="3230833" y="6645"/>
            <a:chExt cx="902409" cy="499560"/>
          </a:xfrm>
        </p:grpSpPr>
        <p:sp>
          <p:nvSpPr>
            <p:cNvPr id="177" name="object 23">
              <a:extLst>
                <a:ext uri="{FF2B5EF4-FFF2-40B4-BE49-F238E27FC236}">
                  <a16:creationId xmlns:a16="http://schemas.microsoft.com/office/drawing/2014/main" id="{BD8218E8-3B17-43AB-B33E-949D2318DB62}"/>
                </a:ext>
              </a:extLst>
            </p:cNvPr>
            <p:cNvSpPr/>
            <p:nvPr/>
          </p:nvSpPr>
          <p:spPr>
            <a:xfrm>
              <a:off x="3230833" y="6645"/>
              <a:ext cx="20320" cy="20320"/>
            </a:xfrm>
            <a:custGeom>
              <a:avLst/>
              <a:gdLst/>
              <a:ahLst/>
              <a:cxnLst/>
              <a:rect l="l" t="t" r="r" b="b"/>
              <a:pathLst>
                <a:path w="20319"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8" name="object 24">
              <a:extLst>
                <a:ext uri="{FF2B5EF4-FFF2-40B4-BE49-F238E27FC236}">
                  <a16:creationId xmlns:a16="http://schemas.microsoft.com/office/drawing/2014/main" id="{19CA42D6-AC7F-4D87-B5F4-99C1EC242A02}"/>
                </a:ext>
              </a:extLst>
            </p:cNvPr>
            <p:cNvSpPr/>
            <p:nvPr/>
          </p:nvSpPr>
          <p:spPr>
            <a:xfrm>
              <a:off x="3282721"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9" name="object 25">
              <a:extLst>
                <a:ext uri="{FF2B5EF4-FFF2-40B4-BE49-F238E27FC236}">
                  <a16:creationId xmlns:a16="http://schemas.microsoft.com/office/drawing/2014/main" id="{D9D68F47-262E-4AC3-A9EC-F0C7CE402647}"/>
                </a:ext>
              </a:extLst>
            </p:cNvPr>
            <p:cNvSpPr/>
            <p:nvPr/>
          </p:nvSpPr>
          <p:spPr>
            <a:xfrm>
              <a:off x="3334608"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0" name="object 26">
              <a:extLst>
                <a:ext uri="{FF2B5EF4-FFF2-40B4-BE49-F238E27FC236}">
                  <a16:creationId xmlns:a16="http://schemas.microsoft.com/office/drawing/2014/main" id="{3425C396-CDD6-453C-B569-319CE5A353A0}"/>
                </a:ext>
              </a:extLst>
            </p:cNvPr>
            <p:cNvSpPr/>
            <p:nvPr/>
          </p:nvSpPr>
          <p:spPr>
            <a:xfrm>
              <a:off x="338649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1" name="object 27">
              <a:extLst>
                <a:ext uri="{FF2B5EF4-FFF2-40B4-BE49-F238E27FC236}">
                  <a16:creationId xmlns:a16="http://schemas.microsoft.com/office/drawing/2014/main" id="{E809289B-2BE0-41C0-8380-F5970B8F92A5}"/>
                </a:ext>
              </a:extLst>
            </p:cNvPr>
            <p:cNvSpPr/>
            <p:nvPr/>
          </p:nvSpPr>
          <p:spPr>
            <a:xfrm>
              <a:off x="3438383" y="6645"/>
              <a:ext cx="6350" cy="19685"/>
            </a:xfrm>
            <a:custGeom>
              <a:avLst/>
              <a:gdLst/>
              <a:ahLst/>
              <a:cxnLst/>
              <a:rect l="l" t="t" r="r" b="b"/>
              <a:pathLst>
                <a:path w="6350" h="19684">
                  <a:moveTo>
                    <a:pt x="5740" y="0"/>
                  </a:moveTo>
                  <a:lnTo>
                    <a:pt x="4521" y="0"/>
                  </a:lnTo>
                  <a:lnTo>
                    <a:pt x="0" y="4508"/>
                  </a:lnTo>
                  <a:lnTo>
                    <a:pt x="0" y="15659"/>
                  </a:lnTo>
                  <a:lnTo>
                    <a:pt x="3639" y="19288"/>
                  </a:lnTo>
                  <a:lnTo>
                    <a:pt x="3963" y="14412"/>
                  </a:lnTo>
                  <a:lnTo>
                    <a:pt x="5143" y="3810"/>
                  </a:lnTo>
                  <a:lnTo>
                    <a:pt x="5740" y="0"/>
                  </a:lnTo>
                  <a:close/>
                </a:path>
              </a:pathLst>
            </a:custGeom>
            <a:solidFill>
              <a:srgbClr val="FFFFFF"/>
            </a:solidFill>
          </p:spPr>
          <p:txBody>
            <a:bodyPr wrap="square" lIns="0" tIns="0" rIns="0" bIns="0" rtlCol="0"/>
            <a:lstStyle/>
            <a:p>
              <a:endParaRPr sz="324"/>
            </a:p>
          </p:txBody>
        </p:sp>
        <p:sp>
          <p:nvSpPr>
            <p:cNvPr id="182" name="object 28">
              <a:extLst>
                <a:ext uri="{FF2B5EF4-FFF2-40B4-BE49-F238E27FC236}">
                  <a16:creationId xmlns:a16="http://schemas.microsoft.com/office/drawing/2014/main" id="{B4593CFC-7AC6-49E5-948D-E766EC3BF981}"/>
                </a:ext>
              </a:extLst>
            </p:cNvPr>
            <p:cNvSpPr/>
            <p:nvPr/>
          </p:nvSpPr>
          <p:spPr>
            <a:xfrm>
              <a:off x="3919823" y="6645"/>
              <a:ext cx="6350" cy="19685"/>
            </a:xfrm>
            <a:custGeom>
              <a:avLst/>
              <a:gdLst/>
              <a:ahLst/>
              <a:cxnLst/>
              <a:rect l="l" t="t" r="r" b="b"/>
              <a:pathLst>
                <a:path w="6350" h="19684">
                  <a:moveTo>
                    <a:pt x="1207" y="0"/>
                  </a:moveTo>
                  <a:lnTo>
                    <a:pt x="0" y="0"/>
                  </a:lnTo>
                  <a:lnTo>
                    <a:pt x="611" y="3923"/>
                  </a:lnTo>
                  <a:lnTo>
                    <a:pt x="1789" y="14559"/>
                  </a:lnTo>
                  <a:lnTo>
                    <a:pt x="2101" y="19276"/>
                  </a:lnTo>
                  <a:lnTo>
                    <a:pt x="5728" y="15659"/>
                  </a:lnTo>
                  <a:lnTo>
                    <a:pt x="5728" y="4508"/>
                  </a:lnTo>
                  <a:lnTo>
                    <a:pt x="1207" y="0"/>
                  </a:lnTo>
                  <a:close/>
                </a:path>
              </a:pathLst>
            </a:custGeom>
            <a:solidFill>
              <a:srgbClr val="FFFFFF"/>
            </a:solidFill>
          </p:spPr>
          <p:txBody>
            <a:bodyPr wrap="square" lIns="0" tIns="0" rIns="0" bIns="0" rtlCol="0"/>
            <a:lstStyle/>
            <a:p>
              <a:endParaRPr sz="324"/>
            </a:p>
          </p:txBody>
        </p:sp>
        <p:sp>
          <p:nvSpPr>
            <p:cNvPr id="183" name="object 29">
              <a:extLst>
                <a:ext uri="{FF2B5EF4-FFF2-40B4-BE49-F238E27FC236}">
                  <a16:creationId xmlns:a16="http://schemas.microsoft.com/office/drawing/2014/main" id="{E21C0F3C-A547-41D7-87F5-D192C7761AC1}"/>
                </a:ext>
              </a:extLst>
            </p:cNvPr>
            <p:cNvSpPr/>
            <p:nvPr/>
          </p:nvSpPr>
          <p:spPr>
            <a:xfrm>
              <a:off x="3957259"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4" name="object 30">
              <a:extLst>
                <a:ext uri="{FF2B5EF4-FFF2-40B4-BE49-F238E27FC236}">
                  <a16:creationId xmlns:a16="http://schemas.microsoft.com/office/drawing/2014/main" id="{6F1B5E9E-8363-4A3D-BF6B-E9631E8A886B}"/>
                </a:ext>
              </a:extLst>
            </p:cNvPr>
            <p:cNvSpPr/>
            <p:nvPr/>
          </p:nvSpPr>
          <p:spPr>
            <a:xfrm>
              <a:off x="400914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5" name="object 31">
              <a:extLst>
                <a:ext uri="{FF2B5EF4-FFF2-40B4-BE49-F238E27FC236}">
                  <a16:creationId xmlns:a16="http://schemas.microsoft.com/office/drawing/2014/main" id="{B6B38092-9E37-47C3-BAA1-C5A8F919E706}"/>
                </a:ext>
              </a:extLst>
            </p:cNvPr>
            <p:cNvSpPr/>
            <p:nvPr/>
          </p:nvSpPr>
          <p:spPr>
            <a:xfrm>
              <a:off x="4061034"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7" name="object 32">
              <a:extLst>
                <a:ext uri="{FF2B5EF4-FFF2-40B4-BE49-F238E27FC236}">
                  <a16:creationId xmlns:a16="http://schemas.microsoft.com/office/drawing/2014/main" id="{38D71171-8579-461A-9DC9-08A9FB9519CC}"/>
                </a:ext>
              </a:extLst>
            </p:cNvPr>
            <p:cNvSpPr/>
            <p:nvPr/>
          </p:nvSpPr>
          <p:spPr>
            <a:xfrm>
              <a:off x="4112922"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8" name="object 33">
              <a:extLst>
                <a:ext uri="{FF2B5EF4-FFF2-40B4-BE49-F238E27FC236}">
                  <a16:creationId xmlns:a16="http://schemas.microsoft.com/office/drawing/2014/main" id="{5FE52D49-FD5B-4BD3-8FE7-792A8D1F821B}"/>
                </a:ext>
              </a:extLst>
            </p:cNvPr>
            <p:cNvSpPr/>
            <p:nvPr/>
          </p:nvSpPr>
          <p:spPr>
            <a:xfrm>
              <a:off x="3230833" y="54569"/>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9" name="object 34">
              <a:extLst>
                <a:ext uri="{FF2B5EF4-FFF2-40B4-BE49-F238E27FC236}">
                  <a16:creationId xmlns:a16="http://schemas.microsoft.com/office/drawing/2014/main" id="{44C0F0BB-C8B0-40DB-9229-92470678AFF5}"/>
                </a:ext>
              </a:extLst>
            </p:cNvPr>
            <p:cNvSpPr/>
            <p:nvPr/>
          </p:nvSpPr>
          <p:spPr>
            <a:xfrm>
              <a:off x="3282721"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0" name="object 35">
              <a:extLst>
                <a:ext uri="{FF2B5EF4-FFF2-40B4-BE49-F238E27FC236}">
                  <a16:creationId xmlns:a16="http://schemas.microsoft.com/office/drawing/2014/main" id="{C68A89B2-15BF-42B1-A41B-6C5F9E9E8034}"/>
                </a:ext>
              </a:extLst>
            </p:cNvPr>
            <p:cNvSpPr/>
            <p:nvPr/>
          </p:nvSpPr>
          <p:spPr>
            <a:xfrm>
              <a:off x="3334608"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1" name="object 36">
              <a:extLst>
                <a:ext uri="{FF2B5EF4-FFF2-40B4-BE49-F238E27FC236}">
                  <a16:creationId xmlns:a16="http://schemas.microsoft.com/office/drawing/2014/main" id="{9DAB20B9-E8A8-41C0-9DE5-791653500B4F}"/>
                </a:ext>
              </a:extLst>
            </p:cNvPr>
            <p:cNvSpPr/>
            <p:nvPr/>
          </p:nvSpPr>
          <p:spPr>
            <a:xfrm>
              <a:off x="338649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2" name="object 37">
              <a:extLst>
                <a:ext uri="{FF2B5EF4-FFF2-40B4-BE49-F238E27FC236}">
                  <a16:creationId xmlns:a16="http://schemas.microsoft.com/office/drawing/2014/main" id="{DEFBBC13-8679-4FB6-AC41-0E1EA27372B8}"/>
                </a:ext>
              </a:extLst>
            </p:cNvPr>
            <p:cNvSpPr/>
            <p:nvPr/>
          </p:nvSpPr>
          <p:spPr>
            <a:xfrm>
              <a:off x="3438383" y="54849"/>
              <a:ext cx="6350" cy="20320"/>
            </a:xfrm>
            <a:custGeom>
              <a:avLst/>
              <a:gdLst/>
              <a:ahLst/>
              <a:cxnLst/>
              <a:rect l="l" t="t" r="r" b="b"/>
              <a:pathLst>
                <a:path w="6350" h="20319">
                  <a:moveTo>
                    <a:pt x="4239" y="0"/>
                  </a:moveTo>
                  <a:lnTo>
                    <a:pt x="0" y="4228"/>
                  </a:lnTo>
                  <a:lnTo>
                    <a:pt x="0" y="15378"/>
                  </a:lnTo>
                  <a:lnTo>
                    <a:pt x="4521" y="19887"/>
                  </a:lnTo>
                  <a:lnTo>
                    <a:pt x="6244" y="19887"/>
                  </a:lnTo>
                  <a:lnTo>
                    <a:pt x="4239" y="0"/>
                  </a:lnTo>
                  <a:close/>
                </a:path>
              </a:pathLst>
            </a:custGeom>
            <a:solidFill>
              <a:srgbClr val="FFFFFF"/>
            </a:solidFill>
          </p:spPr>
          <p:txBody>
            <a:bodyPr wrap="square" lIns="0" tIns="0" rIns="0" bIns="0" rtlCol="0"/>
            <a:lstStyle/>
            <a:p>
              <a:endParaRPr sz="324"/>
            </a:p>
          </p:txBody>
        </p:sp>
        <p:sp>
          <p:nvSpPr>
            <p:cNvPr id="193" name="object 38">
              <a:extLst>
                <a:ext uri="{FF2B5EF4-FFF2-40B4-BE49-F238E27FC236}">
                  <a16:creationId xmlns:a16="http://schemas.microsoft.com/office/drawing/2014/main" id="{DC4F7D1C-2645-4CD3-A1CC-7E6E03FC5D9A}"/>
                </a:ext>
              </a:extLst>
            </p:cNvPr>
            <p:cNvSpPr/>
            <p:nvPr/>
          </p:nvSpPr>
          <p:spPr>
            <a:xfrm>
              <a:off x="3919325" y="54866"/>
              <a:ext cx="6350" cy="20320"/>
            </a:xfrm>
            <a:custGeom>
              <a:avLst/>
              <a:gdLst/>
              <a:ahLst/>
              <a:cxnLst/>
              <a:rect l="l" t="t" r="r" b="b"/>
              <a:pathLst>
                <a:path w="6350" h="20319">
                  <a:moveTo>
                    <a:pt x="2003" y="0"/>
                  </a:moveTo>
                  <a:lnTo>
                    <a:pt x="0" y="19870"/>
                  </a:lnTo>
                  <a:lnTo>
                    <a:pt x="1704" y="19870"/>
                  </a:lnTo>
                  <a:lnTo>
                    <a:pt x="6226" y="15361"/>
                  </a:lnTo>
                  <a:lnTo>
                    <a:pt x="6226" y="4211"/>
                  </a:lnTo>
                  <a:lnTo>
                    <a:pt x="2003" y="0"/>
                  </a:lnTo>
                  <a:close/>
                </a:path>
              </a:pathLst>
            </a:custGeom>
            <a:solidFill>
              <a:srgbClr val="FFFFFF"/>
            </a:solidFill>
          </p:spPr>
          <p:txBody>
            <a:bodyPr wrap="square" lIns="0" tIns="0" rIns="0" bIns="0" rtlCol="0"/>
            <a:lstStyle/>
            <a:p>
              <a:endParaRPr sz="324"/>
            </a:p>
          </p:txBody>
        </p:sp>
        <p:sp>
          <p:nvSpPr>
            <p:cNvPr id="194" name="object 39">
              <a:extLst>
                <a:ext uri="{FF2B5EF4-FFF2-40B4-BE49-F238E27FC236}">
                  <a16:creationId xmlns:a16="http://schemas.microsoft.com/office/drawing/2014/main" id="{B4784042-8E83-4E4E-B14C-E5B2926D842E}"/>
                </a:ext>
              </a:extLst>
            </p:cNvPr>
            <p:cNvSpPr/>
            <p:nvPr/>
          </p:nvSpPr>
          <p:spPr>
            <a:xfrm>
              <a:off x="3957259"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5" name="object 40">
              <a:extLst>
                <a:ext uri="{FF2B5EF4-FFF2-40B4-BE49-F238E27FC236}">
                  <a16:creationId xmlns:a16="http://schemas.microsoft.com/office/drawing/2014/main" id="{4CC23F4E-ECD2-44B9-960C-D47F89319F38}"/>
                </a:ext>
              </a:extLst>
            </p:cNvPr>
            <p:cNvSpPr/>
            <p:nvPr/>
          </p:nvSpPr>
          <p:spPr>
            <a:xfrm>
              <a:off x="400914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6" name="object 41">
              <a:extLst>
                <a:ext uri="{FF2B5EF4-FFF2-40B4-BE49-F238E27FC236}">
                  <a16:creationId xmlns:a16="http://schemas.microsoft.com/office/drawing/2014/main" id="{CABB980C-4023-4D65-83EA-03E370B6FD6F}"/>
                </a:ext>
              </a:extLst>
            </p:cNvPr>
            <p:cNvSpPr/>
            <p:nvPr/>
          </p:nvSpPr>
          <p:spPr>
            <a:xfrm>
              <a:off x="4061034"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7" name="object 42">
              <a:extLst>
                <a:ext uri="{FF2B5EF4-FFF2-40B4-BE49-F238E27FC236}">
                  <a16:creationId xmlns:a16="http://schemas.microsoft.com/office/drawing/2014/main" id="{E73703C8-09FB-4415-A9D2-75FE5587A661}"/>
                </a:ext>
              </a:extLst>
            </p:cNvPr>
            <p:cNvSpPr/>
            <p:nvPr/>
          </p:nvSpPr>
          <p:spPr>
            <a:xfrm>
              <a:off x="4112922"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8" name="object 43">
              <a:extLst>
                <a:ext uri="{FF2B5EF4-FFF2-40B4-BE49-F238E27FC236}">
                  <a16:creationId xmlns:a16="http://schemas.microsoft.com/office/drawing/2014/main" id="{BA161AA4-892D-4568-981E-DCD706AB6550}"/>
                </a:ext>
              </a:extLst>
            </p:cNvPr>
            <p:cNvSpPr/>
            <p:nvPr/>
          </p:nvSpPr>
          <p:spPr>
            <a:xfrm>
              <a:off x="3230833" y="102494"/>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9" name="object 44">
              <a:extLst>
                <a:ext uri="{FF2B5EF4-FFF2-40B4-BE49-F238E27FC236}">
                  <a16:creationId xmlns:a16="http://schemas.microsoft.com/office/drawing/2014/main" id="{8533FBF8-7CC9-4F97-8226-DFE99F1AAA5B}"/>
                </a:ext>
              </a:extLst>
            </p:cNvPr>
            <p:cNvSpPr/>
            <p:nvPr/>
          </p:nvSpPr>
          <p:spPr>
            <a:xfrm>
              <a:off x="3282721"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0" name="object 45">
              <a:extLst>
                <a:ext uri="{FF2B5EF4-FFF2-40B4-BE49-F238E27FC236}">
                  <a16:creationId xmlns:a16="http://schemas.microsoft.com/office/drawing/2014/main" id="{DE421829-EFAC-4A3F-BEA9-063FC71FE2FD}"/>
                </a:ext>
              </a:extLst>
            </p:cNvPr>
            <p:cNvSpPr/>
            <p:nvPr/>
          </p:nvSpPr>
          <p:spPr>
            <a:xfrm>
              <a:off x="3334608"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1" name="object 46">
              <a:extLst>
                <a:ext uri="{FF2B5EF4-FFF2-40B4-BE49-F238E27FC236}">
                  <a16:creationId xmlns:a16="http://schemas.microsoft.com/office/drawing/2014/main" id="{F36BD943-E50F-4A79-B94B-A93C3DC9FA7A}"/>
                </a:ext>
              </a:extLst>
            </p:cNvPr>
            <p:cNvSpPr/>
            <p:nvPr/>
          </p:nvSpPr>
          <p:spPr>
            <a:xfrm>
              <a:off x="338649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2" name="object 47">
              <a:extLst>
                <a:ext uri="{FF2B5EF4-FFF2-40B4-BE49-F238E27FC236}">
                  <a16:creationId xmlns:a16="http://schemas.microsoft.com/office/drawing/2014/main" id="{F64CAB58-CF20-49B2-9C1D-F653C5793F50}"/>
                </a:ext>
              </a:extLst>
            </p:cNvPr>
            <p:cNvSpPr/>
            <p:nvPr/>
          </p:nvSpPr>
          <p:spPr>
            <a:xfrm>
              <a:off x="3438383" y="102494"/>
              <a:ext cx="17780" cy="20320"/>
            </a:xfrm>
            <a:custGeom>
              <a:avLst/>
              <a:gdLst/>
              <a:ahLst/>
              <a:cxnLst/>
              <a:rect l="l" t="t" r="r" b="b"/>
              <a:pathLst>
                <a:path w="17779" h="20319">
                  <a:moveTo>
                    <a:pt x="11421" y="0"/>
                  </a:moveTo>
                  <a:lnTo>
                    <a:pt x="4521" y="0"/>
                  </a:lnTo>
                  <a:lnTo>
                    <a:pt x="0" y="4508"/>
                  </a:lnTo>
                  <a:lnTo>
                    <a:pt x="0" y="15659"/>
                  </a:lnTo>
                  <a:lnTo>
                    <a:pt x="4521" y="20167"/>
                  </a:lnTo>
                  <a:lnTo>
                    <a:pt x="15659" y="20167"/>
                  </a:lnTo>
                  <a:lnTo>
                    <a:pt x="17203" y="18627"/>
                  </a:lnTo>
                  <a:lnTo>
                    <a:pt x="11421" y="0"/>
                  </a:lnTo>
                  <a:close/>
                </a:path>
              </a:pathLst>
            </a:custGeom>
            <a:solidFill>
              <a:srgbClr val="FFFFFF"/>
            </a:solidFill>
          </p:spPr>
          <p:txBody>
            <a:bodyPr wrap="square" lIns="0" tIns="0" rIns="0" bIns="0" rtlCol="0"/>
            <a:lstStyle/>
            <a:p>
              <a:endParaRPr sz="324"/>
            </a:p>
          </p:txBody>
        </p:sp>
        <p:sp>
          <p:nvSpPr>
            <p:cNvPr id="203" name="object 48">
              <a:extLst>
                <a:ext uri="{FF2B5EF4-FFF2-40B4-BE49-F238E27FC236}">
                  <a16:creationId xmlns:a16="http://schemas.microsoft.com/office/drawing/2014/main" id="{ADA5A0FF-7165-466F-8115-53146B147824}"/>
                </a:ext>
              </a:extLst>
            </p:cNvPr>
            <p:cNvSpPr/>
            <p:nvPr/>
          </p:nvSpPr>
          <p:spPr>
            <a:xfrm>
              <a:off x="3908361" y="102494"/>
              <a:ext cx="17780" cy="20320"/>
            </a:xfrm>
            <a:custGeom>
              <a:avLst/>
              <a:gdLst/>
              <a:ahLst/>
              <a:cxnLst/>
              <a:rect l="l" t="t" r="r" b="b"/>
              <a:pathLst>
                <a:path w="17779" h="20319">
                  <a:moveTo>
                    <a:pt x="12669" y="0"/>
                  </a:moveTo>
                  <a:lnTo>
                    <a:pt x="5786" y="0"/>
                  </a:lnTo>
                  <a:lnTo>
                    <a:pt x="0" y="18640"/>
                  </a:lnTo>
                  <a:lnTo>
                    <a:pt x="1531" y="20167"/>
                  </a:lnTo>
                  <a:lnTo>
                    <a:pt x="12669" y="20167"/>
                  </a:lnTo>
                  <a:lnTo>
                    <a:pt x="17190" y="15659"/>
                  </a:lnTo>
                  <a:lnTo>
                    <a:pt x="17190" y="4508"/>
                  </a:lnTo>
                  <a:lnTo>
                    <a:pt x="12669" y="0"/>
                  </a:lnTo>
                  <a:close/>
                </a:path>
              </a:pathLst>
            </a:custGeom>
            <a:solidFill>
              <a:srgbClr val="FFFFFF"/>
            </a:solidFill>
          </p:spPr>
          <p:txBody>
            <a:bodyPr wrap="square" lIns="0" tIns="0" rIns="0" bIns="0" rtlCol="0"/>
            <a:lstStyle/>
            <a:p>
              <a:endParaRPr sz="324"/>
            </a:p>
          </p:txBody>
        </p:sp>
        <p:sp>
          <p:nvSpPr>
            <p:cNvPr id="204" name="object 49">
              <a:extLst>
                <a:ext uri="{FF2B5EF4-FFF2-40B4-BE49-F238E27FC236}">
                  <a16:creationId xmlns:a16="http://schemas.microsoft.com/office/drawing/2014/main" id="{F85E3CAC-3033-4F5D-8B0E-D2174588FCC9}"/>
                </a:ext>
              </a:extLst>
            </p:cNvPr>
            <p:cNvSpPr/>
            <p:nvPr/>
          </p:nvSpPr>
          <p:spPr>
            <a:xfrm>
              <a:off x="3957259"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5" name="object 50">
              <a:extLst>
                <a:ext uri="{FF2B5EF4-FFF2-40B4-BE49-F238E27FC236}">
                  <a16:creationId xmlns:a16="http://schemas.microsoft.com/office/drawing/2014/main" id="{E790185A-EB9D-4C54-8975-331574BB7132}"/>
                </a:ext>
              </a:extLst>
            </p:cNvPr>
            <p:cNvSpPr/>
            <p:nvPr/>
          </p:nvSpPr>
          <p:spPr>
            <a:xfrm>
              <a:off x="400914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6" name="object 51">
              <a:extLst>
                <a:ext uri="{FF2B5EF4-FFF2-40B4-BE49-F238E27FC236}">
                  <a16:creationId xmlns:a16="http://schemas.microsoft.com/office/drawing/2014/main" id="{5D6D6DF1-DF6F-40C2-8016-D8E3548F1929}"/>
                </a:ext>
              </a:extLst>
            </p:cNvPr>
            <p:cNvSpPr/>
            <p:nvPr/>
          </p:nvSpPr>
          <p:spPr>
            <a:xfrm>
              <a:off x="4061034"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7" name="object 52">
              <a:extLst>
                <a:ext uri="{FF2B5EF4-FFF2-40B4-BE49-F238E27FC236}">
                  <a16:creationId xmlns:a16="http://schemas.microsoft.com/office/drawing/2014/main" id="{D6DA3ECC-FEA8-4C15-AD3B-F3EFAA3A9D62}"/>
                </a:ext>
              </a:extLst>
            </p:cNvPr>
            <p:cNvSpPr/>
            <p:nvPr/>
          </p:nvSpPr>
          <p:spPr>
            <a:xfrm>
              <a:off x="4112922"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8" name="object 53">
              <a:extLst>
                <a:ext uri="{FF2B5EF4-FFF2-40B4-BE49-F238E27FC236}">
                  <a16:creationId xmlns:a16="http://schemas.microsoft.com/office/drawing/2014/main" id="{BE5CAA6C-A8FF-47B7-861B-B10F250B39B4}"/>
                </a:ext>
              </a:extLst>
            </p:cNvPr>
            <p:cNvSpPr/>
            <p:nvPr/>
          </p:nvSpPr>
          <p:spPr>
            <a:xfrm>
              <a:off x="3230833" y="150417"/>
              <a:ext cx="20320" cy="20320"/>
            </a:xfrm>
            <a:custGeom>
              <a:avLst/>
              <a:gdLst/>
              <a:ahLst/>
              <a:cxnLst/>
              <a:rect l="l" t="t" r="r" b="b"/>
              <a:pathLst>
                <a:path w="20319" h="20319">
                  <a:moveTo>
                    <a:pt x="15659" y="0"/>
                  </a:moveTo>
                  <a:lnTo>
                    <a:pt x="4521" y="0"/>
                  </a:lnTo>
                  <a:lnTo>
                    <a:pt x="0" y="4508"/>
                  </a:lnTo>
                  <a:lnTo>
                    <a:pt x="0" y="7851"/>
                  </a:lnTo>
                  <a:lnTo>
                    <a:pt x="2699" y="18351"/>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9" name="object 54">
              <a:extLst>
                <a:ext uri="{FF2B5EF4-FFF2-40B4-BE49-F238E27FC236}">
                  <a16:creationId xmlns:a16="http://schemas.microsoft.com/office/drawing/2014/main" id="{60108C06-C239-41D6-BF9D-9D22570B2F8F}"/>
                </a:ext>
              </a:extLst>
            </p:cNvPr>
            <p:cNvSpPr/>
            <p:nvPr/>
          </p:nvSpPr>
          <p:spPr>
            <a:xfrm>
              <a:off x="3282721"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0" name="object 55">
              <a:extLst>
                <a:ext uri="{FF2B5EF4-FFF2-40B4-BE49-F238E27FC236}">
                  <a16:creationId xmlns:a16="http://schemas.microsoft.com/office/drawing/2014/main" id="{6AA429B2-4494-4ADD-9C4E-9F9336522493}"/>
                </a:ext>
              </a:extLst>
            </p:cNvPr>
            <p:cNvSpPr/>
            <p:nvPr/>
          </p:nvSpPr>
          <p:spPr>
            <a:xfrm>
              <a:off x="3334608"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1" name="object 56">
              <a:extLst>
                <a:ext uri="{FF2B5EF4-FFF2-40B4-BE49-F238E27FC236}">
                  <a16:creationId xmlns:a16="http://schemas.microsoft.com/office/drawing/2014/main" id="{B225525D-D603-4EEE-A7DE-D51C165D81D8}"/>
                </a:ext>
              </a:extLst>
            </p:cNvPr>
            <p:cNvSpPr/>
            <p:nvPr/>
          </p:nvSpPr>
          <p:spPr>
            <a:xfrm>
              <a:off x="338649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2" name="object 57">
              <a:extLst>
                <a:ext uri="{FF2B5EF4-FFF2-40B4-BE49-F238E27FC236}">
                  <a16:creationId xmlns:a16="http://schemas.microsoft.com/office/drawing/2014/main" id="{D489A3A9-2158-4B62-9EF2-944B45D5269C}"/>
                </a:ext>
              </a:extLst>
            </p:cNvPr>
            <p:cNvSpPr/>
            <p:nvPr/>
          </p:nvSpPr>
          <p:spPr>
            <a:xfrm>
              <a:off x="3438383"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3" name="object 58">
              <a:extLst>
                <a:ext uri="{FF2B5EF4-FFF2-40B4-BE49-F238E27FC236}">
                  <a16:creationId xmlns:a16="http://schemas.microsoft.com/office/drawing/2014/main" id="{13C8E11B-C9B3-45E7-AE1F-D5E891666C70}"/>
                </a:ext>
              </a:extLst>
            </p:cNvPr>
            <p:cNvSpPr/>
            <p:nvPr/>
          </p:nvSpPr>
          <p:spPr>
            <a:xfrm>
              <a:off x="390537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4" name="object 59">
              <a:extLst>
                <a:ext uri="{FF2B5EF4-FFF2-40B4-BE49-F238E27FC236}">
                  <a16:creationId xmlns:a16="http://schemas.microsoft.com/office/drawing/2014/main" id="{DBEEFE1B-AFF0-4ECA-8F4B-1DA1B1BB1069}"/>
                </a:ext>
              </a:extLst>
            </p:cNvPr>
            <p:cNvSpPr/>
            <p:nvPr/>
          </p:nvSpPr>
          <p:spPr>
            <a:xfrm>
              <a:off x="3957259"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5" name="object 60">
              <a:extLst>
                <a:ext uri="{FF2B5EF4-FFF2-40B4-BE49-F238E27FC236}">
                  <a16:creationId xmlns:a16="http://schemas.microsoft.com/office/drawing/2014/main" id="{6F6CD759-6A9C-42D7-ABC4-3AA7A09C5D74}"/>
                </a:ext>
              </a:extLst>
            </p:cNvPr>
            <p:cNvSpPr/>
            <p:nvPr/>
          </p:nvSpPr>
          <p:spPr>
            <a:xfrm>
              <a:off x="400914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6" name="object 61">
              <a:extLst>
                <a:ext uri="{FF2B5EF4-FFF2-40B4-BE49-F238E27FC236}">
                  <a16:creationId xmlns:a16="http://schemas.microsoft.com/office/drawing/2014/main" id="{08B7CDE3-0C6E-4083-AA57-97C17E1D2260}"/>
                </a:ext>
              </a:extLst>
            </p:cNvPr>
            <p:cNvSpPr/>
            <p:nvPr/>
          </p:nvSpPr>
          <p:spPr>
            <a:xfrm>
              <a:off x="4061034"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7" name="object 62">
              <a:extLst>
                <a:ext uri="{FF2B5EF4-FFF2-40B4-BE49-F238E27FC236}">
                  <a16:creationId xmlns:a16="http://schemas.microsoft.com/office/drawing/2014/main" id="{91C79260-DCC2-4566-BFC5-9F97CE36B42B}"/>
                </a:ext>
              </a:extLst>
            </p:cNvPr>
            <p:cNvSpPr/>
            <p:nvPr/>
          </p:nvSpPr>
          <p:spPr>
            <a:xfrm>
              <a:off x="411292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17471" y="18359"/>
                  </a:lnTo>
                  <a:lnTo>
                    <a:pt x="20180" y="7826"/>
                  </a:lnTo>
                  <a:lnTo>
                    <a:pt x="20180" y="4508"/>
                  </a:lnTo>
                  <a:lnTo>
                    <a:pt x="15659" y="0"/>
                  </a:lnTo>
                  <a:close/>
                </a:path>
              </a:pathLst>
            </a:custGeom>
            <a:solidFill>
              <a:srgbClr val="FFFFFF"/>
            </a:solidFill>
          </p:spPr>
          <p:txBody>
            <a:bodyPr wrap="square" lIns="0" tIns="0" rIns="0" bIns="0" rtlCol="0"/>
            <a:lstStyle/>
            <a:p>
              <a:endParaRPr sz="324"/>
            </a:p>
          </p:txBody>
        </p:sp>
        <p:sp>
          <p:nvSpPr>
            <p:cNvPr id="218" name="object 63">
              <a:extLst>
                <a:ext uri="{FF2B5EF4-FFF2-40B4-BE49-F238E27FC236}">
                  <a16:creationId xmlns:a16="http://schemas.microsoft.com/office/drawing/2014/main" id="{799607A4-BE81-44B1-828E-365B9C1C0831}"/>
                </a:ext>
              </a:extLst>
            </p:cNvPr>
            <p:cNvSpPr/>
            <p:nvPr/>
          </p:nvSpPr>
          <p:spPr>
            <a:xfrm>
              <a:off x="3242994" y="198340"/>
              <a:ext cx="8255" cy="17780"/>
            </a:xfrm>
            <a:custGeom>
              <a:avLst/>
              <a:gdLst/>
              <a:ahLst/>
              <a:cxnLst/>
              <a:rect l="l" t="t" r="r" b="b"/>
              <a:pathLst>
                <a:path w="8254" h="17779">
                  <a:moveTo>
                    <a:pt x="3497" y="0"/>
                  </a:moveTo>
                  <a:lnTo>
                    <a:pt x="0" y="0"/>
                  </a:lnTo>
                  <a:lnTo>
                    <a:pt x="6343" y="17330"/>
                  </a:lnTo>
                  <a:lnTo>
                    <a:pt x="8019" y="15659"/>
                  </a:lnTo>
                  <a:lnTo>
                    <a:pt x="8019" y="4508"/>
                  </a:lnTo>
                  <a:lnTo>
                    <a:pt x="3497" y="0"/>
                  </a:lnTo>
                  <a:close/>
                </a:path>
              </a:pathLst>
            </a:custGeom>
            <a:solidFill>
              <a:srgbClr val="FFFFFF"/>
            </a:solidFill>
          </p:spPr>
          <p:txBody>
            <a:bodyPr wrap="square" lIns="0" tIns="0" rIns="0" bIns="0" rtlCol="0"/>
            <a:lstStyle/>
            <a:p>
              <a:endParaRPr sz="324"/>
            </a:p>
          </p:txBody>
        </p:sp>
        <p:sp>
          <p:nvSpPr>
            <p:cNvPr id="219" name="object 64">
              <a:extLst>
                <a:ext uri="{FF2B5EF4-FFF2-40B4-BE49-F238E27FC236}">
                  <a16:creationId xmlns:a16="http://schemas.microsoft.com/office/drawing/2014/main" id="{8E9FCEB8-7AA8-4398-B084-B7582950F178}"/>
                </a:ext>
              </a:extLst>
            </p:cNvPr>
            <p:cNvSpPr/>
            <p:nvPr/>
          </p:nvSpPr>
          <p:spPr>
            <a:xfrm>
              <a:off x="3282721"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0" name="object 65">
              <a:extLst>
                <a:ext uri="{FF2B5EF4-FFF2-40B4-BE49-F238E27FC236}">
                  <a16:creationId xmlns:a16="http://schemas.microsoft.com/office/drawing/2014/main" id="{8F5B4D47-B2DD-4ED2-9CE3-068408376318}"/>
                </a:ext>
              </a:extLst>
            </p:cNvPr>
            <p:cNvSpPr/>
            <p:nvPr/>
          </p:nvSpPr>
          <p:spPr>
            <a:xfrm>
              <a:off x="3334608"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1" name="object 66">
              <a:extLst>
                <a:ext uri="{FF2B5EF4-FFF2-40B4-BE49-F238E27FC236}">
                  <a16:creationId xmlns:a16="http://schemas.microsoft.com/office/drawing/2014/main" id="{19612715-ACD4-409C-BF4B-5101E311D481}"/>
                </a:ext>
              </a:extLst>
            </p:cNvPr>
            <p:cNvSpPr/>
            <p:nvPr/>
          </p:nvSpPr>
          <p:spPr>
            <a:xfrm>
              <a:off x="338649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2" name="object 67">
              <a:extLst>
                <a:ext uri="{FF2B5EF4-FFF2-40B4-BE49-F238E27FC236}">
                  <a16:creationId xmlns:a16="http://schemas.microsoft.com/office/drawing/2014/main" id="{A36025B0-E137-4137-82EE-3E9D796E8B13}"/>
                </a:ext>
              </a:extLst>
            </p:cNvPr>
            <p:cNvSpPr/>
            <p:nvPr/>
          </p:nvSpPr>
          <p:spPr>
            <a:xfrm>
              <a:off x="3438383"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3" name="object 68">
              <a:extLst>
                <a:ext uri="{FF2B5EF4-FFF2-40B4-BE49-F238E27FC236}">
                  <a16:creationId xmlns:a16="http://schemas.microsoft.com/office/drawing/2014/main" id="{854CB5CC-F68E-4CE8-BB22-B7B105FCDEDC}"/>
                </a:ext>
              </a:extLst>
            </p:cNvPr>
            <p:cNvSpPr/>
            <p:nvPr/>
          </p:nvSpPr>
          <p:spPr>
            <a:xfrm>
              <a:off x="3490271" y="198340"/>
              <a:ext cx="20320" cy="20320"/>
            </a:xfrm>
            <a:custGeom>
              <a:avLst/>
              <a:gdLst/>
              <a:ahLst/>
              <a:cxnLst/>
              <a:rect l="l" t="t" r="r" b="b"/>
              <a:pathLst>
                <a:path w="20320" h="20320">
                  <a:moveTo>
                    <a:pt x="9674" y="0"/>
                  </a:moveTo>
                  <a:lnTo>
                    <a:pt x="4521" y="0"/>
                  </a:lnTo>
                  <a:lnTo>
                    <a:pt x="0" y="4508"/>
                  </a:lnTo>
                  <a:lnTo>
                    <a:pt x="0" y="15659"/>
                  </a:lnTo>
                  <a:lnTo>
                    <a:pt x="4521" y="20167"/>
                  </a:lnTo>
                  <a:lnTo>
                    <a:pt x="15659" y="20167"/>
                  </a:lnTo>
                  <a:lnTo>
                    <a:pt x="20180" y="15659"/>
                  </a:lnTo>
                  <a:lnTo>
                    <a:pt x="20180" y="12733"/>
                  </a:lnTo>
                  <a:lnTo>
                    <a:pt x="9674" y="0"/>
                  </a:lnTo>
                  <a:close/>
                </a:path>
              </a:pathLst>
            </a:custGeom>
            <a:solidFill>
              <a:srgbClr val="FFFFFF"/>
            </a:solidFill>
          </p:spPr>
          <p:txBody>
            <a:bodyPr wrap="square" lIns="0" tIns="0" rIns="0" bIns="0" rtlCol="0"/>
            <a:lstStyle/>
            <a:p>
              <a:endParaRPr sz="324"/>
            </a:p>
          </p:txBody>
        </p:sp>
        <p:sp>
          <p:nvSpPr>
            <p:cNvPr id="224" name="object 69">
              <a:extLst>
                <a:ext uri="{FF2B5EF4-FFF2-40B4-BE49-F238E27FC236}">
                  <a16:creationId xmlns:a16="http://schemas.microsoft.com/office/drawing/2014/main" id="{1249E9AA-E592-4261-A420-85692AACB2DF}"/>
                </a:ext>
              </a:extLst>
            </p:cNvPr>
            <p:cNvSpPr/>
            <p:nvPr/>
          </p:nvSpPr>
          <p:spPr>
            <a:xfrm>
              <a:off x="3853484" y="198340"/>
              <a:ext cx="20320" cy="20320"/>
            </a:xfrm>
            <a:custGeom>
              <a:avLst/>
              <a:gdLst/>
              <a:ahLst/>
              <a:cxnLst/>
              <a:rect l="l" t="t" r="r" b="b"/>
              <a:pathLst>
                <a:path w="20320" h="20320">
                  <a:moveTo>
                    <a:pt x="15659" y="0"/>
                  </a:moveTo>
                  <a:lnTo>
                    <a:pt x="10518" y="0"/>
                  </a:lnTo>
                  <a:lnTo>
                    <a:pt x="0" y="1274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5" name="object 70">
              <a:extLst>
                <a:ext uri="{FF2B5EF4-FFF2-40B4-BE49-F238E27FC236}">
                  <a16:creationId xmlns:a16="http://schemas.microsoft.com/office/drawing/2014/main" id="{60E57261-8568-48CB-ABCA-E3439902FE2E}"/>
                </a:ext>
              </a:extLst>
            </p:cNvPr>
            <p:cNvSpPr/>
            <p:nvPr/>
          </p:nvSpPr>
          <p:spPr>
            <a:xfrm>
              <a:off x="3905372"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6" name="object 71">
              <a:extLst>
                <a:ext uri="{FF2B5EF4-FFF2-40B4-BE49-F238E27FC236}">
                  <a16:creationId xmlns:a16="http://schemas.microsoft.com/office/drawing/2014/main" id="{E4F28A9C-23CD-4F11-829E-65E72830AF69}"/>
                </a:ext>
              </a:extLst>
            </p:cNvPr>
            <p:cNvSpPr/>
            <p:nvPr/>
          </p:nvSpPr>
          <p:spPr>
            <a:xfrm>
              <a:off x="3957259"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7" name="object 72">
              <a:extLst>
                <a:ext uri="{FF2B5EF4-FFF2-40B4-BE49-F238E27FC236}">
                  <a16:creationId xmlns:a16="http://schemas.microsoft.com/office/drawing/2014/main" id="{94F7B97E-8C1D-40E0-BC4F-3D525BC427DC}"/>
                </a:ext>
              </a:extLst>
            </p:cNvPr>
            <p:cNvSpPr/>
            <p:nvPr/>
          </p:nvSpPr>
          <p:spPr>
            <a:xfrm>
              <a:off x="400914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8" name="object 73">
              <a:extLst>
                <a:ext uri="{FF2B5EF4-FFF2-40B4-BE49-F238E27FC236}">
                  <a16:creationId xmlns:a16="http://schemas.microsoft.com/office/drawing/2014/main" id="{3B3BF37C-AA70-4941-ADB7-0FD435B79E1B}"/>
                </a:ext>
              </a:extLst>
            </p:cNvPr>
            <p:cNvSpPr/>
            <p:nvPr/>
          </p:nvSpPr>
          <p:spPr>
            <a:xfrm>
              <a:off x="4061034"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9" name="object 74">
              <a:extLst>
                <a:ext uri="{FF2B5EF4-FFF2-40B4-BE49-F238E27FC236}">
                  <a16:creationId xmlns:a16="http://schemas.microsoft.com/office/drawing/2014/main" id="{D4227B11-76DD-4E9E-A817-35E31F5AB383}"/>
                </a:ext>
              </a:extLst>
            </p:cNvPr>
            <p:cNvSpPr/>
            <p:nvPr/>
          </p:nvSpPr>
          <p:spPr>
            <a:xfrm>
              <a:off x="4112922" y="198340"/>
              <a:ext cx="8255" cy="17780"/>
            </a:xfrm>
            <a:custGeom>
              <a:avLst/>
              <a:gdLst/>
              <a:ahLst/>
              <a:cxnLst/>
              <a:rect l="l" t="t" r="r" b="b"/>
              <a:pathLst>
                <a:path w="8254" h="17779">
                  <a:moveTo>
                    <a:pt x="8012" y="0"/>
                  </a:moveTo>
                  <a:lnTo>
                    <a:pt x="4521" y="0"/>
                  </a:lnTo>
                  <a:lnTo>
                    <a:pt x="0" y="4508"/>
                  </a:lnTo>
                  <a:lnTo>
                    <a:pt x="0" y="15659"/>
                  </a:lnTo>
                  <a:lnTo>
                    <a:pt x="1671" y="17325"/>
                  </a:lnTo>
                  <a:lnTo>
                    <a:pt x="8012" y="0"/>
                  </a:lnTo>
                  <a:close/>
                </a:path>
              </a:pathLst>
            </a:custGeom>
            <a:solidFill>
              <a:srgbClr val="FFFFFF"/>
            </a:solidFill>
          </p:spPr>
          <p:txBody>
            <a:bodyPr wrap="square" lIns="0" tIns="0" rIns="0" bIns="0" rtlCol="0"/>
            <a:lstStyle/>
            <a:p>
              <a:endParaRPr sz="324"/>
            </a:p>
          </p:txBody>
        </p:sp>
        <p:sp>
          <p:nvSpPr>
            <p:cNvPr id="230" name="object 75">
              <a:extLst>
                <a:ext uri="{FF2B5EF4-FFF2-40B4-BE49-F238E27FC236}">
                  <a16:creationId xmlns:a16="http://schemas.microsoft.com/office/drawing/2014/main" id="{A737DD4C-E431-459C-92EC-B247DCE1B35E}"/>
                </a:ext>
              </a:extLst>
            </p:cNvPr>
            <p:cNvSpPr/>
            <p:nvPr/>
          </p:nvSpPr>
          <p:spPr>
            <a:xfrm>
              <a:off x="328272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1" name="object 76">
              <a:extLst>
                <a:ext uri="{FF2B5EF4-FFF2-40B4-BE49-F238E27FC236}">
                  <a16:creationId xmlns:a16="http://schemas.microsoft.com/office/drawing/2014/main" id="{B2EE1DA8-09B8-468E-BCA0-5C66A9144DB1}"/>
                </a:ext>
              </a:extLst>
            </p:cNvPr>
            <p:cNvSpPr/>
            <p:nvPr/>
          </p:nvSpPr>
          <p:spPr>
            <a:xfrm>
              <a:off x="3334608"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2" name="object 77">
              <a:extLst>
                <a:ext uri="{FF2B5EF4-FFF2-40B4-BE49-F238E27FC236}">
                  <a16:creationId xmlns:a16="http://schemas.microsoft.com/office/drawing/2014/main" id="{4F8414AC-FF49-4E36-A9AD-471196EF414E}"/>
                </a:ext>
              </a:extLst>
            </p:cNvPr>
            <p:cNvSpPr/>
            <p:nvPr/>
          </p:nvSpPr>
          <p:spPr>
            <a:xfrm>
              <a:off x="338649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3" name="object 78">
              <a:extLst>
                <a:ext uri="{FF2B5EF4-FFF2-40B4-BE49-F238E27FC236}">
                  <a16:creationId xmlns:a16="http://schemas.microsoft.com/office/drawing/2014/main" id="{71DCF65D-0D92-421D-82EC-8395A1A66D83}"/>
                </a:ext>
              </a:extLst>
            </p:cNvPr>
            <p:cNvSpPr/>
            <p:nvPr/>
          </p:nvSpPr>
          <p:spPr>
            <a:xfrm>
              <a:off x="3438383"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4" name="object 79">
              <a:extLst>
                <a:ext uri="{FF2B5EF4-FFF2-40B4-BE49-F238E27FC236}">
                  <a16:creationId xmlns:a16="http://schemas.microsoft.com/office/drawing/2014/main" id="{237E6913-713C-4CF1-9952-096CE044E1C9}"/>
                </a:ext>
              </a:extLst>
            </p:cNvPr>
            <p:cNvSpPr/>
            <p:nvPr/>
          </p:nvSpPr>
          <p:spPr>
            <a:xfrm>
              <a:off x="349027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5" name="object 80">
              <a:extLst>
                <a:ext uri="{FF2B5EF4-FFF2-40B4-BE49-F238E27FC236}">
                  <a16:creationId xmlns:a16="http://schemas.microsoft.com/office/drawing/2014/main" id="{05419E5D-0E0D-436A-A983-64BDA1A9C57E}"/>
                </a:ext>
              </a:extLst>
            </p:cNvPr>
            <p:cNvSpPr/>
            <p:nvPr/>
          </p:nvSpPr>
          <p:spPr>
            <a:xfrm>
              <a:off x="3542159" y="246265"/>
              <a:ext cx="20320" cy="20320"/>
            </a:xfrm>
            <a:custGeom>
              <a:avLst/>
              <a:gdLst/>
              <a:ahLst/>
              <a:cxnLst/>
              <a:rect l="l" t="t" r="r" b="b"/>
              <a:pathLst>
                <a:path w="20320" h="20320">
                  <a:moveTo>
                    <a:pt x="12870" y="0"/>
                  </a:moveTo>
                  <a:lnTo>
                    <a:pt x="4521" y="0"/>
                  </a:lnTo>
                  <a:lnTo>
                    <a:pt x="0" y="4508"/>
                  </a:lnTo>
                  <a:lnTo>
                    <a:pt x="0" y="15659"/>
                  </a:lnTo>
                  <a:lnTo>
                    <a:pt x="4521" y="20167"/>
                  </a:lnTo>
                  <a:lnTo>
                    <a:pt x="15659" y="20167"/>
                  </a:lnTo>
                  <a:lnTo>
                    <a:pt x="20180" y="15659"/>
                  </a:lnTo>
                  <a:lnTo>
                    <a:pt x="20180" y="4508"/>
                  </a:lnTo>
                  <a:lnTo>
                    <a:pt x="18990" y="3322"/>
                  </a:lnTo>
                  <a:lnTo>
                    <a:pt x="12870" y="0"/>
                  </a:lnTo>
                  <a:close/>
                </a:path>
              </a:pathLst>
            </a:custGeom>
            <a:solidFill>
              <a:srgbClr val="FFFFFF"/>
            </a:solidFill>
          </p:spPr>
          <p:txBody>
            <a:bodyPr wrap="square" lIns="0" tIns="0" rIns="0" bIns="0" rtlCol="0"/>
            <a:lstStyle/>
            <a:p>
              <a:endParaRPr sz="324"/>
            </a:p>
          </p:txBody>
        </p:sp>
        <p:sp>
          <p:nvSpPr>
            <p:cNvPr id="236" name="object 81">
              <a:extLst>
                <a:ext uri="{FF2B5EF4-FFF2-40B4-BE49-F238E27FC236}">
                  <a16:creationId xmlns:a16="http://schemas.microsoft.com/office/drawing/2014/main" id="{B29AA640-03DA-4B90-95A0-864D548D0EF3}"/>
                </a:ext>
              </a:extLst>
            </p:cNvPr>
            <p:cNvSpPr/>
            <p:nvPr/>
          </p:nvSpPr>
          <p:spPr>
            <a:xfrm>
              <a:off x="3801596" y="246265"/>
              <a:ext cx="20320" cy="20320"/>
            </a:xfrm>
            <a:custGeom>
              <a:avLst/>
              <a:gdLst/>
              <a:ahLst/>
              <a:cxnLst/>
              <a:rect l="l" t="t" r="r" b="b"/>
              <a:pathLst>
                <a:path w="20320" h="20320">
                  <a:moveTo>
                    <a:pt x="15659" y="0"/>
                  </a:moveTo>
                  <a:lnTo>
                    <a:pt x="7319" y="0"/>
                  </a:lnTo>
                  <a:lnTo>
                    <a:pt x="1178" y="3333"/>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7" name="object 82">
              <a:extLst>
                <a:ext uri="{FF2B5EF4-FFF2-40B4-BE49-F238E27FC236}">
                  <a16:creationId xmlns:a16="http://schemas.microsoft.com/office/drawing/2014/main" id="{F3811173-ABF8-46BF-BAAE-A7A5105A000A}"/>
                </a:ext>
              </a:extLst>
            </p:cNvPr>
            <p:cNvSpPr/>
            <p:nvPr/>
          </p:nvSpPr>
          <p:spPr>
            <a:xfrm>
              <a:off x="385348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8" name="object 83">
              <a:extLst>
                <a:ext uri="{FF2B5EF4-FFF2-40B4-BE49-F238E27FC236}">
                  <a16:creationId xmlns:a16="http://schemas.microsoft.com/office/drawing/2014/main" id="{3F5084CA-0704-4404-A610-0B98B77ECA64}"/>
                </a:ext>
              </a:extLst>
            </p:cNvPr>
            <p:cNvSpPr/>
            <p:nvPr/>
          </p:nvSpPr>
          <p:spPr>
            <a:xfrm>
              <a:off x="3905372"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9" name="object 84">
              <a:extLst>
                <a:ext uri="{FF2B5EF4-FFF2-40B4-BE49-F238E27FC236}">
                  <a16:creationId xmlns:a16="http://schemas.microsoft.com/office/drawing/2014/main" id="{7FF4312A-1AAD-40CE-8B8B-C6504CBAC69D}"/>
                </a:ext>
              </a:extLst>
            </p:cNvPr>
            <p:cNvSpPr/>
            <p:nvPr/>
          </p:nvSpPr>
          <p:spPr>
            <a:xfrm>
              <a:off x="3957259"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0" name="object 85">
              <a:extLst>
                <a:ext uri="{FF2B5EF4-FFF2-40B4-BE49-F238E27FC236}">
                  <a16:creationId xmlns:a16="http://schemas.microsoft.com/office/drawing/2014/main" id="{BD998134-D7C4-425C-B59C-4752CB02E65B}"/>
                </a:ext>
              </a:extLst>
            </p:cNvPr>
            <p:cNvSpPr/>
            <p:nvPr/>
          </p:nvSpPr>
          <p:spPr>
            <a:xfrm>
              <a:off x="400914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1" name="object 86">
              <a:extLst>
                <a:ext uri="{FF2B5EF4-FFF2-40B4-BE49-F238E27FC236}">
                  <a16:creationId xmlns:a16="http://schemas.microsoft.com/office/drawing/2014/main" id="{1B5677AF-EBFD-409D-AA1D-7E8E916CA99C}"/>
                </a:ext>
              </a:extLst>
            </p:cNvPr>
            <p:cNvSpPr/>
            <p:nvPr/>
          </p:nvSpPr>
          <p:spPr>
            <a:xfrm>
              <a:off x="406103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2" name="object 87">
              <a:extLst>
                <a:ext uri="{FF2B5EF4-FFF2-40B4-BE49-F238E27FC236}">
                  <a16:creationId xmlns:a16="http://schemas.microsoft.com/office/drawing/2014/main" id="{B739C9A5-966D-4093-B832-1A60B82D3D25}"/>
                </a:ext>
              </a:extLst>
            </p:cNvPr>
            <p:cNvSpPr/>
            <p:nvPr/>
          </p:nvSpPr>
          <p:spPr>
            <a:xfrm>
              <a:off x="3289874" y="294189"/>
              <a:ext cx="13335" cy="17145"/>
            </a:xfrm>
            <a:custGeom>
              <a:avLst/>
              <a:gdLst/>
              <a:ahLst/>
              <a:cxnLst/>
              <a:rect l="l" t="t" r="r" b="b"/>
              <a:pathLst>
                <a:path w="13335" h="17145">
                  <a:moveTo>
                    <a:pt x="8506" y="0"/>
                  </a:moveTo>
                  <a:lnTo>
                    <a:pt x="0" y="0"/>
                  </a:lnTo>
                  <a:lnTo>
                    <a:pt x="5532" y="9107"/>
                  </a:lnTo>
                  <a:lnTo>
                    <a:pt x="11540" y="17141"/>
                  </a:lnTo>
                  <a:lnTo>
                    <a:pt x="13027" y="15659"/>
                  </a:lnTo>
                  <a:lnTo>
                    <a:pt x="13027" y="4508"/>
                  </a:lnTo>
                  <a:lnTo>
                    <a:pt x="8506" y="0"/>
                  </a:lnTo>
                  <a:close/>
                </a:path>
              </a:pathLst>
            </a:custGeom>
            <a:solidFill>
              <a:srgbClr val="FFFFFF"/>
            </a:solidFill>
          </p:spPr>
          <p:txBody>
            <a:bodyPr wrap="square" lIns="0" tIns="0" rIns="0" bIns="0" rtlCol="0"/>
            <a:lstStyle/>
            <a:p>
              <a:endParaRPr sz="324"/>
            </a:p>
          </p:txBody>
        </p:sp>
        <p:sp>
          <p:nvSpPr>
            <p:cNvPr id="243" name="object 88">
              <a:extLst>
                <a:ext uri="{FF2B5EF4-FFF2-40B4-BE49-F238E27FC236}">
                  <a16:creationId xmlns:a16="http://schemas.microsoft.com/office/drawing/2014/main" id="{16719953-E109-44EF-BB4A-CA4A1614F0B4}"/>
                </a:ext>
              </a:extLst>
            </p:cNvPr>
            <p:cNvSpPr/>
            <p:nvPr/>
          </p:nvSpPr>
          <p:spPr>
            <a:xfrm>
              <a:off x="3334608"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4" name="object 89">
              <a:extLst>
                <a:ext uri="{FF2B5EF4-FFF2-40B4-BE49-F238E27FC236}">
                  <a16:creationId xmlns:a16="http://schemas.microsoft.com/office/drawing/2014/main" id="{9CB65FB4-5E12-4951-83DC-613667EB28E7}"/>
                </a:ext>
              </a:extLst>
            </p:cNvPr>
            <p:cNvSpPr/>
            <p:nvPr/>
          </p:nvSpPr>
          <p:spPr>
            <a:xfrm>
              <a:off x="338649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5" name="object 90">
              <a:extLst>
                <a:ext uri="{FF2B5EF4-FFF2-40B4-BE49-F238E27FC236}">
                  <a16:creationId xmlns:a16="http://schemas.microsoft.com/office/drawing/2014/main" id="{3E625B92-AC4D-4CE4-92BA-68408CA8A5AB}"/>
                </a:ext>
              </a:extLst>
            </p:cNvPr>
            <p:cNvSpPr/>
            <p:nvPr/>
          </p:nvSpPr>
          <p:spPr>
            <a:xfrm>
              <a:off x="343838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6" name="object 91">
              <a:extLst>
                <a:ext uri="{FF2B5EF4-FFF2-40B4-BE49-F238E27FC236}">
                  <a16:creationId xmlns:a16="http://schemas.microsoft.com/office/drawing/2014/main" id="{0E534706-F3FF-4BFB-A3C7-484F32916258}"/>
                </a:ext>
              </a:extLst>
            </p:cNvPr>
            <p:cNvSpPr/>
            <p:nvPr/>
          </p:nvSpPr>
          <p:spPr>
            <a:xfrm>
              <a:off x="3490271"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7" name="object 92">
              <a:extLst>
                <a:ext uri="{FF2B5EF4-FFF2-40B4-BE49-F238E27FC236}">
                  <a16:creationId xmlns:a16="http://schemas.microsoft.com/office/drawing/2014/main" id="{4CACF6E9-7670-4694-B5E6-F01F7843683F}"/>
                </a:ext>
              </a:extLst>
            </p:cNvPr>
            <p:cNvSpPr/>
            <p:nvPr/>
          </p:nvSpPr>
          <p:spPr>
            <a:xfrm>
              <a:off x="35421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8" name="object 93">
              <a:extLst>
                <a:ext uri="{FF2B5EF4-FFF2-40B4-BE49-F238E27FC236}">
                  <a16:creationId xmlns:a16="http://schemas.microsoft.com/office/drawing/2014/main" id="{9A881B92-0DD0-4E34-AD82-A417B0FF2C40}"/>
                </a:ext>
              </a:extLst>
            </p:cNvPr>
            <p:cNvSpPr/>
            <p:nvPr/>
          </p:nvSpPr>
          <p:spPr>
            <a:xfrm>
              <a:off x="359404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9" name="object 94">
              <a:extLst>
                <a:ext uri="{FF2B5EF4-FFF2-40B4-BE49-F238E27FC236}">
                  <a16:creationId xmlns:a16="http://schemas.microsoft.com/office/drawing/2014/main" id="{6816833F-E35C-4276-87A7-0D39A5EF8EA1}"/>
                </a:ext>
              </a:extLst>
            </p:cNvPr>
            <p:cNvSpPr/>
            <p:nvPr/>
          </p:nvSpPr>
          <p:spPr>
            <a:xfrm>
              <a:off x="364593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0" name="object 95">
              <a:extLst>
                <a:ext uri="{FF2B5EF4-FFF2-40B4-BE49-F238E27FC236}">
                  <a16:creationId xmlns:a16="http://schemas.microsoft.com/office/drawing/2014/main" id="{C2C9AD0A-0119-4ED3-999D-8B4842FB0A47}"/>
                </a:ext>
              </a:extLst>
            </p:cNvPr>
            <p:cNvSpPr/>
            <p:nvPr/>
          </p:nvSpPr>
          <p:spPr>
            <a:xfrm>
              <a:off x="369782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1" name="object 96">
              <a:extLst>
                <a:ext uri="{FF2B5EF4-FFF2-40B4-BE49-F238E27FC236}">
                  <a16:creationId xmlns:a16="http://schemas.microsoft.com/office/drawing/2014/main" id="{B9F27870-B409-4733-804F-0835EF95C5A1}"/>
                </a:ext>
              </a:extLst>
            </p:cNvPr>
            <p:cNvSpPr/>
            <p:nvPr/>
          </p:nvSpPr>
          <p:spPr>
            <a:xfrm>
              <a:off x="374970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2" name="object 97">
              <a:extLst>
                <a:ext uri="{FF2B5EF4-FFF2-40B4-BE49-F238E27FC236}">
                  <a16:creationId xmlns:a16="http://schemas.microsoft.com/office/drawing/2014/main" id="{32D7CA9F-DB04-42C7-9639-12B20BFBDFE7}"/>
                </a:ext>
              </a:extLst>
            </p:cNvPr>
            <p:cNvSpPr/>
            <p:nvPr/>
          </p:nvSpPr>
          <p:spPr>
            <a:xfrm>
              <a:off x="380159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3" name="object 98">
              <a:extLst>
                <a:ext uri="{FF2B5EF4-FFF2-40B4-BE49-F238E27FC236}">
                  <a16:creationId xmlns:a16="http://schemas.microsoft.com/office/drawing/2014/main" id="{05528DF2-24E2-455D-BEC8-17C7EE0BC459}"/>
                </a:ext>
              </a:extLst>
            </p:cNvPr>
            <p:cNvSpPr/>
            <p:nvPr/>
          </p:nvSpPr>
          <p:spPr>
            <a:xfrm>
              <a:off x="3853484"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4" name="object 99">
              <a:extLst>
                <a:ext uri="{FF2B5EF4-FFF2-40B4-BE49-F238E27FC236}">
                  <a16:creationId xmlns:a16="http://schemas.microsoft.com/office/drawing/2014/main" id="{1686638F-922F-4690-9769-F2A6353122F0}"/>
                </a:ext>
              </a:extLst>
            </p:cNvPr>
            <p:cNvSpPr/>
            <p:nvPr/>
          </p:nvSpPr>
          <p:spPr>
            <a:xfrm>
              <a:off x="390537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5" name="object 100">
              <a:extLst>
                <a:ext uri="{FF2B5EF4-FFF2-40B4-BE49-F238E27FC236}">
                  <a16:creationId xmlns:a16="http://schemas.microsoft.com/office/drawing/2014/main" id="{5C543170-5DC2-4278-96FF-ADEC21855889}"/>
                </a:ext>
              </a:extLst>
            </p:cNvPr>
            <p:cNvSpPr/>
            <p:nvPr/>
          </p:nvSpPr>
          <p:spPr>
            <a:xfrm>
              <a:off x="39572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6" name="object 101">
              <a:extLst>
                <a:ext uri="{FF2B5EF4-FFF2-40B4-BE49-F238E27FC236}">
                  <a16:creationId xmlns:a16="http://schemas.microsoft.com/office/drawing/2014/main" id="{DBF79F5A-E961-4574-86B1-7DF08004CD1F}"/>
                </a:ext>
              </a:extLst>
            </p:cNvPr>
            <p:cNvSpPr/>
            <p:nvPr/>
          </p:nvSpPr>
          <p:spPr>
            <a:xfrm>
              <a:off x="400914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7" name="object 102">
              <a:extLst>
                <a:ext uri="{FF2B5EF4-FFF2-40B4-BE49-F238E27FC236}">
                  <a16:creationId xmlns:a16="http://schemas.microsoft.com/office/drawing/2014/main" id="{24689F3A-5BB8-4F49-A72A-F0B85CDAE1E6}"/>
                </a:ext>
              </a:extLst>
            </p:cNvPr>
            <p:cNvSpPr/>
            <p:nvPr/>
          </p:nvSpPr>
          <p:spPr>
            <a:xfrm>
              <a:off x="4061034" y="294189"/>
              <a:ext cx="13335" cy="17145"/>
            </a:xfrm>
            <a:custGeom>
              <a:avLst/>
              <a:gdLst/>
              <a:ahLst/>
              <a:cxnLst/>
              <a:rect l="l" t="t" r="r" b="b"/>
              <a:pathLst>
                <a:path w="13335" h="17145">
                  <a:moveTo>
                    <a:pt x="13021" y="0"/>
                  </a:moveTo>
                  <a:lnTo>
                    <a:pt x="4521" y="0"/>
                  </a:lnTo>
                  <a:lnTo>
                    <a:pt x="0" y="4508"/>
                  </a:lnTo>
                  <a:lnTo>
                    <a:pt x="0" y="15659"/>
                  </a:lnTo>
                  <a:lnTo>
                    <a:pt x="1483" y="17138"/>
                  </a:lnTo>
                  <a:lnTo>
                    <a:pt x="7488" y="9107"/>
                  </a:lnTo>
                  <a:lnTo>
                    <a:pt x="13021" y="0"/>
                  </a:lnTo>
                  <a:close/>
                </a:path>
              </a:pathLst>
            </a:custGeom>
            <a:solidFill>
              <a:srgbClr val="FFFFFF"/>
            </a:solidFill>
          </p:spPr>
          <p:txBody>
            <a:bodyPr wrap="square" lIns="0" tIns="0" rIns="0" bIns="0" rtlCol="0"/>
            <a:lstStyle/>
            <a:p>
              <a:endParaRPr sz="324"/>
            </a:p>
          </p:txBody>
        </p:sp>
        <p:sp>
          <p:nvSpPr>
            <p:cNvPr id="258" name="object 103">
              <a:extLst>
                <a:ext uri="{FF2B5EF4-FFF2-40B4-BE49-F238E27FC236}">
                  <a16:creationId xmlns:a16="http://schemas.microsoft.com/office/drawing/2014/main" id="{4B249B21-D8B8-4081-B3EC-14952014F8FE}"/>
                </a:ext>
              </a:extLst>
            </p:cNvPr>
            <p:cNvSpPr/>
            <p:nvPr/>
          </p:nvSpPr>
          <p:spPr>
            <a:xfrm>
              <a:off x="3334608" y="342113"/>
              <a:ext cx="20320" cy="20320"/>
            </a:xfrm>
            <a:custGeom>
              <a:avLst/>
              <a:gdLst/>
              <a:ahLst/>
              <a:cxnLst/>
              <a:rect l="l" t="t" r="r" b="b"/>
              <a:pathLst>
                <a:path w="20320" h="20320">
                  <a:moveTo>
                    <a:pt x="15659" y="0"/>
                  </a:moveTo>
                  <a:lnTo>
                    <a:pt x="4521" y="0"/>
                  </a:lnTo>
                  <a:lnTo>
                    <a:pt x="0" y="4508"/>
                  </a:lnTo>
                  <a:lnTo>
                    <a:pt x="0" y="10673"/>
                  </a:lnTo>
                  <a:lnTo>
                    <a:pt x="8629"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9" name="object 104">
              <a:extLst>
                <a:ext uri="{FF2B5EF4-FFF2-40B4-BE49-F238E27FC236}">
                  <a16:creationId xmlns:a16="http://schemas.microsoft.com/office/drawing/2014/main" id="{8417B82C-D12F-4D15-B9D6-776242C6C12D}"/>
                </a:ext>
              </a:extLst>
            </p:cNvPr>
            <p:cNvSpPr/>
            <p:nvPr/>
          </p:nvSpPr>
          <p:spPr>
            <a:xfrm>
              <a:off x="3386495"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0" name="object 105">
              <a:extLst>
                <a:ext uri="{FF2B5EF4-FFF2-40B4-BE49-F238E27FC236}">
                  <a16:creationId xmlns:a16="http://schemas.microsoft.com/office/drawing/2014/main" id="{3ADFE083-3736-4FC2-A9FB-4E39732EA273}"/>
                </a:ext>
              </a:extLst>
            </p:cNvPr>
            <p:cNvSpPr/>
            <p:nvPr/>
          </p:nvSpPr>
          <p:spPr>
            <a:xfrm>
              <a:off x="343838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1" name="object 106">
              <a:extLst>
                <a:ext uri="{FF2B5EF4-FFF2-40B4-BE49-F238E27FC236}">
                  <a16:creationId xmlns:a16="http://schemas.microsoft.com/office/drawing/2014/main" id="{C30FE6FD-B3B9-4879-B9EF-F4C5E81EE0C9}"/>
                </a:ext>
              </a:extLst>
            </p:cNvPr>
            <p:cNvSpPr/>
            <p:nvPr/>
          </p:nvSpPr>
          <p:spPr>
            <a:xfrm>
              <a:off x="3490271"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2" name="object 107">
              <a:extLst>
                <a:ext uri="{FF2B5EF4-FFF2-40B4-BE49-F238E27FC236}">
                  <a16:creationId xmlns:a16="http://schemas.microsoft.com/office/drawing/2014/main" id="{0E74262E-1040-4A2D-916C-4D6FF494030D}"/>
                </a:ext>
              </a:extLst>
            </p:cNvPr>
            <p:cNvSpPr/>
            <p:nvPr/>
          </p:nvSpPr>
          <p:spPr>
            <a:xfrm>
              <a:off x="35421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3" name="object 108">
              <a:extLst>
                <a:ext uri="{FF2B5EF4-FFF2-40B4-BE49-F238E27FC236}">
                  <a16:creationId xmlns:a16="http://schemas.microsoft.com/office/drawing/2014/main" id="{7A5E086C-ADF3-4D09-881E-F75DA3449307}"/>
                </a:ext>
              </a:extLst>
            </p:cNvPr>
            <p:cNvSpPr/>
            <p:nvPr/>
          </p:nvSpPr>
          <p:spPr>
            <a:xfrm>
              <a:off x="359404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4" name="object 109">
              <a:extLst>
                <a:ext uri="{FF2B5EF4-FFF2-40B4-BE49-F238E27FC236}">
                  <a16:creationId xmlns:a16="http://schemas.microsoft.com/office/drawing/2014/main" id="{86EE62DA-80CD-4750-AA81-7DB8DE07D2E3}"/>
                </a:ext>
              </a:extLst>
            </p:cNvPr>
            <p:cNvSpPr/>
            <p:nvPr/>
          </p:nvSpPr>
          <p:spPr>
            <a:xfrm>
              <a:off x="364593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5" name="object 110">
              <a:extLst>
                <a:ext uri="{FF2B5EF4-FFF2-40B4-BE49-F238E27FC236}">
                  <a16:creationId xmlns:a16="http://schemas.microsoft.com/office/drawing/2014/main" id="{C49397E4-C0BF-41E9-8FEA-01F0BF75C687}"/>
                </a:ext>
              </a:extLst>
            </p:cNvPr>
            <p:cNvSpPr/>
            <p:nvPr/>
          </p:nvSpPr>
          <p:spPr>
            <a:xfrm>
              <a:off x="369782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6" name="object 111">
              <a:extLst>
                <a:ext uri="{FF2B5EF4-FFF2-40B4-BE49-F238E27FC236}">
                  <a16:creationId xmlns:a16="http://schemas.microsoft.com/office/drawing/2014/main" id="{516C767B-5F86-48FF-B44A-BF9FEA21580F}"/>
                </a:ext>
              </a:extLst>
            </p:cNvPr>
            <p:cNvSpPr/>
            <p:nvPr/>
          </p:nvSpPr>
          <p:spPr>
            <a:xfrm>
              <a:off x="374970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7" name="object 112">
              <a:extLst>
                <a:ext uri="{FF2B5EF4-FFF2-40B4-BE49-F238E27FC236}">
                  <a16:creationId xmlns:a16="http://schemas.microsoft.com/office/drawing/2014/main" id="{7CEDE4DD-E44F-4768-BF2E-5150140989F1}"/>
                </a:ext>
              </a:extLst>
            </p:cNvPr>
            <p:cNvSpPr/>
            <p:nvPr/>
          </p:nvSpPr>
          <p:spPr>
            <a:xfrm>
              <a:off x="380159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8" name="object 113">
              <a:extLst>
                <a:ext uri="{FF2B5EF4-FFF2-40B4-BE49-F238E27FC236}">
                  <a16:creationId xmlns:a16="http://schemas.microsoft.com/office/drawing/2014/main" id="{0CB7EDB6-B4B8-4705-885D-8B359B98BD30}"/>
                </a:ext>
              </a:extLst>
            </p:cNvPr>
            <p:cNvSpPr/>
            <p:nvPr/>
          </p:nvSpPr>
          <p:spPr>
            <a:xfrm>
              <a:off x="3853484"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9" name="object 114">
              <a:extLst>
                <a:ext uri="{FF2B5EF4-FFF2-40B4-BE49-F238E27FC236}">
                  <a16:creationId xmlns:a16="http://schemas.microsoft.com/office/drawing/2014/main" id="{13E2A87F-53B9-47C1-8C9B-6C1B91570A04}"/>
                </a:ext>
              </a:extLst>
            </p:cNvPr>
            <p:cNvSpPr/>
            <p:nvPr/>
          </p:nvSpPr>
          <p:spPr>
            <a:xfrm>
              <a:off x="390537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0" name="object 115">
              <a:extLst>
                <a:ext uri="{FF2B5EF4-FFF2-40B4-BE49-F238E27FC236}">
                  <a16:creationId xmlns:a16="http://schemas.microsoft.com/office/drawing/2014/main" id="{A623657A-F486-4624-9227-4FB7D94574B3}"/>
                </a:ext>
              </a:extLst>
            </p:cNvPr>
            <p:cNvSpPr/>
            <p:nvPr/>
          </p:nvSpPr>
          <p:spPr>
            <a:xfrm>
              <a:off x="39572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1" name="object 116">
              <a:extLst>
                <a:ext uri="{FF2B5EF4-FFF2-40B4-BE49-F238E27FC236}">
                  <a16:creationId xmlns:a16="http://schemas.microsoft.com/office/drawing/2014/main" id="{62FE476F-462B-4A03-9B7E-F6C6546EFB7C}"/>
                </a:ext>
              </a:extLst>
            </p:cNvPr>
            <p:cNvSpPr/>
            <p:nvPr/>
          </p:nvSpPr>
          <p:spPr>
            <a:xfrm>
              <a:off x="4009145" y="342113"/>
              <a:ext cx="20320" cy="20320"/>
            </a:xfrm>
            <a:custGeom>
              <a:avLst/>
              <a:gdLst/>
              <a:ahLst/>
              <a:cxnLst/>
              <a:rect l="l" t="t" r="r" b="b"/>
              <a:pathLst>
                <a:path w="20320" h="20320">
                  <a:moveTo>
                    <a:pt x="15659" y="0"/>
                  </a:moveTo>
                  <a:lnTo>
                    <a:pt x="4521" y="0"/>
                  </a:lnTo>
                  <a:lnTo>
                    <a:pt x="0" y="4508"/>
                  </a:lnTo>
                  <a:lnTo>
                    <a:pt x="0" y="15659"/>
                  </a:lnTo>
                  <a:lnTo>
                    <a:pt x="4521" y="20167"/>
                  </a:lnTo>
                  <a:lnTo>
                    <a:pt x="11547" y="20167"/>
                  </a:lnTo>
                  <a:lnTo>
                    <a:pt x="20180" y="10669"/>
                  </a:lnTo>
                  <a:lnTo>
                    <a:pt x="20180" y="4508"/>
                  </a:lnTo>
                  <a:lnTo>
                    <a:pt x="15659" y="0"/>
                  </a:lnTo>
                  <a:close/>
                </a:path>
              </a:pathLst>
            </a:custGeom>
            <a:solidFill>
              <a:srgbClr val="FFFFFF"/>
            </a:solidFill>
          </p:spPr>
          <p:txBody>
            <a:bodyPr wrap="square" lIns="0" tIns="0" rIns="0" bIns="0" rtlCol="0"/>
            <a:lstStyle/>
            <a:p>
              <a:endParaRPr sz="324"/>
            </a:p>
          </p:txBody>
        </p:sp>
        <p:sp>
          <p:nvSpPr>
            <p:cNvPr id="272" name="object 117">
              <a:extLst>
                <a:ext uri="{FF2B5EF4-FFF2-40B4-BE49-F238E27FC236}">
                  <a16:creationId xmlns:a16="http://schemas.microsoft.com/office/drawing/2014/main" id="{91859DC4-DCFC-4FA2-A5C8-88AA2FDF4B47}"/>
                </a:ext>
              </a:extLst>
            </p:cNvPr>
            <p:cNvSpPr/>
            <p:nvPr/>
          </p:nvSpPr>
          <p:spPr>
            <a:xfrm>
              <a:off x="3386495" y="390037"/>
              <a:ext cx="20320" cy="20320"/>
            </a:xfrm>
            <a:custGeom>
              <a:avLst/>
              <a:gdLst/>
              <a:ahLst/>
              <a:cxnLst/>
              <a:rect l="l" t="t" r="r" b="b"/>
              <a:pathLst>
                <a:path w="20320" h="20320">
                  <a:moveTo>
                    <a:pt x="15659" y="0"/>
                  </a:moveTo>
                  <a:lnTo>
                    <a:pt x="4521" y="0"/>
                  </a:lnTo>
                  <a:lnTo>
                    <a:pt x="0" y="4508"/>
                  </a:lnTo>
                  <a:lnTo>
                    <a:pt x="0" y="13129"/>
                  </a:lnTo>
                  <a:lnTo>
                    <a:pt x="9412"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3" name="object 118">
              <a:extLst>
                <a:ext uri="{FF2B5EF4-FFF2-40B4-BE49-F238E27FC236}">
                  <a16:creationId xmlns:a16="http://schemas.microsoft.com/office/drawing/2014/main" id="{5E98C740-36D8-47C8-8BFB-E4130203296F}"/>
                </a:ext>
              </a:extLst>
            </p:cNvPr>
            <p:cNvSpPr/>
            <p:nvPr/>
          </p:nvSpPr>
          <p:spPr>
            <a:xfrm>
              <a:off x="343838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4" name="object 119">
              <a:extLst>
                <a:ext uri="{FF2B5EF4-FFF2-40B4-BE49-F238E27FC236}">
                  <a16:creationId xmlns:a16="http://schemas.microsoft.com/office/drawing/2014/main" id="{1F65273A-D25F-4A73-9D09-264C04237DCE}"/>
                </a:ext>
              </a:extLst>
            </p:cNvPr>
            <p:cNvSpPr/>
            <p:nvPr/>
          </p:nvSpPr>
          <p:spPr>
            <a:xfrm>
              <a:off x="3490271"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5" name="object 120">
              <a:extLst>
                <a:ext uri="{FF2B5EF4-FFF2-40B4-BE49-F238E27FC236}">
                  <a16:creationId xmlns:a16="http://schemas.microsoft.com/office/drawing/2014/main" id="{52400153-CAFB-4940-8464-C91A6C980502}"/>
                </a:ext>
              </a:extLst>
            </p:cNvPr>
            <p:cNvSpPr/>
            <p:nvPr/>
          </p:nvSpPr>
          <p:spPr>
            <a:xfrm>
              <a:off x="354215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6" name="object 121">
              <a:extLst>
                <a:ext uri="{FF2B5EF4-FFF2-40B4-BE49-F238E27FC236}">
                  <a16:creationId xmlns:a16="http://schemas.microsoft.com/office/drawing/2014/main" id="{192267D8-6BB3-4DE8-A0A8-83C9C7E60AFF}"/>
                </a:ext>
              </a:extLst>
            </p:cNvPr>
            <p:cNvSpPr/>
            <p:nvPr/>
          </p:nvSpPr>
          <p:spPr>
            <a:xfrm>
              <a:off x="359404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7" name="object 122">
              <a:extLst>
                <a:ext uri="{FF2B5EF4-FFF2-40B4-BE49-F238E27FC236}">
                  <a16:creationId xmlns:a16="http://schemas.microsoft.com/office/drawing/2014/main" id="{E5280981-2FC4-4A34-A32C-3C4A189B2391}"/>
                </a:ext>
              </a:extLst>
            </p:cNvPr>
            <p:cNvSpPr/>
            <p:nvPr/>
          </p:nvSpPr>
          <p:spPr>
            <a:xfrm>
              <a:off x="364593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8" name="object 123">
              <a:extLst>
                <a:ext uri="{FF2B5EF4-FFF2-40B4-BE49-F238E27FC236}">
                  <a16:creationId xmlns:a16="http://schemas.microsoft.com/office/drawing/2014/main" id="{EBBB47E5-C65A-4CE9-A413-936B4B5D25C5}"/>
                </a:ext>
              </a:extLst>
            </p:cNvPr>
            <p:cNvSpPr/>
            <p:nvPr/>
          </p:nvSpPr>
          <p:spPr>
            <a:xfrm>
              <a:off x="369782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9" name="object 124">
              <a:extLst>
                <a:ext uri="{FF2B5EF4-FFF2-40B4-BE49-F238E27FC236}">
                  <a16:creationId xmlns:a16="http://schemas.microsoft.com/office/drawing/2014/main" id="{F3BA046B-B236-404D-B0FD-0138C47724C9}"/>
                </a:ext>
              </a:extLst>
            </p:cNvPr>
            <p:cNvSpPr/>
            <p:nvPr/>
          </p:nvSpPr>
          <p:spPr>
            <a:xfrm>
              <a:off x="374970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0" name="object 125">
              <a:extLst>
                <a:ext uri="{FF2B5EF4-FFF2-40B4-BE49-F238E27FC236}">
                  <a16:creationId xmlns:a16="http://schemas.microsoft.com/office/drawing/2014/main" id="{98C7A876-9574-4355-95A1-BDDF095C1618}"/>
                </a:ext>
              </a:extLst>
            </p:cNvPr>
            <p:cNvSpPr/>
            <p:nvPr/>
          </p:nvSpPr>
          <p:spPr>
            <a:xfrm>
              <a:off x="380159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1" name="object 126">
              <a:extLst>
                <a:ext uri="{FF2B5EF4-FFF2-40B4-BE49-F238E27FC236}">
                  <a16:creationId xmlns:a16="http://schemas.microsoft.com/office/drawing/2014/main" id="{D234130A-9A90-4E41-806C-FDF9E74883B4}"/>
                </a:ext>
              </a:extLst>
            </p:cNvPr>
            <p:cNvSpPr/>
            <p:nvPr/>
          </p:nvSpPr>
          <p:spPr>
            <a:xfrm>
              <a:off x="3853484"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2" name="object 127">
              <a:extLst>
                <a:ext uri="{FF2B5EF4-FFF2-40B4-BE49-F238E27FC236}">
                  <a16:creationId xmlns:a16="http://schemas.microsoft.com/office/drawing/2014/main" id="{6CF857BF-3E64-4DAA-AB64-D0418B8F3BAC}"/>
                </a:ext>
              </a:extLst>
            </p:cNvPr>
            <p:cNvSpPr/>
            <p:nvPr/>
          </p:nvSpPr>
          <p:spPr>
            <a:xfrm>
              <a:off x="390537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3" name="object 128">
              <a:extLst>
                <a:ext uri="{FF2B5EF4-FFF2-40B4-BE49-F238E27FC236}">
                  <a16:creationId xmlns:a16="http://schemas.microsoft.com/office/drawing/2014/main" id="{442A5A3E-1BEB-4ECA-9968-CE8D2C91DE98}"/>
                </a:ext>
              </a:extLst>
            </p:cNvPr>
            <p:cNvSpPr/>
            <p:nvPr/>
          </p:nvSpPr>
          <p:spPr>
            <a:xfrm>
              <a:off x="3957259" y="390037"/>
              <a:ext cx="20320" cy="20320"/>
            </a:xfrm>
            <a:custGeom>
              <a:avLst/>
              <a:gdLst/>
              <a:ahLst/>
              <a:cxnLst/>
              <a:rect l="l" t="t" r="r" b="b"/>
              <a:pathLst>
                <a:path w="20320" h="20320">
                  <a:moveTo>
                    <a:pt x="15659" y="0"/>
                  </a:moveTo>
                  <a:lnTo>
                    <a:pt x="4521" y="0"/>
                  </a:lnTo>
                  <a:lnTo>
                    <a:pt x="0" y="4508"/>
                  </a:lnTo>
                  <a:lnTo>
                    <a:pt x="0" y="15659"/>
                  </a:lnTo>
                  <a:lnTo>
                    <a:pt x="4521" y="20167"/>
                  </a:lnTo>
                  <a:lnTo>
                    <a:pt x="10765" y="20167"/>
                  </a:lnTo>
                  <a:lnTo>
                    <a:pt x="20180" y="13127"/>
                  </a:lnTo>
                  <a:lnTo>
                    <a:pt x="20180" y="4508"/>
                  </a:lnTo>
                  <a:lnTo>
                    <a:pt x="15659" y="0"/>
                  </a:lnTo>
                  <a:close/>
                </a:path>
              </a:pathLst>
            </a:custGeom>
            <a:solidFill>
              <a:srgbClr val="FFFFFF"/>
            </a:solidFill>
          </p:spPr>
          <p:txBody>
            <a:bodyPr wrap="square" lIns="0" tIns="0" rIns="0" bIns="0" rtlCol="0"/>
            <a:lstStyle/>
            <a:p>
              <a:endParaRPr sz="324"/>
            </a:p>
          </p:txBody>
        </p:sp>
        <p:sp>
          <p:nvSpPr>
            <p:cNvPr id="284" name="object 129">
              <a:extLst>
                <a:ext uri="{FF2B5EF4-FFF2-40B4-BE49-F238E27FC236}">
                  <a16:creationId xmlns:a16="http://schemas.microsoft.com/office/drawing/2014/main" id="{90107F6D-0E3B-49C6-A652-C3FBB4A42384}"/>
                </a:ext>
              </a:extLst>
            </p:cNvPr>
            <p:cNvSpPr/>
            <p:nvPr/>
          </p:nvSpPr>
          <p:spPr>
            <a:xfrm>
              <a:off x="3440188" y="437960"/>
              <a:ext cx="18415" cy="13970"/>
            </a:xfrm>
            <a:custGeom>
              <a:avLst/>
              <a:gdLst/>
              <a:ahLst/>
              <a:cxnLst/>
              <a:rect l="l" t="t" r="r" b="b"/>
              <a:pathLst>
                <a:path w="18414" h="13970">
                  <a:moveTo>
                    <a:pt x="13855" y="0"/>
                  </a:moveTo>
                  <a:lnTo>
                    <a:pt x="2717" y="0"/>
                  </a:lnTo>
                  <a:lnTo>
                    <a:pt x="0" y="2709"/>
                  </a:lnTo>
                  <a:lnTo>
                    <a:pt x="18376" y="13873"/>
                  </a:lnTo>
                  <a:lnTo>
                    <a:pt x="18376" y="4508"/>
                  </a:lnTo>
                  <a:lnTo>
                    <a:pt x="13855" y="0"/>
                  </a:lnTo>
                  <a:close/>
                </a:path>
              </a:pathLst>
            </a:custGeom>
            <a:solidFill>
              <a:srgbClr val="FFFFFF"/>
            </a:solidFill>
          </p:spPr>
          <p:txBody>
            <a:bodyPr wrap="square" lIns="0" tIns="0" rIns="0" bIns="0" rtlCol="0"/>
            <a:lstStyle/>
            <a:p>
              <a:endParaRPr sz="324"/>
            </a:p>
          </p:txBody>
        </p:sp>
        <p:sp>
          <p:nvSpPr>
            <p:cNvPr id="285" name="object 130">
              <a:extLst>
                <a:ext uri="{FF2B5EF4-FFF2-40B4-BE49-F238E27FC236}">
                  <a16:creationId xmlns:a16="http://schemas.microsoft.com/office/drawing/2014/main" id="{900F56F0-8A6F-44FB-8405-82CA1B65DED5}"/>
                </a:ext>
              </a:extLst>
            </p:cNvPr>
            <p:cNvSpPr/>
            <p:nvPr/>
          </p:nvSpPr>
          <p:spPr>
            <a:xfrm>
              <a:off x="3490271"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6" name="object 131">
              <a:extLst>
                <a:ext uri="{FF2B5EF4-FFF2-40B4-BE49-F238E27FC236}">
                  <a16:creationId xmlns:a16="http://schemas.microsoft.com/office/drawing/2014/main" id="{12C62FE1-916E-4EFD-9B1A-DAB123ADE64C}"/>
                </a:ext>
              </a:extLst>
            </p:cNvPr>
            <p:cNvSpPr/>
            <p:nvPr/>
          </p:nvSpPr>
          <p:spPr>
            <a:xfrm>
              <a:off x="354215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7" name="object 132">
              <a:extLst>
                <a:ext uri="{FF2B5EF4-FFF2-40B4-BE49-F238E27FC236}">
                  <a16:creationId xmlns:a16="http://schemas.microsoft.com/office/drawing/2014/main" id="{5363DF88-3B1C-4D3F-8F90-0215965B167F}"/>
                </a:ext>
              </a:extLst>
            </p:cNvPr>
            <p:cNvSpPr/>
            <p:nvPr/>
          </p:nvSpPr>
          <p:spPr>
            <a:xfrm>
              <a:off x="359404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8" name="object 133">
              <a:extLst>
                <a:ext uri="{FF2B5EF4-FFF2-40B4-BE49-F238E27FC236}">
                  <a16:creationId xmlns:a16="http://schemas.microsoft.com/office/drawing/2014/main" id="{B9842818-CA3B-4123-AB24-DA2142FBDFE2}"/>
                </a:ext>
              </a:extLst>
            </p:cNvPr>
            <p:cNvSpPr/>
            <p:nvPr/>
          </p:nvSpPr>
          <p:spPr>
            <a:xfrm>
              <a:off x="3645933"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9" name="object 134">
              <a:extLst>
                <a:ext uri="{FF2B5EF4-FFF2-40B4-BE49-F238E27FC236}">
                  <a16:creationId xmlns:a16="http://schemas.microsoft.com/office/drawing/2014/main" id="{46931542-D8C0-4856-B136-F151F7950235}"/>
                </a:ext>
              </a:extLst>
            </p:cNvPr>
            <p:cNvSpPr/>
            <p:nvPr/>
          </p:nvSpPr>
          <p:spPr>
            <a:xfrm>
              <a:off x="3697822"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0" name="object 135">
              <a:extLst>
                <a:ext uri="{FF2B5EF4-FFF2-40B4-BE49-F238E27FC236}">
                  <a16:creationId xmlns:a16="http://schemas.microsoft.com/office/drawing/2014/main" id="{08170950-5ACB-4DAD-82B0-A06A66042382}"/>
                </a:ext>
              </a:extLst>
            </p:cNvPr>
            <p:cNvSpPr/>
            <p:nvPr/>
          </p:nvSpPr>
          <p:spPr>
            <a:xfrm>
              <a:off x="374970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1" name="object 136">
              <a:extLst>
                <a:ext uri="{FF2B5EF4-FFF2-40B4-BE49-F238E27FC236}">
                  <a16:creationId xmlns:a16="http://schemas.microsoft.com/office/drawing/2014/main" id="{C26A5F12-1E6B-4D6B-9302-46CD1A089717}"/>
                </a:ext>
              </a:extLst>
            </p:cNvPr>
            <p:cNvSpPr/>
            <p:nvPr/>
          </p:nvSpPr>
          <p:spPr>
            <a:xfrm>
              <a:off x="380159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2" name="object 137">
              <a:extLst>
                <a:ext uri="{FF2B5EF4-FFF2-40B4-BE49-F238E27FC236}">
                  <a16:creationId xmlns:a16="http://schemas.microsoft.com/office/drawing/2014/main" id="{26AC374B-B6C2-4E19-8F64-7148C1E615C8}"/>
                </a:ext>
              </a:extLst>
            </p:cNvPr>
            <p:cNvSpPr/>
            <p:nvPr/>
          </p:nvSpPr>
          <p:spPr>
            <a:xfrm>
              <a:off x="3853484"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3" name="object 138">
              <a:extLst>
                <a:ext uri="{FF2B5EF4-FFF2-40B4-BE49-F238E27FC236}">
                  <a16:creationId xmlns:a16="http://schemas.microsoft.com/office/drawing/2014/main" id="{430A5A94-F53C-446B-8815-480A4E29C7CE}"/>
                </a:ext>
              </a:extLst>
            </p:cNvPr>
            <p:cNvSpPr/>
            <p:nvPr/>
          </p:nvSpPr>
          <p:spPr>
            <a:xfrm>
              <a:off x="3905372" y="437960"/>
              <a:ext cx="18415" cy="13970"/>
            </a:xfrm>
            <a:custGeom>
              <a:avLst/>
              <a:gdLst/>
              <a:ahLst/>
              <a:cxnLst/>
              <a:rect l="l" t="t" r="r" b="b"/>
              <a:pathLst>
                <a:path w="18414" h="13970">
                  <a:moveTo>
                    <a:pt x="15659" y="0"/>
                  </a:moveTo>
                  <a:lnTo>
                    <a:pt x="4521" y="0"/>
                  </a:lnTo>
                  <a:lnTo>
                    <a:pt x="0" y="4508"/>
                  </a:lnTo>
                  <a:lnTo>
                    <a:pt x="0" y="13871"/>
                  </a:lnTo>
                  <a:lnTo>
                    <a:pt x="18375" y="2708"/>
                  </a:lnTo>
                  <a:lnTo>
                    <a:pt x="15659" y="0"/>
                  </a:lnTo>
                  <a:close/>
                </a:path>
              </a:pathLst>
            </a:custGeom>
            <a:solidFill>
              <a:srgbClr val="FFFFFF"/>
            </a:solidFill>
          </p:spPr>
          <p:txBody>
            <a:bodyPr wrap="square" lIns="0" tIns="0" rIns="0" bIns="0" rtlCol="0"/>
            <a:lstStyle/>
            <a:p>
              <a:endParaRPr sz="324"/>
            </a:p>
          </p:txBody>
        </p:sp>
        <p:sp>
          <p:nvSpPr>
            <p:cNvPr id="294" name="object 139">
              <a:extLst>
                <a:ext uri="{FF2B5EF4-FFF2-40B4-BE49-F238E27FC236}">
                  <a16:creationId xmlns:a16="http://schemas.microsoft.com/office/drawing/2014/main" id="{E163CDBB-15E6-459D-8561-9D999163C628}"/>
                </a:ext>
              </a:extLst>
            </p:cNvPr>
            <p:cNvSpPr/>
            <p:nvPr/>
          </p:nvSpPr>
          <p:spPr>
            <a:xfrm>
              <a:off x="3544416" y="485885"/>
              <a:ext cx="18415" cy="6985"/>
            </a:xfrm>
            <a:custGeom>
              <a:avLst/>
              <a:gdLst/>
              <a:ahLst/>
              <a:cxnLst/>
              <a:rect l="l" t="t" r="r" b="b"/>
              <a:pathLst>
                <a:path w="18414" h="6984">
                  <a:moveTo>
                    <a:pt x="13402" y="0"/>
                  </a:moveTo>
                  <a:lnTo>
                    <a:pt x="2264" y="0"/>
                  </a:lnTo>
                  <a:lnTo>
                    <a:pt x="0" y="2257"/>
                  </a:lnTo>
                  <a:lnTo>
                    <a:pt x="17923" y="6866"/>
                  </a:lnTo>
                  <a:lnTo>
                    <a:pt x="17923" y="4508"/>
                  </a:lnTo>
                  <a:lnTo>
                    <a:pt x="13402" y="0"/>
                  </a:lnTo>
                  <a:close/>
                </a:path>
              </a:pathLst>
            </a:custGeom>
            <a:solidFill>
              <a:srgbClr val="FFFFFF"/>
            </a:solidFill>
          </p:spPr>
          <p:txBody>
            <a:bodyPr wrap="square" lIns="0" tIns="0" rIns="0" bIns="0" rtlCol="0"/>
            <a:lstStyle/>
            <a:p>
              <a:endParaRPr sz="324"/>
            </a:p>
          </p:txBody>
        </p:sp>
        <p:sp>
          <p:nvSpPr>
            <p:cNvPr id="295" name="object 140">
              <a:extLst>
                <a:ext uri="{FF2B5EF4-FFF2-40B4-BE49-F238E27FC236}">
                  <a16:creationId xmlns:a16="http://schemas.microsoft.com/office/drawing/2014/main" id="{FFC694C9-A017-40C9-B6AF-60DD868E20C8}"/>
                </a:ext>
              </a:extLst>
            </p:cNvPr>
            <p:cNvSpPr/>
            <p:nvPr/>
          </p:nvSpPr>
          <p:spPr>
            <a:xfrm>
              <a:off x="3594046" y="485885"/>
              <a:ext cx="20320" cy="17780"/>
            </a:xfrm>
            <a:custGeom>
              <a:avLst/>
              <a:gdLst/>
              <a:ahLst/>
              <a:cxnLst/>
              <a:rect l="l" t="t" r="r" b="b"/>
              <a:pathLst>
                <a:path w="20320" h="17779">
                  <a:moveTo>
                    <a:pt x="15659" y="0"/>
                  </a:moveTo>
                  <a:lnTo>
                    <a:pt x="4521" y="0"/>
                  </a:lnTo>
                  <a:lnTo>
                    <a:pt x="0" y="4508"/>
                  </a:lnTo>
                  <a:lnTo>
                    <a:pt x="0" y="14388"/>
                  </a:lnTo>
                  <a:lnTo>
                    <a:pt x="18606" y="17228"/>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6" name="object 141">
              <a:extLst>
                <a:ext uri="{FF2B5EF4-FFF2-40B4-BE49-F238E27FC236}">
                  <a16:creationId xmlns:a16="http://schemas.microsoft.com/office/drawing/2014/main" id="{7A66DC09-E0C4-4D8A-AA57-37BC4F797644}"/>
                </a:ext>
              </a:extLst>
            </p:cNvPr>
            <p:cNvSpPr/>
            <p:nvPr/>
          </p:nvSpPr>
          <p:spPr>
            <a:xfrm>
              <a:off x="3645933"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7" name="object 142">
              <a:extLst>
                <a:ext uri="{FF2B5EF4-FFF2-40B4-BE49-F238E27FC236}">
                  <a16:creationId xmlns:a16="http://schemas.microsoft.com/office/drawing/2014/main" id="{B02BC211-7E2C-4DA4-8183-FC69C9568424}"/>
                </a:ext>
              </a:extLst>
            </p:cNvPr>
            <p:cNvSpPr/>
            <p:nvPr/>
          </p:nvSpPr>
          <p:spPr>
            <a:xfrm>
              <a:off x="3697822"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8" name="object 143">
              <a:extLst>
                <a:ext uri="{FF2B5EF4-FFF2-40B4-BE49-F238E27FC236}">
                  <a16:creationId xmlns:a16="http://schemas.microsoft.com/office/drawing/2014/main" id="{2B6A58BB-28FD-4EAE-9EEE-437C5DD463E1}"/>
                </a:ext>
              </a:extLst>
            </p:cNvPr>
            <p:cNvSpPr/>
            <p:nvPr/>
          </p:nvSpPr>
          <p:spPr>
            <a:xfrm>
              <a:off x="3749709" y="485885"/>
              <a:ext cx="20320" cy="17780"/>
            </a:xfrm>
            <a:custGeom>
              <a:avLst/>
              <a:gdLst/>
              <a:ahLst/>
              <a:cxnLst/>
              <a:rect l="l" t="t" r="r" b="b"/>
              <a:pathLst>
                <a:path w="20320" h="17779">
                  <a:moveTo>
                    <a:pt x="15659" y="0"/>
                  </a:moveTo>
                  <a:lnTo>
                    <a:pt x="4521" y="0"/>
                  </a:lnTo>
                  <a:lnTo>
                    <a:pt x="0" y="4508"/>
                  </a:lnTo>
                  <a:lnTo>
                    <a:pt x="0" y="15659"/>
                  </a:lnTo>
                  <a:lnTo>
                    <a:pt x="1574" y="17228"/>
                  </a:lnTo>
                  <a:lnTo>
                    <a:pt x="20180" y="14389"/>
                  </a:lnTo>
                  <a:lnTo>
                    <a:pt x="20180" y="4508"/>
                  </a:lnTo>
                  <a:lnTo>
                    <a:pt x="15659" y="0"/>
                  </a:lnTo>
                  <a:close/>
                </a:path>
              </a:pathLst>
            </a:custGeom>
            <a:solidFill>
              <a:srgbClr val="FFFFFF"/>
            </a:solidFill>
          </p:spPr>
          <p:txBody>
            <a:bodyPr wrap="square" lIns="0" tIns="0" rIns="0" bIns="0" rtlCol="0"/>
            <a:lstStyle/>
            <a:p>
              <a:endParaRPr sz="324"/>
            </a:p>
          </p:txBody>
        </p:sp>
        <p:sp>
          <p:nvSpPr>
            <p:cNvPr id="299" name="object 144">
              <a:extLst>
                <a:ext uri="{FF2B5EF4-FFF2-40B4-BE49-F238E27FC236}">
                  <a16:creationId xmlns:a16="http://schemas.microsoft.com/office/drawing/2014/main" id="{733F1B52-7E3B-4C65-A04C-924C6DD0D18A}"/>
                </a:ext>
              </a:extLst>
            </p:cNvPr>
            <p:cNvSpPr/>
            <p:nvPr/>
          </p:nvSpPr>
          <p:spPr>
            <a:xfrm>
              <a:off x="3801596" y="485885"/>
              <a:ext cx="18415" cy="6985"/>
            </a:xfrm>
            <a:custGeom>
              <a:avLst/>
              <a:gdLst/>
              <a:ahLst/>
              <a:cxnLst/>
              <a:rect l="l" t="t" r="r" b="b"/>
              <a:pathLst>
                <a:path w="18414" h="6984">
                  <a:moveTo>
                    <a:pt x="15659" y="0"/>
                  </a:moveTo>
                  <a:lnTo>
                    <a:pt x="4521" y="0"/>
                  </a:lnTo>
                  <a:lnTo>
                    <a:pt x="0" y="4508"/>
                  </a:lnTo>
                  <a:lnTo>
                    <a:pt x="0" y="6866"/>
                  </a:lnTo>
                  <a:lnTo>
                    <a:pt x="17923" y="2258"/>
                  </a:lnTo>
                  <a:lnTo>
                    <a:pt x="15659" y="0"/>
                  </a:lnTo>
                  <a:close/>
                </a:path>
              </a:pathLst>
            </a:custGeom>
            <a:solidFill>
              <a:srgbClr val="FFFFFF"/>
            </a:solidFill>
          </p:spPr>
          <p:txBody>
            <a:bodyPr wrap="square" lIns="0" tIns="0" rIns="0" bIns="0" rtlCol="0"/>
            <a:lstStyle/>
            <a:p>
              <a:endParaRPr sz="324"/>
            </a:p>
          </p:txBody>
        </p:sp>
      </p:grpSp>
      <p:sp>
        <p:nvSpPr>
          <p:cNvPr id="300" name="object 9">
            <a:extLst>
              <a:ext uri="{FF2B5EF4-FFF2-40B4-BE49-F238E27FC236}">
                <a16:creationId xmlns:a16="http://schemas.microsoft.com/office/drawing/2014/main" id="{B6588A17-398E-4217-A3E3-340C99313FB2}"/>
              </a:ext>
            </a:extLst>
          </p:cNvPr>
          <p:cNvSpPr/>
          <p:nvPr userDrawn="1"/>
        </p:nvSpPr>
        <p:spPr>
          <a:xfrm>
            <a:off x="163713" y="4781460"/>
            <a:ext cx="468208" cy="947142"/>
          </a:xfrm>
          <a:custGeom>
            <a:avLst/>
            <a:gdLst/>
            <a:ahLst/>
            <a:cxnLst/>
            <a:rect l="l" t="t" r="r" b="b"/>
            <a:pathLst>
              <a:path w="466725" h="932814">
                <a:moveTo>
                  <a:pt x="0" y="0"/>
                </a:moveTo>
                <a:lnTo>
                  <a:pt x="0" y="225590"/>
                </a:lnTo>
                <a:lnTo>
                  <a:pt x="48488" y="230477"/>
                </a:lnTo>
                <a:lnTo>
                  <a:pt x="93648" y="244495"/>
                </a:lnTo>
                <a:lnTo>
                  <a:pt x="134514" y="266675"/>
                </a:lnTo>
                <a:lnTo>
                  <a:pt x="170118" y="296051"/>
                </a:lnTo>
                <a:lnTo>
                  <a:pt x="199493" y="331654"/>
                </a:lnTo>
                <a:lnTo>
                  <a:pt x="221672" y="372517"/>
                </a:lnTo>
                <a:lnTo>
                  <a:pt x="235689" y="417672"/>
                </a:lnTo>
                <a:lnTo>
                  <a:pt x="240576" y="466153"/>
                </a:lnTo>
                <a:lnTo>
                  <a:pt x="235689" y="514642"/>
                </a:lnTo>
                <a:lnTo>
                  <a:pt x="221672" y="559804"/>
                </a:lnTo>
                <a:lnTo>
                  <a:pt x="199493" y="600671"/>
                </a:lnTo>
                <a:lnTo>
                  <a:pt x="170118" y="636277"/>
                </a:lnTo>
                <a:lnTo>
                  <a:pt x="134514" y="665655"/>
                </a:lnTo>
                <a:lnTo>
                  <a:pt x="93648" y="687836"/>
                </a:lnTo>
                <a:lnTo>
                  <a:pt x="48488" y="701854"/>
                </a:lnTo>
                <a:lnTo>
                  <a:pt x="0" y="706742"/>
                </a:lnTo>
                <a:lnTo>
                  <a:pt x="0" y="932332"/>
                </a:lnTo>
                <a:lnTo>
                  <a:pt x="47662" y="929925"/>
                </a:lnTo>
                <a:lnTo>
                  <a:pt x="93948" y="922861"/>
                </a:lnTo>
                <a:lnTo>
                  <a:pt x="138622" y="911375"/>
                </a:lnTo>
                <a:lnTo>
                  <a:pt x="181452" y="895700"/>
                </a:lnTo>
                <a:lnTo>
                  <a:pt x="222201" y="876070"/>
                </a:lnTo>
                <a:lnTo>
                  <a:pt x="260637" y="852720"/>
                </a:lnTo>
                <a:lnTo>
                  <a:pt x="296524" y="825885"/>
                </a:lnTo>
                <a:lnTo>
                  <a:pt x="329628" y="795797"/>
                </a:lnTo>
                <a:lnTo>
                  <a:pt x="359715" y="762693"/>
                </a:lnTo>
                <a:lnTo>
                  <a:pt x="386551" y="726805"/>
                </a:lnTo>
                <a:lnTo>
                  <a:pt x="409902" y="688369"/>
                </a:lnTo>
                <a:lnTo>
                  <a:pt x="429532" y="647618"/>
                </a:lnTo>
                <a:lnTo>
                  <a:pt x="445208" y="604786"/>
                </a:lnTo>
                <a:lnTo>
                  <a:pt x="456695" y="560109"/>
                </a:lnTo>
                <a:lnTo>
                  <a:pt x="463759" y="513820"/>
                </a:lnTo>
                <a:lnTo>
                  <a:pt x="466166" y="466153"/>
                </a:lnTo>
                <a:lnTo>
                  <a:pt x="463759" y="418493"/>
                </a:lnTo>
                <a:lnTo>
                  <a:pt x="456695" y="372209"/>
                </a:lnTo>
                <a:lnTo>
                  <a:pt x="445208" y="327536"/>
                </a:lnTo>
                <a:lnTo>
                  <a:pt x="429532" y="284708"/>
                </a:lnTo>
                <a:lnTo>
                  <a:pt x="409902" y="243960"/>
                </a:lnTo>
                <a:lnTo>
                  <a:pt x="386551" y="205526"/>
                </a:lnTo>
                <a:lnTo>
                  <a:pt x="359715" y="169639"/>
                </a:lnTo>
                <a:lnTo>
                  <a:pt x="329628" y="136536"/>
                </a:lnTo>
                <a:lnTo>
                  <a:pt x="296524" y="106449"/>
                </a:lnTo>
                <a:lnTo>
                  <a:pt x="260637" y="79613"/>
                </a:lnTo>
                <a:lnTo>
                  <a:pt x="222201" y="56263"/>
                </a:lnTo>
                <a:lnTo>
                  <a:pt x="181452" y="36633"/>
                </a:lnTo>
                <a:lnTo>
                  <a:pt x="138622" y="20958"/>
                </a:lnTo>
                <a:lnTo>
                  <a:pt x="93948" y="9470"/>
                </a:lnTo>
                <a:lnTo>
                  <a:pt x="47662" y="2406"/>
                </a:lnTo>
                <a:lnTo>
                  <a:pt x="0" y="0"/>
                </a:lnTo>
                <a:close/>
              </a:path>
            </a:pathLst>
          </a:custGeom>
          <a:solidFill>
            <a:schemeClr val="accent3"/>
          </a:solidFill>
        </p:spPr>
        <p:txBody>
          <a:bodyPr wrap="square" lIns="0" tIns="0" rIns="0" bIns="0" rtlCol="0"/>
          <a:lstStyle/>
          <a:p>
            <a:endParaRPr sz="324"/>
          </a:p>
        </p:txBody>
      </p:sp>
      <p:sp>
        <p:nvSpPr>
          <p:cNvPr id="301" name="Text Placeholder 9">
            <a:extLst>
              <a:ext uri="{FF2B5EF4-FFF2-40B4-BE49-F238E27FC236}">
                <a16:creationId xmlns:a16="http://schemas.microsoft.com/office/drawing/2014/main" id="{CD827380-06F0-492D-B363-36043BC839C3}"/>
              </a:ext>
            </a:extLst>
          </p:cNvPr>
          <p:cNvSpPr>
            <a:spLocks noGrp="1"/>
          </p:cNvSpPr>
          <p:nvPr>
            <p:ph type="body" sz="quarter" idx="14"/>
          </p:nvPr>
        </p:nvSpPr>
        <p:spPr>
          <a:xfrm>
            <a:off x="473746" y="1498277"/>
            <a:ext cx="3730255" cy="1717665"/>
          </a:xfrm>
        </p:spPr>
        <p:txBody>
          <a:bodyPr wrap="square" anchor="b">
            <a:spAutoFit/>
          </a:bodyPr>
          <a:lstStyle>
            <a:lvl1pPr marL="0" indent="0">
              <a:lnSpc>
                <a:spcPct val="100000"/>
              </a:lnSpc>
              <a:buNone/>
              <a:defRPr sz="2600" b="1" cap="all" baseline="0">
                <a:solidFill>
                  <a:schemeClr val="bg1"/>
                </a:solidFill>
                <a:latin typeface="+mj-lt"/>
                <a:cs typeface="Arial" panose="020B0604020202020204" pitchFamily="34" charset="0"/>
              </a:defRPr>
            </a:lvl1pPr>
            <a:lvl2pPr marL="342878" indent="0">
              <a:buNone/>
              <a:defRPr/>
            </a:lvl2pPr>
          </a:lstStyle>
          <a:p>
            <a:pPr lvl="0"/>
            <a:r>
              <a:rPr lang="fr-FR"/>
              <a:t>Cliquez pour modifier les styles du texte du masque</a:t>
            </a:r>
          </a:p>
        </p:txBody>
      </p:sp>
      <p:sp>
        <p:nvSpPr>
          <p:cNvPr id="302" name="Text Placeholder 15">
            <a:extLst>
              <a:ext uri="{FF2B5EF4-FFF2-40B4-BE49-F238E27FC236}">
                <a16:creationId xmlns:a16="http://schemas.microsoft.com/office/drawing/2014/main" id="{AFE83D49-BD7A-4D42-BE23-D9C762DADBBC}"/>
              </a:ext>
            </a:extLst>
          </p:cNvPr>
          <p:cNvSpPr>
            <a:spLocks noGrp="1"/>
          </p:cNvSpPr>
          <p:nvPr>
            <p:ph type="body" sz="quarter" idx="15"/>
          </p:nvPr>
        </p:nvSpPr>
        <p:spPr>
          <a:xfrm>
            <a:off x="473746" y="3191048"/>
            <a:ext cx="3730255" cy="674031"/>
          </a:xfrm>
        </p:spPr>
        <p:txBody>
          <a:bodyPr wrap="square">
            <a:spAutoFit/>
          </a:bodyPr>
          <a:lstStyle>
            <a:lvl1pPr marL="0" indent="0">
              <a:buNone/>
              <a:defRPr sz="2100">
                <a:solidFill>
                  <a:schemeClr val="bg1"/>
                </a:solidFill>
                <a:latin typeface="Arial" panose="020B0604020202020204" pitchFamily="34" charset="0"/>
                <a:cs typeface="Arial" panose="020B0604020202020204" pitchFamily="34" charset="0"/>
              </a:defRPr>
            </a:lvl1pPr>
          </a:lstStyle>
          <a:p>
            <a:pPr lvl="0"/>
            <a:r>
              <a:rPr lang="fr-FR"/>
              <a:t>Cliquez pour modifier les styles du texte du masque</a:t>
            </a:r>
          </a:p>
        </p:txBody>
      </p:sp>
      <p:cxnSp>
        <p:nvCxnSpPr>
          <p:cNvPr id="304" name="Straight Connector 303">
            <a:extLst>
              <a:ext uri="{FF2B5EF4-FFF2-40B4-BE49-F238E27FC236}">
                <a16:creationId xmlns:a16="http://schemas.microsoft.com/office/drawing/2014/main" id="{EF60DA6A-DCEB-4913-BE48-796A9A0B844B}"/>
              </a:ext>
            </a:extLst>
          </p:cNvPr>
          <p:cNvCxnSpPr>
            <a:cxnSpLocks/>
          </p:cNvCxnSpPr>
          <p:nvPr userDrawn="1"/>
        </p:nvCxnSpPr>
        <p:spPr>
          <a:xfrm>
            <a:off x="795400" y="3895859"/>
            <a:ext cx="89116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05" name="Text Placeholder 37">
            <a:extLst>
              <a:ext uri="{FF2B5EF4-FFF2-40B4-BE49-F238E27FC236}">
                <a16:creationId xmlns:a16="http://schemas.microsoft.com/office/drawing/2014/main" id="{AF7B28B0-575B-4F92-BC55-7F5A112BD666}"/>
              </a:ext>
            </a:extLst>
          </p:cNvPr>
          <p:cNvSpPr>
            <a:spLocks noGrp="1"/>
          </p:cNvSpPr>
          <p:nvPr>
            <p:ph type="body" sz="quarter" idx="16"/>
          </p:nvPr>
        </p:nvSpPr>
        <p:spPr>
          <a:xfrm>
            <a:off x="471781" y="4157795"/>
            <a:ext cx="3702855" cy="480131"/>
          </a:xfrm>
        </p:spPr>
        <p:txBody>
          <a:bodyPr wrap="square">
            <a:spAutoFit/>
          </a:bodyPr>
          <a:lstStyle>
            <a:lvl1pPr marL="0" indent="0">
              <a:buNone/>
              <a:defRPr sz="1400" i="1">
                <a:solidFill>
                  <a:schemeClr val="bg1"/>
                </a:solidFill>
                <a:latin typeface="Arial" panose="020B0604020202020204" pitchFamily="34" charset="0"/>
                <a:cs typeface="Arial" panose="020B0604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53D4A2F3-202E-4CAC-8965-DFAE48E1A0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634" y="257979"/>
            <a:ext cx="2258225" cy="1133288"/>
          </a:xfrm>
          <a:prstGeom prst="rect">
            <a:avLst/>
          </a:prstGeom>
        </p:spPr>
      </p:pic>
      <p:pic>
        <p:nvPicPr>
          <p:cNvPr id="141" name="Image 140">
            <a:extLst>
              <a:ext uri="{FF2B5EF4-FFF2-40B4-BE49-F238E27FC236}">
                <a16:creationId xmlns:a16="http://schemas.microsoft.com/office/drawing/2014/main" id="{18127CAF-7EAD-420B-BEE3-2F2C31D9A7BC}"/>
              </a:ext>
            </a:extLst>
          </p:cNvPr>
          <p:cNvPicPr>
            <a:picLocks noChangeAspect="1"/>
          </p:cNvPicPr>
          <p:nvPr userDrawn="1"/>
        </p:nvPicPr>
        <p:blipFill>
          <a:blip r:embed="rId3"/>
          <a:stretch>
            <a:fillRect/>
          </a:stretch>
        </p:blipFill>
        <p:spPr>
          <a:xfrm>
            <a:off x="662647" y="5446573"/>
            <a:ext cx="869920" cy="880569"/>
          </a:xfrm>
          <a:prstGeom prst="rect">
            <a:avLst/>
          </a:prstGeom>
        </p:spPr>
      </p:pic>
      <p:pic>
        <p:nvPicPr>
          <p:cNvPr id="142" name="Image 141">
            <a:extLst>
              <a:ext uri="{FF2B5EF4-FFF2-40B4-BE49-F238E27FC236}">
                <a16:creationId xmlns:a16="http://schemas.microsoft.com/office/drawing/2014/main" id="{D7B1EB4F-F4D5-409A-942E-598EC7F8DC4F}"/>
              </a:ext>
            </a:extLst>
          </p:cNvPr>
          <p:cNvPicPr>
            <a:picLocks noChangeAspect="1"/>
          </p:cNvPicPr>
          <p:nvPr userDrawn="1"/>
        </p:nvPicPr>
        <p:blipFill rotWithShape="1">
          <a:blip r:embed="rId4"/>
          <a:srcRect b="15876"/>
          <a:stretch/>
        </p:blipFill>
        <p:spPr>
          <a:xfrm>
            <a:off x="1660275" y="6243676"/>
            <a:ext cx="840038" cy="366797"/>
          </a:xfrm>
          <a:prstGeom prst="rect">
            <a:avLst/>
          </a:prstGeom>
        </p:spPr>
      </p:pic>
      <p:pic>
        <p:nvPicPr>
          <p:cNvPr id="148" name="Image 147">
            <a:extLst>
              <a:ext uri="{FF2B5EF4-FFF2-40B4-BE49-F238E27FC236}">
                <a16:creationId xmlns:a16="http://schemas.microsoft.com/office/drawing/2014/main" id="{DAC5B31F-919D-40B9-B6EF-4C5027CD8BFD}"/>
              </a:ext>
            </a:extLst>
          </p:cNvPr>
          <p:cNvPicPr>
            <a:picLocks noChangeAspect="1"/>
          </p:cNvPicPr>
          <p:nvPr userDrawn="1"/>
        </p:nvPicPr>
        <p:blipFill>
          <a:blip r:embed="rId5"/>
          <a:stretch>
            <a:fillRect/>
          </a:stretch>
        </p:blipFill>
        <p:spPr>
          <a:xfrm>
            <a:off x="1757258" y="5560235"/>
            <a:ext cx="1732185" cy="662692"/>
          </a:xfrm>
          <a:prstGeom prst="rect">
            <a:avLst/>
          </a:prstGeom>
        </p:spPr>
      </p:pic>
      <p:pic>
        <p:nvPicPr>
          <p:cNvPr id="149" name="Image 148">
            <a:extLst>
              <a:ext uri="{FF2B5EF4-FFF2-40B4-BE49-F238E27FC236}">
                <a16:creationId xmlns:a16="http://schemas.microsoft.com/office/drawing/2014/main" id="{C9D61C0C-9F56-48C6-9178-BE7854B19655}"/>
              </a:ext>
            </a:extLst>
          </p:cNvPr>
          <p:cNvPicPr>
            <a:picLocks noChangeAspect="1"/>
          </p:cNvPicPr>
          <p:nvPr userDrawn="1"/>
        </p:nvPicPr>
        <p:blipFill>
          <a:blip r:embed="rId6"/>
          <a:stretch>
            <a:fillRect/>
          </a:stretch>
        </p:blipFill>
        <p:spPr>
          <a:xfrm>
            <a:off x="2571717" y="6306923"/>
            <a:ext cx="873435" cy="360350"/>
          </a:xfrm>
          <a:prstGeom prst="rect">
            <a:avLst/>
          </a:prstGeom>
        </p:spPr>
      </p:pic>
      <p:sp>
        <p:nvSpPr>
          <p:cNvPr id="143" name="ZoneTexte 142">
            <a:extLst>
              <a:ext uri="{FF2B5EF4-FFF2-40B4-BE49-F238E27FC236}">
                <a16:creationId xmlns:a16="http://schemas.microsoft.com/office/drawing/2014/main" id="{99545EAE-8F47-438D-B99D-4AE2261B7C17}"/>
              </a:ext>
            </a:extLst>
          </p:cNvPr>
          <p:cNvSpPr txBox="1"/>
          <p:nvPr userDrawn="1"/>
        </p:nvSpPr>
        <p:spPr>
          <a:xfrm>
            <a:off x="692273" y="6308432"/>
            <a:ext cx="779381" cy="215444"/>
          </a:xfrm>
          <a:prstGeom prst="rect">
            <a:avLst/>
          </a:prstGeom>
          <a:noFill/>
        </p:spPr>
        <p:txBody>
          <a:bodyPr wrap="none" rtlCol="0">
            <a:spAutoFit/>
          </a:bodyPr>
          <a:lstStyle/>
          <a:p>
            <a:pPr algn="l"/>
            <a:r>
              <a:rPr lang="fr-FR" sz="800" dirty="0">
                <a:solidFill>
                  <a:schemeClr val="bg1"/>
                </a:solidFill>
                <a:latin typeface="Arial"/>
                <a:cs typeface="Arial"/>
              </a:rPr>
              <a:t>INGENIERIE</a:t>
            </a:r>
          </a:p>
        </p:txBody>
      </p:sp>
      <p:sp>
        <p:nvSpPr>
          <p:cNvPr id="145" name="ZoneTexte 144">
            <a:extLst>
              <a:ext uri="{FF2B5EF4-FFF2-40B4-BE49-F238E27FC236}">
                <a16:creationId xmlns:a16="http://schemas.microsoft.com/office/drawing/2014/main" id="{841DCBB7-F225-4281-821F-92C24FFD89C7}"/>
              </a:ext>
            </a:extLst>
          </p:cNvPr>
          <p:cNvSpPr txBox="1"/>
          <p:nvPr userDrawn="1"/>
        </p:nvSpPr>
        <p:spPr>
          <a:xfrm>
            <a:off x="589180" y="6456984"/>
            <a:ext cx="937186" cy="276999"/>
          </a:xfrm>
          <a:prstGeom prst="rect">
            <a:avLst/>
          </a:prstGeom>
          <a:noFill/>
        </p:spPr>
        <p:txBody>
          <a:bodyPr wrap="square" rtlCol="0">
            <a:spAutoFit/>
          </a:bodyPr>
          <a:lstStyle/>
          <a:p>
            <a:pPr algn="ctr"/>
            <a:r>
              <a:rPr lang="fr-FR" sz="600" dirty="0">
                <a:solidFill>
                  <a:schemeClr val="bg1"/>
                </a:solidFill>
                <a:latin typeface="Arial"/>
                <a:cs typeface="Arial"/>
              </a:rPr>
              <a:t>SCIENCES INFORMATIQUES</a:t>
            </a:r>
          </a:p>
        </p:txBody>
      </p:sp>
    </p:spTree>
    <p:extLst>
      <p:ext uri="{BB962C8B-B14F-4D97-AF65-F5344CB8AC3E}">
        <p14:creationId xmlns:p14="http://schemas.microsoft.com/office/powerpoint/2010/main" val="2980134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_Contenu">
    <p:bg>
      <p:bgPr>
        <a:solidFill>
          <a:schemeClr val="bg1"/>
        </a:solidFill>
        <a:effectLst/>
      </p:bgPr>
    </p:bg>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5039137" y="6383574"/>
            <a:ext cx="5991122"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sp>
        <p:nvSpPr>
          <p:cNvPr id="23" name="Slide Number Placeholder 5">
            <a:extLst>
              <a:ext uri="{FF2B5EF4-FFF2-40B4-BE49-F238E27FC236}">
                <a16:creationId xmlns:a16="http://schemas.microsoft.com/office/drawing/2014/main" id="{3252315C-5F2D-4461-8B3E-D924E9D00DE0}"/>
              </a:ext>
            </a:extLst>
          </p:cNvPr>
          <p:cNvSpPr>
            <a:spLocks noGrp="1"/>
          </p:cNvSpPr>
          <p:nvPr>
            <p:ph type="sldNum" sz="quarter" idx="4"/>
          </p:nvPr>
        </p:nvSpPr>
        <p:spPr>
          <a:xfrm>
            <a:off x="11391491" y="6306043"/>
            <a:ext cx="500778"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556577" y="6190841"/>
            <a:ext cx="11318928"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26" name="Freeform: Shape 18">
            <a:extLst>
              <a:ext uri="{FF2B5EF4-FFF2-40B4-BE49-F238E27FC236}">
                <a16:creationId xmlns:a16="http://schemas.microsoft.com/office/drawing/2014/main" id="{884ADAEE-1597-8E47-82BC-53458D14DC8E}"/>
              </a:ext>
            </a:extLst>
          </p:cNvPr>
          <p:cNvSpPr/>
          <p:nvPr userDrawn="1"/>
        </p:nvSpPr>
        <p:spPr>
          <a:xfrm rot="5400000">
            <a:off x="306717" y="5657186"/>
            <a:ext cx="408820" cy="422784"/>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rgbClr val="00ABA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pic>
        <p:nvPicPr>
          <p:cNvPr id="3" name="Image 2">
            <a:extLst>
              <a:ext uri="{FF2B5EF4-FFF2-40B4-BE49-F238E27FC236}">
                <a16:creationId xmlns:a16="http://schemas.microsoft.com/office/drawing/2014/main" id="{7E8C8D51-53D9-4678-A88B-69372822CB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54691" y="8314"/>
            <a:ext cx="2147994" cy="2114042"/>
          </a:xfrm>
          <a:prstGeom prst="rect">
            <a:avLst/>
          </a:prstGeom>
        </p:spPr>
      </p:pic>
      <p:sp>
        <p:nvSpPr>
          <p:cNvPr id="11" name="Text Placeholder 6">
            <a:extLst>
              <a:ext uri="{FF2B5EF4-FFF2-40B4-BE49-F238E27FC236}">
                <a16:creationId xmlns:a16="http://schemas.microsoft.com/office/drawing/2014/main" id="{A4FE70AC-018A-480E-B72E-70EFFED043F0}"/>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2" name="Text Placeholder 2">
            <a:extLst>
              <a:ext uri="{FF2B5EF4-FFF2-40B4-BE49-F238E27FC236}">
                <a16:creationId xmlns:a16="http://schemas.microsoft.com/office/drawing/2014/main" id="{E6800B0C-2FC3-44B4-8458-E260C38A65FA}"/>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800" b="1" cap="all" baseline="0">
                <a:solidFill>
                  <a:schemeClr val="tx2"/>
                </a:solidFill>
                <a:latin typeface="+mj-lt"/>
              </a:defRPr>
            </a:lvl1pPr>
          </a:lstStyle>
          <a:p>
            <a:pPr lvl="0"/>
            <a:r>
              <a:rPr lang="fr-FR"/>
              <a:t>Cliquez pour modifier les styles du texte du masque</a:t>
            </a:r>
          </a:p>
        </p:txBody>
      </p:sp>
      <p:pic>
        <p:nvPicPr>
          <p:cNvPr id="2" name="Image 1">
            <a:extLst>
              <a:ext uri="{FF2B5EF4-FFF2-40B4-BE49-F238E27FC236}">
                <a16:creationId xmlns:a16="http://schemas.microsoft.com/office/drawing/2014/main" id="{ACCC0405-01DD-2D76-0F19-D672387DB80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577" y="6306043"/>
            <a:ext cx="897640" cy="348563"/>
          </a:xfrm>
          <a:prstGeom prst="rect">
            <a:avLst/>
          </a:prstGeom>
        </p:spPr>
      </p:pic>
    </p:spTree>
    <p:extLst>
      <p:ext uri="{BB962C8B-B14F-4D97-AF65-F5344CB8AC3E}">
        <p14:creationId xmlns:p14="http://schemas.microsoft.com/office/powerpoint/2010/main" val="2469551455"/>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Introduction">
    <p:bg>
      <p:bgPr>
        <a:solidFill>
          <a:schemeClr val="bg1">
            <a:alpha val="0"/>
          </a:schemeClr>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DD93E8E7-6850-41DE-A74A-F056AA8F482C}"/>
              </a:ext>
            </a:extLst>
          </p:cNvPr>
          <p:cNvSpPr>
            <a:spLocks noGrp="1"/>
          </p:cNvSpPr>
          <p:nvPr>
            <p:ph type="body" sz="quarter" idx="13"/>
          </p:nvPr>
        </p:nvSpPr>
        <p:spPr>
          <a:xfrm>
            <a:off x="1564641" y="2003662"/>
            <a:ext cx="3917969" cy="528350"/>
          </a:xfrm>
        </p:spPr>
        <p:txBody>
          <a:bodyPr wrap="square" anchor="b" anchorCtr="0">
            <a:spAutoFit/>
          </a:bodyPr>
          <a:lstStyle>
            <a:lvl1pPr marL="0" indent="0">
              <a:lnSpc>
                <a:spcPts val="1674"/>
              </a:lnSpc>
              <a:buNone/>
              <a:defRPr sz="1800" b="1" cap="all" baseline="0">
                <a:solidFill>
                  <a:schemeClr val="tx2"/>
                </a:solidFill>
                <a:latin typeface="+mj-lt"/>
              </a:defRPr>
            </a:lvl1pPr>
          </a:lstStyle>
          <a:p>
            <a:pPr lvl="0"/>
            <a:r>
              <a:rPr lang="fr-FR"/>
              <a:t>Cliquez pour modifier les styles du texte du masque</a:t>
            </a:r>
          </a:p>
        </p:txBody>
      </p:sp>
      <p:sp>
        <p:nvSpPr>
          <p:cNvPr id="14" name="Text Placeholder 4">
            <a:extLst>
              <a:ext uri="{FF2B5EF4-FFF2-40B4-BE49-F238E27FC236}">
                <a16:creationId xmlns:a16="http://schemas.microsoft.com/office/drawing/2014/main" id="{F04FF4EB-34C8-4B33-8B54-30E132FE9728}"/>
              </a:ext>
            </a:extLst>
          </p:cNvPr>
          <p:cNvSpPr>
            <a:spLocks noGrp="1"/>
          </p:cNvSpPr>
          <p:nvPr>
            <p:ph type="body" sz="quarter" idx="14"/>
          </p:nvPr>
        </p:nvSpPr>
        <p:spPr>
          <a:xfrm>
            <a:off x="1564641" y="2637449"/>
            <a:ext cx="3917969" cy="380040"/>
          </a:xfrm>
        </p:spPr>
        <p:txBody>
          <a:bodyPr wrap="square">
            <a:spAutoFit/>
          </a:bodyPr>
          <a:lstStyle>
            <a:lvl1pPr marL="0" indent="0">
              <a:lnSpc>
                <a:spcPts val="1134"/>
              </a:lnSpc>
              <a:buNone/>
              <a:defRPr sz="1300" cap="all" baseline="0">
                <a:solidFill>
                  <a:schemeClr val="tx2"/>
                </a:solidFill>
              </a:defRPr>
            </a:lvl1pPr>
          </a:lstStyle>
          <a:p>
            <a:pPr lvl="0"/>
            <a:r>
              <a:rPr lang="fr-FR"/>
              <a:t>Cliquez pour modifier les styles du texte du masque</a:t>
            </a:r>
          </a:p>
        </p:txBody>
      </p:sp>
      <p:sp>
        <p:nvSpPr>
          <p:cNvPr id="18" name="Picture Placeholder 14">
            <a:extLst>
              <a:ext uri="{FF2B5EF4-FFF2-40B4-BE49-F238E27FC236}">
                <a16:creationId xmlns:a16="http://schemas.microsoft.com/office/drawing/2014/main" id="{D3A31740-3324-490C-A887-2899A5AC4692}"/>
              </a:ext>
            </a:extLst>
          </p:cNvPr>
          <p:cNvSpPr>
            <a:spLocks noGrp="1"/>
          </p:cNvSpPr>
          <p:nvPr>
            <p:ph type="pic" sz="quarter" idx="10"/>
          </p:nvPr>
        </p:nvSpPr>
        <p:spPr>
          <a:xfrm>
            <a:off x="8075825" y="287253"/>
            <a:ext cx="3816445" cy="5559624"/>
          </a:xfrm>
          <a:solidFill>
            <a:schemeClr val="bg1">
              <a:lumMod val="95000"/>
            </a:schemeClr>
          </a:solidFill>
        </p:spPr>
        <p:txBody>
          <a:bodyPr anchor="ctr">
            <a:normAutofit/>
          </a:bodyPr>
          <a:lstStyle>
            <a:lvl1pPr marL="0" indent="0" algn="ctr">
              <a:buNone/>
              <a:defRPr lang="en-US" sz="1080" kern="1200" dirty="0">
                <a:solidFill>
                  <a:schemeClr val="tx1"/>
                </a:solidFill>
                <a:latin typeface="Arial" panose="020B0604020202020204" pitchFamily="34" charset="0"/>
                <a:ea typeface="+mn-ea"/>
                <a:cs typeface="Arial" panose="020B0604020202020204" pitchFamily="34" charset="0"/>
              </a:defRPr>
            </a:lvl1pPr>
          </a:lstStyle>
          <a:p>
            <a:r>
              <a:rPr lang="fr-FR"/>
              <a:t>Cliquez sur l'icône pour ajouter une image</a:t>
            </a:r>
            <a:endParaRPr lang="en-US" dirty="0"/>
          </a:p>
        </p:txBody>
      </p:sp>
      <p:sp>
        <p:nvSpPr>
          <p:cNvPr id="19" name="Freeform: Shape 18">
            <a:extLst>
              <a:ext uri="{FF2B5EF4-FFF2-40B4-BE49-F238E27FC236}">
                <a16:creationId xmlns:a16="http://schemas.microsoft.com/office/drawing/2014/main" id="{68FBBCED-D569-4465-A3E0-7830ADE714A5}"/>
              </a:ext>
            </a:extLst>
          </p:cNvPr>
          <p:cNvSpPr/>
          <p:nvPr userDrawn="1"/>
        </p:nvSpPr>
        <p:spPr>
          <a:xfrm>
            <a:off x="6122142" y="310200"/>
            <a:ext cx="428117"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sp>
        <p:nvSpPr>
          <p:cNvPr id="16" name="Footer Placeholder 4">
            <a:extLst>
              <a:ext uri="{FF2B5EF4-FFF2-40B4-BE49-F238E27FC236}">
                <a16:creationId xmlns:a16="http://schemas.microsoft.com/office/drawing/2014/main" id="{E9ABB687-F85E-47C9-B9CB-36D97F2C9993}"/>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26" name="Straight Connector 25">
            <a:extLst>
              <a:ext uri="{FF2B5EF4-FFF2-40B4-BE49-F238E27FC236}">
                <a16:creationId xmlns:a16="http://schemas.microsoft.com/office/drawing/2014/main" id="{DFB56546-3DB7-4930-ACB1-278A8025E808}"/>
              </a:ext>
            </a:extLst>
          </p:cNvPr>
          <p:cNvCxnSpPr>
            <a:cxnSpLocks/>
          </p:cNvCxnSpPr>
          <p:nvPr userDrawn="1"/>
        </p:nvCxnSpPr>
        <p:spPr>
          <a:xfrm>
            <a:off x="592662" y="6190841"/>
            <a:ext cx="11282843"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1318B756-AF91-4787-A678-53944781A771}"/>
              </a:ext>
            </a:extLst>
          </p:cNvPr>
          <p:cNvSpPr>
            <a:spLocks noGrp="1"/>
          </p:cNvSpPr>
          <p:nvPr>
            <p:ph type="body" sz="quarter" idx="24"/>
          </p:nvPr>
        </p:nvSpPr>
        <p:spPr>
          <a:xfrm>
            <a:off x="1564641" y="3226928"/>
            <a:ext cx="3917969"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2" name="Slide Number Placeholder 5">
            <a:extLst>
              <a:ext uri="{FF2B5EF4-FFF2-40B4-BE49-F238E27FC236}">
                <a16:creationId xmlns:a16="http://schemas.microsoft.com/office/drawing/2014/main" id="{2BFBDDDD-A8FE-47C8-A0E7-12E0CD18CF63}"/>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pic>
        <p:nvPicPr>
          <p:cNvPr id="2" name="Image 1">
            <a:extLst>
              <a:ext uri="{FF2B5EF4-FFF2-40B4-BE49-F238E27FC236}">
                <a16:creationId xmlns:a16="http://schemas.microsoft.com/office/drawing/2014/main" id="{FE022893-B075-68CA-E2BA-0327675639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2662" y="6306043"/>
            <a:ext cx="897640" cy="348563"/>
          </a:xfrm>
          <a:prstGeom prst="rect">
            <a:avLst/>
          </a:prstGeom>
        </p:spPr>
      </p:pic>
    </p:spTree>
    <p:extLst>
      <p:ext uri="{BB962C8B-B14F-4D97-AF65-F5344CB8AC3E}">
        <p14:creationId xmlns:p14="http://schemas.microsoft.com/office/powerpoint/2010/main" val="1152573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u">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E8FBC8EF-24EC-41A3-A1B0-0BE26B8FFFC3}"/>
              </a:ext>
            </a:extLst>
          </p:cNvPr>
          <p:cNvSpPr/>
          <p:nvPr userDrawn="1"/>
        </p:nvSpPr>
        <p:spPr>
          <a:xfrm rot="16200000">
            <a:off x="9511228" y="-254014"/>
            <a:ext cx="469259" cy="977289"/>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642892" y="6190841"/>
            <a:ext cx="11232613"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25" name="object 9">
            <a:extLst>
              <a:ext uri="{FF2B5EF4-FFF2-40B4-BE49-F238E27FC236}">
                <a16:creationId xmlns:a16="http://schemas.microsoft.com/office/drawing/2014/main" id="{1B0E0B70-59CE-BD4A-A7CA-4A18F82E718A}"/>
              </a:ext>
            </a:extLst>
          </p:cNvPr>
          <p:cNvSpPr/>
          <p:nvPr userDrawn="1"/>
        </p:nvSpPr>
        <p:spPr>
          <a:xfrm>
            <a:off x="0" y="159306"/>
            <a:ext cx="496311" cy="947142"/>
          </a:xfrm>
          <a:custGeom>
            <a:avLst/>
            <a:gdLst/>
            <a:ahLst/>
            <a:cxnLst/>
            <a:rect l="l" t="t" r="r" b="b"/>
            <a:pathLst>
              <a:path w="466725" h="932814">
                <a:moveTo>
                  <a:pt x="0" y="0"/>
                </a:moveTo>
                <a:lnTo>
                  <a:pt x="0" y="225590"/>
                </a:lnTo>
                <a:lnTo>
                  <a:pt x="48488" y="230477"/>
                </a:lnTo>
                <a:lnTo>
                  <a:pt x="93648" y="244495"/>
                </a:lnTo>
                <a:lnTo>
                  <a:pt x="134514" y="266675"/>
                </a:lnTo>
                <a:lnTo>
                  <a:pt x="170118" y="296051"/>
                </a:lnTo>
                <a:lnTo>
                  <a:pt x="199493" y="331654"/>
                </a:lnTo>
                <a:lnTo>
                  <a:pt x="221672" y="372517"/>
                </a:lnTo>
                <a:lnTo>
                  <a:pt x="235689" y="417672"/>
                </a:lnTo>
                <a:lnTo>
                  <a:pt x="240576" y="466153"/>
                </a:lnTo>
                <a:lnTo>
                  <a:pt x="235689" y="514642"/>
                </a:lnTo>
                <a:lnTo>
                  <a:pt x="221672" y="559804"/>
                </a:lnTo>
                <a:lnTo>
                  <a:pt x="199493" y="600671"/>
                </a:lnTo>
                <a:lnTo>
                  <a:pt x="170118" y="636277"/>
                </a:lnTo>
                <a:lnTo>
                  <a:pt x="134514" y="665655"/>
                </a:lnTo>
                <a:lnTo>
                  <a:pt x="93648" y="687836"/>
                </a:lnTo>
                <a:lnTo>
                  <a:pt x="48488" y="701854"/>
                </a:lnTo>
                <a:lnTo>
                  <a:pt x="0" y="706742"/>
                </a:lnTo>
                <a:lnTo>
                  <a:pt x="0" y="932332"/>
                </a:lnTo>
                <a:lnTo>
                  <a:pt x="47662" y="929925"/>
                </a:lnTo>
                <a:lnTo>
                  <a:pt x="93948" y="922861"/>
                </a:lnTo>
                <a:lnTo>
                  <a:pt x="138622" y="911375"/>
                </a:lnTo>
                <a:lnTo>
                  <a:pt x="181452" y="895700"/>
                </a:lnTo>
                <a:lnTo>
                  <a:pt x="222201" y="876070"/>
                </a:lnTo>
                <a:lnTo>
                  <a:pt x="260637" y="852720"/>
                </a:lnTo>
                <a:lnTo>
                  <a:pt x="296524" y="825885"/>
                </a:lnTo>
                <a:lnTo>
                  <a:pt x="329628" y="795797"/>
                </a:lnTo>
                <a:lnTo>
                  <a:pt x="359715" y="762693"/>
                </a:lnTo>
                <a:lnTo>
                  <a:pt x="386551" y="726805"/>
                </a:lnTo>
                <a:lnTo>
                  <a:pt x="409902" y="688369"/>
                </a:lnTo>
                <a:lnTo>
                  <a:pt x="429532" y="647618"/>
                </a:lnTo>
                <a:lnTo>
                  <a:pt x="445208" y="604786"/>
                </a:lnTo>
                <a:lnTo>
                  <a:pt x="456695" y="560109"/>
                </a:lnTo>
                <a:lnTo>
                  <a:pt x="463759" y="513820"/>
                </a:lnTo>
                <a:lnTo>
                  <a:pt x="466166" y="466153"/>
                </a:lnTo>
                <a:lnTo>
                  <a:pt x="463759" y="418493"/>
                </a:lnTo>
                <a:lnTo>
                  <a:pt x="456695" y="372209"/>
                </a:lnTo>
                <a:lnTo>
                  <a:pt x="445208" y="327536"/>
                </a:lnTo>
                <a:lnTo>
                  <a:pt x="429532" y="284708"/>
                </a:lnTo>
                <a:lnTo>
                  <a:pt x="409902" y="243960"/>
                </a:lnTo>
                <a:lnTo>
                  <a:pt x="386551" y="205526"/>
                </a:lnTo>
                <a:lnTo>
                  <a:pt x="359715" y="169639"/>
                </a:lnTo>
                <a:lnTo>
                  <a:pt x="329628" y="136536"/>
                </a:lnTo>
                <a:lnTo>
                  <a:pt x="296524" y="106449"/>
                </a:lnTo>
                <a:lnTo>
                  <a:pt x="260637" y="79613"/>
                </a:lnTo>
                <a:lnTo>
                  <a:pt x="222201" y="56263"/>
                </a:lnTo>
                <a:lnTo>
                  <a:pt x="181452" y="36633"/>
                </a:lnTo>
                <a:lnTo>
                  <a:pt x="138622" y="20958"/>
                </a:lnTo>
                <a:lnTo>
                  <a:pt x="93948" y="9470"/>
                </a:lnTo>
                <a:lnTo>
                  <a:pt x="47662" y="2406"/>
                </a:lnTo>
                <a:lnTo>
                  <a:pt x="0" y="0"/>
                </a:lnTo>
                <a:close/>
              </a:path>
            </a:pathLst>
          </a:custGeom>
          <a:solidFill>
            <a:schemeClr val="accent3"/>
          </a:solidFill>
        </p:spPr>
        <p:txBody>
          <a:bodyPr wrap="square" lIns="0" tIns="0" rIns="0" bIns="0" rtlCol="0"/>
          <a:lstStyle/>
          <a:p>
            <a:endParaRPr sz="324"/>
          </a:p>
        </p:txBody>
      </p:sp>
      <p:sp>
        <p:nvSpPr>
          <p:cNvPr id="26" name="Freeform: Shape 18">
            <a:extLst>
              <a:ext uri="{FF2B5EF4-FFF2-40B4-BE49-F238E27FC236}">
                <a16:creationId xmlns:a16="http://schemas.microsoft.com/office/drawing/2014/main" id="{884ADAEE-1597-8E47-82BC-53458D14DC8E}"/>
              </a:ext>
            </a:extLst>
          </p:cNvPr>
          <p:cNvSpPr/>
          <p:nvPr userDrawn="1"/>
        </p:nvSpPr>
        <p:spPr>
          <a:xfrm>
            <a:off x="11464152" y="5520073"/>
            <a:ext cx="428117"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sp>
        <p:nvSpPr>
          <p:cNvPr id="13" name="Slide Number Placeholder 5">
            <a:extLst>
              <a:ext uri="{FF2B5EF4-FFF2-40B4-BE49-F238E27FC236}">
                <a16:creationId xmlns:a16="http://schemas.microsoft.com/office/drawing/2014/main" id="{63E59DB7-19F2-4138-817C-7218E090F621}"/>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sp>
        <p:nvSpPr>
          <p:cNvPr id="12" name="Text Placeholder 6">
            <a:extLst>
              <a:ext uri="{FF2B5EF4-FFF2-40B4-BE49-F238E27FC236}">
                <a16:creationId xmlns:a16="http://schemas.microsoft.com/office/drawing/2014/main" id="{82A8725F-ED17-4D80-B8D0-EAD48AA39683}"/>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4" name="Text Placeholder 2">
            <a:extLst>
              <a:ext uri="{FF2B5EF4-FFF2-40B4-BE49-F238E27FC236}">
                <a16:creationId xmlns:a16="http://schemas.microsoft.com/office/drawing/2014/main" id="{55AD56DD-1D2C-4529-A8BD-57E186A2A864}"/>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422" b="1" cap="all" baseline="0">
                <a:solidFill>
                  <a:schemeClr val="tx2"/>
                </a:solidFill>
                <a:latin typeface="+mj-lt"/>
              </a:defRPr>
            </a:lvl1pPr>
          </a:lstStyle>
          <a:p>
            <a:pPr lvl="0"/>
            <a:r>
              <a:rPr lang="fr-FR"/>
              <a:t>Cliquez pour modifier les styles du texte du masque</a:t>
            </a:r>
          </a:p>
        </p:txBody>
      </p:sp>
      <p:pic>
        <p:nvPicPr>
          <p:cNvPr id="2" name="Image 1">
            <a:extLst>
              <a:ext uri="{FF2B5EF4-FFF2-40B4-BE49-F238E27FC236}">
                <a16:creationId xmlns:a16="http://schemas.microsoft.com/office/drawing/2014/main" id="{0A1B01E2-C15A-3CF7-F6D9-DDE643243C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8348" y="6333131"/>
            <a:ext cx="897640" cy="348563"/>
          </a:xfrm>
          <a:prstGeom prst="rect">
            <a:avLst/>
          </a:prstGeom>
        </p:spPr>
      </p:pic>
    </p:spTree>
    <p:extLst>
      <p:ext uri="{BB962C8B-B14F-4D97-AF65-F5344CB8AC3E}">
        <p14:creationId xmlns:p14="http://schemas.microsoft.com/office/powerpoint/2010/main" val="3556859514"/>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u">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548299" y="6190841"/>
            <a:ext cx="11327206"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F6C3ADF-F096-4438-BE66-66AAE4E43ED2}"/>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pic>
        <p:nvPicPr>
          <p:cNvPr id="3" name="Image 2">
            <a:extLst>
              <a:ext uri="{FF2B5EF4-FFF2-40B4-BE49-F238E27FC236}">
                <a16:creationId xmlns:a16="http://schemas.microsoft.com/office/drawing/2014/main" id="{E197916C-570E-4CAE-9929-2316C6CD88F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flipH="1">
            <a:off x="8563535" y="2341334"/>
            <a:ext cx="3960290" cy="3849511"/>
          </a:xfrm>
          <a:prstGeom prst="rect">
            <a:avLst/>
          </a:prstGeom>
        </p:spPr>
      </p:pic>
      <p:sp>
        <p:nvSpPr>
          <p:cNvPr id="13" name="Text Placeholder 2">
            <a:extLst>
              <a:ext uri="{FF2B5EF4-FFF2-40B4-BE49-F238E27FC236}">
                <a16:creationId xmlns:a16="http://schemas.microsoft.com/office/drawing/2014/main" id="{3F242AEB-66E5-4C18-80F8-A920E60078BE}"/>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422" b="1" cap="all" baseline="0">
                <a:solidFill>
                  <a:schemeClr val="tx2"/>
                </a:solidFill>
                <a:latin typeface="+mj-lt"/>
              </a:defRPr>
            </a:lvl1pPr>
          </a:lstStyle>
          <a:p>
            <a:pPr lvl="0"/>
            <a:r>
              <a:rPr lang="fr-FR"/>
              <a:t>Cliquez pour modifier les styles du texte du masque</a:t>
            </a:r>
          </a:p>
        </p:txBody>
      </p:sp>
      <p:sp>
        <p:nvSpPr>
          <p:cNvPr id="9" name="Slide Number Placeholder 5">
            <a:extLst>
              <a:ext uri="{FF2B5EF4-FFF2-40B4-BE49-F238E27FC236}">
                <a16:creationId xmlns:a16="http://schemas.microsoft.com/office/drawing/2014/main" id="{C3A7C692-5AA8-4414-AB31-B6A28EFD7C4B}"/>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pic>
        <p:nvPicPr>
          <p:cNvPr id="2" name="Image 1">
            <a:extLst>
              <a:ext uri="{FF2B5EF4-FFF2-40B4-BE49-F238E27FC236}">
                <a16:creationId xmlns:a16="http://schemas.microsoft.com/office/drawing/2014/main" id="{AB3136A2-7E64-16A2-22C6-65A47011A6F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48299" y="6314321"/>
            <a:ext cx="897640" cy="348563"/>
          </a:xfrm>
          <a:prstGeom prst="rect">
            <a:avLst/>
          </a:prstGeom>
        </p:spPr>
      </p:pic>
    </p:spTree>
    <p:extLst>
      <p:ext uri="{BB962C8B-B14F-4D97-AF65-F5344CB8AC3E}">
        <p14:creationId xmlns:p14="http://schemas.microsoft.com/office/powerpoint/2010/main" val="4153035872"/>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u">
    <p:bg>
      <p:bgPr>
        <a:solidFill>
          <a:schemeClr val="accent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E8FBC8EF-24EC-41A3-A1B0-0BE26B8FFFC3}"/>
              </a:ext>
            </a:extLst>
          </p:cNvPr>
          <p:cNvSpPr/>
          <p:nvPr userDrawn="1"/>
        </p:nvSpPr>
        <p:spPr>
          <a:xfrm rot="16200000">
            <a:off x="9511374" y="-253868"/>
            <a:ext cx="469259" cy="976998"/>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5955" y="6383574"/>
            <a:ext cx="6064304"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sp>
        <p:nvSpPr>
          <p:cNvPr id="23" name="Slide Number Placeholder 5">
            <a:extLst>
              <a:ext uri="{FF2B5EF4-FFF2-40B4-BE49-F238E27FC236}">
                <a16:creationId xmlns:a16="http://schemas.microsoft.com/office/drawing/2014/main" id="{3252315C-5F2D-4461-8B3E-D924E9D00DE0}"/>
              </a:ext>
            </a:extLst>
          </p:cNvPr>
          <p:cNvSpPr>
            <a:spLocks noGrp="1"/>
          </p:cNvSpPr>
          <p:nvPr>
            <p:ph type="sldNum" sz="quarter" idx="4"/>
          </p:nvPr>
        </p:nvSpPr>
        <p:spPr>
          <a:xfrm>
            <a:off x="11385373" y="6306043"/>
            <a:ext cx="506895"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flipV="1">
            <a:off x="556577" y="6190841"/>
            <a:ext cx="11318928"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Freeform: Shape 18">
            <a:extLst>
              <a:ext uri="{FF2B5EF4-FFF2-40B4-BE49-F238E27FC236}">
                <a16:creationId xmlns:a16="http://schemas.microsoft.com/office/drawing/2014/main" id="{884ADAEE-1597-8E47-82BC-53458D14DC8E}"/>
              </a:ext>
            </a:extLst>
          </p:cNvPr>
          <p:cNvSpPr/>
          <p:nvPr userDrawn="1"/>
        </p:nvSpPr>
        <p:spPr>
          <a:xfrm>
            <a:off x="11464279" y="5479840"/>
            <a:ext cx="427990"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pic>
        <p:nvPicPr>
          <p:cNvPr id="12" name="Image 11">
            <a:extLst>
              <a:ext uri="{FF2B5EF4-FFF2-40B4-BE49-F238E27FC236}">
                <a16:creationId xmlns:a16="http://schemas.microsoft.com/office/drawing/2014/main" id="{62378792-3ADD-6940-8BD9-7A7B5A09220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b="-22847"/>
          <a:stretch/>
        </p:blipFill>
        <p:spPr>
          <a:xfrm>
            <a:off x="556577" y="6305879"/>
            <a:ext cx="940011" cy="426986"/>
          </a:xfrm>
          <a:prstGeom prst="rect">
            <a:avLst/>
          </a:prstGeom>
        </p:spPr>
      </p:pic>
      <p:pic>
        <p:nvPicPr>
          <p:cNvPr id="10" name="Image 9">
            <a:extLst>
              <a:ext uri="{FF2B5EF4-FFF2-40B4-BE49-F238E27FC236}">
                <a16:creationId xmlns:a16="http://schemas.microsoft.com/office/drawing/2014/main" id="{80C119EC-EEE9-4156-BEF6-AA1E3C6B423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rot="5400000">
            <a:off x="9050176" y="3049017"/>
            <a:ext cx="3250096" cy="3033553"/>
          </a:xfrm>
          <a:prstGeom prst="rect">
            <a:avLst/>
          </a:prstGeom>
          <a:ln>
            <a:noFill/>
          </a:ln>
        </p:spPr>
      </p:pic>
      <p:sp>
        <p:nvSpPr>
          <p:cNvPr id="11" name="Text Placeholder 2">
            <a:extLst>
              <a:ext uri="{FF2B5EF4-FFF2-40B4-BE49-F238E27FC236}">
                <a16:creationId xmlns:a16="http://schemas.microsoft.com/office/drawing/2014/main" id="{3A181DB1-3D99-4D77-A534-98FD7F71DF84}"/>
              </a:ext>
            </a:extLst>
          </p:cNvPr>
          <p:cNvSpPr>
            <a:spLocks noGrp="1"/>
          </p:cNvSpPr>
          <p:nvPr>
            <p:ph type="body" sz="quarter" idx="25"/>
          </p:nvPr>
        </p:nvSpPr>
        <p:spPr>
          <a:xfrm>
            <a:off x="670474" y="461141"/>
            <a:ext cx="8887268" cy="310341"/>
          </a:xfrm>
          <a:noFill/>
        </p:spPr>
        <p:txBody>
          <a:bodyPr wrap="square" anchor="b" anchorCtr="0">
            <a:spAutoFit/>
          </a:bodyPr>
          <a:lstStyle>
            <a:lvl1pPr marL="0" indent="0">
              <a:lnSpc>
                <a:spcPts val="1674"/>
              </a:lnSpc>
              <a:buNone/>
              <a:defRPr sz="1800" b="1" cap="all" baseline="0">
                <a:solidFill>
                  <a:schemeClr val="tx1"/>
                </a:solidFill>
                <a:latin typeface="+mj-lt"/>
              </a:defRPr>
            </a:lvl1pPr>
          </a:lstStyle>
          <a:p>
            <a:pPr lvl="0"/>
            <a:r>
              <a:rPr lang="fr-FR"/>
              <a:t>Cliquez pour modifier les styles du texte du masque</a:t>
            </a:r>
          </a:p>
        </p:txBody>
      </p:sp>
      <p:sp>
        <p:nvSpPr>
          <p:cNvPr id="13" name="Text Placeholder 6">
            <a:extLst>
              <a:ext uri="{FF2B5EF4-FFF2-40B4-BE49-F238E27FC236}">
                <a16:creationId xmlns:a16="http://schemas.microsoft.com/office/drawing/2014/main" id="{017D1AAA-3758-498E-9B38-6E4D8881D481}"/>
              </a:ext>
            </a:extLst>
          </p:cNvPr>
          <p:cNvSpPr>
            <a:spLocks noGrp="1"/>
          </p:cNvSpPr>
          <p:nvPr>
            <p:ph type="body" sz="quarter" idx="24"/>
          </p:nvPr>
        </p:nvSpPr>
        <p:spPr>
          <a:xfrm>
            <a:off x="670474" y="1200532"/>
            <a:ext cx="8887268"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grpSp>
        <p:nvGrpSpPr>
          <p:cNvPr id="14" name="Groupe 156">
            <a:extLst>
              <a:ext uri="{FF2B5EF4-FFF2-40B4-BE49-F238E27FC236}">
                <a16:creationId xmlns:a16="http://schemas.microsoft.com/office/drawing/2014/main" id="{09C152B0-7B14-4FA9-81F2-6B3C1510C2FA}"/>
              </a:ext>
            </a:extLst>
          </p:cNvPr>
          <p:cNvGrpSpPr/>
          <p:nvPr userDrawn="1"/>
        </p:nvGrpSpPr>
        <p:grpSpPr>
          <a:xfrm rot="16200000">
            <a:off x="-167773" y="5058296"/>
            <a:ext cx="899813" cy="521431"/>
            <a:chOff x="3230833" y="6645"/>
            <a:chExt cx="902409" cy="499560"/>
          </a:xfrm>
        </p:grpSpPr>
        <p:sp>
          <p:nvSpPr>
            <p:cNvPr id="15" name="object 23">
              <a:extLst>
                <a:ext uri="{FF2B5EF4-FFF2-40B4-BE49-F238E27FC236}">
                  <a16:creationId xmlns:a16="http://schemas.microsoft.com/office/drawing/2014/main" id="{545F1CEB-C1E1-460E-952D-D9F40530EAD9}"/>
                </a:ext>
              </a:extLst>
            </p:cNvPr>
            <p:cNvSpPr/>
            <p:nvPr/>
          </p:nvSpPr>
          <p:spPr>
            <a:xfrm>
              <a:off x="3230833" y="6645"/>
              <a:ext cx="20320" cy="20320"/>
            </a:xfrm>
            <a:custGeom>
              <a:avLst/>
              <a:gdLst/>
              <a:ahLst/>
              <a:cxnLst/>
              <a:rect l="l" t="t" r="r" b="b"/>
              <a:pathLst>
                <a:path w="20319"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6" name="object 24">
              <a:extLst>
                <a:ext uri="{FF2B5EF4-FFF2-40B4-BE49-F238E27FC236}">
                  <a16:creationId xmlns:a16="http://schemas.microsoft.com/office/drawing/2014/main" id="{988AA709-5281-406A-8D8E-C29D46512673}"/>
                </a:ext>
              </a:extLst>
            </p:cNvPr>
            <p:cNvSpPr/>
            <p:nvPr/>
          </p:nvSpPr>
          <p:spPr>
            <a:xfrm>
              <a:off x="3282721"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 name="object 25">
              <a:extLst>
                <a:ext uri="{FF2B5EF4-FFF2-40B4-BE49-F238E27FC236}">
                  <a16:creationId xmlns:a16="http://schemas.microsoft.com/office/drawing/2014/main" id="{CFC72AEF-4E23-4EB2-B404-2B7FF6292570}"/>
                </a:ext>
              </a:extLst>
            </p:cNvPr>
            <p:cNvSpPr/>
            <p:nvPr/>
          </p:nvSpPr>
          <p:spPr>
            <a:xfrm>
              <a:off x="3334608"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 name="object 26">
              <a:extLst>
                <a:ext uri="{FF2B5EF4-FFF2-40B4-BE49-F238E27FC236}">
                  <a16:creationId xmlns:a16="http://schemas.microsoft.com/office/drawing/2014/main" id="{0BFF7F20-EC01-4E1A-BE0B-C398B8951F66}"/>
                </a:ext>
              </a:extLst>
            </p:cNvPr>
            <p:cNvSpPr/>
            <p:nvPr/>
          </p:nvSpPr>
          <p:spPr>
            <a:xfrm>
              <a:off x="338649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 name="object 27">
              <a:extLst>
                <a:ext uri="{FF2B5EF4-FFF2-40B4-BE49-F238E27FC236}">
                  <a16:creationId xmlns:a16="http://schemas.microsoft.com/office/drawing/2014/main" id="{5918D399-A461-4B17-9FD1-F8133B669CAC}"/>
                </a:ext>
              </a:extLst>
            </p:cNvPr>
            <p:cNvSpPr/>
            <p:nvPr/>
          </p:nvSpPr>
          <p:spPr>
            <a:xfrm>
              <a:off x="3438383" y="6645"/>
              <a:ext cx="6350" cy="19685"/>
            </a:xfrm>
            <a:custGeom>
              <a:avLst/>
              <a:gdLst/>
              <a:ahLst/>
              <a:cxnLst/>
              <a:rect l="l" t="t" r="r" b="b"/>
              <a:pathLst>
                <a:path w="6350" h="19684">
                  <a:moveTo>
                    <a:pt x="5740" y="0"/>
                  </a:moveTo>
                  <a:lnTo>
                    <a:pt x="4521" y="0"/>
                  </a:lnTo>
                  <a:lnTo>
                    <a:pt x="0" y="4508"/>
                  </a:lnTo>
                  <a:lnTo>
                    <a:pt x="0" y="15659"/>
                  </a:lnTo>
                  <a:lnTo>
                    <a:pt x="3639" y="19288"/>
                  </a:lnTo>
                  <a:lnTo>
                    <a:pt x="3963" y="14412"/>
                  </a:lnTo>
                  <a:lnTo>
                    <a:pt x="5143" y="3810"/>
                  </a:lnTo>
                  <a:lnTo>
                    <a:pt x="5740" y="0"/>
                  </a:lnTo>
                  <a:close/>
                </a:path>
              </a:pathLst>
            </a:custGeom>
            <a:solidFill>
              <a:srgbClr val="FFFFFF"/>
            </a:solidFill>
          </p:spPr>
          <p:txBody>
            <a:bodyPr wrap="square" lIns="0" tIns="0" rIns="0" bIns="0" rtlCol="0"/>
            <a:lstStyle/>
            <a:p>
              <a:endParaRPr sz="324"/>
            </a:p>
          </p:txBody>
        </p:sp>
        <p:sp>
          <p:nvSpPr>
            <p:cNvPr id="21" name="object 28">
              <a:extLst>
                <a:ext uri="{FF2B5EF4-FFF2-40B4-BE49-F238E27FC236}">
                  <a16:creationId xmlns:a16="http://schemas.microsoft.com/office/drawing/2014/main" id="{3E5A5C7B-B409-4C66-8035-E486CEABCBD4}"/>
                </a:ext>
              </a:extLst>
            </p:cNvPr>
            <p:cNvSpPr/>
            <p:nvPr/>
          </p:nvSpPr>
          <p:spPr>
            <a:xfrm>
              <a:off x="3919823" y="6645"/>
              <a:ext cx="6350" cy="19685"/>
            </a:xfrm>
            <a:custGeom>
              <a:avLst/>
              <a:gdLst/>
              <a:ahLst/>
              <a:cxnLst/>
              <a:rect l="l" t="t" r="r" b="b"/>
              <a:pathLst>
                <a:path w="6350" h="19684">
                  <a:moveTo>
                    <a:pt x="1207" y="0"/>
                  </a:moveTo>
                  <a:lnTo>
                    <a:pt x="0" y="0"/>
                  </a:lnTo>
                  <a:lnTo>
                    <a:pt x="611" y="3923"/>
                  </a:lnTo>
                  <a:lnTo>
                    <a:pt x="1789" y="14559"/>
                  </a:lnTo>
                  <a:lnTo>
                    <a:pt x="2101" y="19276"/>
                  </a:lnTo>
                  <a:lnTo>
                    <a:pt x="5728" y="15659"/>
                  </a:lnTo>
                  <a:lnTo>
                    <a:pt x="5728" y="4508"/>
                  </a:lnTo>
                  <a:lnTo>
                    <a:pt x="1207" y="0"/>
                  </a:lnTo>
                  <a:close/>
                </a:path>
              </a:pathLst>
            </a:custGeom>
            <a:solidFill>
              <a:srgbClr val="FFFFFF"/>
            </a:solidFill>
          </p:spPr>
          <p:txBody>
            <a:bodyPr wrap="square" lIns="0" tIns="0" rIns="0" bIns="0" rtlCol="0"/>
            <a:lstStyle/>
            <a:p>
              <a:endParaRPr sz="324"/>
            </a:p>
          </p:txBody>
        </p:sp>
        <p:sp>
          <p:nvSpPr>
            <p:cNvPr id="24" name="object 29">
              <a:extLst>
                <a:ext uri="{FF2B5EF4-FFF2-40B4-BE49-F238E27FC236}">
                  <a16:creationId xmlns:a16="http://schemas.microsoft.com/office/drawing/2014/main" id="{5473999C-BB70-4A4C-8AFE-3FBA9BA55317}"/>
                </a:ext>
              </a:extLst>
            </p:cNvPr>
            <p:cNvSpPr/>
            <p:nvPr/>
          </p:nvSpPr>
          <p:spPr>
            <a:xfrm>
              <a:off x="3957259"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 name="object 30">
              <a:extLst>
                <a:ext uri="{FF2B5EF4-FFF2-40B4-BE49-F238E27FC236}">
                  <a16:creationId xmlns:a16="http://schemas.microsoft.com/office/drawing/2014/main" id="{FD8DA6FE-2BF5-477C-BA06-F40B2D2E2CC9}"/>
                </a:ext>
              </a:extLst>
            </p:cNvPr>
            <p:cNvSpPr/>
            <p:nvPr/>
          </p:nvSpPr>
          <p:spPr>
            <a:xfrm>
              <a:off x="400914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 name="object 31">
              <a:extLst>
                <a:ext uri="{FF2B5EF4-FFF2-40B4-BE49-F238E27FC236}">
                  <a16:creationId xmlns:a16="http://schemas.microsoft.com/office/drawing/2014/main" id="{DA371106-1FFD-4972-BA86-FF43CEA28E82}"/>
                </a:ext>
              </a:extLst>
            </p:cNvPr>
            <p:cNvSpPr/>
            <p:nvPr/>
          </p:nvSpPr>
          <p:spPr>
            <a:xfrm>
              <a:off x="4061034"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 name="object 32">
              <a:extLst>
                <a:ext uri="{FF2B5EF4-FFF2-40B4-BE49-F238E27FC236}">
                  <a16:creationId xmlns:a16="http://schemas.microsoft.com/office/drawing/2014/main" id="{CD428232-CC88-4441-88B0-22DC8A345813}"/>
                </a:ext>
              </a:extLst>
            </p:cNvPr>
            <p:cNvSpPr/>
            <p:nvPr/>
          </p:nvSpPr>
          <p:spPr>
            <a:xfrm>
              <a:off x="4112922"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0" name="object 33">
              <a:extLst>
                <a:ext uri="{FF2B5EF4-FFF2-40B4-BE49-F238E27FC236}">
                  <a16:creationId xmlns:a16="http://schemas.microsoft.com/office/drawing/2014/main" id="{01957A87-08D1-454C-9BED-7D127B9B6E06}"/>
                </a:ext>
              </a:extLst>
            </p:cNvPr>
            <p:cNvSpPr/>
            <p:nvPr/>
          </p:nvSpPr>
          <p:spPr>
            <a:xfrm>
              <a:off x="3230833" y="54569"/>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2" name="object 34">
              <a:extLst>
                <a:ext uri="{FF2B5EF4-FFF2-40B4-BE49-F238E27FC236}">
                  <a16:creationId xmlns:a16="http://schemas.microsoft.com/office/drawing/2014/main" id="{F7EAA056-0E59-4904-94C8-4E72544DDA32}"/>
                </a:ext>
              </a:extLst>
            </p:cNvPr>
            <p:cNvSpPr/>
            <p:nvPr/>
          </p:nvSpPr>
          <p:spPr>
            <a:xfrm>
              <a:off x="3282721"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3" name="object 35">
              <a:extLst>
                <a:ext uri="{FF2B5EF4-FFF2-40B4-BE49-F238E27FC236}">
                  <a16:creationId xmlns:a16="http://schemas.microsoft.com/office/drawing/2014/main" id="{1C14294E-2EEB-4148-A5A5-1ECA6ABFECB4}"/>
                </a:ext>
              </a:extLst>
            </p:cNvPr>
            <p:cNvSpPr/>
            <p:nvPr/>
          </p:nvSpPr>
          <p:spPr>
            <a:xfrm>
              <a:off x="3334608"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4" name="object 36">
              <a:extLst>
                <a:ext uri="{FF2B5EF4-FFF2-40B4-BE49-F238E27FC236}">
                  <a16:creationId xmlns:a16="http://schemas.microsoft.com/office/drawing/2014/main" id="{B0EFF8CD-E370-4FB7-99FE-CD609DAF9086}"/>
                </a:ext>
              </a:extLst>
            </p:cNvPr>
            <p:cNvSpPr/>
            <p:nvPr/>
          </p:nvSpPr>
          <p:spPr>
            <a:xfrm>
              <a:off x="338649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5" name="object 37">
              <a:extLst>
                <a:ext uri="{FF2B5EF4-FFF2-40B4-BE49-F238E27FC236}">
                  <a16:creationId xmlns:a16="http://schemas.microsoft.com/office/drawing/2014/main" id="{6C7185E4-1342-4E79-A067-748CE40102BD}"/>
                </a:ext>
              </a:extLst>
            </p:cNvPr>
            <p:cNvSpPr/>
            <p:nvPr/>
          </p:nvSpPr>
          <p:spPr>
            <a:xfrm>
              <a:off x="3438383" y="54849"/>
              <a:ext cx="6350" cy="20320"/>
            </a:xfrm>
            <a:custGeom>
              <a:avLst/>
              <a:gdLst/>
              <a:ahLst/>
              <a:cxnLst/>
              <a:rect l="l" t="t" r="r" b="b"/>
              <a:pathLst>
                <a:path w="6350" h="20319">
                  <a:moveTo>
                    <a:pt x="4239" y="0"/>
                  </a:moveTo>
                  <a:lnTo>
                    <a:pt x="0" y="4228"/>
                  </a:lnTo>
                  <a:lnTo>
                    <a:pt x="0" y="15378"/>
                  </a:lnTo>
                  <a:lnTo>
                    <a:pt x="4521" y="19887"/>
                  </a:lnTo>
                  <a:lnTo>
                    <a:pt x="6244" y="19887"/>
                  </a:lnTo>
                  <a:lnTo>
                    <a:pt x="4239" y="0"/>
                  </a:lnTo>
                  <a:close/>
                </a:path>
              </a:pathLst>
            </a:custGeom>
            <a:solidFill>
              <a:srgbClr val="FFFFFF"/>
            </a:solidFill>
          </p:spPr>
          <p:txBody>
            <a:bodyPr wrap="square" lIns="0" tIns="0" rIns="0" bIns="0" rtlCol="0"/>
            <a:lstStyle/>
            <a:p>
              <a:endParaRPr sz="324"/>
            </a:p>
          </p:txBody>
        </p:sp>
        <p:sp>
          <p:nvSpPr>
            <p:cNvPr id="36" name="object 38">
              <a:extLst>
                <a:ext uri="{FF2B5EF4-FFF2-40B4-BE49-F238E27FC236}">
                  <a16:creationId xmlns:a16="http://schemas.microsoft.com/office/drawing/2014/main" id="{04BBF8D5-BA01-4D6E-BFD8-97E8A8DE2E04}"/>
                </a:ext>
              </a:extLst>
            </p:cNvPr>
            <p:cNvSpPr/>
            <p:nvPr/>
          </p:nvSpPr>
          <p:spPr>
            <a:xfrm>
              <a:off x="3919325" y="54866"/>
              <a:ext cx="6350" cy="20320"/>
            </a:xfrm>
            <a:custGeom>
              <a:avLst/>
              <a:gdLst/>
              <a:ahLst/>
              <a:cxnLst/>
              <a:rect l="l" t="t" r="r" b="b"/>
              <a:pathLst>
                <a:path w="6350" h="20319">
                  <a:moveTo>
                    <a:pt x="2003" y="0"/>
                  </a:moveTo>
                  <a:lnTo>
                    <a:pt x="0" y="19870"/>
                  </a:lnTo>
                  <a:lnTo>
                    <a:pt x="1704" y="19870"/>
                  </a:lnTo>
                  <a:lnTo>
                    <a:pt x="6226" y="15361"/>
                  </a:lnTo>
                  <a:lnTo>
                    <a:pt x="6226" y="4211"/>
                  </a:lnTo>
                  <a:lnTo>
                    <a:pt x="2003" y="0"/>
                  </a:lnTo>
                  <a:close/>
                </a:path>
              </a:pathLst>
            </a:custGeom>
            <a:solidFill>
              <a:srgbClr val="FFFFFF"/>
            </a:solidFill>
          </p:spPr>
          <p:txBody>
            <a:bodyPr wrap="square" lIns="0" tIns="0" rIns="0" bIns="0" rtlCol="0"/>
            <a:lstStyle/>
            <a:p>
              <a:endParaRPr sz="324"/>
            </a:p>
          </p:txBody>
        </p:sp>
        <p:sp>
          <p:nvSpPr>
            <p:cNvPr id="37" name="object 39">
              <a:extLst>
                <a:ext uri="{FF2B5EF4-FFF2-40B4-BE49-F238E27FC236}">
                  <a16:creationId xmlns:a16="http://schemas.microsoft.com/office/drawing/2014/main" id="{DADCC5B8-BD21-46C0-B488-3566C46A8D93}"/>
                </a:ext>
              </a:extLst>
            </p:cNvPr>
            <p:cNvSpPr/>
            <p:nvPr/>
          </p:nvSpPr>
          <p:spPr>
            <a:xfrm>
              <a:off x="3957259"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8" name="object 40">
              <a:extLst>
                <a:ext uri="{FF2B5EF4-FFF2-40B4-BE49-F238E27FC236}">
                  <a16:creationId xmlns:a16="http://schemas.microsoft.com/office/drawing/2014/main" id="{C3ACCA9D-FE0D-4F92-A2A2-4D030772F75B}"/>
                </a:ext>
              </a:extLst>
            </p:cNvPr>
            <p:cNvSpPr/>
            <p:nvPr/>
          </p:nvSpPr>
          <p:spPr>
            <a:xfrm>
              <a:off x="400914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9" name="object 41">
              <a:extLst>
                <a:ext uri="{FF2B5EF4-FFF2-40B4-BE49-F238E27FC236}">
                  <a16:creationId xmlns:a16="http://schemas.microsoft.com/office/drawing/2014/main" id="{1B22648B-6A42-4949-B373-1B43567BC8A1}"/>
                </a:ext>
              </a:extLst>
            </p:cNvPr>
            <p:cNvSpPr/>
            <p:nvPr/>
          </p:nvSpPr>
          <p:spPr>
            <a:xfrm>
              <a:off x="4061034"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0" name="object 42">
              <a:extLst>
                <a:ext uri="{FF2B5EF4-FFF2-40B4-BE49-F238E27FC236}">
                  <a16:creationId xmlns:a16="http://schemas.microsoft.com/office/drawing/2014/main" id="{7D6F0AB2-0F2F-48FE-9B69-8CB5E571A1AF}"/>
                </a:ext>
              </a:extLst>
            </p:cNvPr>
            <p:cNvSpPr/>
            <p:nvPr/>
          </p:nvSpPr>
          <p:spPr>
            <a:xfrm>
              <a:off x="4112922"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1" name="object 43">
              <a:extLst>
                <a:ext uri="{FF2B5EF4-FFF2-40B4-BE49-F238E27FC236}">
                  <a16:creationId xmlns:a16="http://schemas.microsoft.com/office/drawing/2014/main" id="{D24D43F4-872C-4D03-A0BA-5E9DB0AB7CA6}"/>
                </a:ext>
              </a:extLst>
            </p:cNvPr>
            <p:cNvSpPr/>
            <p:nvPr/>
          </p:nvSpPr>
          <p:spPr>
            <a:xfrm>
              <a:off x="3230833" y="102494"/>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2" name="object 44">
              <a:extLst>
                <a:ext uri="{FF2B5EF4-FFF2-40B4-BE49-F238E27FC236}">
                  <a16:creationId xmlns:a16="http://schemas.microsoft.com/office/drawing/2014/main" id="{E1EC918D-41C0-41EE-BFAC-9F3FD4F6E6A4}"/>
                </a:ext>
              </a:extLst>
            </p:cNvPr>
            <p:cNvSpPr/>
            <p:nvPr/>
          </p:nvSpPr>
          <p:spPr>
            <a:xfrm>
              <a:off x="3282721"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3" name="object 45">
              <a:extLst>
                <a:ext uri="{FF2B5EF4-FFF2-40B4-BE49-F238E27FC236}">
                  <a16:creationId xmlns:a16="http://schemas.microsoft.com/office/drawing/2014/main" id="{0E2B2519-840E-4240-A6CA-25871131A2A9}"/>
                </a:ext>
              </a:extLst>
            </p:cNvPr>
            <p:cNvSpPr/>
            <p:nvPr/>
          </p:nvSpPr>
          <p:spPr>
            <a:xfrm>
              <a:off x="3334608"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4" name="object 46">
              <a:extLst>
                <a:ext uri="{FF2B5EF4-FFF2-40B4-BE49-F238E27FC236}">
                  <a16:creationId xmlns:a16="http://schemas.microsoft.com/office/drawing/2014/main" id="{0C444211-365D-4C28-B15F-010FCEEA7F98}"/>
                </a:ext>
              </a:extLst>
            </p:cNvPr>
            <p:cNvSpPr/>
            <p:nvPr/>
          </p:nvSpPr>
          <p:spPr>
            <a:xfrm>
              <a:off x="338649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5" name="object 47">
              <a:extLst>
                <a:ext uri="{FF2B5EF4-FFF2-40B4-BE49-F238E27FC236}">
                  <a16:creationId xmlns:a16="http://schemas.microsoft.com/office/drawing/2014/main" id="{1A42C1A2-ECDF-463F-914E-AD54C3A37417}"/>
                </a:ext>
              </a:extLst>
            </p:cNvPr>
            <p:cNvSpPr/>
            <p:nvPr/>
          </p:nvSpPr>
          <p:spPr>
            <a:xfrm>
              <a:off x="3438383" y="102494"/>
              <a:ext cx="17780" cy="20320"/>
            </a:xfrm>
            <a:custGeom>
              <a:avLst/>
              <a:gdLst/>
              <a:ahLst/>
              <a:cxnLst/>
              <a:rect l="l" t="t" r="r" b="b"/>
              <a:pathLst>
                <a:path w="17779" h="20319">
                  <a:moveTo>
                    <a:pt x="11421" y="0"/>
                  </a:moveTo>
                  <a:lnTo>
                    <a:pt x="4521" y="0"/>
                  </a:lnTo>
                  <a:lnTo>
                    <a:pt x="0" y="4508"/>
                  </a:lnTo>
                  <a:lnTo>
                    <a:pt x="0" y="15659"/>
                  </a:lnTo>
                  <a:lnTo>
                    <a:pt x="4521" y="20167"/>
                  </a:lnTo>
                  <a:lnTo>
                    <a:pt x="15659" y="20167"/>
                  </a:lnTo>
                  <a:lnTo>
                    <a:pt x="17203" y="18627"/>
                  </a:lnTo>
                  <a:lnTo>
                    <a:pt x="11421" y="0"/>
                  </a:lnTo>
                  <a:close/>
                </a:path>
              </a:pathLst>
            </a:custGeom>
            <a:solidFill>
              <a:srgbClr val="FFFFFF"/>
            </a:solidFill>
          </p:spPr>
          <p:txBody>
            <a:bodyPr wrap="square" lIns="0" tIns="0" rIns="0" bIns="0" rtlCol="0"/>
            <a:lstStyle/>
            <a:p>
              <a:endParaRPr sz="324"/>
            </a:p>
          </p:txBody>
        </p:sp>
        <p:sp>
          <p:nvSpPr>
            <p:cNvPr id="46" name="object 48">
              <a:extLst>
                <a:ext uri="{FF2B5EF4-FFF2-40B4-BE49-F238E27FC236}">
                  <a16:creationId xmlns:a16="http://schemas.microsoft.com/office/drawing/2014/main" id="{18F21ECE-3685-4C69-AE91-A526A14769EF}"/>
                </a:ext>
              </a:extLst>
            </p:cNvPr>
            <p:cNvSpPr/>
            <p:nvPr/>
          </p:nvSpPr>
          <p:spPr>
            <a:xfrm>
              <a:off x="3908361" y="102494"/>
              <a:ext cx="17780" cy="20320"/>
            </a:xfrm>
            <a:custGeom>
              <a:avLst/>
              <a:gdLst/>
              <a:ahLst/>
              <a:cxnLst/>
              <a:rect l="l" t="t" r="r" b="b"/>
              <a:pathLst>
                <a:path w="17779" h="20319">
                  <a:moveTo>
                    <a:pt x="12669" y="0"/>
                  </a:moveTo>
                  <a:lnTo>
                    <a:pt x="5786" y="0"/>
                  </a:lnTo>
                  <a:lnTo>
                    <a:pt x="0" y="18640"/>
                  </a:lnTo>
                  <a:lnTo>
                    <a:pt x="1531" y="20167"/>
                  </a:lnTo>
                  <a:lnTo>
                    <a:pt x="12669" y="20167"/>
                  </a:lnTo>
                  <a:lnTo>
                    <a:pt x="17190" y="15659"/>
                  </a:lnTo>
                  <a:lnTo>
                    <a:pt x="17190" y="4508"/>
                  </a:lnTo>
                  <a:lnTo>
                    <a:pt x="12669" y="0"/>
                  </a:lnTo>
                  <a:close/>
                </a:path>
              </a:pathLst>
            </a:custGeom>
            <a:solidFill>
              <a:srgbClr val="FFFFFF"/>
            </a:solidFill>
          </p:spPr>
          <p:txBody>
            <a:bodyPr wrap="square" lIns="0" tIns="0" rIns="0" bIns="0" rtlCol="0"/>
            <a:lstStyle/>
            <a:p>
              <a:endParaRPr sz="324"/>
            </a:p>
          </p:txBody>
        </p:sp>
        <p:sp>
          <p:nvSpPr>
            <p:cNvPr id="47" name="object 49">
              <a:extLst>
                <a:ext uri="{FF2B5EF4-FFF2-40B4-BE49-F238E27FC236}">
                  <a16:creationId xmlns:a16="http://schemas.microsoft.com/office/drawing/2014/main" id="{138D4B13-85F7-41D4-AAD3-082EE78C36B3}"/>
                </a:ext>
              </a:extLst>
            </p:cNvPr>
            <p:cNvSpPr/>
            <p:nvPr/>
          </p:nvSpPr>
          <p:spPr>
            <a:xfrm>
              <a:off x="3957259"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8" name="object 50">
              <a:extLst>
                <a:ext uri="{FF2B5EF4-FFF2-40B4-BE49-F238E27FC236}">
                  <a16:creationId xmlns:a16="http://schemas.microsoft.com/office/drawing/2014/main" id="{1C3401A8-80C4-4320-8DCD-3CCBEC69231B}"/>
                </a:ext>
              </a:extLst>
            </p:cNvPr>
            <p:cNvSpPr/>
            <p:nvPr/>
          </p:nvSpPr>
          <p:spPr>
            <a:xfrm>
              <a:off x="400914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9" name="object 51">
              <a:extLst>
                <a:ext uri="{FF2B5EF4-FFF2-40B4-BE49-F238E27FC236}">
                  <a16:creationId xmlns:a16="http://schemas.microsoft.com/office/drawing/2014/main" id="{FEA0D3DD-502F-41F7-B4B0-A068B54A1341}"/>
                </a:ext>
              </a:extLst>
            </p:cNvPr>
            <p:cNvSpPr/>
            <p:nvPr/>
          </p:nvSpPr>
          <p:spPr>
            <a:xfrm>
              <a:off x="4061034"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0" name="object 52">
              <a:extLst>
                <a:ext uri="{FF2B5EF4-FFF2-40B4-BE49-F238E27FC236}">
                  <a16:creationId xmlns:a16="http://schemas.microsoft.com/office/drawing/2014/main" id="{8A184818-F1BB-4BE1-9D1E-7B6F713DF76C}"/>
                </a:ext>
              </a:extLst>
            </p:cNvPr>
            <p:cNvSpPr/>
            <p:nvPr/>
          </p:nvSpPr>
          <p:spPr>
            <a:xfrm>
              <a:off x="4112922"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1" name="object 53">
              <a:extLst>
                <a:ext uri="{FF2B5EF4-FFF2-40B4-BE49-F238E27FC236}">
                  <a16:creationId xmlns:a16="http://schemas.microsoft.com/office/drawing/2014/main" id="{E0AA3085-5FD8-4D04-8AF9-E028AB424DA4}"/>
                </a:ext>
              </a:extLst>
            </p:cNvPr>
            <p:cNvSpPr/>
            <p:nvPr/>
          </p:nvSpPr>
          <p:spPr>
            <a:xfrm>
              <a:off x="3230833" y="150417"/>
              <a:ext cx="20320" cy="20320"/>
            </a:xfrm>
            <a:custGeom>
              <a:avLst/>
              <a:gdLst/>
              <a:ahLst/>
              <a:cxnLst/>
              <a:rect l="l" t="t" r="r" b="b"/>
              <a:pathLst>
                <a:path w="20319" h="20319">
                  <a:moveTo>
                    <a:pt x="15659" y="0"/>
                  </a:moveTo>
                  <a:lnTo>
                    <a:pt x="4521" y="0"/>
                  </a:lnTo>
                  <a:lnTo>
                    <a:pt x="0" y="4508"/>
                  </a:lnTo>
                  <a:lnTo>
                    <a:pt x="0" y="7851"/>
                  </a:lnTo>
                  <a:lnTo>
                    <a:pt x="2699" y="18351"/>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2" name="object 54">
              <a:extLst>
                <a:ext uri="{FF2B5EF4-FFF2-40B4-BE49-F238E27FC236}">
                  <a16:creationId xmlns:a16="http://schemas.microsoft.com/office/drawing/2014/main" id="{36F58D49-5BE9-4C9A-ADA8-CB6912FB82C7}"/>
                </a:ext>
              </a:extLst>
            </p:cNvPr>
            <p:cNvSpPr/>
            <p:nvPr/>
          </p:nvSpPr>
          <p:spPr>
            <a:xfrm>
              <a:off x="3282721"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3" name="object 55">
              <a:extLst>
                <a:ext uri="{FF2B5EF4-FFF2-40B4-BE49-F238E27FC236}">
                  <a16:creationId xmlns:a16="http://schemas.microsoft.com/office/drawing/2014/main" id="{10FCC51D-3441-4914-BFEF-1453D61FB3FF}"/>
                </a:ext>
              </a:extLst>
            </p:cNvPr>
            <p:cNvSpPr/>
            <p:nvPr/>
          </p:nvSpPr>
          <p:spPr>
            <a:xfrm>
              <a:off x="3334608"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4" name="object 56">
              <a:extLst>
                <a:ext uri="{FF2B5EF4-FFF2-40B4-BE49-F238E27FC236}">
                  <a16:creationId xmlns:a16="http://schemas.microsoft.com/office/drawing/2014/main" id="{DCD2350A-A12C-4954-A04E-720C62D9307D}"/>
                </a:ext>
              </a:extLst>
            </p:cNvPr>
            <p:cNvSpPr/>
            <p:nvPr/>
          </p:nvSpPr>
          <p:spPr>
            <a:xfrm>
              <a:off x="338649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5" name="object 57">
              <a:extLst>
                <a:ext uri="{FF2B5EF4-FFF2-40B4-BE49-F238E27FC236}">
                  <a16:creationId xmlns:a16="http://schemas.microsoft.com/office/drawing/2014/main" id="{A2E2188E-B10C-4FEA-B1B4-E55302F3EF8D}"/>
                </a:ext>
              </a:extLst>
            </p:cNvPr>
            <p:cNvSpPr/>
            <p:nvPr/>
          </p:nvSpPr>
          <p:spPr>
            <a:xfrm>
              <a:off x="3438383"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6" name="object 58">
              <a:extLst>
                <a:ext uri="{FF2B5EF4-FFF2-40B4-BE49-F238E27FC236}">
                  <a16:creationId xmlns:a16="http://schemas.microsoft.com/office/drawing/2014/main" id="{1EBB6DB4-D9D6-42C8-8006-C30EF3A7AE2C}"/>
                </a:ext>
              </a:extLst>
            </p:cNvPr>
            <p:cNvSpPr/>
            <p:nvPr/>
          </p:nvSpPr>
          <p:spPr>
            <a:xfrm>
              <a:off x="390537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7" name="object 59">
              <a:extLst>
                <a:ext uri="{FF2B5EF4-FFF2-40B4-BE49-F238E27FC236}">
                  <a16:creationId xmlns:a16="http://schemas.microsoft.com/office/drawing/2014/main" id="{4BE72FD5-2F71-44C0-B05C-5A87AAC47021}"/>
                </a:ext>
              </a:extLst>
            </p:cNvPr>
            <p:cNvSpPr/>
            <p:nvPr/>
          </p:nvSpPr>
          <p:spPr>
            <a:xfrm>
              <a:off x="3957259"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8" name="object 60">
              <a:extLst>
                <a:ext uri="{FF2B5EF4-FFF2-40B4-BE49-F238E27FC236}">
                  <a16:creationId xmlns:a16="http://schemas.microsoft.com/office/drawing/2014/main" id="{7D2FD35F-AB58-4742-994E-2874D1FDAB02}"/>
                </a:ext>
              </a:extLst>
            </p:cNvPr>
            <p:cNvSpPr/>
            <p:nvPr/>
          </p:nvSpPr>
          <p:spPr>
            <a:xfrm>
              <a:off x="400914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9" name="object 61">
              <a:extLst>
                <a:ext uri="{FF2B5EF4-FFF2-40B4-BE49-F238E27FC236}">
                  <a16:creationId xmlns:a16="http://schemas.microsoft.com/office/drawing/2014/main" id="{FA0DC785-9E9D-4C83-B40F-A9050B326E95}"/>
                </a:ext>
              </a:extLst>
            </p:cNvPr>
            <p:cNvSpPr/>
            <p:nvPr/>
          </p:nvSpPr>
          <p:spPr>
            <a:xfrm>
              <a:off x="4061034"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0" name="object 62">
              <a:extLst>
                <a:ext uri="{FF2B5EF4-FFF2-40B4-BE49-F238E27FC236}">
                  <a16:creationId xmlns:a16="http://schemas.microsoft.com/office/drawing/2014/main" id="{2B2777D0-BA4E-4D56-9B2C-CDC2B839DA95}"/>
                </a:ext>
              </a:extLst>
            </p:cNvPr>
            <p:cNvSpPr/>
            <p:nvPr/>
          </p:nvSpPr>
          <p:spPr>
            <a:xfrm>
              <a:off x="411292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17471" y="18359"/>
                  </a:lnTo>
                  <a:lnTo>
                    <a:pt x="20180" y="7826"/>
                  </a:lnTo>
                  <a:lnTo>
                    <a:pt x="20180" y="4508"/>
                  </a:lnTo>
                  <a:lnTo>
                    <a:pt x="15659" y="0"/>
                  </a:lnTo>
                  <a:close/>
                </a:path>
              </a:pathLst>
            </a:custGeom>
            <a:solidFill>
              <a:srgbClr val="FFFFFF"/>
            </a:solidFill>
          </p:spPr>
          <p:txBody>
            <a:bodyPr wrap="square" lIns="0" tIns="0" rIns="0" bIns="0" rtlCol="0"/>
            <a:lstStyle/>
            <a:p>
              <a:endParaRPr sz="324"/>
            </a:p>
          </p:txBody>
        </p:sp>
        <p:sp>
          <p:nvSpPr>
            <p:cNvPr id="61" name="object 63">
              <a:extLst>
                <a:ext uri="{FF2B5EF4-FFF2-40B4-BE49-F238E27FC236}">
                  <a16:creationId xmlns:a16="http://schemas.microsoft.com/office/drawing/2014/main" id="{CED04687-9F1C-4A99-991C-FB3D42A1443F}"/>
                </a:ext>
              </a:extLst>
            </p:cNvPr>
            <p:cNvSpPr/>
            <p:nvPr/>
          </p:nvSpPr>
          <p:spPr>
            <a:xfrm>
              <a:off x="3242994" y="198340"/>
              <a:ext cx="8255" cy="17780"/>
            </a:xfrm>
            <a:custGeom>
              <a:avLst/>
              <a:gdLst/>
              <a:ahLst/>
              <a:cxnLst/>
              <a:rect l="l" t="t" r="r" b="b"/>
              <a:pathLst>
                <a:path w="8254" h="17779">
                  <a:moveTo>
                    <a:pt x="3497" y="0"/>
                  </a:moveTo>
                  <a:lnTo>
                    <a:pt x="0" y="0"/>
                  </a:lnTo>
                  <a:lnTo>
                    <a:pt x="6343" y="17330"/>
                  </a:lnTo>
                  <a:lnTo>
                    <a:pt x="8019" y="15659"/>
                  </a:lnTo>
                  <a:lnTo>
                    <a:pt x="8019" y="4508"/>
                  </a:lnTo>
                  <a:lnTo>
                    <a:pt x="3497" y="0"/>
                  </a:lnTo>
                  <a:close/>
                </a:path>
              </a:pathLst>
            </a:custGeom>
            <a:solidFill>
              <a:srgbClr val="FFFFFF"/>
            </a:solidFill>
          </p:spPr>
          <p:txBody>
            <a:bodyPr wrap="square" lIns="0" tIns="0" rIns="0" bIns="0" rtlCol="0"/>
            <a:lstStyle/>
            <a:p>
              <a:endParaRPr sz="324"/>
            </a:p>
          </p:txBody>
        </p:sp>
        <p:sp>
          <p:nvSpPr>
            <p:cNvPr id="62" name="object 64">
              <a:extLst>
                <a:ext uri="{FF2B5EF4-FFF2-40B4-BE49-F238E27FC236}">
                  <a16:creationId xmlns:a16="http://schemas.microsoft.com/office/drawing/2014/main" id="{1C2E0E8E-FB1D-4AD1-AB24-22A801A2338E}"/>
                </a:ext>
              </a:extLst>
            </p:cNvPr>
            <p:cNvSpPr/>
            <p:nvPr/>
          </p:nvSpPr>
          <p:spPr>
            <a:xfrm>
              <a:off x="3282721"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3" name="object 65">
              <a:extLst>
                <a:ext uri="{FF2B5EF4-FFF2-40B4-BE49-F238E27FC236}">
                  <a16:creationId xmlns:a16="http://schemas.microsoft.com/office/drawing/2014/main" id="{0BECF6B8-A058-4EC3-8450-93CEBEF5A175}"/>
                </a:ext>
              </a:extLst>
            </p:cNvPr>
            <p:cNvSpPr/>
            <p:nvPr/>
          </p:nvSpPr>
          <p:spPr>
            <a:xfrm>
              <a:off x="3334608"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4" name="object 66">
              <a:extLst>
                <a:ext uri="{FF2B5EF4-FFF2-40B4-BE49-F238E27FC236}">
                  <a16:creationId xmlns:a16="http://schemas.microsoft.com/office/drawing/2014/main" id="{CBA33DFA-FEF0-424D-A635-AF4C2A3F3E53}"/>
                </a:ext>
              </a:extLst>
            </p:cNvPr>
            <p:cNvSpPr/>
            <p:nvPr/>
          </p:nvSpPr>
          <p:spPr>
            <a:xfrm>
              <a:off x="338649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5" name="object 67">
              <a:extLst>
                <a:ext uri="{FF2B5EF4-FFF2-40B4-BE49-F238E27FC236}">
                  <a16:creationId xmlns:a16="http://schemas.microsoft.com/office/drawing/2014/main" id="{05B41054-B603-4290-AA3C-08EBAA8A629D}"/>
                </a:ext>
              </a:extLst>
            </p:cNvPr>
            <p:cNvSpPr/>
            <p:nvPr/>
          </p:nvSpPr>
          <p:spPr>
            <a:xfrm>
              <a:off x="3438383"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6" name="object 68">
              <a:extLst>
                <a:ext uri="{FF2B5EF4-FFF2-40B4-BE49-F238E27FC236}">
                  <a16:creationId xmlns:a16="http://schemas.microsoft.com/office/drawing/2014/main" id="{F82064FA-B042-4BD5-A348-4051DCD1D03C}"/>
                </a:ext>
              </a:extLst>
            </p:cNvPr>
            <p:cNvSpPr/>
            <p:nvPr/>
          </p:nvSpPr>
          <p:spPr>
            <a:xfrm>
              <a:off x="3490271" y="198340"/>
              <a:ext cx="20320" cy="20320"/>
            </a:xfrm>
            <a:custGeom>
              <a:avLst/>
              <a:gdLst/>
              <a:ahLst/>
              <a:cxnLst/>
              <a:rect l="l" t="t" r="r" b="b"/>
              <a:pathLst>
                <a:path w="20320" h="20320">
                  <a:moveTo>
                    <a:pt x="9674" y="0"/>
                  </a:moveTo>
                  <a:lnTo>
                    <a:pt x="4521" y="0"/>
                  </a:lnTo>
                  <a:lnTo>
                    <a:pt x="0" y="4508"/>
                  </a:lnTo>
                  <a:lnTo>
                    <a:pt x="0" y="15659"/>
                  </a:lnTo>
                  <a:lnTo>
                    <a:pt x="4521" y="20167"/>
                  </a:lnTo>
                  <a:lnTo>
                    <a:pt x="15659" y="20167"/>
                  </a:lnTo>
                  <a:lnTo>
                    <a:pt x="20180" y="15659"/>
                  </a:lnTo>
                  <a:lnTo>
                    <a:pt x="20180" y="12733"/>
                  </a:lnTo>
                  <a:lnTo>
                    <a:pt x="9674" y="0"/>
                  </a:lnTo>
                  <a:close/>
                </a:path>
              </a:pathLst>
            </a:custGeom>
            <a:solidFill>
              <a:srgbClr val="FFFFFF"/>
            </a:solidFill>
          </p:spPr>
          <p:txBody>
            <a:bodyPr wrap="square" lIns="0" tIns="0" rIns="0" bIns="0" rtlCol="0"/>
            <a:lstStyle/>
            <a:p>
              <a:endParaRPr sz="324"/>
            </a:p>
          </p:txBody>
        </p:sp>
        <p:sp>
          <p:nvSpPr>
            <p:cNvPr id="67" name="object 69">
              <a:extLst>
                <a:ext uri="{FF2B5EF4-FFF2-40B4-BE49-F238E27FC236}">
                  <a16:creationId xmlns:a16="http://schemas.microsoft.com/office/drawing/2014/main" id="{D18EC0D5-553A-4AFE-84F6-C998D24CAA05}"/>
                </a:ext>
              </a:extLst>
            </p:cNvPr>
            <p:cNvSpPr/>
            <p:nvPr/>
          </p:nvSpPr>
          <p:spPr>
            <a:xfrm>
              <a:off x="3853484" y="198340"/>
              <a:ext cx="20320" cy="20320"/>
            </a:xfrm>
            <a:custGeom>
              <a:avLst/>
              <a:gdLst/>
              <a:ahLst/>
              <a:cxnLst/>
              <a:rect l="l" t="t" r="r" b="b"/>
              <a:pathLst>
                <a:path w="20320" h="20320">
                  <a:moveTo>
                    <a:pt x="15659" y="0"/>
                  </a:moveTo>
                  <a:lnTo>
                    <a:pt x="10518" y="0"/>
                  </a:lnTo>
                  <a:lnTo>
                    <a:pt x="0" y="1274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8" name="object 70">
              <a:extLst>
                <a:ext uri="{FF2B5EF4-FFF2-40B4-BE49-F238E27FC236}">
                  <a16:creationId xmlns:a16="http://schemas.microsoft.com/office/drawing/2014/main" id="{CD172667-541E-4FE1-BAC3-9248C9A9A030}"/>
                </a:ext>
              </a:extLst>
            </p:cNvPr>
            <p:cNvSpPr/>
            <p:nvPr/>
          </p:nvSpPr>
          <p:spPr>
            <a:xfrm>
              <a:off x="3905372"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9" name="object 71">
              <a:extLst>
                <a:ext uri="{FF2B5EF4-FFF2-40B4-BE49-F238E27FC236}">
                  <a16:creationId xmlns:a16="http://schemas.microsoft.com/office/drawing/2014/main" id="{8D7B2D85-1B2D-4A66-9A22-C0D87B890522}"/>
                </a:ext>
              </a:extLst>
            </p:cNvPr>
            <p:cNvSpPr/>
            <p:nvPr/>
          </p:nvSpPr>
          <p:spPr>
            <a:xfrm>
              <a:off x="3957259"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0" name="object 72">
              <a:extLst>
                <a:ext uri="{FF2B5EF4-FFF2-40B4-BE49-F238E27FC236}">
                  <a16:creationId xmlns:a16="http://schemas.microsoft.com/office/drawing/2014/main" id="{ED7A0035-BA18-4246-9272-42852E417608}"/>
                </a:ext>
              </a:extLst>
            </p:cNvPr>
            <p:cNvSpPr/>
            <p:nvPr/>
          </p:nvSpPr>
          <p:spPr>
            <a:xfrm>
              <a:off x="400914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1" name="object 73">
              <a:extLst>
                <a:ext uri="{FF2B5EF4-FFF2-40B4-BE49-F238E27FC236}">
                  <a16:creationId xmlns:a16="http://schemas.microsoft.com/office/drawing/2014/main" id="{34A90529-C034-43CA-8A63-7FC7A8AB4B72}"/>
                </a:ext>
              </a:extLst>
            </p:cNvPr>
            <p:cNvSpPr/>
            <p:nvPr/>
          </p:nvSpPr>
          <p:spPr>
            <a:xfrm>
              <a:off x="4061034"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2" name="object 74">
              <a:extLst>
                <a:ext uri="{FF2B5EF4-FFF2-40B4-BE49-F238E27FC236}">
                  <a16:creationId xmlns:a16="http://schemas.microsoft.com/office/drawing/2014/main" id="{5CFBFAA2-F411-4DFF-96C2-3ED015E628E7}"/>
                </a:ext>
              </a:extLst>
            </p:cNvPr>
            <p:cNvSpPr/>
            <p:nvPr/>
          </p:nvSpPr>
          <p:spPr>
            <a:xfrm>
              <a:off x="4112922" y="198340"/>
              <a:ext cx="8255" cy="17780"/>
            </a:xfrm>
            <a:custGeom>
              <a:avLst/>
              <a:gdLst/>
              <a:ahLst/>
              <a:cxnLst/>
              <a:rect l="l" t="t" r="r" b="b"/>
              <a:pathLst>
                <a:path w="8254" h="17779">
                  <a:moveTo>
                    <a:pt x="8012" y="0"/>
                  </a:moveTo>
                  <a:lnTo>
                    <a:pt x="4521" y="0"/>
                  </a:lnTo>
                  <a:lnTo>
                    <a:pt x="0" y="4508"/>
                  </a:lnTo>
                  <a:lnTo>
                    <a:pt x="0" y="15659"/>
                  </a:lnTo>
                  <a:lnTo>
                    <a:pt x="1671" y="17325"/>
                  </a:lnTo>
                  <a:lnTo>
                    <a:pt x="8012" y="0"/>
                  </a:lnTo>
                  <a:close/>
                </a:path>
              </a:pathLst>
            </a:custGeom>
            <a:solidFill>
              <a:srgbClr val="FFFFFF"/>
            </a:solidFill>
          </p:spPr>
          <p:txBody>
            <a:bodyPr wrap="square" lIns="0" tIns="0" rIns="0" bIns="0" rtlCol="0"/>
            <a:lstStyle/>
            <a:p>
              <a:endParaRPr sz="324"/>
            </a:p>
          </p:txBody>
        </p:sp>
        <p:sp>
          <p:nvSpPr>
            <p:cNvPr id="73" name="object 75">
              <a:extLst>
                <a:ext uri="{FF2B5EF4-FFF2-40B4-BE49-F238E27FC236}">
                  <a16:creationId xmlns:a16="http://schemas.microsoft.com/office/drawing/2014/main" id="{E136BF65-E985-44D1-BDA6-879635EEE791}"/>
                </a:ext>
              </a:extLst>
            </p:cNvPr>
            <p:cNvSpPr/>
            <p:nvPr/>
          </p:nvSpPr>
          <p:spPr>
            <a:xfrm>
              <a:off x="328272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4" name="object 76">
              <a:extLst>
                <a:ext uri="{FF2B5EF4-FFF2-40B4-BE49-F238E27FC236}">
                  <a16:creationId xmlns:a16="http://schemas.microsoft.com/office/drawing/2014/main" id="{3A5FDCFC-06EA-4820-8253-7BEFF11CCF08}"/>
                </a:ext>
              </a:extLst>
            </p:cNvPr>
            <p:cNvSpPr/>
            <p:nvPr/>
          </p:nvSpPr>
          <p:spPr>
            <a:xfrm>
              <a:off x="3334608"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5" name="object 77">
              <a:extLst>
                <a:ext uri="{FF2B5EF4-FFF2-40B4-BE49-F238E27FC236}">
                  <a16:creationId xmlns:a16="http://schemas.microsoft.com/office/drawing/2014/main" id="{09C1C76D-7CB0-4B4C-87E3-42FF9B3F0717}"/>
                </a:ext>
              </a:extLst>
            </p:cNvPr>
            <p:cNvSpPr/>
            <p:nvPr/>
          </p:nvSpPr>
          <p:spPr>
            <a:xfrm>
              <a:off x="338649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6" name="object 78">
              <a:extLst>
                <a:ext uri="{FF2B5EF4-FFF2-40B4-BE49-F238E27FC236}">
                  <a16:creationId xmlns:a16="http://schemas.microsoft.com/office/drawing/2014/main" id="{CEEED1C3-6329-4B05-B6E1-2920EDA6F0B9}"/>
                </a:ext>
              </a:extLst>
            </p:cNvPr>
            <p:cNvSpPr/>
            <p:nvPr/>
          </p:nvSpPr>
          <p:spPr>
            <a:xfrm>
              <a:off x="3438383"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7" name="object 79">
              <a:extLst>
                <a:ext uri="{FF2B5EF4-FFF2-40B4-BE49-F238E27FC236}">
                  <a16:creationId xmlns:a16="http://schemas.microsoft.com/office/drawing/2014/main" id="{055F38DE-9A68-4DBC-B1A2-9FD2F144FC7D}"/>
                </a:ext>
              </a:extLst>
            </p:cNvPr>
            <p:cNvSpPr/>
            <p:nvPr/>
          </p:nvSpPr>
          <p:spPr>
            <a:xfrm>
              <a:off x="349027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8" name="object 80">
              <a:extLst>
                <a:ext uri="{FF2B5EF4-FFF2-40B4-BE49-F238E27FC236}">
                  <a16:creationId xmlns:a16="http://schemas.microsoft.com/office/drawing/2014/main" id="{705D28B6-2FB6-4315-97CB-166E2B00214A}"/>
                </a:ext>
              </a:extLst>
            </p:cNvPr>
            <p:cNvSpPr/>
            <p:nvPr/>
          </p:nvSpPr>
          <p:spPr>
            <a:xfrm>
              <a:off x="3542159" y="246265"/>
              <a:ext cx="20320" cy="20320"/>
            </a:xfrm>
            <a:custGeom>
              <a:avLst/>
              <a:gdLst/>
              <a:ahLst/>
              <a:cxnLst/>
              <a:rect l="l" t="t" r="r" b="b"/>
              <a:pathLst>
                <a:path w="20320" h="20320">
                  <a:moveTo>
                    <a:pt x="12870" y="0"/>
                  </a:moveTo>
                  <a:lnTo>
                    <a:pt x="4521" y="0"/>
                  </a:lnTo>
                  <a:lnTo>
                    <a:pt x="0" y="4508"/>
                  </a:lnTo>
                  <a:lnTo>
                    <a:pt x="0" y="15659"/>
                  </a:lnTo>
                  <a:lnTo>
                    <a:pt x="4521" y="20167"/>
                  </a:lnTo>
                  <a:lnTo>
                    <a:pt x="15659" y="20167"/>
                  </a:lnTo>
                  <a:lnTo>
                    <a:pt x="20180" y="15659"/>
                  </a:lnTo>
                  <a:lnTo>
                    <a:pt x="20180" y="4508"/>
                  </a:lnTo>
                  <a:lnTo>
                    <a:pt x="18990" y="3322"/>
                  </a:lnTo>
                  <a:lnTo>
                    <a:pt x="12870" y="0"/>
                  </a:lnTo>
                  <a:close/>
                </a:path>
              </a:pathLst>
            </a:custGeom>
            <a:solidFill>
              <a:srgbClr val="FFFFFF"/>
            </a:solidFill>
          </p:spPr>
          <p:txBody>
            <a:bodyPr wrap="square" lIns="0" tIns="0" rIns="0" bIns="0" rtlCol="0"/>
            <a:lstStyle/>
            <a:p>
              <a:endParaRPr sz="324"/>
            </a:p>
          </p:txBody>
        </p:sp>
        <p:sp>
          <p:nvSpPr>
            <p:cNvPr id="79" name="object 81">
              <a:extLst>
                <a:ext uri="{FF2B5EF4-FFF2-40B4-BE49-F238E27FC236}">
                  <a16:creationId xmlns:a16="http://schemas.microsoft.com/office/drawing/2014/main" id="{4F5F9C27-61AC-46D0-BBF9-909B115E975F}"/>
                </a:ext>
              </a:extLst>
            </p:cNvPr>
            <p:cNvSpPr/>
            <p:nvPr/>
          </p:nvSpPr>
          <p:spPr>
            <a:xfrm>
              <a:off x="3801596" y="246265"/>
              <a:ext cx="20320" cy="20320"/>
            </a:xfrm>
            <a:custGeom>
              <a:avLst/>
              <a:gdLst/>
              <a:ahLst/>
              <a:cxnLst/>
              <a:rect l="l" t="t" r="r" b="b"/>
              <a:pathLst>
                <a:path w="20320" h="20320">
                  <a:moveTo>
                    <a:pt x="15659" y="0"/>
                  </a:moveTo>
                  <a:lnTo>
                    <a:pt x="7319" y="0"/>
                  </a:lnTo>
                  <a:lnTo>
                    <a:pt x="1178" y="3333"/>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0" name="object 82">
              <a:extLst>
                <a:ext uri="{FF2B5EF4-FFF2-40B4-BE49-F238E27FC236}">
                  <a16:creationId xmlns:a16="http://schemas.microsoft.com/office/drawing/2014/main" id="{2CB4FD65-E27B-4B99-B86B-D148B45639D6}"/>
                </a:ext>
              </a:extLst>
            </p:cNvPr>
            <p:cNvSpPr/>
            <p:nvPr/>
          </p:nvSpPr>
          <p:spPr>
            <a:xfrm>
              <a:off x="385348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1" name="object 83">
              <a:extLst>
                <a:ext uri="{FF2B5EF4-FFF2-40B4-BE49-F238E27FC236}">
                  <a16:creationId xmlns:a16="http://schemas.microsoft.com/office/drawing/2014/main" id="{4E3E60BD-DCDB-4C34-910B-71DD231F085D}"/>
                </a:ext>
              </a:extLst>
            </p:cNvPr>
            <p:cNvSpPr/>
            <p:nvPr/>
          </p:nvSpPr>
          <p:spPr>
            <a:xfrm>
              <a:off x="3905372"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2" name="object 84">
              <a:extLst>
                <a:ext uri="{FF2B5EF4-FFF2-40B4-BE49-F238E27FC236}">
                  <a16:creationId xmlns:a16="http://schemas.microsoft.com/office/drawing/2014/main" id="{18A243AE-C30B-4C35-9F79-37C73020BD87}"/>
                </a:ext>
              </a:extLst>
            </p:cNvPr>
            <p:cNvSpPr/>
            <p:nvPr/>
          </p:nvSpPr>
          <p:spPr>
            <a:xfrm>
              <a:off x="3957259"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3" name="object 85">
              <a:extLst>
                <a:ext uri="{FF2B5EF4-FFF2-40B4-BE49-F238E27FC236}">
                  <a16:creationId xmlns:a16="http://schemas.microsoft.com/office/drawing/2014/main" id="{CC02A971-9752-4F40-991C-3A3F85C19607}"/>
                </a:ext>
              </a:extLst>
            </p:cNvPr>
            <p:cNvSpPr/>
            <p:nvPr/>
          </p:nvSpPr>
          <p:spPr>
            <a:xfrm>
              <a:off x="400914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4" name="object 86">
              <a:extLst>
                <a:ext uri="{FF2B5EF4-FFF2-40B4-BE49-F238E27FC236}">
                  <a16:creationId xmlns:a16="http://schemas.microsoft.com/office/drawing/2014/main" id="{7EC06208-70CF-4DBE-8127-266FF3AFA52F}"/>
                </a:ext>
              </a:extLst>
            </p:cNvPr>
            <p:cNvSpPr/>
            <p:nvPr/>
          </p:nvSpPr>
          <p:spPr>
            <a:xfrm>
              <a:off x="406103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5" name="object 87">
              <a:extLst>
                <a:ext uri="{FF2B5EF4-FFF2-40B4-BE49-F238E27FC236}">
                  <a16:creationId xmlns:a16="http://schemas.microsoft.com/office/drawing/2014/main" id="{C3445D13-AD50-439F-93E5-166194D1A961}"/>
                </a:ext>
              </a:extLst>
            </p:cNvPr>
            <p:cNvSpPr/>
            <p:nvPr/>
          </p:nvSpPr>
          <p:spPr>
            <a:xfrm>
              <a:off x="3289874" y="294189"/>
              <a:ext cx="13335" cy="17145"/>
            </a:xfrm>
            <a:custGeom>
              <a:avLst/>
              <a:gdLst/>
              <a:ahLst/>
              <a:cxnLst/>
              <a:rect l="l" t="t" r="r" b="b"/>
              <a:pathLst>
                <a:path w="13335" h="17145">
                  <a:moveTo>
                    <a:pt x="8506" y="0"/>
                  </a:moveTo>
                  <a:lnTo>
                    <a:pt x="0" y="0"/>
                  </a:lnTo>
                  <a:lnTo>
                    <a:pt x="5532" y="9107"/>
                  </a:lnTo>
                  <a:lnTo>
                    <a:pt x="11540" y="17141"/>
                  </a:lnTo>
                  <a:lnTo>
                    <a:pt x="13027" y="15659"/>
                  </a:lnTo>
                  <a:lnTo>
                    <a:pt x="13027" y="4508"/>
                  </a:lnTo>
                  <a:lnTo>
                    <a:pt x="8506" y="0"/>
                  </a:lnTo>
                  <a:close/>
                </a:path>
              </a:pathLst>
            </a:custGeom>
            <a:solidFill>
              <a:srgbClr val="FFFFFF"/>
            </a:solidFill>
          </p:spPr>
          <p:txBody>
            <a:bodyPr wrap="square" lIns="0" tIns="0" rIns="0" bIns="0" rtlCol="0"/>
            <a:lstStyle/>
            <a:p>
              <a:endParaRPr sz="324"/>
            </a:p>
          </p:txBody>
        </p:sp>
        <p:sp>
          <p:nvSpPr>
            <p:cNvPr id="86" name="object 88">
              <a:extLst>
                <a:ext uri="{FF2B5EF4-FFF2-40B4-BE49-F238E27FC236}">
                  <a16:creationId xmlns:a16="http://schemas.microsoft.com/office/drawing/2014/main" id="{7C062D63-D0AE-47AF-8642-F31F608DA00D}"/>
                </a:ext>
              </a:extLst>
            </p:cNvPr>
            <p:cNvSpPr/>
            <p:nvPr/>
          </p:nvSpPr>
          <p:spPr>
            <a:xfrm>
              <a:off x="3334608"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7" name="object 89">
              <a:extLst>
                <a:ext uri="{FF2B5EF4-FFF2-40B4-BE49-F238E27FC236}">
                  <a16:creationId xmlns:a16="http://schemas.microsoft.com/office/drawing/2014/main" id="{9F5946C8-EF47-4CB5-82F1-DCB28CA59013}"/>
                </a:ext>
              </a:extLst>
            </p:cNvPr>
            <p:cNvSpPr/>
            <p:nvPr/>
          </p:nvSpPr>
          <p:spPr>
            <a:xfrm>
              <a:off x="338649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8" name="object 90">
              <a:extLst>
                <a:ext uri="{FF2B5EF4-FFF2-40B4-BE49-F238E27FC236}">
                  <a16:creationId xmlns:a16="http://schemas.microsoft.com/office/drawing/2014/main" id="{C359B038-4D3A-45EE-96A7-5A1B4DA8C0F6}"/>
                </a:ext>
              </a:extLst>
            </p:cNvPr>
            <p:cNvSpPr/>
            <p:nvPr/>
          </p:nvSpPr>
          <p:spPr>
            <a:xfrm>
              <a:off x="343838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9" name="object 91">
              <a:extLst>
                <a:ext uri="{FF2B5EF4-FFF2-40B4-BE49-F238E27FC236}">
                  <a16:creationId xmlns:a16="http://schemas.microsoft.com/office/drawing/2014/main" id="{C6F167D6-5038-464B-AA83-44FA543FF857}"/>
                </a:ext>
              </a:extLst>
            </p:cNvPr>
            <p:cNvSpPr/>
            <p:nvPr/>
          </p:nvSpPr>
          <p:spPr>
            <a:xfrm>
              <a:off x="3490271"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0" name="object 92">
              <a:extLst>
                <a:ext uri="{FF2B5EF4-FFF2-40B4-BE49-F238E27FC236}">
                  <a16:creationId xmlns:a16="http://schemas.microsoft.com/office/drawing/2014/main" id="{01B4F473-B2FD-4973-94D4-7FBF75863003}"/>
                </a:ext>
              </a:extLst>
            </p:cNvPr>
            <p:cNvSpPr/>
            <p:nvPr/>
          </p:nvSpPr>
          <p:spPr>
            <a:xfrm>
              <a:off x="35421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1" name="object 93">
              <a:extLst>
                <a:ext uri="{FF2B5EF4-FFF2-40B4-BE49-F238E27FC236}">
                  <a16:creationId xmlns:a16="http://schemas.microsoft.com/office/drawing/2014/main" id="{4AE17FD3-4350-4E9B-92F3-9C57628DC17B}"/>
                </a:ext>
              </a:extLst>
            </p:cNvPr>
            <p:cNvSpPr/>
            <p:nvPr/>
          </p:nvSpPr>
          <p:spPr>
            <a:xfrm>
              <a:off x="359404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2" name="object 94">
              <a:extLst>
                <a:ext uri="{FF2B5EF4-FFF2-40B4-BE49-F238E27FC236}">
                  <a16:creationId xmlns:a16="http://schemas.microsoft.com/office/drawing/2014/main" id="{85CF062C-345D-4502-8421-40BC64FFE547}"/>
                </a:ext>
              </a:extLst>
            </p:cNvPr>
            <p:cNvSpPr/>
            <p:nvPr/>
          </p:nvSpPr>
          <p:spPr>
            <a:xfrm>
              <a:off x="364593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3" name="object 95">
              <a:extLst>
                <a:ext uri="{FF2B5EF4-FFF2-40B4-BE49-F238E27FC236}">
                  <a16:creationId xmlns:a16="http://schemas.microsoft.com/office/drawing/2014/main" id="{1D7A914D-067A-4349-B116-ED40FA1CECCB}"/>
                </a:ext>
              </a:extLst>
            </p:cNvPr>
            <p:cNvSpPr/>
            <p:nvPr/>
          </p:nvSpPr>
          <p:spPr>
            <a:xfrm>
              <a:off x="369782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4" name="object 96">
              <a:extLst>
                <a:ext uri="{FF2B5EF4-FFF2-40B4-BE49-F238E27FC236}">
                  <a16:creationId xmlns:a16="http://schemas.microsoft.com/office/drawing/2014/main" id="{685D2F31-3E9B-4917-8A15-2315A546DB22}"/>
                </a:ext>
              </a:extLst>
            </p:cNvPr>
            <p:cNvSpPr/>
            <p:nvPr/>
          </p:nvSpPr>
          <p:spPr>
            <a:xfrm>
              <a:off x="374970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5" name="object 97">
              <a:extLst>
                <a:ext uri="{FF2B5EF4-FFF2-40B4-BE49-F238E27FC236}">
                  <a16:creationId xmlns:a16="http://schemas.microsoft.com/office/drawing/2014/main" id="{AFC7620E-52F3-4CD2-A87C-6973996B5777}"/>
                </a:ext>
              </a:extLst>
            </p:cNvPr>
            <p:cNvSpPr/>
            <p:nvPr/>
          </p:nvSpPr>
          <p:spPr>
            <a:xfrm>
              <a:off x="380159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6" name="object 98">
              <a:extLst>
                <a:ext uri="{FF2B5EF4-FFF2-40B4-BE49-F238E27FC236}">
                  <a16:creationId xmlns:a16="http://schemas.microsoft.com/office/drawing/2014/main" id="{FE345FDE-2FD7-4D36-8E8E-D40B1085E0AD}"/>
                </a:ext>
              </a:extLst>
            </p:cNvPr>
            <p:cNvSpPr/>
            <p:nvPr/>
          </p:nvSpPr>
          <p:spPr>
            <a:xfrm>
              <a:off x="3853484"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7" name="object 99">
              <a:extLst>
                <a:ext uri="{FF2B5EF4-FFF2-40B4-BE49-F238E27FC236}">
                  <a16:creationId xmlns:a16="http://schemas.microsoft.com/office/drawing/2014/main" id="{A8E74173-72AC-4846-8FCB-C526D7395EC0}"/>
                </a:ext>
              </a:extLst>
            </p:cNvPr>
            <p:cNvSpPr/>
            <p:nvPr/>
          </p:nvSpPr>
          <p:spPr>
            <a:xfrm>
              <a:off x="390537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8" name="object 100">
              <a:extLst>
                <a:ext uri="{FF2B5EF4-FFF2-40B4-BE49-F238E27FC236}">
                  <a16:creationId xmlns:a16="http://schemas.microsoft.com/office/drawing/2014/main" id="{FFC357A4-36BF-4C72-B0A7-76BC374BE18C}"/>
                </a:ext>
              </a:extLst>
            </p:cNvPr>
            <p:cNvSpPr/>
            <p:nvPr/>
          </p:nvSpPr>
          <p:spPr>
            <a:xfrm>
              <a:off x="39572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9" name="object 101">
              <a:extLst>
                <a:ext uri="{FF2B5EF4-FFF2-40B4-BE49-F238E27FC236}">
                  <a16:creationId xmlns:a16="http://schemas.microsoft.com/office/drawing/2014/main" id="{2A6E715D-11D0-4B9F-BE91-E4DE59DB0A74}"/>
                </a:ext>
              </a:extLst>
            </p:cNvPr>
            <p:cNvSpPr/>
            <p:nvPr/>
          </p:nvSpPr>
          <p:spPr>
            <a:xfrm>
              <a:off x="400914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0" name="object 102">
              <a:extLst>
                <a:ext uri="{FF2B5EF4-FFF2-40B4-BE49-F238E27FC236}">
                  <a16:creationId xmlns:a16="http://schemas.microsoft.com/office/drawing/2014/main" id="{7418D147-529C-47F1-8EA3-923BE198D802}"/>
                </a:ext>
              </a:extLst>
            </p:cNvPr>
            <p:cNvSpPr/>
            <p:nvPr/>
          </p:nvSpPr>
          <p:spPr>
            <a:xfrm>
              <a:off x="4061034" y="294189"/>
              <a:ext cx="13335" cy="17145"/>
            </a:xfrm>
            <a:custGeom>
              <a:avLst/>
              <a:gdLst/>
              <a:ahLst/>
              <a:cxnLst/>
              <a:rect l="l" t="t" r="r" b="b"/>
              <a:pathLst>
                <a:path w="13335" h="17145">
                  <a:moveTo>
                    <a:pt x="13021" y="0"/>
                  </a:moveTo>
                  <a:lnTo>
                    <a:pt x="4521" y="0"/>
                  </a:lnTo>
                  <a:lnTo>
                    <a:pt x="0" y="4508"/>
                  </a:lnTo>
                  <a:lnTo>
                    <a:pt x="0" y="15659"/>
                  </a:lnTo>
                  <a:lnTo>
                    <a:pt x="1483" y="17138"/>
                  </a:lnTo>
                  <a:lnTo>
                    <a:pt x="7488" y="9107"/>
                  </a:lnTo>
                  <a:lnTo>
                    <a:pt x="13021" y="0"/>
                  </a:lnTo>
                  <a:close/>
                </a:path>
              </a:pathLst>
            </a:custGeom>
            <a:solidFill>
              <a:srgbClr val="FFFFFF"/>
            </a:solidFill>
          </p:spPr>
          <p:txBody>
            <a:bodyPr wrap="square" lIns="0" tIns="0" rIns="0" bIns="0" rtlCol="0"/>
            <a:lstStyle/>
            <a:p>
              <a:endParaRPr sz="324"/>
            </a:p>
          </p:txBody>
        </p:sp>
        <p:sp>
          <p:nvSpPr>
            <p:cNvPr id="101" name="object 103">
              <a:extLst>
                <a:ext uri="{FF2B5EF4-FFF2-40B4-BE49-F238E27FC236}">
                  <a16:creationId xmlns:a16="http://schemas.microsoft.com/office/drawing/2014/main" id="{55450F6C-6F6C-4F60-8D6A-2AA6B9DAEBC0}"/>
                </a:ext>
              </a:extLst>
            </p:cNvPr>
            <p:cNvSpPr/>
            <p:nvPr/>
          </p:nvSpPr>
          <p:spPr>
            <a:xfrm>
              <a:off x="3334608" y="342113"/>
              <a:ext cx="20320" cy="20320"/>
            </a:xfrm>
            <a:custGeom>
              <a:avLst/>
              <a:gdLst/>
              <a:ahLst/>
              <a:cxnLst/>
              <a:rect l="l" t="t" r="r" b="b"/>
              <a:pathLst>
                <a:path w="20320" h="20320">
                  <a:moveTo>
                    <a:pt x="15659" y="0"/>
                  </a:moveTo>
                  <a:lnTo>
                    <a:pt x="4521" y="0"/>
                  </a:lnTo>
                  <a:lnTo>
                    <a:pt x="0" y="4508"/>
                  </a:lnTo>
                  <a:lnTo>
                    <a:pt x="0" y="10673"/>
                  </a:lnTo>
                  <a:lnTo>
                    <a:pt x="8629"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2" name="object 104">
              <a:extLst>
                <a:ext uri="{FF2B5EF4-FFF2-40B4-BE49-F238E27FC236}">
                  <a16:creationId xmlns:a16="http://schemas.microsoft.com/office/drawing/2014/main" id="{1F2E2249-69A4-4AC2-AC82-B7C5EFA9F6D5}"/>
                </a:ext>
              </a:extLst>
            </p:cNvPr>
            <p:cNvSpPr/>
            <p:nvPr/>
          </p:nvSpPr>
          <p:spPr>
            <a:xfrm>
              <a:off x="3386495"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3" name="object 105">
              <a:extLst>
                <a:ext uri="{FF2B5EF4-FFF2-40B4-BE49-F238E27FC236}">
                  <a16:creationId xmlns:a16="http://schemas.microsoft.com/office/drawing/2014/main" id="{EDC31699-510C-4E4A-81C6-19587B2BE1F4}"/>
                </a:ext>
              </a:extLst>
            </p:cNvPr>
            <p:cNvSpPr/>
            <p:nvPr/>
          </p:nvSpPr>
          <p:spPr>
            <a:xfrm>
              <a:off x="343838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4" name="object 106">
              <a:extLst>
                <a:ext uri="{FF2B5EF4-FFF2-40B4-BE49-F238E27FC236}">
                  <a16:creationId xmlns:a16="http://schemas.microsoft.com/office/drawing/2014/main" id="{C001143A-AB7A-4373-A495-67F789B74243}"/>
                </a:ext>
              </a:extLst>
            </p:cNvPr>
            <p:cNvSpPr/>
            <p:nvPr/>
          </p:nvSpPr>
          <p:spPr>
            <a:xfrm>
              <a:off x="3490271"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5" name="object 107">
              <a:extLst>
                <a:ext uri="{FF2B5EF4-FFF2-40B4-BE49-F238E27FC236}">
                  <a16:creationId xmlns:a16="http://schemas.microsoft.com/office/drawing/2014/main" id="{A714BAEE-97C5-4F60-A864-4685B2508676}"/>
                </a:ext>
              </a:extLst>
            </p:cNvPr>
            <p:cNvSpPr/>
            <p:nvPr/>
          </p:nvSpPr>
          <p:spPr>
            <a:xfrm>
              <a:off x="35421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6" name="object 108">
              <a:extLst>
                <a:ext uri="{FF2B5EF4-FFF2-40B4-BE49-F238E27FC236}">
                  <a16:creationId xmlns:a16="http://schemas.microsoft.com/office/drawing/2014/main" id="{B1C50934-20CB-4DC8-85EF-F99D9C020E7B}"/>
                </a:ext>
              </a:extLst>
            </p:cNvPr>
            <p:cNvSpPr/>
            <p:nvPr/>
          </p:nvSpPr>
          <p:spPr>
            <a:xfrm>
              <a:off x="359404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7" name="object 109">
              <a:extLst>
                <a:ext uri="{FF2B5EF4-FFF2-40B4-BE49-F238E27FC236}">
                  <a16:creationId xmlns:a16="http://schemas.microsoft.com/office/drawing/2014/main" id="{F4C51669-12FB-4E8B-AE8A-DA6232F7A2CF}"/>
                </a:ext>
              </a:extLst>
            </p:cNvPr>
            <p:cNvSpPr/>
            <p:nvPr/>
          </p:nvSpPr>
          <p:spPr>
            <a:xfrm>
              <a:off x="364593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8" name="object 110">
              <a:extLst>
                <a:ext uri="{FF2B5EF4-FFF2-40B4-BE49-F238E27FC236}">
                  <a16:creationId xmlns:a16="http://schemas.microsoft.com/office/drawing/2014/main" id="{F4C12360-D8A9-423D-A0A1-D2FB33B0DFDF}"/>
                </a:ext>
              </a:extLst>
            </p:cNvPr>
            <p:cNvSpPr/>
            <p:nvPr/>
          </p:nvSpPr>
          <p:spPr>
            <a:xfrm>
              <a:off x="369782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9" name="object 111">
              <a:extLst>
                <a:ext uri="{FF2B5EF4-FFF2-40B4-BE49-F238E27FC236}">
                  <a16:creationId xmlns:a16="http://schemas.microsoft.com/office/drawing/2014/main" id="{F5DE92FF-94F3-4A87-AC94-D41581F9BEC7}"/>
                </a:ext>
              </a:extLst>
            </p:cNvPr>
            <p:cNvSpPr/>
            <p:nvPr/>
          </p:nvSpPr>
          <p:spPr>
            <a:xfrm>
              <a:off x="374970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0" name="object 112">
              <a:extLst>
                <a:ext uri="{FF2B5EF4-FFF2-40B4-BE49-F238E27FC236}">
                  <a16:creationId xmlns:a16="http://schemas.microsoft.com/office/drawing/2014/main" id="{F59F5811-958A-4730-BAC9-E61D227A09B1}"/>
                </a:ext>
              </a:extLst>
            </p:cNvPr>
            <p:cNvSpPr/>
            <p:nvPr/>
          </p:nvSpPr>
          <p:spPr>
            <a:xfrm>
              <a:off x="380159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1" name="object 113">
              <a:extLst>
                <a:ext uri="{FF2B5EF4-FFF2-40B4-BE49-F238E27FC236}">
                  <a16:creationId xmlns:a16="http://schemas.microsoft.com/office/drawing/2014/main" id="{7F03121D-205E-4D3C-86A4-68EEF9F60A68}"/>
                </a:ext>
              </a:extLst>
            </p:cNvPr>
            <p:cNvSpPr/>
            <p:nvPr/>
          </p:nvSpPr>
          <p:spPr>
            <a:xfrm>
              <a:off x="3853484"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2" name="object 114">
              <a:extLst>
                <a:ext uri="{FF2B5EF4-FFF2-40B4-BE49-F238E27FC236}">
                  <a16:creationId xmlns:a16="http://schemas.microsoft.com/office/drawing/2014/main" id="{B3781D5D-DE6F-4F6F-9760-475C7A52ABF9}"/>
                </a:ext>
              </a:extLst>
            </p:cNvPr>
            <p:cNvSpPr/>
            <p:nvPr/>
          </p:nvSpPr>
          <p:spPr>
            <a:xfrm>
              <a:off x="390537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3" name="object 115">
              <a:extLst>
                <a:ext uri="{FF2B5EF4-FFF2-40B4-BE49-F238E27FC236}">
                  <a16:creationId xmlns:a16="http://schemas.microsoft.com/office/drawing/2014/main" id="{784513F7-3F90-4CC9-85D9-4BE354CCDA44}"/>
                </a:ext>
              </a:extLst>
            </p:cNvPr>
            <p:cNvSpPr/>
            <p:nvPr/>
          </p:nvSpPr>
          <p:spPr>
            <a:xfrm>
              <a:off x="39572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4" name="object 116">
              <a:extLst>
                <a:ext uri="{FF2B5EF4-FFF2-40B4-BE49-F238E27FC236}">
                  <a16:creationId xmlns:a16="http://schemas.microsoft.com/office/drawing/2014/main" id="{655083AB-5464-4367-BEA8-A678B7543763}"/>
                </a:ext>
              </a:extLst>
            </p:cNvPr>
            <p:cNvSpPr/>
            <p:nvPr/>
          </p:nvSpPr>
          <p:spPr>
            <a:xfrm>
              <a:off x="4009145" y="342113"/>
              <a:ext cx="20320" cy="20320"/>
            </a:xfrm>
            <a:custGeom>
              <a:avLst/>
              <a:gdLst/>
              <a:ahLst/>
              <a:cxnLst/>
              <a:rect l="l" t="t" r="r" b="b"/>
              <a:pathLst>
                <a:path w="20320" h="20320">
                  <a:moveTo>
                    <a:pt x="15659" y="0"/>
                  </a:moveTo>
                  <a:lnTo>
                    <a:pt x="4521" y="0"/>
                  </a:lnTo>
                  <a:lnTo>
                    <a:pt x="0" y="4508"/>
                  </a:lnTo>
                  <a:lnTo>
                    <a:pt x="0" y="15659"/>
                  </a:lnTo>
                  <a:lnTo>
                    <a:pt x="4521" y="20167"/>
                  </a:lnTo>
                  <a:lnTo>
                    <a:pt x="11547" y="20167"/>
                  </a:lnTo>
                  <a:lnTo>
                    <a:pt x="20180" y="10669"/>
                  </a:lnTo>
                  <a:lnTo>
                    <a:pt x="20180" y="4508"/>
                  </a:lnTo>
                  <a:lnTo>
                    <a:pt x="15659" y="0"/>
                  </a:lnTo>
                  <a:close/>
                </a:path>
              </a:pathLst>
            </a:custGeom>
            <a:solidFill>
              <a:srgbClr val="FFFFFF"/>
            </a:solidFill>
          </p:spPr>
          <p:txBody>
            <a:bodyPr wrap="square" lIns="0" tIns="0" rIns="0" bIns="0" rtlCol="0"/>
            <a:lstStyle/>
            <a:p>
              <a:endParaRPr sz="324"/>
            </a:p>
          </p:txBody>
        </p:sp>
        <p:sp>
          <p:nvSpPr>
            <p:cNvPr id="115" name="object 117">
              <a:extLst>
                <a:ext uri="{FF2B5EF4-FFF2-40B4-BE49-F238E27FC236}">
                  <a16:creationId xmlns:a16="http://schemas.microsoft.com/office/drawing/2014/main" id="{77B178B2-BBE2-4491-A057-5CC351A8FD33}"/>
                </a:ext>
              </a:extLst>
            </p:cNvPr>
            <p:cNvSpPr/>
            <p:nvPr/>
          </p:nvSpPr>
          <p:spPr>
            <a:xfrm>
              <a:off x="3386495" y="390037"/>
              <a:ext cx="20320" cy="20320"/>
            </a:xfrm>
            <a:custGeom>
              <a:avLst/>
              <a:gdLst/>
              <a:ahLst/>
              <a:cxnLst/>
              <a:rect l="l" t="t" r="r" b="b"/>
              <a:pathLst>
                <a:path w="20320" h="20320">
                  <a:moveTo>
                    <a:pt x="15659" y="0"/>
                  </a:moveTo>
                  <a:lnTo>
                    <a:pt x="4521" y="0"/>
                  </a:lnTo>
                  <a:lnTo>
                    <a:pt x="0" y="4508"/>
                  </a:lnTo>
                  <a:lnTo>
                    <a:pt x="0" y="13129"/>
                  </a:lnTo>
                  <a:lnTo>
                    <a:pt x="9412"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6" name="object 118">
              <a:extLst>
                <a:ext uri="{FF2B5EF4-FFF2-40B4-BE49-F238E27FC236}">
                  <a16:creationId xmlns:a16="http://schemas.microsoft.com/office/drawing/2014/main" id="{FCDE97E0-F475-45E5-BF06-7CD513C0069D}"/>
                </a:ext>
              </a:extLst>
            </p:cNvPr>
            <p:cNvSpPr/>
            <p:nvPr/>
          </p:nvSpPr>
          <p:spPr>
            <a:xfrm>
              <a:off x="343838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7" name="object 119">
              <a:extLst>
                <a:ext uri="{FF2B5EF4-FFF2-40B4-BE49-F238E27FC236}">
                  <a16:creationId xmlns:a16="http://schemas.microsoft.com/office/drawing/2014/main" id="{21984B9E-920D-44BB-A41F-1152C1BD342B}"/>
                </a:ext>
              </a:extLst>
            </p:cNvPr>
            <p:cNvSpPr/>
            <p:nvPr/>
          </p:nvSpPr>
          <p:spPr>
            <a:xfrm>
              <a:off x="3490271"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8" name="object 120">
              <a:extLst>
                <a:ext uri="{FF2B5EF4-FFF2-40B4-BE49-F238E27FC236}">
                  <a16:creationId xmlns:a16="http://schemas.microsoft.com/office/drawing/2014/main" id="{86D9D9EC-9733-470B-9415-B818EEEA925F}"/>
                </a:ext>
              </a:extLst>
            </p:cNvPr>
            <p:cNvSpPr/>
            <p:nvPr/>
          </p:nvSpPr>
          <p:spPr>
            <a:xfrm>
              <a:off x="354215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9" name="object 121">
              <a:extLst>
                <a:ext uri="{FF2B5EF4-FFF2-40B4-BE49-F238E27FC236}">
                  <a16:creationId xmlns:a16="http://schemas.microsoft.com/office/drawing/2014/main" id="{D99C97D9-7A2B-4525-9336-151A7C96A5CE}"/>
                </a:ext>
              </a:extLst>
            </p:cNvPr>
            <p:cNvSpPr/>
            <p:nvPr/>
          </p:nvSpPr>
          <p:spPr>
            <a:xfrm>
              <a:off x="359404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0" name="object 122">
              <a:extLst>
                <a:ext uri="{FF2B5EF4-FFF2-40B4-BE49-F238E27FC236}">
                  <a16:creationId xmlns:a16="http://schemas.microsoft.com/office/drawing/2014/main" id="{D0925AAB-D273-4EC7-BDE4-7041F860AEB0}"/>
                </a:ext>
              </a:extLst>
            </p:cNvPr>
            <p:cNvSpPr/>
            <p:nvPr/>
          </p:nvSpPr>
          <p:spPr>
            <a:xfrm>
              <a:off x="364593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1" name="object 123">
              <a:extLst>
                <a:ext uri="{FF2B5EF4-FFF2-40B4-BE49-F238E27FC236}">
                  <a16:creationId xmlns:a16="http://schemas.microsoft.com/office/drawing/2014/main" id="{EEE0698D-CFCA-4ED8-907A-0495DB217211}"/>
                </a:ext>
              </a:extLst>
            </p:cNvPr>
            <p:cNvSpPr/>
            <p:nvPr/>
          </p:nvSpPr>
          <p:spPr>
            <a:xfrm>
              <a:off x="369782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2" name="object 124">
              <a:extLst>
                <a:ext uri="{FF2B5EF4-FFF2-40B4-BE49-F238E27FC236}">
                  <a16:creationId xmlns:a16="http://schemas.microsoft.com/office/drawing/2014/main" id="{C7C90B32-8F40-4ED1-A1DE-DAF124EE0AAB}"/>
                </a:ext>
              </a:extLst>
            </p:cNvPr>
            <p:cNvSpPr/>
            <p:nvPr/>
          </p:nvSpPr>
          <p:spPr>
            <a:xfrm>
              <a:off x="374970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3" name="object 125">
              <a:extLst>
                <a:ext uri="{FF2B5EF4-FFF2-40B4-BE49-F238E27FC236}">
                  <a16:creationId xmlns:a16="http://schemas.microsoft.com/office/drawing/2014/main" id="{9665CB65-1943-43E8-9450-0C5C2EC294D9}"/>
                </a:ext>
              </a:extLst>
            </p:cNvPr>
            <p:cNvSpPr/>
            <p:nvPr/>
          </p:nvSpPr>
          <p:spPr>
            <a:xfrm>
              <a:off x="380159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4" name="object 126">
              <a:extLst>
                <a:ext uri="{FF2B5EF4-FFF2-40B4-BE49-F238E27FC236}">
                  <a16:creationId xmlns:a16="http://schemas.microsoft.com/office/drawing/2014/main" id="{FA76E20C-CA86-4B5C-94F8-F6EFFE80CBD5}"/>
                </a:ext>
              </a:extLst>
            </p:cNvPr>
            <p:cNvSpPr/>
            <p:nvPr/>
          </p:nvSpPr>
          <p:spPr>
            <a:xfrm>
              <a:off x="3853484"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5" name="object 127">
              <a:extLst>
                <a:ext uri="{FF2B5EF4-FFF2-40B4-BE49-F238E27FC236}">
                  <a16:creationId xmlns:a16="http://schemas.microsoft.com/office/drawing/2014/main" id="{1A84F4B2-9A0C-4898-9DAD-4509838B6BE1}"/>
                </a:ext>
              </a:extLst>
            </p:cNvPr>
            <p:cNvSpPr/>
            <p:nvPr/>
          </p:nvSpPr>
          <p:spPr>
            <a:xfrm>
              <a:off x="390537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6" name="object 128">
              <a:extLst>
                <a:ext uri="{FF2B5EF4-FFF2-40B4-BE49-F238E27FC236}">
                  <a16:creationId xmlns:a16="http://schemas.microsoft.com/office/drawing/2014/main" id="{8B663F50-1B52-4822-8537-9412D7F30DCF}"/>
                </a:ext>
              </a:extLst>
            </p:cNvPr>
            <p:cNvSpPr/>
            <p:nvPr/>
          </p:nvSpPr>
          <p:spPr>
            <a:xfrm>
              <a:off x="3957259" y="390037"/>
              <a:ext cx="20320" cy="20320"/>
            </a:xfrm>
            <a:custGeom>
              <a:avLst/>
              <a:gdLst/>
              <a:ahLst/>
              <a:cxnLst/>
              <a:rect l="l" t="t" r="r" b="b"/>
              <a:pathLst>
                <a:path w="20320" h="20320">
                  <a:moveTo>
                    <a:pt x="15659" y="0"/>
                  </a:moveTo>
                  <a:lnTo>
                    <a:pt x="4521" y="0"/>
                  </a:lnTo>
                  <a:lnTo>
                    <a:pt x="0" y="4508"/>
                  </a:lnTo>
                  <a:lnTo>
                    <a:pt x="0" y="15659"/>
                  </a:lnTo>
                  <a:lnTo>
                    <a:pt x="4521" y="20167"/>
                  </a:lnTo>
                  <a:lnTo>
                    <a:pt x="10765" y="20167"/>
                  </a:lnTo>
                  <a:lnTo>
                    <a:pt x="20180" y="13127"/>
                  </a:lnTo>
                  <a:lnTo>
                    <a:pt x="20180" y="4508"/>
                  </a:lnTo>
                  <a:lnTo>
                    <a:pt x="15659" y="0"/>
                  </a:lnTo>
                  <a:close/>
                </a:path>
              </a:pathLst>
            </a:custGeom>
            <a:solidFill>
              <a:srgbClr val="FFFFFF"/>
            </a:solidFill>
          </p:spPr>
          <p:txBody>
            <a:bodyPr wrap="square" lIns="0" tIns="0" rIns="0" bIns="0" rtlCol="0"/>
            <a:lstStyle/>
            <a:p>
              <a:endParaRPr sz="324"/>
            </a:p>
          </p:txBody>
        </p:sp>
        <p:sp>
          <p:nvSpPr>
            <p:cNvPr id="127" name="object 129">
              <a:extLst>
                <a:ext uri="{FF2B5EF4-FFF2-40B4-BE49-F238E27FC236}">
                  <a16:creationId xmlns:a16="http://schemas.microsoft.com/office/drawing/2014/main" id="{3B37469B-DB13-40B6-B19C-4F1CBC529AB1}"/>
                </a:ext>
              </a:extLst>
            </p:cNvPr>
            <p:cNvSpPr/>
            <p:nvPr/>
          </p:nvSpPr>
          <p:spPr>
            <a:xfrm>
              <a:off x="3440188" y="437960"/>
              <a:ext cx="18415" cy="13970"/>
            </a:xfrm>
            <a:custGeom>
              <a:avLst/>
              <a:gdLst/>
              <a:ahLst/>
              <a:cxnLst/>
              <a:rect l="l" t="t" r="r" b="b"/>
              <a:pathLst>
                <a:path w="18414" h="13970">
                  <a:moveTo>
                    <a:pt x="13855" y="0"/>
                  </a:moveTo>
                  <a:lnTo>
                    <a:pt x="2717" y="0"/>
                  </a:lnTo>
                  <a:lnTo>
                    <a:pt x="0" y="2709"/>
                  </a:lnTo>
                  <a:lnTo>
                    <a:pt x="18376" y="13873"/>
                  </a:lnTo>
                  <a:lnTo>
                    <a:pt x="18376" y="4508"/>
                  </a:lnTo>
                  <a:lnTo>
                    <a:pt x="13855" y="0"/>
                  </a:lnTo>
                  <a:close/>
                </a:path>
              </a:pathLst>
            </a:custGeom>
            <a:solidFill>
              <a:srgbClr val="FFFFFF"/>
            </a:solidFill>
          </p:spPr>
          <p:txBody>
            <a:bodyPr wrap="square" lIns="0" tIns="0" rIns="0" bIns="0" rtlCol="0"/>
            <a:lstStyle/>
            <a:p>
              <a:endParaRPr sz="324"/>
            </a:p>
          </p:txBody>
        </p:sp>
        <p:sp>
          <p:nvSpPr>
            <p:cNvPr id="128" name="object 130">
              <a:extLst>
                <a:ext uri="{FF2B5EF4-FFF2-40B4-BE49-F238E27FC236}">
                  <a16:creationId xmlns:a16="http://schemas.microsoft.com/office/drawing/2014/main" id="{EAFF8150-F3DD-437A-9E64-B35089189C5E}"/>
                </a:ext>
              </a:extLst>
            </p:cNvPr>
            <p:cNvSpPr/>
            <p:nvPr/>
          </p:nvSpPr>
          <p:spPr>
            <a:xfrm>
              <a:off x="3490271"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9" name="object 131">
              <a:extLst>
                <a:ext uri="{FF2B5EF4-FFF2-40B4-BE49-F238E27FC236}">
                  <a16:creationId xmlns:a16="http://schemas.microsoft.com/office/drawing/2014/main" id="{386E302A-7D87-4724-A395-048FE6111E21}"/>
                </a:ext>
              </a:extLst>
            </p:cNvPr>
            <p:cNvSpPr/>
            <p:nvPr/>
          </p:nvSpPr>
          <p:spPr>
            <a:xfrm>
              <a:off x="354215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0" name="object 132">
              <a:extLst>
                <a:ext uri="{FF2B5EF4-FFF2-40B4-BE49-F238E27FC236}">
                  <a16:creationId xmlns:a16="http://schemas.microsoft.com/office/drawing/2014/main" id="{D73152AB-7C75-4767-85AE-D806B5911679}"/>
                </a:ext>
              </a:extLst>
            </p:cNvPr>
            <p:cNvSpPr/>
            <p:nvPr/>
          </p:nvSpPr>
          <p:spPr>
            <a:xfrm>
              <a:off x="359404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1" name="object 133">
              <a:extLst>
                <a:ext uri="{FF2B5EF4-FFF2-40B4-BE49-F238E27FC236}">
                  <a16:creationId xmlns:a16="http://schemas.microsoft.com/office/drawing/2014/main" id="{E1923D3F-F460-4B83-A7C6-43427E941957}"/>
                </a:ext>
              </a:extLst>
            </p:cNvPr>
            <p:cNvSpPr/>
            <p:nvPr/>
          </p:nvSpPr>
          <p:spPr>
            <a:xfrm>
              <a:off x="3645933"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2" name="object 134">
              <a:extLst>
                <a:ext uri="{FF2B5EF4-FFF2-40B4-BE49-F238E27FC236}">
                  <a16:creationId xmlns:a16="http://schemas.microsoft.com/office/drawing/2014/main" id="{737684BF-6F30-478E-B032-61BCE038F131}"/>
                </a:ext>
              </a:extLst>
            </p:cNvPr>
            <p:cNvSpPr/>
            <p:nvPr/>
          </p:nvSpPr>
          <p:spPr>
            <a:xfrm>
              <a:off x="3697822"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3" name="object 135">
              <a:extLst>
                <a:ext uri="{FF2B5EF4-FFF2-40B4-BE49-F238E27FC236}">
                  <a16:creationId xmlns:a16="http://schemas.microsoft.com/office/drawing/2014/main" id="{CCE06E04-2C8E-4789-8061-D995200B9CE3}"/>
                </a:ext>
              </a:extLst>
            </p:cNvPr>
            <p:cNvSpPr/>
            <p:nvPr/>
          </p:nvSpPr>
          <p:spPr>
            <a:xfrm>
              <a:off x="374970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4" name="object 136">
              <a:extLst>
                <a:ext uri="{FF2B5EF4-FFF2-40B4-BE49-F238E27FC236}">
                  <a16:creationId xmlns:a16="http://schemas.microsoft.com/office/drawing/2014/main" id="{B46667B3-3541-4CD7-B5AA-E8891BD999C4}"/>
                </a:ext>
              </a:extLst>
            </p:cNvPr>
            <p:cNvSpPr/>
            <p:nvPr/>
          </p:nvSpPr>
          <p:spPr>
            <a:xfrm>
              <a:off x="380159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5" name="object 137">
              <a:extLst>
                <a:ext uri="{FF2B5EF4-FFF2-40B4-BE49-F238E27FC236}">
                  <a16:creationId xmlns:a16="http://schemas.microsoft.com/office/drawing/2014/main" id="{47D26476-F3E4-42A5-9562-E2D578A45BA0}"/>
                </a:ext>
              </a:extLst>
            </p:cNvPr>
            <p:cNvSpPr/>
            <p:nvPr/>
          </p:nvSpPr>
          <p:spPr>
            <a:xfrm>
              <a:off x="3853484"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6" name="object 138">
              <a:extLst>
                <a:ext uri="{FF2B5EF4-FFF2-40B4-BE49-F238E27FC236}">
                  <a16:creationId xmlns:a16="http://schemas.microsoft.com/office/drawing/2014/main" id="{7840DE50-C22E-49E8-9E09-D524CEB9B605}"/>
                </a:ext>
              </a:extLst>
            </p:cNvPr>
            <p:cNvSpPr/>
            <p:nvPr/>
          </p:nvSpPr>
          <p:spPr>
            <a:xfrm>
              <a:off x="3905372" y="437960"/>
              <a:ext cx="18415" cy="13970"/>
            </a:xfrm>
            <a:custGeom>
              <a:avLst/>
              <a:gdLst/>
              <a:ahLst/>
              <a:cxnLst/>
              <a:rect l="l" t="t" r="r" b="b"/>
              <a:pathLst>
                <a:path w="18414" h="13970">
                  <a:moveTo>
                    <a:pt x="15659" y="0"/>
                  </a:moveTo>
                  <a:lnTo>
                    <a:pt x="4521" y="0"/>
                  </a:lnTo>
                  <a:lnTo>
                    <a:pt x="0" y="4508"/>
                  </a:lnTo>
                  <a:lnTo>
                    <a:pt x="0" y="13871"/>
                  </a:lnTo>
                  <a:lnTo>
                    <a:pt x="18375" y="2708"/>
                  </a:lnTo>
                  <a:lnTo>
                    <a:pt x="15659" y="0"/>
                  </a:lnTo>
                  <a:close/>
                </a:path>
              </a:pathLst>
            </a:custGeom>
            <a:solidFill>
              <a:srgbClr val="FFFFFF"/>
            </a:solidFill>
          </p:spPr>
          <p:txBody>
            <a:bodyPr wrap="square" lIns="0" tIns="0" rIns="0" bIns="0" rtlCol="0"/>
            <a:lstStyle/>
            <a:p>
              <a:endParaRPr sz="324"/>
            </a:p>
          </p:txBody>
        </p:sp>
        <p:sp>
          <p:nvSpPr>
            <p:cNvPr id="137" name="object 139">
              <a:extLst>
                <a:ext uri="{FF2B5EF4-FFF2-40B4-BE49-F238E27FC236}">
                  <a16:creationId xmlns:a16="http://schemas.microsoft.com/office/drawing/2014/main" id="{2E615000-69CE-473C-8BD5-F44B593F1F1B}"/>
                </a:ext>
              </a:extLst>
            </p:cNvPr>
            <p:cNvSpPr/>
            <p:nvPr/>
          </p:nvSpPr>
          <p:spPr>
            <a:xfrm>
              <a:off x="3544416" y="485885"/>
              <a:ext cx="18415" cy="6985"/>
            </a:xfrm>
            <a:custGeom>
              <a:avLst/>
              <a:gdLst/>
              <a:ahLst/>
              <a:cxnLst/>
              <a:rect l="l" t="t" r="r" b="b"/>
              <a:pathLst>
                <a:path w="18414" h="6984">
                  <a:moveTo>
                    <a:pt x="13402" y="0"/>
                  </a:moveTo>
                  <a:lnTo>
                    <a:pt x="2264" y="0"/>
                  </a:lnTo>
                  <a:lnTo>
                    <a:pt x="0" y="2257"/>
                  </a:lnTo>
                  <a:lnTo>
                    <a:pt x="17923" y="6866"/>
                  </a:lnTo>
                  <a:lnTo>
                    <a:pt x="17923" y="4508"/>
                  </a:lnTo>
                  <a:lnTo>
                    <a:pt x="13402" y="0"/>
                  </a:lnTo>
                  <a:close/>
                </a:path>
              </a:pathLst>
            </a:custGeom>
            <a:solidFill>
              <a:srgbClr val="FFFFFF"/>
            </a:solidFill>
          </p:spPr>
          <p:txBody>
            <a:bodyPr wrap="square" lIns="0" tIns="0" rIns="0" bIns="0" rtlCol="0"/>
            <a:lstStyle/>
            <a:p>
              <a:endParaRPr sz="324"/>
            </a:p>
          </p:txBody>
        </p:sp>
        <p:sp>
          <p:nvSpPr>
            <p:cNvPr id="138" name="object 140">
              <a:extLst>
                <a:ext uri="{FF2B5EF4-FFF2-40B4-BE49-F238E27FC236}">
                  <a16:creationId xmlns:a16="http://schemas.microsoft.com/office/drawing/2014/main" id="{83F898E8-9578-4FA7-A25C-C32A9CE5E036}"/>
                </a:ext>
              </a:extLst>
            </p:cNvPr>
            <p:cNvSpPr/>
            <p:nvPr/>
          </p:nvSpPr>
          <p:spPr>
            <a:xfrm>
              <a:off x="3594046" y="485885"/>
              <a:ext cx="20320" cy="17780"/>
            </a:xfrm>
            <a:custGeom>
              <a:avLst/>
              <a:gdLst/>
              <a:ahLst/>
              <a:cxnLst/>
              <a:rect l="l" t="t" r="r" b="b"/>
              <a:pathLst>
                <a:path w="20320" h="17779">
                  <a:moveTo>
                    <a:pt x="15659" y="0"/>
                  </a:moveTo>
                  <a:lnTo>
                    <a:pt x="4521" y="0"/>
                  </a:lnTo>
                  <a:lnTo>
                    <a:pt x="0" y="4508"/>
                  </a:lnTo>
                  <a:lnTo>
                    <a:pt x="0" y="14388"/>
                  </a:lnTo>
                  <a:lnTo>
                    <a:pt x="18606" y="17228"/>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9" name="object 141">
              <a:extLst>
                <a:ext uri="{FF2B5EF4-FFF2-40B4-BE49-F238E27FC236}">
                  <a16:creationId xmlns:a16="http://schemas.microsoft.com/office/drawing/2014/main" id="{1BDDC80E-B4C2-4BE9-9FC1-77C4A1E64626}"/>
                </a:ext>
              </a:extLst>
            </p:cNvPr>
            <p:cNvSpPr/>
            <p:nvPr/>
          </p:nvSpPr>
          <p:spPr>
            <a:xfrm>
              <a:off x="3645933"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40" name="object 142">
              <a:extLst>
                <a:ext uri="{FF2B5EF4-FFF2-40B4-BE49-F238E27FC236}">
                  <a16:creationId xmlns:a16="http://schemas.microsoft.com/office/drawing/2014/main" id="{A6B0B6E5-2E06-4EC5-AE88-2D4A2402E6F2}"/>
                </a:ext>
              </a:extLst>
            </p:cNvPr>
            <p:cNvSpPr/>
            <p:nvPr/>
          </p:nvSpPr>
          <p:spPr>
            <a:xfrm>
              <a:off x="3697822"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41" name="object 143">
              <a:extLst>
                <a:ext uri="{FF2B5EF4-FFF2-40B4-BE49-F238E27FC236}">
                  <a16:creationId xmlns:a16="http://schemas.microsoft.com/office/drawing/2014/main" id="{DC8BB7B0-23EA-45E9-BF81-815CB7E861E7}"/>
                </a:ext>
              </a:extLst>
            </p:cNvPr>
            <p:cNvSpPr/>
            <p:nvPr/>
          </p:nvSpPr>
          <p:spPr>
            <a:xfrm>
              <a:off x="3749709" y="485885"/>
              <a:ext cx="20320" cy="17780"/>
            </a:xfrm>
            <a:custGeom>
              <a:avLst/>
              <a:gdLst/>
              <a:ahLst/>
              <a:cxnLst/>
              <a:rect l="l" t="t" r="r" b="b"/>
              <a:pathLst>
                <a:path w="20320" h="17779">
                  <a:moveTo>
                    <a:pt x="15659" y="0"/>
                  </a:moveTo>
                  <a:lnTo>
                    <a:pt x="4521" y="0"/>
                  </a:lnTo>
                  <a:lnTo>
                    <a:pt x="0" y="4508"/>
                  </a:lnTo>
                  <a:lnTo>
                    <a:pt x="0" y="15659"/>
                  </a:lnTo>
                  <a:lnTo>
                    <a:pt x="1574" y="17228"/>
                  </a:lnTo>
                  <a:lnTo>
                    <a:pt x="20180" y="14389"/>
                  </a:lnTo>
                  <a:lnTo>
                    <a:pt x="20180" y="4508"/>
                  </a:lnTo>
                  <a:lnTo>
                    <a:pt x="15659" y="0"/>
                  </a:lnTo>
                  <a:close/>
                </a:path>
              </a:pathLst>
            </a:custGeom>
            <a:solidFill>
              <a:srgbClr val="FFFFFF"/>
            </a:solidFill>
          </p:spPr>
          <p:txBody>
            <a:bodyPr wrap="square" lIns="0" tIns="0" rIns="0" bIns="0" rtlCol="0"/>
            <a:lstStyle/>
            <a:p>
              <a:endParaRPr sz="324"/>
            </a:p>
          </p:txBody>
        </p:sp>
        <p:sp>
          <p:nvSpPr>
            <p:cNvPr id="142" name="object 144">
              <a:extLst>
                <a:ext uri="{FF2B5EF4-FFF2-40B4-BE49-F238E27FC236}">
                  <a16:creationId xmlns:a16="http://schemas.microsoft.com/office/drawing/2014/main" id="{712779C2-07A1-489D-916A-5B62FE6D1E2E}"/>
                </a:ext>
              </a:extLst>
            </p:cNvPr>
            <p:cNvSpPr/>
            <p:nvPr/>
          </p:nvSpPr>
          <p:spPr>
            <a:xfrm>
              <a:off x="3801596" y="485885"/>
              <a:ext cx="18415" cy="6985"/>
            </a:xfrm>
            <a:custGeom>
              <a:avLst/>
              <a:gdLst/>
              <a:ahLst/>
              <a:cxnLst/>
              <a:rect l="l" t="t" r="r" b="b"/>
              <a:pathLst>
                <a:path w="18414" h="6984">
                  <a:moveTo>
                    <a:pt x="15659" y="0"/>
                  </a:moveTo>
                  <a:lnTo>
                    <a:pt x="4521" y="0"/>
                  </a:lnTo>
                  <a:lnTo>
                    <a:pt x="0" y="4508"/>
                  </a:lnTo>
                  <a:lnTo>
                    <a:pt x="0" y="6866"/>
                  </a:lnTo>
                  <a:lnTo>
                    <a:pt x="17923" y="2258"/>
                  </a:lnTo>
                  <a:lnTo>
                    <a:pt x="15659" y="0"/>
                  </a:lnTo>
                  <a:close/>
                </a:path>
              </a:pathLst>
            </a:custGeom>
            <a:solidFill>
              <a:srgbClr val="FFFFFF"/>
            </a:solidFill>
          </p:spPr>
          <p:txBody>
            <a:bodyPr wrap="square" lIns="0" tIns="0" rIns="0" bIns="0" rtlCol="0"/>
            <a:lstStyle/>
            <a:p>
              <a:endParaRPr sz="324"/>
            </a:p>
          </p:txBody>
        </p:sp>
      </p:grpSp>
    </p:spTree>
    <p:extLst>
      <p:ext uri="{BB962C8B-B14F-4D97-AF65-F5344CB8AC3E}">
        <p14:creationId xmlns:p14="http://schemas.microsoft.com/office/powerpoint/2010/main" val="1415604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83"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1" y="6356357"/>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1" y="6356357"/>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fr-FR"/>
              <a:t>Motif de la présentation | Lieu | Date</a:t>
            </a:r>
            <a:endParaRPr lang="en-US"/>
          </a:p>
        </p:txBody>
      </p:sp>
      <p:sp>
        <p:nvSpPr>
          <p:cNvPr id="6" name="Slide Number Placeholder 5"/>
          <p:cNvSpPr>
            <a:spLocks noGrp="1"/>
          </p:cNvSpPr>
          <p:nvPr>
            <p:ph type="sldNum" sz="quarter" idx="4"/>
          </p:nvPr>
        </p:nvSpPr>
        <p:spPr>
          <a:xfrm>
            <a:off x="8610601" y="6356357"/>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614A4D-4352-4428-A1E5-77B191896878}" type="slidenum">
              <a:rPr lang="en-US" smtClean="0"/>
              <a:t>‹N°›</a:t>
            </a:fld>
            <a:endParaRPr lang="en-US"/>
          </a:p>
        </p:txBody>
      </p:sp>
    </p:spTree>
    <p:extLst>
      <p:ext uri="{BB962C8B-B14F-4D97-AF65-F5344CB8AC3E}">
        <p14:creationId xmlns:p14="http://schemas.microsoft.com/office/powerpoint/2010/main" val="510307940"/>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59" r:id="rId3"/>
    <p:sldLayoutId id="2147483660" r:id="rId4"/>
    <p:sldLayoutId id="2147483661" r:id="rId5"/>
    <p:sldLayoutId id="2147483662" r:id="rId6"/>
  </p:sldLayoutIdLst>
  <p:hf hdr="0" dt="0"/>
  <p:txStyles>
    <p:titleStyle>
      <a:lvl1pPr algn="l" defTabSz="68575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9" indent="-171439" algn="l" defTabSz="685756"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17" indent="-171439" algn="l" defTabSz="68575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95" indent="-171439" algn="l" defTabSz="68575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72"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50"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27"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05"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83"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60"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56" rtl="0" eaLnBrk="1" latinLnBrk="0" hangingPunct="1">
        <a:defRPr sz="1350" kern="1200">
          <a:solidFill>
            <a:schemeClr val="tx1"/>
          </a:solidFill>
          <a:latin typeface="+mn-lt"/>
          <a:ea typeface="+mn-ea"/>
          <a:cs typeface="+mn-cs"/>
        </a:defRPr>
      </a:lvl1pPr>
      <a:lvl2pPr marL="342878" algn="l" defTabSz="685756" rtl="0" eaLnBrk="1" latinLnBrk="0" hangingPunct="1">
        <a:defRPr sz="1350" kern="1200">
          <a:solidFill>
            <a:schemeClr val="tx1"/>
          </a:solidFill>
          <a:latin typeface="+mn-lt"/>
          <a:ea typeface="+mn-ea"/>
          <a:cs typeface="+mn-cs"/>
        </a:defRPr>
      </a:lvl2pPr>
      <a:lvl3pPr marL="685756" algn="l" defTabSz="685756" rtl="0" eaLnBrk="1" latinLnBrk="0" hangingPunct="1">
        <a:defRPr sz="1350" kern="1200">
          <a:solidFill>
            <a:schemeClr val="tx1"/>
          </a:solidFill>
          <a:latin typeface="+mn-lt"/>
          <a:ea typeface="+mn-ea"/>
          <a:cs typeface="+mn-cs"/>
        </a:defRPr>
      </a:lvl3pPr>
      <a:lvl4pPr marL="1028633" algn="l" defTabSz="685756" rtl="0" eaLnBrk="1" latinLnBrk="0" hangingPunct="1">
        <a:defRPr sz="1350" kern="1200">
          <a:solidFill>
            <a:schemeClr val="tx1"/>
          </a:solidFill>
          <a:latin typeface="+mn-lt"/>
          <a:ea typeface="+mn-ea"/>
          <a:cs typeface="+mn-cs"/>
        </a:defRPr>
      </a:lvl4pPr>
      <a:lvl5pPr marL="1371511" algn="l" defTabSz="685756" rtl="0" eaLnBrk="1" latinLnBrk="0" hangingPunct="1">
        <a:defRPr sz="1350" kern="1200">
          <a:solidFill>
            <a:schemeClr val="tx1"/>
          </a:solidFill>
          <a:latin typeface="+mn-lt"/>
          <a:ea typeface="+mn-ea"/>
          <a:cs typeface="+mn-cs"/>
        </a:defRPr>
      </a:lvl5pPr>
      <a:lvl6pPr marL="1714389" algn="l" defTabSz="685756" rtl="0" eaLnBrk="1" latinLnBrk="0" hangingPunct="1">
        <a:defRPr sz="1350" kern="1200">
          <a:solidFill>
            <a:schemeClr val="tx1"/>
          </a:solidFill>
          <a:latin typeface="+mn-lt"/>
          <a:ea typeface="+mn-ea"/>
          <a:cs typeface="+mn-cs"/>
        </a:defRPr>
      </a:lvl6pPr>
      <a:lvl7pPr marL="2057267" algn="l" defTabSz="685756" rtl="0" eaLnBrk="1" latinLnBrk="0" hangingPunct="1">
        <a:defRPr sz="1350" kern="1200">
          <a:solidFill>
            <a:schemeClr val="tx1"/>
          </a:solidFill>
          <a:latin typeface="+mn-lt"/>
          <a:ea typeface="+mn-ea"/>
          <a:cs typeface="+mn-cs"/>
        </a:defRPr>
      </a:lvl7pPr>
      <a:lvl8pPr marL="2400144" algn="l" defTabSz="685756" rtl="0" eaLnBrk="1" latinLnBrk="0" hangingPunct="1">
        <a:defRPr sz="1350" kern="1200">
          <a:solidFill>
            <a:schemeClr val="tx1"/>
          </a:solidFill>
          <a:latin typeface="+mn-lt"/>
          <a:ea typeface="+mn-ea"/>
          <a:cs typeface="+mn-cs"/>
        </a:defRPr>
      </a:lvl8pPr>
      <a:lvl9pPr marL="2743022" algn="l" defTabSz="68575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12.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25.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15.png"/><Relationship Id="rId6" Type="http://schemas.openxmlformats.org/officeDocument/2006/relationships/image" Target="../media/image45.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0.png"/><Relationship Id="rId3" Type="http://schemas.openxmlformats.org/officeDocument/2006/relationships/image" Target="../media/image23.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16.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Intelligence artificielle</a:t>
            </a:r>
          </a:p>
        </p:txBody>
      </p:sp>
      <p:sp>
        <p:nvSpPr>
          <p:cNvPr id="4" name="Text Placeholder 3"/>
          <p:cNvSpPr>
            <a:spLocks noGrp="1"/>
          </p:cNvSpPr>
          <p:nvPr>
            <p:ph type="body" idx="15" sz="quarter"/>
          </p:nvPr>
        </p:nvSpPr>
        <p:spPr/>
        <p:txBody>
          <a:bodyPr/>
          <a:lstStyle/>
          <a:p>
            <a:r>
              <a:t>Partie 1 : une histoire de l'IA</a:t>
            </a:r>
          </a:p>
        </p:txBody>
      </p:sp>
      <p:sp>
        <p:nvSpPr>
          <p:cNvPr id="5" name="Text Placeholder 4"/>
          <p:cNvSpPr>
            <a:spLocks noGrp="1"/>
          </p:cNvSpPr>
          <p:nvPr>
            <p:ph type="body" idx="16" sz="quarter"/>
          </p:nvPr>
        </p:nvSpPr>
        <p:spPr/>
        <p:txBody>
          <a:bodyPr/>
          <a:lstStyle/>
          <a:p>
            <a:r>
              <a:t>De Turing à ChatGPT · BUT 3 informatique</a:t>
            </a:r>
          </a:p>
          <a:p>
            <a:r>
              <a:t>David Laiymani et Claude</a:t>
            </a:r>
          </a:p>
        </p:txBody>
      </p:sp>
      <p:pic>
        <p:nvPicPr>
          <p:cNvPr id="6" name="Picture 5" descr="cover_CM1.png"/>
          <p:cNvPicPr>
            <a:picLocks noChangeAspect="1"/>
          </p:cNvPicPr>
          <p:nvPr/>
        </p:nvPicPr>
        <p:blipFill>
          <a:blip r:embed="rId2"/>
          <a:stretch>
            <a:fillRect/>
          </a:stretch>
        </p:blipFill>
        <p:spPr>
          <a:xfrm>
            <a:off x="7678265" y="371587"/>
            <a:ext cx="4039989" cy="61444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Introduction</a:t>
            </a:r>
          </a:p>
        </p:txBody>
      </p:sp>
      <p:sp>
        <p:nvSpPr>
          <p:cNvPr id="3" name="Text Placeholder 2"/>
          <p:cNvSpPr>
            <a:spLocks noGrp="1"/>
          </p:cNvSpPr>
          <p:nvPr>
            <p:ph type="body" idx="25" sz="quarter"/>
          </p:nvPr>
        </p:nvSpPr>
        <p:spPr/>
        <p:txBody>
          <a:bodyPr/>
          <a:lstStyle/>
          <a:p>
            <a:r>
              <a:t>Au programme : 75 ans d'IA en six époques</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a:t>
            </a:fld>
          </a:p>
        </p:txBody>
      </p:sp>
      <p:sp>
        <p:nvSpPr>
          <p:cNvPr id="6" name="Rectangle 5"/>
          <p:cNvSpPr/>
          <p:nvPr/>
        </p:nvSpPr>
        <p:spPr>
          <a:xfrm>
            <a:off x="640080"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1630503"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4685" y="1789964"/>
            <a:ext cx="701291" cy="70129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Lightbulb.png"/>
          <p:cNvPicPr>
            <a:picLocks noChangeAspect="1"/>
          </p:cNvPicPr>
          <p:nvPr/>
        </p:nvPicPr>
        <p:blipFill>
          <a:blip r:embed="rId2"/>
          <a:stretch>
            <a:fillRect/>
          </a:stretch>
        </p:blipFill>
        <p:spPr>
          <a:xfrm>
            <a:off x="1287021" y="1972300"/>
            <a:ext cx="336620" cy="336620"/>
          </a:xfrm>
          <a:prstGeom prst="rect">
            <a:avLst/>
          </a:prstGeom>
        </p:spPr>
      </p:pic>
      <p:sp>
        <p:nvSpPr>
          <p:cNvPr id="10" name="TextBox 9"/>
          <p:cNvSpPr txBox="1"/>
          <p:nvPr/>
        </p:nvSpPr>
        <p:spPr>
          <a:xfrm>
            <a:off x="727741" y="2658618"/>
            <a:ext cx="1455180" cy="329641"/>
          </a:xfrm>
          <a:prstGeom prst="rect">
            <a:avLst/>
          </a:prstGeom>
          <a:noFill/>
        </p:spPr>
        <p:txBody>
          <a:bodyPr wrap="square" lIns="0" rIns="0" tIns="0" bIns="0" anchor="t">
            <a:spAutoFit/>
          </a:bodyPr>
          <a:lstStyle/>
          <a:p>
            <a:pPr algn="ctr">
              <a:spcAft>
                <a:spcPts val="0"/>
              </a:spcAft>
            </a:pPr>
            <a:r>
              <a:rPr sz="1170" b="1" i="0">
                <a:solidFill>
                  <a:srgbClr val="00877A"/>
                </a:solidFill>
                <a:latin typeface="Arial"/>
              </a:rPr>
              <a:t>1943 – 1956</a:t>
            </a:r>
          </a:p>
        </p:txBody>
      </p:sp>
      <p:sp>
        <p:nvSpPr>
          <p:cNvPr id="11" name="TextBox 10"/>
          <p:cNvSpPr txBox="1"/>
          <p:nvPr/>
        </p:nvSpPr>
        <p:spPr>
          <a:xfrm>
            <a:off x="727741"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Les pionniers</a:t>
            </a:r>
          </a:p>
        </p:txBody>
      </p:sp>
      <p:sp>
        <p:nvSpPr>
          <p:cNvPr id="12" name="TextBox 11"/>
          <p:cNvSpPr txBox="1"/>
          <p:nvPr/>
        </p:nvSpPr>
        <p:spPr>
          <a:xfrm>
            <a:off x="771572"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Une machine peut-elle penser ?</a:t>
            </a:r>
          </a:p>
        </p:txBody>
      </p:sp>
      <p:sp>
        <p:nvSpPr>
          <p:cNvPr id="13" name="Rectangle 12"/>
          <p:cNvSpPr/>
          <p:nvPr/>
        </p:nvSpPr>
        <p:spPr>
          <a:xfrm>
            <a:off x="2437140"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37140" y="1481328"/>
            <a:ext cx="1630503"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01746" y="1789964"/>
            <a:ext cx="701291" cy="701291"/>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Rocket.png"/>
          <p:cNvPicPr>
            <a:picLocks noChangeAspect="1"/>
          </p:cNvPicPr>
          <p:nvPr/>
        </p:nvPicPr>
        <p:blipFill>
          <a:blip r:embed="rId3"/>
          <a:stretch>
            <a:fillRect/>
          </a:stretch>
        </p:blipFill>
        <p:spPr>
          <a:xfrm>
            <a:off x="3084082" y="1972300"/>
            <a:ext cx="336620" cy="336620"/>
          </a:xfrm>
          <a:prstGeom prst="rect">
            <a:avLst/>
          </a:prstGeom>
        </p:spPr>
      </p:pic>
      <p:sp>
        <p:nvSpPr>
          <p:cNvPr id="17" name="TextBox 16"/>
          <p:cNvSpPr txBox="1"/>
          <p:nvPr/>
        </p:nvSpPr>
        <p:spPr>
          <a:xfrm>
            <a:off x="2524801" y="2658618"/>
            <a:ext cx="1455180" cy="329641"/>
          </a:xfrm>
          <a:prstGeom prst="rect">
            <a:avLst/>
          </a:prstGeom>
          <a:noFill/>
        </p:spPr>
        <p:txBody>
          <a:bodyPr wrap="square" lIns="0" rIns="0" tIns="0" bIns="0" anchor="t">
            <a:spAutoFit/>
          </a:bodyPr>
          <a:lstStyle/>
          <a:p>
            <a:pPr algn="ctr">
              <a:spcAft>
                <a:spcPts val="0"/>
              </a:spcAft>
            </a:pPr>
            <a:r>
              <a:rPr sz="1170" b="1" i="0">
                <a:solidFill>
                  <a:srgbClr val="3F63A8"/>
                </a:solidFill>
                <a:latin typeface="Arial"/>
              </a:rPr>
              <a:t>1956 – 1974</a:t>
            </a:r>
          </a:p>
        </p:txBody>
      </p:sp>
      <p:sp>
        <p:nvSpPr>
          <p:cNvPr id="18" name="TextBox 17"/>
          <p:cNvSpPr txBox="1"/>
          <p:nvPr/>
        </p:nvSpPr>
        <p:spPr>
          <a:xfrm>
            <a:off x="2524801"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Les premiers espoirs</a:t>
            </a:r>
          </a:p>
        </p:txBody>
      </p:sp>
      <p:sp>
        <p:nvSpPr>
          <p:cNvPr id="19" name="TextBox 18"/>
          <p:cNvSpPr txBox="1"/>
          <p:nvPr/>
        </p:nvSpPr>
        <p:spPr>
          <a:xfrm>
            <a:off x="2568632"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Premiers programmes « intelligents »</a:t>
            </a:r>
          </a:p>
        </p:txBody>
      </p:sp>
      <p:sp>
        <p:nvSpPr>
          <p:cNvPr id="20" name="Rectangle 19"/>
          <p:cNvSpPr/>
          <p:nvPr/>
        </p:nvSpPr>
        <p:spPr>
          <a:xfrm>
            <a:off x="4234200"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34200" y="1481328"/>
            <a:ext cx="1630503"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98806" y="1789964"/>
            <a:ext cx="701291" cy="701291"/>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ClipboardList_dark.png"/>
          <p:cNvPicPr>
            <a:picLocks noChangeAspect="1"/>
          </p:cNvPicPr>
          <p:nvPr/>
        </p:nvPicPr>
        <p:blipFill>
          <a:blip r:embed="rId4"/>
          <a:stretch>
            <a:fillRect/>
          </a:stretch>
        </p:blipFill>
        <p:spPr>
          <a:xfrm>
            <a:off x="4881142" y="1972300"/>
            <a:ext cx="336620" cy="336620"/>
          </a:xfrm>
          <a:prstGeom prst="rect">
            <a:avLst/>
          </a:prstGeom>
        </p:spPr>
      </p:pic>
      <p:sp>
        <p:nvSpPr>
          <p:cNvPr id="24" name="TextBox 23"/>
          <p:cNvSpPr txBox="1"/>
          <p:nvPr/>
        </p:nvSpPr>
        <p:spPr>
          <a:xfrm>
            <a:off x="4321862" y="2658618"/>
            <a:ext cx="1455180" cy="329641"/>
          </a:xfrm>
          <a:prstGeom prst="rect">
            <a:avLst/>
          </a:prstGeom>
          <a:noFill/>
        </p:spPr>
        <p:txBody>
          <a:bodyPr wrap="square" lIns="0" rIns="0" tIns="0" bIns="0" anchor="t">
            <a:spAutoFit/>
          </a:bodyPr>
          <a:lstStyle/>
          <a:p>
            <a:pPr algn="ctr">
              <a:spcAft>
                <a:spcPts val="0"/>
              </a:spcAft>
            </a:pPr>
            <a:r>
              <a:rPr sz="1170" b="1" i="0">
                <a:solidFill>
                  <a:srgbClr val="9C8200"/>
                </a:solidFill>
                <a:latin typeface="Arial"/>
              </a:rPr>
              <a:t>1980 – 1987</a:t>
            </a:r>
          </a:p>
        </p:txBody>
      </p:sp>
      <p:sp>
        <p:nvSpPr>
          <p:cNvPr id="25" name="TextBox 24"/>
          <p:cNvSpPr txBox="1"/>
          <p:nvPr/>
        </p:nvSpPr>
        <p:spPr>
          <a:xfrm>
            <a:off x="4321862"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Les systèmes experts</a:t>
            </a:r>
          </a:p>
        </p:txBody>
      </p:sp>
      <p:sp>
        <p:nvSpPr>
          <p:cNvPr id="26" name="TextBox 25"/>
          <p:cNvSpPr txBox="1"/>
          <p:nvPr/>
        </p:nvSpPr>
        <p:spPr>
          <a:xfrm>
            <a:off x="4365693"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Le savoir des experts en règles</a:t>
            </a:r>
          </a:p>
        </p:txBody>
      </p:sp>
      <p:sp>
        <p:nvSpPr>
          <p:cNvPr id="27" name="Rectangle 26"/>
          <p:cNvSpPr/>
          <p:nvPr/>
        </p:nvSpPr>
        <p:spPr>
          <a:xfrm>
            <a:off x="6031261"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1261" y="1481328"/>
            <a:ext cx="1630503"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5867" y="1789964"/>
            <a:ext cx="701291" cy="70129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ChartLine.png"/>
          <p:cNvPicPr>
            <a:picLocks noChangeAspect="1"/>
          </p:cNvPicPr>
          <p:nvPr/>
        </p:nvPicPr>
        <p:blipFill>
          <a:blip r:embed="rId5"/>
          <a:stretch>
            <a:fillRect/>
          </a:stretch>
        </p:blipFill>
        <p:spPr>
          <a:xfrm>
            <a:off x="6678203" y="1972300"/>
            <a:ext cx="336620" cy="336620"/>
          </a:xfrm>
          <a:prstGeom prst="rect">
            <a:avLst/>
          </a:prstGeom>
        </p:spPr>
      </p:pic>
      <p:sp>
        <p:nvSpPr>
          <p:cNvPr id="31" name="TextBox 30"/>
          <p:cNvSpPr txBox="1"/>
          <p:nvPr/>
        </p:nvSpPr>
        <p:spPr>
          <a:xfrm>
            <a:off x="6118922" y="2658618"/>
            <a:ext cx="1455180" cy="329641"/>
          </a:xfrm>
          <a:prstGeom prst="rect">
            <a:avLst/>
          </a:prstGeom>
          <a:noFill/>
        </p:spPr>
        <p:txBody>
          <a:bodyPr wrap="square" lIns="0" rIns="0" tIns="0" bIns="0" anchor="t">
            <a:spAutoFit/>
          </a:bodyPr>
          <a:lstStyle/>
          <a:p>
            <a:pPr algn="ctr">
              <a:spcAft>
                <a:spcPts val="0"/>
              </a:spcAft>
            </a:pPr>
            <a:r>
              <a:rPr sz="1170" b="1" i="0">
                <a:solidFill>
                  <a:srgbClr val="D1452B"/>
                </a:solidFill>
                <a:latin typeface="Arial"/>
              </a:rPr>
              <a:t>1993 – 2011</a:t>
            </a:r>
          </a:p>
        </p:txBody>
      </p:sp>
      <p:sp>
        <p:nvSpPr>
          <p:cNvPr id="32" name="TextBox 31"/>
          <p:cNvSpPr txBox="1"/>
          <p:nvPr/>
        </p:nvSpPr>
        <p:spPr>
          <a:xfrm>
            <a:off x="6118922"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L'apprentissage automatique</a:t>
            </a:r>
          </a:p>
        </p:txBody>
      </p:sp>
      <p:sp>
        <p:nvSpPr>
          <p:cNvPr id="33" name="TextBox 32"/>
          <p:cNvSpPr txBox="1"/>
          <p:nvPr/>
        </p:nvSpPr>
        <p:spPr>
          <a:xfrm>
            <a:off x="6162753"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Apprendre à partir des données</a:t>
            </a:r>
          </a:p>
        </p:txBody>
      </p:sp>
      <p:sp>
        <p:nvSpPr>
          <p:cNvPr id="34" name="Rectangle 33"/>
          <p:cNvSpPr/>
          <p:nvPr/>
        </p:nvSpPr>
        <p:spPr>
          <a:xfrm>
            <a:off x="7828321"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28321" y="1481328"/>
            <a:ext cx="1630503"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92927"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aBrain_dark.png"/>
          <p:cNvPicPr>
            <a:picLocks noChangeAspect="1"/>
          </p:cNvPicPr>
          <p:nvPr/>
        </p:nvPicPr>
        <p:blipFill>
          <a:blip r:embed="rId6"/>
          <a:stretch>
            <a:fillRect/>
          </a:stretch>
        </p:blipFill>
        <p:spPr>
          <a:xfrm>
            <a:off x="8475263" y="1972300"/>
            <a:ext cx="336620" cy="336620"/>
          </a:xfrm>
          <a:prstGeom prst="rect">
            <a:avLst/>
          </a:prstGeom>
        </p:spPr>
      </p:pic>
      <p:sp>
        <p:nvSpPr>
          <p:cNvPr id="38" name="TextBox 37"/>
          <p:cNvSpPr txBox="1"/>
          <p:nvPr/>
        </p:nvSpPr>
        <p:spPr>
          <a:xfrm>
            <a:off x="7915983" y="2658618"/>
            <a:ext cx="1455180" cy="329641"/>
          </a:xfrm>
          <a:prstGeom prst="rect">
            <a:avLst/>
          </a:prstGeom>
          <a:noFill/>
        </p:spPr>
        <p:txBody>
          <a:bodyPr wrap="square" lIns="0" rIns="0" tIns="0" bIns="0" anchor="t">
            <a:spAutoFit/>
          </a:bodyPr>
          <a:lstStyle/>
          <a:p>
            <a:pPr algn="ctr">
              <a:spcAft>
                <a:spcPts val="0"/>
              </a:spcAft>
            </a:pPr>
            <a:r>
              <a:rPr sz="1170" b="1" i="0">
                <a:solidFill>
                  <a:srgbClr val="5F7C17"/>
                </a:solidFill>
                <a:latin typeface="Arial"/>
              </a:rPr>
              <a:t>2012 – 2017</a:t>
            </a:r>
          </a:p>
        </p:txBody>
      </p:sp>
      <p:sp>
        <p:nvSpPr>
          <p:cNvPr id="39" name="TextBox 38"/>
          <p:cNvSpPr txBox="1"/>
          <p:nvPr/>
        </p:nvSpPr>
        <p:spPr>
          <a:xfrm>
            <a:off x="7915983"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Le deep learning</a:t>
            </a:r>
          </a:p>
        </p:txBody>
      </p:sp>
      <p:sp>
        <p:nvSpPr>
          <p:cNvPr id="40" name="TextBox 39"/>
          <p:cNvSpPr txBox="1"/>
          <p:nvPr/>
        </p:nvSpPr>
        <p:spPr>
          <a:xfrm>
            <a:off x="7959814"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Les réseaux de neurones profonds</a:t>
            </a:r>
          </a:p>
        </p:txBody>
      </p:sp>
      <p:sp>
        <p:nvSpPr>
          <p:cNvPr id="41" name="Rectangle 40"/>
          <p:cNvSpPr/>
          <p:nvPr/>
        </p:nvSpPr>
        <p:spPr>
          <a:xfrm>
            <a:off x="9625382" y="1481328"/>
            <a:ext cx="1630503" cy="353187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625382" y="1481328"/>
            <a:ext cx="1630503"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089988" y="1789964"/>
            <a:ext cx="701291" cy="70129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aCommentDots.png"/>
          <p:cNvPicPr>
            <a:picLocks noChangeAspect="1"/>
          </p:cNvPicPr>
          <p:nvPr/>
        </p:nvPicPr>
        <p:blipFill>
          <a:blip r:embed="rId7"/>
          <a:stretch>
            <a:fillRect/>
          </a:stretch>
        </p:blipFill>
        <p:spPr>
          <a:xfrm>
            <a:off x="10272324" y="1972300"/>
            <a:ext cx="336620" cy="336620"/>
          </a:xfrm>
          <a:prstGeom prst="rect">
            <a:avLst/>
          </a:prstGeom>
        </p:spPr>
      </p:pic>
      <p:sp>
        <p:nvSpPr>
          <p:cNvPr id="45" name="TextBox 44"/>
          <p:cNvSpPr txBox="1"/>
          <p:nvPr/>
        </p:nvSpPr>
        <p:spPr>
          <a:xfrm>
            <a:off x="9713043" y="2658618"/>
            <a:ext cx="1455180" cy="329641"/>
          </a:xfrm>
          <a:prstGeom prst="rect">
            <a:avLst/>
          </a:prstGeom>
          <a:noFill/>
        </p:spPr>
        <p:txBody>
          <a:bodyPr wrap="square" lIns="0" rIns="0" tIns="0" bIns="0" anchor="t">
            <a:spAutoFit/>
          </a:bodyPr>
          <a:lstStyle/>
          <a:p>
            <a:pPr algn="ctr">
              <a:spcAft>
                <a:spcPts val="0"/>
              </a:spcAft>
            </a:pPr>
            <a:r>
              <a:rPr sz="1170" b="1" i="0">
                <a:solidFill>
                  <a:srgbClr val="712180"/>
                </a:solidFill>
                <a:latin typeface="Arial"/>
              </a:rPr>
              <a:t>2017 – aujourd'hui</a:t>
            </a:r>
          </a:p>
        </p:txBody>
      </p:sp>
      <p:sp>
        <p:nvSpPr>
          <p:cNvPr id="46" name="TextBox 45"/>
          <p:cNvSpPr txBox="1"/>
          <p:nvPr/>
        </p:nvSpPr>
        <p:spPr>
          <a:xfrm>
            <a:off x="9713043" y="2988259"/>
            <a:ext cx="1455180" cy="800557"/>
          </a:xfrm>
          <a:prstGeom prst="rect">
            <a:avLst/>
          </a:prstGeom>
          <a:noFill/>
        </p:spPr>
        <p:txBody>
          <a:bodyPr wrap="square" lIns="0" rIns="0" tIns="0" bIns="0" anchor="ctr">
            <a:spAutoFit/>
          </a:bodyPr>
          <a:lstStyle/>
          <a:p>
            <a:pPr algn="ctr">
              <a:spcAft>
                <a:spcPts val="0"/>
              </a:spcAft>
            </a:pPr>
            <a:r>
              <a:rPr sz="1350" b="1" i="0">
                <a:solidFill>
                  <a:srgbClr val="1A2E2B"/>
                </a:solidFill>
                <a:latin typeface="Arial"/>
              </a:rPr>
              <a:t>L'IA générative</a:t>
            </a:r>
          </a:p>
        </p:txBody>
      </p:sp>
      <p:sp>
        <p:nvSpPr>
          <p:cNvPr id="47" name="TextBox 46"/>
          <p:cNvSpPr txBox="1"/>
          <p:nvPr/>
        </p:nvSpPr>
        <p:spPr>
          <a:xfrm>
            <a:off x="9756874" y="3882999"/>
            <a:ext cx="1367519" cy="941832"/>
          </a:xfrm>
          <a:prstGeom prst="rect">
            <a:avLst/>
          </a:prstGeom>
          <a:noFill/>
        </p:spPr>
        <p:txBody>
          <a:bodyPr wrap="square" lIns="0" rIns="0" tIns="0" bIns="0" anchor="t">
            <a:spAutoFit/>
          </a:bodyPr>
          <a:lstStyle/>
          <a:p>
            <a:pPr algn="ctr">
              <a:spcAft>
                <a:spcPts val="0"/>
              </a:spcAft>
            </a:pPr>
            <a:r>
              <a:rPr sz="1170" b="0" i="0">
                <a:solidFill>
                  <a:srgbClr val="5A6B68"/>
                </a:solidFill>
                <a:latin typeface="Arial"/>
              </a:rPr>
              <a:t>Des machines qui écrivent et dessinent</a:t>
            </a:r>
          </a:p>
        </p:txBody>
      </p:sp>
      <p:sp>
        <p:nvSpPr>
          <p:cNvPr id="48" name="Rectangle 47"/>
          <p:cNvSpPr/>
          <p:nvPr/>
        </p:nvSpPr>
        <p:spPr>
          <a:xfrm>
            <a:off x="640080" y="5295747"/>
            <a:ext cx="10607040" cy="706374"/>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15402" y="5407865"/>
            <a:ext cx="482138" cy="482138"/>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FaRoute.png"/>
          <p:cNvPicPr>
            <a:picLocks noChangeAspect="1"/>
          </p:cNvPicPr>
          <p:nvPr/>
        </p:nvPicPr>
        <p:blipFill>
          <a:blip r:embed="rId8"/>
          <a:stretch>
            <a:fillRect/>
          </a:stretch>
        </p:blipFill>
        <p:spPr>
          <a:xfrm>
            <a:off x="940758" y="5533221"/>
            <a:ext cx="231426" cy="231426"/>
          </a:xfrm>
          <a:prstGeom prst="rect">
            <a:avLst/>
          </a:prstGeom>
        </p:spPr>
      </p:pic>
      <p:sp>
        <p:nvSpPr>
          <p:cNvPr id="51" name="TextBox 50"/>
          <p:cNvSpPr txBox="1"/>
          <p:nvPr/>
        </p:nvSpPr>
        <p:spPr>
          <a:xfrm>
            <a:off x="1472864" y="5295747"/>
            <a:ext cx="9642763" cy="706374"/>
          </a:xfrm>
          <a:prstGeom prst="rect">
            <a:avLst/>
          </a:prstGeom>
          <a:noFill/>
        </p:spPr>
        <p:txBody>
          <a:bodyPr wrap="square" lIns="0" rIns="0" tIns="0" bIns="0" anchor="ctr">
            <a:spAutoFit/>
          </a:bodyPr>
          <a:lstStyle/>
          <a:p>
            <a:pPr algn="l">
              <a:spcAft>
                <a:spcPts val="0"/>
              </a:spcAft>
            </a:pPr>
            <a:r>
              <a:rPr sz="1440" b="1" i="0">
                <a:solidFill>
                  <a:srgbClr val="00877A"/>
                </a:solidFill>
                <a:latin typeface="Arial"/>
              </a:rPr>
              <a:t>Fil rouge : </a:t>
            </a:r>
            <a:r>
              <a:rPr sz="1440" b="0" i="0">
                <a:solidFill>
                  <a:srgbClr val="2B3A38"/>
                </a:solidFill>
                <a:latin typeface="Arial"/>
              </a:rPr>
              <a:t>comment est-on passé de « programmer des règles » à « apprendre à partir d'exemples »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Introduction</a:t>
            </a:r>
          </a:p>
        </p:txBody>
      </p:sp>
      <p:sp>
        <p:nvSpPr>
          <p:cNvPr id="3" name="Text Placeholder 2"/>
          <p:cNvSpPr>
            <a:spLocks noGrp="1"/>
          </p:cNvSpPr>
          <p:nvPr>
            <p:ph type="body" idx="25" sz="quarter"/>
          </p:nvPr>
        </p:nvSpPr>
        <p:spPr/>
        <p:txBody>
          <a:bodyPr/>
          <a:lstStyle/>
          <a:p>
            <a:r>
              <a:t>Qu'est-ce que l'intelligence artificielle ?</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3</a:t>
            </a:fld>
          </a:p>
        </p:txBody>
      </p:sp>
      <p:sp>
        <p:nvSpPr>
          <p:cNvPr id="6" name="TextBox 5"/>
          <p:cNvSpPr txBox="1"/>
          <p:nvPr/>
        </p:nvSpPr>
        <p:spPr>
          <a:xfrm>
            <a:off x="640080" y="1481328"/>
            <a:ext cx="5522673" cy="376732"/>
          </a:xfrm>
          <a:prstGeom prst="rect">
            <a:avLst/>
          </a:prstGeom>
          <a:noFill/>
        </p:spPr>
        <p:txBody>
          <a:bodyPr wrap="square" lIns="0" rIns="0" tIns="0" bIns="0" anchor="t">
            <a:spAutoFit/>
          </a:bodyPr>
          <a:lstStyle/>
          <a:p>
            <a:pPr algn="l">
              <a:spcAft>
                <a:spcPts val="0"/>
              </a:spcAft>
            </a:pPr>
            <a:r>
              <a:rPr sz="1620" b="1" i="0">
                <a:solidFill>
                  <a:srgbClr val="00877A"/>
                </a:solidFill>
                <a:latin typeface="Arial"/>
              </a:rPr>
              <a:t>Une définition</a:t>
            </a:r>
          </a:p>
        </p:txBody>
      </p:sp>
      <p:sp>
        <p:nvSpPr>
          <p:cNvPr id="7" name="TextBox 6"/>
          <p:cNvSpPr txBox="1"/>
          <p:nvPr/>
        </p:nvSpPr>
        <p:spPr>
          <a:xfrm>
            <a:off x="640080" y="1905152"/>
            <a:ext cx="5522673" cy="1318564"/>
          </a:xfrm>
          <a:prstGeom prst="rect">
            <a:avLst/>
          </a:prstGeom>
          <a:noFill/>
        </p:spPr>
        <p:txBody>
          <a:bodyPr wrap="square" lIns="0" rIns="0" tIns="0" bIns="0" anchor="t">
            <a:spAutoFit/>
          </a:bodyPr>
          <a:lstStyle/>
          <a:p>
            <a:pPr algn="l">
              <a:spcAft>
                <a:spcPts val="0"/>
              </a:spcAft>
            </a:pPr>
            <a:r>
              <a:rPr sz="1440" b="0" i="0">
                <a:solidFill>
                  <a:srgbClr val="2B3A38"/>
                </a:solidFill>
                <a:latin typeface="Arial"/>
              </a:rPr>
              <a:t>L'IA désigne l'ensemble des techniques qui permettent à une machine de réaliser des tâches que l'on jugerait « intelligentes » si un humain les accomplissait : reconnaître un visage, comprendre une phrase, jouer aux échecs, conduire…</a:t>
            </a:r>
          </a:p>
        </p:txBody>
      </p:sp>
      <p:sp>
        <p:nvSpPr>
          <p:cNvPr id="8" name="TextBox 7"/>
          <p:cNvSpPr txBox="1"/>
          <p:nvPr/>
        </p:nvSpPr>
        <p:spPr>
          <a:xfrm>
            <a:off x="640080" y="3364992"/>
            <a:ext cx="5522673" cy="376732"/>
          </a:xfrm>
          <a:prstGeom prst="rect">
            <a:avLst/>
          </a:prstGeom>
          <a:noFill/>
        </p:spPr>
        <p:txBody>
          <a:bodyPr wrap="square" lIns="0" rIns="0" tIns="0" bIns="0" anchor="t">
            <a:spAutoFit/>
          </a:bodyPr>
          <a:lstStyle/>
          <a:p>
            <a:pPr algn="l">
              <a:spcAft>
                <a:spcPts val="0"/>
              </a:spcAft>
            </a:pPr>
            <a:r>
              <a:rPr sz="1620" b="1" i="0">
                <a:solidFill>
                  <a:srgbClr val="00877A"/>
                </a:solidFill>
                <a:latin typeface="Arial"/>
              </a:rPr>
              <a:t>Deux nuances importantes</a:t>
            </a:r>
          </a:p>
        </p:txBody>
      </p:sp>
      <p:sp>
        <p:nvSpPr>
          <p:cNvPr id="9" name="TextBox 8"/>
          <p:cNvSpPr txBox="1"/>
          <p:nvPr/>
        </p:nvSpPr>
        <p:spPr>
          <a:xfrm>
            <a:off x="640080" y="3788816"/>
            <a:ext cx="5522673" cy="2072030"/>
          </a:xfrm>
          <a:prstGeom prst="rect">
            <a:avLst/>
          </a:prstGeom>
          <a:noFill/>
        </p:spPr>
        <p:txBody>
          <a:bodyPr wrap="square" lIns="0" rIns="0" tIns="0" bIns="0" anchor="t">
            <a:spAutoFit/>
          </a:bodyPr>
          <a:lstStyle/>
          <a:p>
            <a:pPr algn="l">
              <a:spcAft>
                <a:spcPts val="800"/>
              </a:spcAft>
            </a:pPr>
            <a:r>
              <a:rPr sz="1350" b="1" i="0">
                <a:solidFill>
                  <a:srgbClr val="2B3A38"/>
                </a:solidFill>
                <a:latin typeface="Arial"/>
              </a:rPr>
              <a:t>Une cible mouvante. </a:t>
            </a:r>
            <a:r>
              <a:rPr sz="1350" b="0" i="0">
                <a:solidFill>
                  <a:srgbClr val="2B3A38"/>
                </a:solidFill>
                <a:latin typeface="Arial"/>
              </a:rPr>
              <a:t>Dès qu'une machine maîtrise une tâche (calculer, jouer aux échecs), on cesse souvent de l'appeler « IA ».</a:t>
            </a:r>
          </a:p>
          <a:p>
            <a:pPr algn="l">
              <a:spcAft>
                <a:spcPts val="800"/>
              </a:spcAft>
            </a:pPr>
            <a:r>
              <a:rPr sz="1350" b="1" i="0">
                <a:solidFill>
                  <a:srgbClr val="2B3A38"/>
                </a:solidFill>
                <a:latin typeface="Arial"/>
              </a:rPr>
              <a:t>IA faible, IA forte. </a:t>
            </a:r>
            <a:r>
              <a:rPr sz="1350" b="0" i="0">
                <a:solidFill>
                  <a:srgbClr val="2B3A38"/>
                </a:solidFill>
                <a:latin typeface="Arial"/>
              </a:rPr>
              <a:t>Toutes les IA actuelles sont spécialisées. Une IA « générale », aussi polyvalente qu'un humain, reste un objectif lointain et débattu.</a:t>
            </a:r>
          </a:p>
        </p:txBody>
      </p:sp>
      <p:sp>
        <p:nvSpPr>
          <p:cNvPr id="10" name="Oval 9"/>
          <p:cNvSpPr/>
          <p:nvPr/>
        </p:nvSpPr>
        <p:spPr>
          <a:xfrm>
            <a:off x="6644891" y="1456004"/>
            <a:ext cx="4383074" cy="4383074"/>
          </a:xfrm>
          <a:prstGeom prst="ellipse">
            <a:avLst/>
          </a:prstGeom>
          <a:solidFill>
            <a:srgbClr val="00ABA2">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2553" y="1462491"/>
            <a:ext cx="4207751" cy="376732"/>
          </a:xfrm>
          <a:prstGeom prst="rect">
            <a:avLst/>
          </a:prstGeom>
          <a:noFill/>
        </p:spPr>
        <p:txBody>
          <a:bodyPr wrap="square" lIns="0" rIns="0" tIns="0" bIns="0" anchor="ctr">
            <a:spAutoFit/>
          </a:bodyPr>
          <a:lstStyle/>
          <a:p>
            <a:pPr algn="ctr">
              <a:spcAft>
                <a:spcPts val="0"/>
              </a:spcAft>
            </a:pPr>
            <a:r>
              <a:rPr sz="1260" b="1" i="0">
                <a:solidFill>
                  <a:srgbClr val="1A2E2B"/>
                </a:solidFill>
                <a:latin typeface="Arial"/>
              </a:rPr>
              <a:t>Intelligence artificielle</a:t>
            </a:r>
          </a:p>
        </p:txBody>
      </p:sp>
      <p:sp>
        <p:nvSpPr>
          <p:cNvPr id="12" name="Oval 11"/>
          <p:cNvSpPr/>
          <p:nvPr/>
        </p:nvSpPr>
        <p:spPr>
          <a:xfrm>
            <a:off x="7170860" y="2547072"/>
            <a:ext cx="3331136" cy="3331136"/>
          </a:xfrm>
          <a:prstGeom prst="ellipse">
            <a:avLst/>
          </a:prstGeom>
          <a:solidFill>
            <a:srgbClr val="ED5D42">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8522" y="2592689"/>
            <a:ext cx="3155813" cy="376732"/>
          </a:xfrm>
          <a:prstGeom prst="rect">
            <a:avLst/>
          </a:prstGeom>
          <a:noFill/>
        </p:spPr>
        <p:txBody>
          <a:bodyPr wrap="square" lIns="0" rIns="0" tIns="0" bIns="0" anchor="ctr">
            <a:spAutoFit/>
          </a:bodyPr>
          <a:lstStyle/>
          <a:p>
            <a:pPr algn="ctr">
              <a:spcAft>
                <a:spcPts val="0"/>
              </a:spcAft>
            </a:pPr>
            <a:r>
              <a:rPr sz="1260" b="1" i="0">
                <a:solidFill>
                  <a:srgbClr val="1A2E2B"/>
                </a:solidFill>
                <a:latin typeface="Arial"/>
              </a:rPr>
              <a:t>Apprentissage automatique</a:t>
            </a:r>
          </a:p>
        </p:txBody>
      </p:sp>
      <p:sp>
        <p:nvSpPr>
          <p:cNvPr id="14" name="Oval 13"/>
          <p:cNvSpPr/>
          <p:nvPr/>
        </p:nvSpPr>
        <p:spPr>
          <a:xfrm>
            <a:off x="7696829" y="3638140"/>
            <a:ext cx="2279198" cy="2279198"/>
          </a:xfrm>
          <a:prstGeom prst="ellipse">
            <a:avLst/>
          </a:prstGeom>
          <a:solidFill>
            <a:srgbClr val="7121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84491" y="3722888"/>
            <a:ext cx="2103875" cy="376732"/>
          </a:xfrm>
          <a:prstGeom prst="rect">
            <a:avLst/>
          </a:prstGeom>
          <a:noFill/>
        </p:spPr>
        <p:txBody>
          <a:bodyPr wrap="square" lIns="0" rIns="0" tIns="0" bIns="0" anchor="ctr">
            <a:spAutoFit/>
          </a:bodyPr>
          <a:lstStyle/>
          <a:p>
            <a:pPr algn="ctr">
              <a:spcAft>
                <a:spcPts val="0"/>
              </a:spcAft>
            </a:pPr>
            <a:r>
              <a:rPr sz="1260" b="1" i="0">
                <a:solidFill>
                  <a:srgbClr val="FFFFFF"/>
                </a:solidFill>
                <a:latin typeface="Arial"/>
              </a:rPr>
              <a:t>Deep learning</a:t>
            </a:r>
          </a:p>
        </p:txBody>
      </p:sp>
      <p:sp>
        <p:nvSpPr>
          <p:cNvPr id="16" name="Oval 15"/>
          <p:cNvSpPr/>
          <p:nvPr/>
        </p:nvSpPr>
        <p:spPr>
          <a:xfrm>
            <a:off x="8244714" y="4774669"/>
            <a:ext cx="1183430" cy="1183430"/>
          </a:xfrm>
          <a:prstGeom prst="ellipse">
            <a:avLst/>
          </a:prstGeom>
          <a:solidFill>
            <a:srgbClr val="7121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2375" y="5083835"/>
            <a:ext cx="1008107" cy="565099"/>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IA</a:t>
            </a:r>
          </a:p>
          <a:p>
            <a:pPr algn="ctr">
              <a:spcAft>
                <a:spcPts val="0"/>
              </a:spcAft>
            </a:pPr>
            <a:r>
              <a:rPr sz="990" b="1" i="0">
                <a:solidFill>
                  <a:srgbClr val="FFFFFF"/>
                </a:solidFill>
                <a:latin typeface="Arial"/>
              </a:rPr>
              <a:t>générative</a:t>
            </a:r>
          </a:p>
        </p:txBody>
      </p:sp>
      <p:sp>
        <p:nvSpPr>
          <p:cNvPr id="18" name="TextBox 17"/>
          <p:cNvSpPr txBox="1"/>
          <p:nvPr/>
        </p:nvSpPr>
        <p:spPr>
          <a:xfrm>
            <a:off x="6644891" y="6049213"/>
            <a:ext cx="4383074" cy="282549"/>
          </a:xfrm>
          <a:prstGeom prst="rect">
            <a:avLst/>
          </a:prstGeom>
          <a:noFill/>
        </p:spPr>
        <p:txBody>
          <a:bodyPr wrap="square" lIns="0" rIns="0" tIns="0" bIns="0" anchor="t">
            <a:spAutoFit/>
          </a:bodyPr>
          <a:lstStyle/>
          <a:p>
            <a:pPr algn="ctr">
              <a:spcAft>
                <a:spcPts val="0"/>
              </a:spcAft>
            </a:pPr>
            <a:r>
              <a:rPr sz="990" b="0" i="1">
                <a:solidFill>
                  <a:srgbClr val="5A6B68"/>
                </a:solidFill>
                <a:latin typeface="Arial"/>
              </a:rPr>
              <a:t>Chaque domaine est inclus dans le précédent.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Introduction</a:t>
            </a:r>
          </a:p>
        </p:txBody>
      </p:sp>
      <p:sp>
        <p:nvSpPr>
          <p:cNvPr id="3" name="Text Placeholder 2"/>
          <p:cNvSpPr>
            <a:spLocks noGrp="1"/>
          </p:cNvSpPr>
          <p:nvPr>
            <p:ph type="body" idx="25" sz="quarter"/>
          </p:nvPr>
        </p:nvSpPr>
        <p:spPr/>
        <p:txBody>
          <a:bodyPr/>
          <a:lstStyle/>
          <a:p>
            <a:r>
              <a:t>L'IA est déjà partout dans votre journée</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4</a:t>
            </a:fld>
          </a:p>
        </p:txBody>
      </p:sp>
      <p:sp>
        <p:nvSpPr>
          <p:cNvPr id="6" name="Rectangle 5"/>
          <p:cNvSpPr/>
          <p:nvPr/>
        </p:nvSpPr>
        <p:spPr>
          <a:xfrm>
            <a:off x="640080" y="148132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3064" y="1833795"/>
            <a:ext cx="613630" cy="613630"/>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Envelope.png"/>
          <p:cNvPicPr>
            <a:picLocks noChangeAspect="1"/>
          </p:cNvPicPr>
          <p:nvPr/>
        </p:nvPicPr>
        <p:blipFill>
          <a:blip r:embed="rId2"/>
          <a:stretch>
            <a:fillRect/>
          </a:stretch>
        </p:blipFill>
        <p:spPr>
          <a:xfrm>
            <a:off x="1062608" y="1993339"/>
            <a:ext cx="294542" cy="294542"/>
          </a:xfrm>
          <a:prstGeom prst="rect">
            <a:avLst/>
          </a:prstGeom>
        </p:spPr>
      </p:pic>
      <p:sp>
        <p:nvSpPr>
          <p:cNvPr id="10" name="TextBox 9"/>
          <p:cNvSpPr txBox="1"/>
          <p:nvPr/>
        </p:nvSpPr>
        <p:spPr>
          <a:xfrm>
            <a:off x="1648187" y="181096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Filtre anti-spam</a:t>
            </a:r>
          </a:p>
        </p:txBody>
      </p:sp>
      <p:sp>
        <p:nvSpPr>
          <p:cNvPr id="11" name="TextBox 10"/>
          <p:cNvSpPr txBox="1"/>
          <p:nvPr/>
        </p:nvSpPr>
        <p:spPr>
          <a:xfrm>
            <a:off x="903064" y="261152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Votre messagerie trie des millions de messages. Gmail annonce bloquer plus de 99,9 % des spams.</a:t>
            </a:r>
          </a:p>
        </p:txBody>
      </p:sp>
      <p:sp>
        <p:nvSpPr>
          <p:cNvPr id="12" name="Rectangle 11"/>
          <p:cNvSpPr/>
          <p:nvPr/>
        </p:nvSpPr>
        <p:spPr>
          <a:xfrm>
            <a:off x="4278031" y="148132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8031" y="1481328"/>
            <a:ext cx="337496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1016" y="1833795"/>
            <a:ext cx="613630" cy="613630"/>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PlayCircle.png"/>
          <p:cNvPicPr>
            <a:picLocks noChangeAspect="1"/>
          </p:cNvPicPr>
          <p:nvPr/>
        </p:nvPicPr>
        <p:blipFill>
          <a:blip r:embed="rId3"/>
          <a:stretch>
            <a:fillRect/>
          </a:stretch>
        </p:blipFill>
        <p:spPr>
          <a:xfrm>
            <a:off x="4700560" y="1993339"/>
            <a:ext cx="294542" cy="294542"/>
          </a:xfrm>
          <a:prstGeom prst="rect">
            <a:avLst/>
          </a:prstGeom>
        </p:spPr>
      </p:pic>
      <p:sp>
        <p:nvSpPr>
          <p:cNvPr id="16" name="TextBox 15"/>
          <p:cNvSpPr txBox="1"/>
          <p:nvPr/>
        </p:nvSpPr>
        <p:spPr>
          <a:xfrm>
            <a:off x="5286138" y="181096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Recommandations</a:t>
            </a:r>
          </a:p>
        </p:txBody>
      </p:sp>
      <p:sp>
        <p:nvSpPr>
          <p:cNvPr id="17" name="TextBox 16"/>
          <p:cNvSpPr txBox="1"/>
          <p:nvPr/>
        </p:nvSpPr>
        <p:spPr>
          <a:xfrm>
            <a:off x="4541016" y="261152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Netflix, Spotify, YouTube, TikTok : ce que vous voyez est choisi par un modèle qui apprend de vos goûts.</a:t>
            </a:r>
          </a:p>
        </p:txBody>
      </p:sp>
      <p:sp>
        <p:nvSpPr>
          <p:cNvPr id="18" name="Rectangle 17"/>
          <p:cNvSpPr/>
          <p:nvPr/>
        </p:nvSpPr>
        <p:spPr>
          <a:xfrm>
            <a:off x="7915983" y="148132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15983" y="1481328"/>
            <a:ext cx="3374967"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8967" y="1833795"/>
            <a:ext cx="613630" cy="613630"/>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MapMarkedAlt_dark.png"/>
          <p:cNvPicPr>
            <a:picLocks noChangeAspect="1"/>
          </p:cNvPicPr>
          <p:nvPr/>
        </p:nvPicPr>
        <p:blipFill>
          <a:blip r:embed="rId4"/>
          <a:stretch>
            <a:fillRect/>
          </a:stretch>
        </p:blipFill>
        <p:spPr>
          <a:xfrm>
            <a:off x="8338511" y="1993339"/>
            <a:ext cx="294542" cy="294542"/>
          </a:xfrm>
          <a:prstGeom prst="rect">
            <a:avLst/>
          </a:prstGeom>
        </p:spPr>
      </p:pic>
      <p:sp>
        <p:nvSpPr>
          <p:cNvPr id="22" name="TextBox 21"/>
          <p:cNvSpPr txBox="1"/>
          <p:nvPr/>
        </p:nvSpPr>
        <p:spPr>
          <a:xfrm>
            <a:off x="8924090" y="181096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Navigation</a:t>
            </a:r>
          </a:p>
        </p:txBody>
      </p:sp>
      <p:sp>
        <p:nvSpPr>
          <p:cNvPr id="23" name="TextBox 22"/>
          <p:cNvSpPr txBox="1"/>
          <p:nvPr/>
        </p:nvSpPr>
        <p:spPr>
          <a:xfrm>
            <a:off x="8178967" y="261152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Google Maps et Waze prévoient votre temps de trajet à partir du trafic en temps réel et de l'historique.</a:t>
            </a:r>
          </a:p>
        </p:txBody>
      </p:sp>
      <p:sp>
        <p:nvSpPr>
          <p:cNvPr id="24" name="Rectangle 23"/>
          <p:cNvSpPr/>
          <p:nvPr/>
        </p:nvSpPr>
        <p:spPr>
          <a:xfrm>
            <a:off x="640080" y="383590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835908"/>
            <a:ext cx="337496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03064" y="4188375"/>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MobileAlt.png"/>
          <p:cNvPicPr>
            <a:picLocks noChangeAspect="1"/>
          </p:cNvPicPr>
          <p:nvPr/>
        </p:nvPicPr>
        <p:blipFill>
          <a:blip r:embed="rId5"/>
          <a:stretch>
            <a:fillRect/>
          </a:stretch>
        </p:blipFill>
        <p:spPr>
          <a:xfrm>
            <a:off x="1062608" y="4347919"/>
            <a:ext cx="294542" cy="294542"/>
          </a:xfrm>
          <a:prstGeom prst="rect">
            <a:avLst/>
          </a:prstGeom>
        </p:spPr>
      </p:pic>
      <p:sp>
        <p:nvSpPr>
          <p:cNvPr id="28" name="TextBox 27"/>
          <p:cNvSpPr txBox="1"/>
          <p:nvPr/>
        </p:nvSpPr>
        <p:spPr>
          <a:xfrm>
            <a:off x="1648187" y="416554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Reconnaissance faciale</a:t>
            </a:r>
          </a:p>
        </p:txBody>
      </p:sp>
      <p:sp>
        <p:nvSpPr>
          <p:cNvPr id="29" name="TextBox 28"/>
          <p:cNvSpPr txBox="1"/>
          <p:nvPr/>
        </p:nvSpPr>
        <p:spPr>
          <a:xfrm>
            <a:off x="903064" y="496610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Votre téléphone reconnaît votre visage, même avec des lunettes ou une nouvelle coupe de cheveux.</a:t>
            </a:r>
          </a:p>
        </p:txBody>
      </p:sp>
      <p:sp>
        <p:nvSpPr>
          <p:cNvPr id="30" name="Rectangle 29"/>
          <p:cNvSpPr/>
          <p:nvPr/>
        </p:nvSpPr>
        <p:spPr>
          <a:xfrm>
            <a:off x="4278031" y="383590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8031" y="3835908"/>
            <a:ext cx="337496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41016" y="4188375"/>
            <a:ext cx="613630" cy="613630"/>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Language_dark.png"/>
          <p:cNvPicPr>
            <a:picLocks noChangeAspect="1"/>
          </p:cNvPicPr>
          <p:nvPr/>
        </p:nvPicPr>
        <p:blipFill>
          <a:blip r:embed="rId6"/>
          <a:stretch>
            <a:fillRect/>
          </a:stretch>
        </p:blipFill>
        <p:spPr>
          <a:xfrm>
            <a:off x="4700560" y="4347919"/>
            <a:ext cx="294542" cy="294542"/>
          </a:xfrm>
          <a:prstGeom prst="rect">
            <a:avLst/>
          </a:prstGeom>
        </p:spPr>
      </p:pic>
      <p:sp>
        <p:nvSpPr>
          <p:cNvPr id="34" name="TextBox 33"/>
          <p:cNvSpPr txBox="1"/>
          <p:nvPr/>
        </p:nvSpPr>
        <p:spPr>
          <a:xfrm>
            <a:off x="5286138" y="416554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Traduction</a:t>
            </a:r>
          </a:p>
        </p:txBody>
      </p:sp>
      <p:sp>
        <p:nvSpPr>
          <p:cNvPr id="35" name="TextBox 34"/>
          <p:cNvSpPr txBox="1"/>
          <p:nvPr/>
        </p:nvSpPr>
        <p:spPr>
          <a:xfrm>
            <a:off x="4541016" y="496610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DeepL et Google Traduction traduisent des phrases entières en tenant compte du contexte.</a:t>
            </a:r>
          </a:p>
        </p:txBody>
      </p:sp>
      <p:sp>
        <p:nvSpPr>
          <p:cNvPr id="36" name="Rectangle 35"/>
          <p:cNvSpPr/>
          <p:nvPr/>
        </p:nvSpPr>
        <p:spPr>
          <a:xfrm>
            <a:off x="7915983" y="3835908"/>
            <a:ext cx="3374967" cy="207203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15983" y="3835908"/>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78967" y="4188375"/>
            <a:ext cx="613630" cy="613630"/>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aComments.png"/>
          <p:cNvPicPr>
            <a:picLocks noChangeAspect="1"/>
          </p:cNvPicPr>
          <p:nvPr/>
        </p:nvPicPr>
        <p:blipFill>
          <a:blip r:embed="rId7"/>
          <a:stretch>
            <a:fillRect/>
          </a:stretch>
        </p:blipFill>
        <p:spPr>
          <a:xfrm>
            <a:off x="8338511" y="4347919"/>
            <a:ext cx="294542" cy="294542"/>
          </a:xfrm>
          <a:prstGeom prst="rect">
            <a:avLst/>
          </a:prstGeom>
        </p:spPr>
      </p:pic>
      <p:sp>
        <p:nvSpPr>
          <p:cNvPr id="40" name="TextBox 39"/>
          <p:cNvSpPr txBox="1"/>
          <p:nvPr/>
        </p:nvSpPr>
        <p:spPr>
          <a:xfrm>
            <a:off x="8924090" y="4165549"/>
            <a:ext cx="2235367" cy="659282"/>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Assistants conversationnels</a:t>
            </a:r>
          </a:p>
        </p:txBody>
      </p:sp>
      <p:sp>
        <p:nvSpPr>
          <p:cNvPr id="41" name="TextBox 40"/>
          <p:cNvSpPr txBox="1"/>
          <p:nvPr/>
        </p:nvSpPr>
        <p:spPr>
          <a:xfrm>
            <a:off x="8178967" y="4966106"/>
            <a:ext cx="2892829" cy="89474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ChatGPT, Le Chat (Mistral), Claude, Gemini : rédiger, résumer, expliquer, programmer…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Vue d'ensemble</a:t>
            </a:r>
          </a:p>
        </p:txBody>
      </p:sp>
      <p:sp>
        <p:nvSpPr>
          <p:cNvPr id="3" name="Text Placeholder 2"/>
          <p:cNvSpPr>
            <a:spLocks noGrp="1"/>
          </p:cNvSpPr>
          <p:nvPr>
            <p:ph type="body" idx="25" sz="quarter"/>
          </p:nvPr>
        </p:nvSpPr>
        <p:spPr/>
        <p:txBody>
          <a:bodyPr/>
          <a:lstStyle/>
          <a:p>
            <a:r>
              <a:t>75 ans d'IA en une frise</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5</a:t>
            </a:fld>
          </a:p>
        </p:txBody>
      </p:sp>
      <p:sp>
        <p:nvSpPr>
          <p:cNvPr id="6" name="Rectangle 5"/>
          <p:cNvSpPr/>
          <p:nvPr/>
        </p:nvSpPr>
        <p:spPr>
          <a:xfrm>
            <a:off x="1091638" y="2988259"/>
            <a:ext cx="1550589" cy="583935"/>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1638" y="2988259"/>
            <a:ext cx="1550589" cy="583935"/>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Pionniers</a:t>
            </a:r>
          </a:p>
        </p:txBody>
      </p:sp>
      <p:sp>
        <p:nvSpPr>
          <p:cNvPr id="8" name="Rectangle 7"/>
          <p:cNvSpPr/>
          <p:nvPr/>
        </p:nvSpPr>
        <p:spPr>
          <a:xfrm>
            <a:off x="2668526" y="2988259"/>
            <a:ext cx="2157084" cy="583935"/>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8526" y="2988259"/>
            <a:ext cx="2157084" cy="583935"/>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Premiers espoirs</a:t>
            </a:r>
          </a:p>
        </p:txBody>
      </p:sp>
      <p:sp>
        <p:nvSpPr>
          <p:cNvPr id="10" name="Rectangle 9"/>
          <p:cNvSpPr/>
          <p:nvPr/>
        </p:nvSpPr>
        <p:spPr>
          <a:xfrm>
            <a:off x="4851908" y="2988259"/>
            <a:ext cx="701495" cy="583935"/>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51908" y="2988259"/>
            <a:ext cx="701495" cy="583935"/>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Hiver</a:t>
            </a:r>
          </a:p>
        </p:txBody>
      </p:sp>
      <p:sp>
        <p:nvSpPr>
          <p:cNvPr id="12" name="Rectangle 11"/>
          <p:cNvSpPr/>
          <p:nvPr/>
        </p:nvSpPr>
        <p:spPr>
          <a:xfrm>
            <a:off x="5579702" y="2988259"/>
            <a:ext cx="822794" cy="583935"/>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9702" y="2988259"/>
            <a:ext cx="822794" cy="583935"/>
          </a:xfrm>
          <a:prstGeom prst="rect">
            <a:avLst/>
          </a:prstGeom>
          <a:noFill/>
        </p:spPr>
        <p:txBody>
          <a:bodyPr wrap="square" lIns="0" rIns="0" tIns="0" bIns="0" anchor="ctr">
            <a:spAutoFit/>
          </a:bodyPr>
          <a:lstStyle/>
          <a:p>
            <a:pPr algn="ctr">
              <a:spcAft>
                <a:spcPts val="0"/>
              </a:spcAft>
            </a:pPr>
            <a:r>
              <a:rPr sz="855" b="1" i="0">
                <a:solidFill>
                  <a:srgbClr val="1A2E2B"/>
                </a:solidFill>
                <a:latin typeface="Arial"/>
              </a:rPr>
              <a:t>Systèmes</a:t>
            </a:r>
          </a:p>
          <a:p>
            <a:pPr algn="ctr">
              <a:spcAft>
                <a:spcPts val="0"/>
              </a:spcAft>
            </a:pPr>
            <a:r>
              <a:rPr sz="855" b="1" i="0">
                <a:solidFill>
                  <a:srgbClr val="1A2E2B"/>
                </a:solidFill>
                <a:latin typeface="Arial"/>
              </a:rPr>
              <a:t>experts</a:t>
            </a:r>
          </a:p>
        </p:txBody>
      </p:sp>
      <p:sp>
        <p:nvSpPr>
          <p:cNvPr id="14" name="Rectangle 13"/>
          <p:cNvSpPr/>
          <p:nvPr/>
        </p:nvSpPr>
        <p:spPr>
          <a:xfrm>
            <a:off x="6428796" y="2988259"/>
            <a:ext cx="701495" cy="583935"/>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796" y="2988259"/>
            <a:ext cx="701495" cy="583935"/>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Hiver</a:t>
            </a:r>
          </a:p>
        </p:txBody>
      </p:sp>
      <p:sp>
        <p:nvSpPr>
          <p:cNvPr id="16" name="Rectangle 15"/>
          <p:cNvSpPr/>
          <p:nvPr/>
        </p:nvSpPr>
        <p:spPr>
          <a:xfrm>
            <a:off x="7156590" y="2988259"/>
            <a:ext cx="2278383" cy="583935"/>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56590" y="2988259"/>
            <a:ext cx="2278383" cy="583935"/>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Apprentissage automatique</a:t>
            </a:r>
          </a:p>
        </p:txBody>
      </p:sp>
      <p:sp>
        <p:nvSpPr>
          <p:cNvPr id="18" name="Rectangle 17"/>
          <p:cNvSpPr/>
          <p:nvPr/>
        </p:nvSpPr>
        <p:spPr>
          <a:xfrm>
            <a:off x="9461272" y="2988259"/>
            <a:ext cx="580196" cy="583935"/>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1272" y="2988259"/>
            <a:ext cx="580196" cy="583935"/>
          </a:xfrm>
          <a:prstGeom prst="rect">
            <a:avLst/>
          </a:prstGeom>
          <a:noFill/>
        </p:spPr>
        <p:txBody>
          <a:bodyPr wrap="square" lIns="0" rIns="0" tIns="0" bIns="0" anchor="ctr">
            <a:spAutoFit/>
          </a:bodyPr>
          <a:lstStyle/>
          <a:p>
            <a:pPr algn="ctr">
              <a:spcAft>
                <a:spcPts val="0"/>
              </a:spcAft>
            </a:pPr>
            <a:r>
              <a:rPr sz="855" b="1" i="0">
                <a:solidFill>
                  <a:srgbClr val="1A2E2B"/>
                </a:solidFill>
                <a:latin typeface="Arial"/>
              </a:rPr>
              <a:t>Deep</a:t>
            </a:r>
          </a:p>
          <a:p>
            <a:pPr algn="ctr">
              <a:spcAft>
                <a:spcPts val="0"/>
              </a:spcAft>
            </a:pPr>
            <a:r>
              <a:rPr sz="855" b="1" i="0">
                <a:solidFill>
                  <a:srgbClr val="1A2E2B"/>
                </a:solidFill>
                <a:latin typeface="Arial"/>
              </a:rPr>
              <a:t>learning</a:t>
            </a:r>
          </a:p>
        </p:txBody>
      </p:sp>
      <p:sp>
        <p:nvSpPr>
          <p:cNvPr id="20" name="Rectangle 19"/>
          <p:cNvSpPr/>
          <p:nvPr/>
        </p:nvSpPr>
        <p:spPr>
          <a:xfrm>
            <a:off x="10067767" y="2988259"/>
            <a:ext cx="1065392" cy="583935"/>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67767" y="2988259"/>
            <a:ext cx="1065392" cy="583935"/>
          </a:xfrm>
          <a:prstGeom prst="rect">
            <a:avLst/>
          </a:prstGeom>
          <a:noFill/>
        </p:spPr>
        <p:txBody>
          <a:bodyPr wrap="square" lIns="0" rIns="0" tIns="0" bIns="0" anchor="ctr">
            <a:spAutoFit/>
          </a:bodyPr>
          <a:lstStyle/>
          <a:p>
            <a:pPr algn="ctr">
              <a:spcAft>
                <a:spcPts val="0"/>
              </a:spcAft>
            </a:pPr>
            <a:r>
              <a:rPr sz="855" b="1" i="0">
                <a:solidFill>
                  <a:srgbClr val="FFFFFF"/>
                </a:solidFill>
                <a:latin typeface="Arial"/>
              </a:rPr>
              <a:t>IA</a:t>
            </a:r>
          </a:p>
          <a:p>
            <a:pPr algn="ctr">
              <a:spcAft>
                <a:spcPts val="0"/>
              </a:spcAft>
            </a:pPr>
            <a:r>
              <a:rPr sz="855" b="1" i="0">
                <a:solidFill>
                  <a:srgbClr val="FFFFFF"/>
                </a:solidFill>
                <a:latin typeface="Arial"/>
              </a:rPr>
              <a:t>générative</a:t>
            </a:r>
          </a:p>
        </p:txBody>
      </p:sp>
      <p:sp>
        <p:nvSpPr>
          <p:cNvPr id="22" name="TextBox 21"/>
          <p:cNvSpPr txBox="1"/>
          <p:nvPr/>
        </p:nvSpPr>
        <p:spPr>
          <a:xfrm>
            <a:off x="420926"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1940</a:t>
            </a:r>
          </a:p>
        </p:txBody>
      </p:sp>
      <p:sp>
        <p:nvSpPr>
          <p:cNvPr id="23" name="TextBox 22"/>
          <p:cNvSpPr txBox="1"/>
          <p:nvPr/>
        </p:nvSpPr>
        <p:spPr>
          <a:xfrm>
            <a:off x="1633916"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1950</a:t>
            </a:r>
          </a:p>
        </p:txBody>
      </p:sp>
      <p:sp>
        <p:nvSpPr>
          <p:cNvPr id="24" name="TextBox 23"/>
          <p:cNvSpPr txBox="1"/>
          <p:nvPr/>
        </p:nvSpPr>
        <p:spPr>
          <a:xfrm>
            <a:off x="2846906"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1960</a:t>
            </a:r>
          </a:p>
        </p:txBody>
      </p:sp>
      <p:sp>
        <p:nvSpPr>
          <p:cNvPr id="25" name="TextBox 24"/>
          <p:cNvSpPr txBox="1"/>
          <p:nvPr/>
        </p:nvSpPr>
        <p:spPr>
          <a:xfrm>
            <a:off x="4059897"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1970</a:t>
            </a:r>
          </a:p>
        </p:txBody>
      </p:sp>
      <p:sp>
        <p:nvSpPr>
          <p:cNvPr id="26" name="TextBox 25"/>
          <p:cNvSpPr txBox="1"/>
          <p:nvPr/>
        </p:nvSpPr>
        <p:spPr>
          <a:xfrm>
            <a:off x="5272887"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1980</a:t>
            </a:r>
          </a:p>
        </p:txBody>
      </p:sp>
      <p:sp>
        <p:nvSpPr>
          <p:cNvPr id="27" name="TextBox 26"/>
          <p:cNvSpPr txBox="1"/>
          <p:nvPr/>
        </p:nvSpPr>
        <p:spPr>
          <a:xfrm>
            <a:off x="6485878"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1990</a:t>
            </a:r>
          </a:p>
        </p:txBody>
      </p:sp>
      <p:sp>
        <p:nvSpPr>
          <p:cNvPr id="28" name="TextBox 27"/>
          <p:cNvSpPr txBox="1"/>
          <p:nvPr/>
        </p:nvSpPr>
        <p:spPr>
          <a:xfrm>
            <a:off x="7698868"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2000</a:t>
            </a:r>
          </a:p>
        </p:txBody>
      </p:sp>
      <p:sp>
        <p:nvSpPr>
          <p:cNvPr id="29" name="TextBox 28"/>
          <p:cNvSpPr txBox="1"/>
          <p:nvPr/>
        </p:nvSpPr>
        <p:spPr>
          <a:xfrm>
            <a:off x="8911858"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2010</a:t>
            </a:r>
          </a:p>
        </p:txBody>
      </p:sp>
      <p:sp>
        <p:nvSpPr>
          <p:cNvPr id="30" name="TextBox 29"/>
          <p:cNvSpPr txBox="1"/>
          <p:nvPr/>
        </p:nvSpPr>
        <p:spPr>
          <a:xfrm>
            <a:off x="10124849" y="3619286"/>
            <a:ext cx="613630" cy="263712"/>
          </a:xfrm>
          <a:prstGeom prst="rect">
            <a:avLst/>
          </a:prstGeom>
          <a:noFill/>
        </p:spPr>
        <p:txBody>
          <a:bodyPr wrap="square" lIns="0" rIns="0" tIns="0" bIns="0" anchor="t">
            <a:spAutoFit/>
          </a:bodyPr>
          <a:lstStyle/>
          <a:p>
            <a:pPr algn="ctr">
              <a:spcAft>
                <a:spcPts val="0"/>
              </a:spcAft>
            </a:pPr>
            <a:r>
              <a:rPr sz="900" b="0" i="0">
                <a:solidFill>
                  <a:srgbClr val="5A6B68"/>
                </a:solidFill>
                <a:latin typeface="Arial"/>
              </a:rPr>
              <a:t>2020</a:t>
            </a:r>
          </a:p>
        </p:txBody>
      </p:sp>
      <p:cxnSp>
        <p:nvCxnSpPr>
          <p:cNvPr id="31" name="Connector 30"/>
          <p:cNvCxnSpPr/>
          <p:nvPr/>
        </p:nvCxnSpPr>
        <p:spPr>
          <a:xfrm>
            <a:off x="1940731" y="2470251"/>
            <a:ext cx="0" cy="518008"/>
          </a:xfrm>
          <a:prstGeom prst="line">
            <a:avLst/>
          </a:prstGeom>
          <a:ln w="15875">
            <a:solidFill>
              <a:srgbClr val="00877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397230" y="1528419"/>
            <a:ext cx="1087002" cy="941832"/>
          </a:xfrm>
          <a:prstGeom prst="rect">
            <a:avLst/>
          </a:prstGeom>
          <a:noFill/>
        </p:spPr>
        <p:txBody>
          <a:bodyPr wrap="square" lIns="0" rIns="0" tIns="0" bIns="0" anchor="b">
            <a:spAutoFit/>
          </a:bodyPr>
          <a:lstStyle/>
          <a:p>
            <a:pPr algn="ctr">
              <a:spcAft>
                <a:spcPts val="0"/>
              </a:spcAft>
            </a:pPr>
            <a:r>
              <a:rPr sz="990" b="1" i="0">
                <a:solidFill>
                  <a:srgbClr val="00877A"/>
                </a:solidFill>
                <a:latin typeface="Arial"/>
              </a:rPr>
              <a:t>1950</a:t>
            </a:r>
          </a:p>
          <a:p>
            <a:pPr algn="ctr">
              <a:spcAft>
                <a:spcPts val="0"/>
              </a:spcAft>
            </a:pPr>
            <a:r>
              <a:rPr sz="990" b="0" i="0">
                <a:solidFill>
                  <a:srgbClr val="2B3A38"/>
                </a:solidFill>
                <a:latin typeface="Arial"/>
              </a:rPr>
              <a:t>Test de Turing</a:t>
            </a:r>
          </a:p>
        </p:txBody>
      </p:sp>
      <p:sp>
        <p:nvSpPr>
          <p:cNvPr id="33" name="Oval 32"/>
          <p:cNvSpPr/>
          <p:nvPr/>
        </p:nvSpPr>
        <p:spPr>
          <a:xfrm>
            <a:off x="1888134"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2668526" y="3572195"/>
            <a:ext cx="0" cy="423824"/>
          </a:xfrm>
          <a:prstGeom prst="line">
            <a:avLst/>
          </a:prstGeom>
          <a:ln w="15875">
            <a:solidFill>
              <a:srgbClr val="00877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072427" y="4024274"/>
            <a:ext cx="1192196" cy="941832"/>
          </a:xfrm>
          <a:prstGeom prst="rect">
            <a:avLst/>
          </a:prstGeom>
          <a:noFill/>
        </p:spPr>
        <p:txBody>
          <a:bodyPr wrap="square" lIns="0" rIns="0" tIns="0" bIns="0" anchor="t">
            <a:spAutoFit/>
          </a:bodyPr>
          <a:lstStyle/>
          <a:p>
            <a:pPr algn="ctr">
              <a:spcAft>
                <a:spcPts val="0"/>
              </a:spcAft>
            </a:pPr>
            <a:r>
              <a:rPr sz="990" b="1" i="0">
                <a:solidFill>
                  <a:srgbClr val="00877A"/>
                </a:solidFill>
                <a:latin typeface="Arial"/>
              </a:rPr>
              <a:t>1956</a:t>
            </a:r>
          </a:p>
          <a:p>
            <a:pPr algn="ctr">
              <a:spcAft>
                <a:spcPts val="0"/>
              </a:spcAft>
            </a:pPr>
            <a:r>
              <a:rPr sz="990" b="0" i="0">
                <a:solidFill>
                  <a:srgbClr val="2B3A38"/>
                </a:solidFill>
                <a:latin typeface="Arial"/>
              </a:rPr>
              <a:t>Dartmouth : naissance de l'IA</a:t>
            </a:r>
          </a:p>
        </p:txBody>
      </p:sp>
      <p:sp>
        <p:nvSpPr>
          <p:cNvPr id="36" name="Oval 35"/>
          <p:cNvSpPr/>
          <p:nvPr/>
        </p:nvSpPr>
        <p:spPr>
          <a:xfrm>
            <a:off x="2615929"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2911124" y="2470251"/>
            <a:ext cx="0" cy="518008"/>
          </a:xfrm>
          <a:prstGeom prst="line">
            <a:avLst/>
          </a:prstGeom>
          <a:ln w="15875">
            <a:solidFill>
              <a:srgbClr val="3F63A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367622" y="1528419"/>
            <a:ext cx="1087002" cy="941832"/>
          </a:xfrm>
          <a:prstGeom prst="rect">
            <a:avLst/>
          </a:prstGeom>
          <a:noFill/>
        </p:spPr>
        <p:txBody>
          <a:bodyPr wrap="square" lIns="0" rIns="0" tIns="0" bIns="0" anchor="b">
            <a:spAutoFit/>
          </a:bodyPr>
          <a:lstStyle/>
          <a:p>
            <a:pPr algn="ctr">
              <a:spcAft>
                <a:spcPts val="0"/>
              </a:spcAft>
            </a:pPr>
            <a:r>
              <a:rPr sz="990" b="1" i="0">
                <a:solidFill>
                  <a:srgbClr val="3F63A8"/>
                </a:solidFill>
                <a:latin typeface="Arial"/>
              </a:rPr>
              <a:t>1958</a:t>
            </a:r>
          </a:p>
          <a:p>
            <a:pPr algn="ctr">
              <a:spcAft>
                <a:spcPts val="0"/>
              </a:spcAft>
            </a:pPr>
            <a:r>
              <a:rPr sz="990" b="0" i="0">
                <a:solidFill>
                  <a:srgbClr val="2B3A38"/>
                </a:solidFill>
                <a:latin typeface="Arial"/>
              </a:rPr>
              <a:t>Perceptron</a:t>
            </a:r>
          </a:p>
        </p:txBody>
      </p:sp>
      <p:sp>
        <p:nvSpPr>
          <p:cNvPr id="39" name="Oval 38"/>
          <p:cNvSpPr/>
          <p:nvPr/>
        </p:nvSpPr>
        <p:spPr>
          <a:xfrm>
            <a:off x="2858527"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3881516" y="3572195"/>
            <a:ext cx="0" cy="423824"/>
          </a:xfrm>
          <a:prstGeom prst="line">
            <a:avLst/>
          </a:prstGeom>
          <a:ln w="15875">
            <a:solidFill>
              <a:srgbClr val="3F63A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285418" y="4024274"/>
            <a:ext cx="1192196" cy="941832"/>
          </a:xfrm>
          <a:prstGeom prst="rect">
            <a:avLst/>
          </a:prstGeom>
          <a:noFill/>
        </p:spPr>
        <p:txBody>
          <a:bodyPr wrap="square" lIns="0" rIns="0" tIns="0" bIns="0" anchor="t">
            <a:spAutoFit/>
          </a:bodyPr>
          <a:lstStyle/>
          <a:p>
            <a:pPr algn="ctr">
              <a:spcAft>
                <a:spcPts val="0"/>
              </a:spcAft>
            </a:pPr>
            <a:r>
              <a:rPr sz="990" b="1" i="0">
                <a:solidFill>
                  <a:srgbClr val="3F63A8"/>
                </a:solidFill>
                <a:latin typeface="Arial"/>
              </a:rPr>
              <a:t>1966</a:t>
            </a:r>
          </a:p>
          <a:p>
            <a:pPr algn="ctr">
              <a:spcAft>
                <a:spcPts val="0"/>
              </a:spcAft>
            </a:pPr>
            <a:r>
              <a:rPr sz="990" b="0" i="0">
                <a:solidFill>
                  <a:srgbClr val="2B3A38"/>
                </a:solidFill>
                <a:latin typeface="Arial"/>
              </a:rPr>
              <a:t>ELIZA, premier chatbot</a:t>
            </a:r>
          </a:p>
        </p:txBody>
      </p:sp>
      <p:sp>
        <p:nvSpPr>
          <p:cNvPr id="42" name="Oval 41"/>
          <p:cNvSpPr/>
          <p:nvPr/>
        </p:nvSpPr>
        <p:spPr>
          <a:xfrm>
            <a:off x="3828919"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307497" y="2470251"/>
            <a:ext cx="0" cy="518008"/>
          </a:xfrm>
          <a:prstGeom prst="line">
            <a:avLst/>
          </a:prstGeom>
          <a:ln w="15875">
            <a:solidFill>
              <a:srgbClr val="D1452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763995" y="1528419"/>
            <a:ext cx="1087002" cy="941832"/>
          </a:xfrm>
          <a:prstGeom prst="rect">
            <a:avLst/>
          </a:prstGeom>
          <a:noFill/>
        </p:spPr>
        <p:txBody>
          <a:bodyPr wrap="square" lIns="0" rIns="0" tIns="0" bIns="0" anchor="b">
            <a:spAutoFit/>
          </a:bodyPr>
          <a:lstStyle/>
          <a:p>
            <a:pPr algn="ctr">
              <a:spcAft>
                <a:spcPts val="0"/>
              </a:spcAft>
            </a:pPr>
            <a:r>
              <a:rPr sz="990" b="1" i="0">
                <a:solidFill>
                  <a:srgbClr val="D1452B"/>
                </a:solidFill>
                <a:latin typeface="Arial"/>
              </a:rPr>
              <a:t>1986</a:t>
            </a:r>
          </a:p>
          <a:p>
            <a:pPr algn="ctr">
              <a:spcAft>
                <a:spcPts val="0"/>
              </a:spcAft>
            </a:pPr>
            <a:r>
              <a:rPr sz="990" b="0" i="0">
                <a:solidFill>
                  <a:srgbClr val="2B3A38"/>
                </a:solidFill>
                <a:latin typeface="Arial"/>
              </a:rPr>
              <a:t>Rétro-propagation</a:t>
            </a:r>
          </a:p>
        </p:txBody>
      </p:sp>
      <p:sp>
        <p:nvSpPr>
          <p:cNvPr id="45" name="Oval 44"/>
          <p:cNvSpPr/>
          <p:nvPr/>
        </p:nvSpPr>
        <p:spPr>
          <a:xfrm>
            <a:off x="6254900"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641786" y="3572195"/>
            <a:ext cx="0" cy="423824"/>
          </a:xfrm>
          <a:prstGeom prst="line">
            <a:avLst/>
          </a:prstGeom>
          <a:ln w="15875">
            <a:solidFill>
              <a:srgbClr val="D1452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045688" y="4024274"/>
            <a:ext cx="1192196" cy="941832"/>
          </a:xfrm>
          <a:prstGeom prst="rect">
            <a:avLst/>
          </a:prstGeom>
          <a:noFill/>
        </p:spPr>
        <p:txBody>
          <a:bodyPr wrap="square" lIns="0" rIns="0" tIns="0" bIns="0" anchor="t">
            <a:spAutoFit/>
          </a:bodyPr>
          <a:lstStyle/>
          <a:p>
            <a:pPr algn="ctr">
              <a:spcAft>
                <a:spcPts val="0"/>
              </a:spcAft>
            </a:pPr>
            <a:r>
              <a:rPr sz="990" b="1" i="0">
                <a:solidFill>
                  <a:srgbClr val="D1452B"/>
                </a:solidFill>
                <a:latin typeface="Arial"/>
              </a:rPr>
              <a:t>1997</a:t>
            </a:r>
          </a:p>
          <a:p>
            <a:pPr algn="ctr">
              <a:spcAft>
                <a:spcPts val="0"/>
              </a:spcAft>
            </a:pPr>
            <a:r>
              <a:rPr sz="990" b="0" i="0">
                <a:solidFill>
                  <a:srgbClr val="2B3A38"/>
                </a:solidFill>
                <a:latin typeface="Arial"/>
              </a:rPr>
              <a:t>Deep Blue bat Kasparov</a:t>
            </a:r>
          </a:p>
        </p:txBody>
      </p:sp>
      <p:sp>
        <p:nvSpPr>
          <p:cNvPr id="48" name="Oval 47"/>
          <p:cNvSpPr/>
          <p:nvPr/>
        </p:nvSpPr>
        <p:spPr>
          <a:xfrm>
            <a:off x="7589189"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9461272" y="2470251"/>
            <a:ext cx="0" cy="518008"/>
          </a:xfrm>
          <a:prstGeom prst="line">
            <a:avLst/>
          </a:prstGeom>
          <a:ln w="15875">
            <a:solidFill>
              <a:srgbClr val="5F7C1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917770" y="1528419"/>
            <a:ext cx="1087002" cy="941832"/>
          </a:xfrm>
          <a:prstGeom prst="rect">
            <a:avLst/>
          </a:prstGeom>
          <a:noFill/>
        </p:spPr>
        <p:txBody>
          <a:bodyPr wrap="square" lIns="0" rIns="0" tIns="0" bIns="0" anchor="b">
            <a:spAutoFit/>
          </a:bodyPr>
          <a:lstStyle/>
          <a:p>
            <a:pPr algn="ctr">
              <a:spcAft>
                <a:spcPts val="0"/>
              </a:spcAft>
            </a:pPr>
            <a:r>
              <a:rPr sz="990" b="1" i="0">
                <a:solidFill>
                  <a:srgbClr val="5F7C17"/>
                </a:solidFill>
                <a:latin typeface="Arial"/>
              </a:rPr>
              <a:t>2012</a:t>
            </a:r>
          </a:p>
          <a:p>
            <a:pPr algn="ctr">
              <a:spcAft>
                <a:spcPts val="0"/>
              </a:spcAft>
            </a:pPr>
            <a:r>
              <a:rPr sz="990" b="0" i="0">
                <a:solidFill>
                  <a:srgbClr val="2B3A38"/>
                </a:solidFill>
                <a:latin typeface="Arial"/>
              </a:rPr>
              <a:t>AlexNet</a:t>
            </a:r>
          </a:p>
        </p:txBody>
      </p:sp>
      <p:sp>
        <p:nvSpPr>
          <p:cNvPr id="51" name="Oval 50"/>
          <p:cNvSpPr/>
          <p:nvPr/>
        </p:nvSpPr>
        <p:spPr>
          <a:xfrm>
            <a:off x="9408675"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9946468" y="3572195"/>
            <a:ext cx="0" cy="423824"/>
          </a:xfrm>
          <a:prstGeom prst="line">
            <a:avLst/>
          </a:prstGeom>
          <a:ln w="15875">
            <a:solidFill>
              <a:srgbClr val="5F7C17"/>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50370" y="4024274"/>
            <a:ext cx="1192196" cy="941832"/>
          </a:xfrm>
          <a:prstGeom prst="rect">
            <a:avLst/>
          </a:prstGeom>
          <a:noFill/>
        </p:spPr>
        <p:txBody>
          <a:bodyPr wrap="square" lIns="0" rIns="0" tIns="0" bIns="0" anchor="t">
            <a:spAutoFit/>
          </a:bodyPr>
          <a:lstStyle/>
          <a:p>
            <a:pPr algn="ctr">
              <a:spcAft>
                <a:spcPts val="0"/>
              </a:spcAft>
            </a:pPr>
            <a:r>
              <a:rPr sz="990" b="1" i="0">
                <a:solidFill>
                  <a:srgbClr val="5F7C17"/>
                </a:solidFill>
                <a:latin typeface="Arial"/>
              </a:rPr>
              <a:t>2016</a:t>
            </a:r>
          </a:p>
          <a:p>
            <a:pPr algn="ctr">
              <a:spcAft>
                <a:spcPts val="0"/>
              </a:spcAft>
            </a:pPr>
            <a:r>
              <a:rPr sz="990" b="0" i="0">
                <a:solidFill>
                  <a:srgbClr val="2B3A38"/>
                </a:solidFill>
                <a:latin typeface="Arial"/>
              </a:rPr>
              <a:t>AlphaGo bat Lee Sedol</a:t>
            </a:r>
          </a:p>
        </p:txBody>
      </p:sp>
      <p:sp>
        <p:nvSpPr>
          <p:cNvPr id="54" name="Oval 53"/>
          <p:cNvSpPr/>
          <p:nvPr/>
        </p:nvSpPr>
        <p:spPr>
          <a:xfrm>
            <a:off x="9893871"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10674262" y="2470251"/>
            <a:ext cx="0" cy="518008"/>
          </a:xfrm>
          <a:prstGeom prst="line">
            <a:avLst/>
          </a:prstGeom>
          <a:ln w="15875">
            <a:solidFill>
              <a:srgbClr val="71218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0130761" y="1528419"/>
            <a:ext cx="1087002" cy="941832"/>
          </a:xfrm>
          <a:prstGeom prst="rect">
            <a:avLst/>
          </a:prstGeom>
          <a:noFill/>
        </p:spPr>
        <p:txBody>
          <a:bodyPr wrap="square" lIns="0" rIns="0" tIns="0" bIns="0" anchor="b">
            <a:spAutoFit/>
          </a:bodyPr>
          <a:lstStyle/>
          <a:p>
            <a:pPr algn="ctr">
              <a:spcAft>
                <a:spcPts val="0"/>
              </a:spcAft>
            </a:pPr>
            <a:r>
              <a:rPr sz="990" b="1" i="0">
                <a:solidFill>
                  <a:srgbClr val="712180"/>
                </a:solidFill>
                <a:latin typeface="Arial"/>
              </a:rPr>
              <a:t>2022</a:t>
            </a:r>
          </a:p>
          <a:p>
            <a:pPr algn="ctr">
              <a:spcAft>
                <a:spcPts val="0"/>
              </a:spcAft>
            </a:pPr>
            <a:r>
              <a:rPr sz="990" b="0" i="0">
                <a:solidFill>
                  <a:srgbClr val="2B3A38"/>
                </a:solidFill>
                <a:latin typeface="Arial"/>
              </a:rPr>
              <a:t>ChatGPT</a:t>
            </a:r>
          </a:p>
        </p:txBody>
      </p:sp>
      <p:sp>
        <p:nvSpPr>
          <p:cNvPr id="57" name="Oval 56"/>
          <p:cNvSpPr/>
          <p:nvPr/>
        </p:nvSpPr>
        <p:spPr>
          <a:xfrm>
            <a:off x="10621665" y="2935662"/>
            <a:ext cx="105193" cy="105193"/>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40080" y="5454957"/>
            <a:ext cx="482138" cy="482138"/>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aSnowflake.png"/>
          <p:cNvPicPr>
            <a:picLocks noChangeAspect="1"/>
          </p:cNvPicPr>
          <p:nvPr/>
        </p:nvPicPr>
        <p:blipFill>
          <a:blip r:embed="rId2"/>
          <a:stretch>
            <a:fillRect/>
          </a:stretch>
        </p:blipFill>
        <p:spPr>
          <a:xfrm>
            <a:off x="765435" y="5580313"/>
            <a:ext cx="231426" cy="231426"/>
          </a:xfrm>
          <a:prstGeom prst="rect">
            <a:avLst/>
          </a:prstGeom>
        </p:spPr>
      </p:pic>
      <p:sp>
        <p:nvSpPr>
          <p:cNvPr id="60" name="TextBox 59"/>
          <p:cNvSpPr txBox="1"/>
          <p:nvPr/>
        </p:nvSpPr>
        <p:spPr>
          <a:xfrm>
            <a:off x="1297541" y="5437022"/>
            <a:ext cx="9818086" cy="518007"/>
          </a:xfrm>
          <a:prstGeom prst="rect">
            <a:avLst/>
          </a:prstGeom>
          <a:noFill/>
        </p:spPr>
        <p:txBody>
          <a:bodyPr wrap="square" lIns="0" rIns="0" tIns="0" bIns="0" anchor="ctr">
            <a:spAutoFit/>
          </a:bodyPr>
          <a:lstStyle/>
          <a:p>
            <a:pPr algn="l">
              <a:spcAft>
                <a:spcPts val="0"/>
              </a:spcAft>
            </a:pPr>
            <a:r>
              <a:rPr sz="1350" b="1" i="0">
                <a:solidFill>
                  <a:srgbClr val="2B3A38"/>
                </a:solidFill>
                <a:latin typeface="Arial"/>
              </a:rPr>
              <a:t>Deux « hivers de l'IA » : </a:t>
            </a:r>
            <a:r>
              <a:rPr sz="1350" b="0" i="0">
                <a:solidFill>
                  <a:srgbClr val="2B3A38"/>
                </a:solidFill>
                <a:latin typeface="Arial"/>
              </a:rPr>
              <a:t>des périodes de désillusion où les promesses non tenues ont fait s'effondrer les financements.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6</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01</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1943 – 1956</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LES PIONNIERS</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Une machine peut-elle penser ?</a:t>
            </a:r>
          </a:p>
        </p:txBody>
      </p:sp>
      <p:sp>
        <p:nvSpPr>
          <p:cNvPr id="8" name="Oval 7"/>
          <p:cNvSpPr/>
          <p:nvPr/>
        </p:nvSpPr>
        <p:spPr>
          <a:xfrm>
            <a:off x="6675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19"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19"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031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603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1943 – 1956 · Les pionniers</a:t>
            </a:r>
          </a:p>
        </p:txBody>
      </p:sp>
      <p:sp>
        <p:nvSpPr>
          <p:cNvPr id="3" name="Text Placeholder 2"/>
          <p:cNvSpPr>
            <a:spLocks noGrp="1"/>
          </p:cNvSpPr>
          <p:nvPr>
            <p:ph type="body" idx="25" sz="quarter"/>
          </p:nvPr>
        </p:nvSpPr>
        <p:spPr/>
        <p:txBody>
          <a:bodyPr/>
          <a:lstStyle/>
          <a:p>
            <a:r>
              <a:t>Les fondations</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7</a:t>
            </a:fld>
          </a:p>
        </p:txBody>
      </p:sp>
      <p:cxnSp>
        <p:nvCxnSpPr>
          <p:cNvPr id="6" name="Connector 5"/>
          <p:cNvCxnSpPr/>
          <p:nvPr/>
        </p:nvCxnSpPr>
        <p:spPr>
          <a:xfrm>
            <a:off x="990725" y="1575511"/>
            <a:ext cx="0" cy="4144061"/>
          </a:xfrm>
          <a:prstGeom prst="line">
            <a:avLst/>
          </a:prstGeom>
          <a:ln w="25400">
            <a:solidFill>
              <a:srgbClr val="C9D6D4"/>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67999" y="1565804"/>
            <a:ext cx="245452" cy="24545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41371" y="1481328"/>
            <a:ext cx="876614" cy="423824"/>
          </a:xfrm>
          <a:prstGeom prst="rect">
            <a:avLst/>
          </a:prstGeom>
          <a:noFill/>
        </p:spPr>
        <p:txBody>
          <a:bodyPr wrap="square" lIns="0" rIns="0" tIns="0" bIns="0" anchor="t">
            <a:spAutoFit/>
          </a:bodyPr>
          <a:lstStyle/>
          <a:p>
            <a:pPr algn="l">
              <a:spcAft>
                <a:spcPts val="0"/>
              </a:spcAft>
            </a:pPr>
            <a:r>
              <a:rPr sz="1800" b="1" i="0">
                <a:solidFill>
                  <a:srgbClr val="00877A"/>
                </a:solidFill>
                <a:latin typeface="Arial"/>
              </a:rPr>
              <a:t>1943</a:t>
            </a:r>
          </a:p>
        </p:txBody>
      </p:sp>
      <p:sp>
        <p:nvSpPr>
          <p:cNvPr id="9" name="TextBox 8"/>
          <p:cNvSpPr txBox="1"/>
          <p:nvPr/>
        </p:nvSpPr>
        <p:spPr>
          <a:xfrm>
            <a:off x="2217986" y="1509582"/>
            <a:ext cx="4295412" cy="423824"/>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Le neurone formel</a:t>
            </a:r>
          </a:p>
        </p:txBody>
      </p:sp>
      <p:sp>
        <p:nvSpPr>
          <p:cNvPr id="10" name="TextBox 9"/>
          <p:cNvSpPr txBox="1"/>
          <p:nvPr/>
        </p:nvSpPr>
        <p:spPr>
          <a:xfrm>
            <a:off x="1341371" y="1952244"/>
            <a:ext cx="5172027" cy="894740"/>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Warren McCulloch et Walter Pitts proposent un modèle mathématique très simplifié du neurone biologique : il additionne des signaux et « s'active » au-delà d'un seuil.</a:t>
            </a:r>
          </a:p>
        </p:txBody>
      </p:sp>
      <p:sp>
        <p:nvSpPr>
          <p:cNvPr id="11" name="Oval 10"/>
          <p:cNvSpPr/>
          <p:nvPr/>
        </p:nvSpPr>
        <p:spPr>
          <a:xfrm>
            <a:off x="867999" y="3025644"/>
            <a:ext cx="245452" cy="24545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1371" y="2941167"/>
            <a:ext cx="876614" cy="423824"/>
          </a:xfrm>
          <a:prstGeom prst="rect">
            <a:avLst/>
          </a:prstGeom>
          <a:noFill/>
        </p:spPr>
        <p:txBody>
          <a:bodyPr wrap="square" lIns="0" rIns="0" tIns="0" bIns="0" anchor="t">
            <a:spAutoFit/>
          </a:bodyPr>
          <a:lstStyle/>
          <a:p>
            <a:pPr algn="l">
              <a:spcAft>
                <a:spcPts val="0"/>
              </a:spcAft>
            </a:pPr>
            <a:r>
              <a:rPr sz="1800" b="1" i="0">
                <a:solidFill>
                  <a:srgbClr val="00877A"/>
                </a:solidFill>
                <a:latin typeface="Arial"/>
              </a:rPr>
              <a:t>1950</a:t>
            </a:r>
          </a:p>
        </p:txBody>
      </p:sp>
      <p:sp>
        <p:nvSpPr>
          <p:cNvPr id="13" name="TextBox 12"/>
          <p:cNvSpPr txBox="1"/>
          <p:nvPr/>
        </p:nvSpPr>
        <p:spPr>
          <a:xfrm>
            <a:off x="2217986" y="2969422"/>
            <a:ext cx="4295412" cy="423824"/>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 Les machines peuvent-elles penser ? »</a:t>
            </a:r>
          </a:p>
        </p:txBody>
      </p:sp>
      <p:sp>
        <p:nvSpPr>
          <p:cNvPr id="14" name="TextBox 13"/>
          <p:cNvSpPr txBox="1"/>
          <p:nvPr/>
        </p:nvSpPr>
        <p:spPr>
          <a:xfrm>
            <a:off x="1341371" y="3412083"/>
            <a:ext cx="5172027" cy="894740"/>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Alan Turing, qui a contribué à casser le code Enigma pendant la guerre, publie l'article fondateur de la réflexion sur l'intelligence des machines.</a:t>
            </a:r>
          </a:p>
        </p:txBody>
      </p:sp>
      <p:sp>
        <p:nvSpPr>
          <p:cNvPr id="15" name="Oval 14"/>
          <p:cNvSpPr/>
          <p:nvPr/>
        </p:nvSpPr>
        <p:spPr>
          <a:xfrm>
            <a:off x="867999" y="4485484"/>
            <a:ext cx="245452" cy="24545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41371" y="4401007"/>
            <a:ext cx="876614" cy="423824"/>
          </a:xfrm>
          <a:prstGeom prst="rect">
            <a:avLst/>
          </a:prstGeom>
          <a:noFill/>
        </p:spPr>
        <p:txBody>
          <a:bodyPr wrap="square" lIns="0" rIns="0" tIns="0" bIns="0" anchor="t">
            <a:spAutoFit/>
          </a:bodyPr>
          <a:lstStyle/>
          <a:p>
            <a:pPr algn="l">
              <a:spcAft>
                <a:spcPts val="0"/>
              </a:spcAft>
            </a:pPr>
            <a:r>
              <a:rPr sz="1800" b="1" i="0">
                <a:solidFill>
                  <a:srgbClr val="00877A"/>
                </a:solidFill>
                <a:latin typeface="Arial"/>
              </a:rPr>
              <a:t>1956</a:t>
            </a:r>
          </a:p>
        </p:txBody>
      </p:sp>
      <p:sp>
        <p:nvSpPr>
          <p:cNvPr id="17" name="TextBox 16"/>
          <p:cNvSpPr txBox="1"/>
          <p:nvPr/>
        </p:nvSpPr>
        <p:spPr>
          <a:xfrm>
            <a:off x="2217986" y="4429262"/>
            <a:ext cx="4295412" cy="423824"/>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Naissance officielle de l'IA</a:t>
            </a:r>
          </a:p>
        </p:txBody>
      </p:sp>
      <p:sp>
        <p:nvSpPr>
          <p:cNvPr id="18" name="TextBox 17"/>
          <p:cNvSpPr txBox="1"/>
          <p:nvPr/>
        </p:nvSpPr>
        <p:spPr>
          <a:xfrm>
            <a:off x="1341371" y="4871923"/>
            <a:ext cx="5172027" cy="894740"/>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Au séminaire de Dartmouth, John McCarthy, Marvin Minsky, Claude Shannon et d'autres baptisent le domaine : « intelligence artificielle ».</a:t>
            </a:r>
          </a:p>
        </p:txBody>
      </p:sp>
      <p:sp>
        <p:nvSpPr>
          <p:cNvPr id="19" name="Rectangle 18"/>
          <p:cNvSpPr/>
          <p:nvPr/>
        </p:nvSpPr>
        <p:spPr>
          <a:xfrm>
            <a:off x="6907876" y="1481328"/>
            <a:ext cx="4339243" cy="447370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07876" y="1481328"/>
            <a:ext cx="4339243"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27030" y="1669694"/>
            <a:ext cx="3944766" cy="376732"/>
          </a:xfrm>
          <a:prstGeom prst="rect">
            <a:avLst/>
          </a:prstGeom>
          <a:noFill/>
        </p:spPr>
        <p:txBody>
          <a:bodyPr wrap="square" lIns="0" rIns="0" tIns="0" bIns="0" anchor="t">
            <a:spAutoFit/>
          </a:bodyPr>
          <a:lstStyle/>
          <a:p>
            <a:pPr algn="l">
              <a:spcAft>
                <a:spcPts val="0"/>
              </a:spcAft>
            </a:pPr>
            <a:r>
              <a:rPr sz="1440" b="1" i="0">
                <a:solidFill>
                  <a:srgbClr val="00877A"/>
                </a:solidFill>
                <a:latin typeface="Arial"/>
              </a:rPr>
              <a:t>Le neurone formel</a:t>
            </a:r>
          </a:p>
        </p:txBody>
      </p:sp>
      <p:sp>
        <p:nvSpPr>
          <p:cNvPr id="22" name="Oval 21"/>
          <p:cNvSpPr/>
          <p:nvPr/>
        </p:nvSpPr>
        <p:spPr>
          <a:xfrm>
            <a:off x="7170860" y="2299819"/>
            <a:ext cx="482138" cy="482138"/>
          </a:xfrm>
          <a:prstGeom prst="ellipse">
            <a:avLst/>
          </a:prstGeom>
          <a:solidFill>
            <a:srgbClr val="FFFFFF"/>
          </a:solidFill>
          <a:ln w="19050">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0860" y="2281885"/>
            <a:ext cx="482138" cy="518007"/>
          </a:xfrm>
          <a:prstGeom prst="rect">
            <a:avLst/>
          </a:prstGeom>
          <a:noFill/>
        </p:spPr>
        <p:txBody>
          <a:bodyPr wrap="square" lIns="0" rIns="0" tIns="0" bIns="0" anchor="ctr">
            <a:spAutoFit/>
          </a:bodyPr>
          <a:lstStyle/>
          <a:p>
            <a:pPr algn="ctr">
              <a:spcAft>
                <a:spcPts val="0"/>
              </a:spcAft>
            </a:pPr>
            <a:r>
              <a:rPr sz="1260" b="1" i="0">
                <a:solidFill>
                  <a:srgbClr val="1A2E2B"/>
                </a:solidFill>
                <a:latin typeface="Arial"/>
              </a:rPr>
              <a:t>x₁</a:t>
            </a:r>
          </a:p>
        </p:txBody>
      </p:sp>
      <p:cxnSp>
        <p:nvCxnSpPr>
          <p:cNvPr id="24" name="Connector 23"/>
          <p:cNvCxnSpPr/>
          <p:nvPr/>
        </p:nvCxnSpPr>
        <p:spPr>
          <a:xfrm>
            <a:off x="7670531" y="2540888"/>
            <a:ext cx="1165898" cy="899450"/>
          </a:xfrm>
          <a:prstGeom prst="line">
            <a:avLst/>
          </a:prstGeom>
          <a:ln w="22225">
            <a:solidFill>
              <a:srgbClr val="00AB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047475" y="2733964"/>
            <a:ext cx="394476" cy="263712"/>
          </a:xfrm>
          <a:prstGeom prst="rect">
            <a:avLst/>
          </a:prstGeom>
          <a:noFill/>
        </p:spPr>
        <p:txBody>
          <a:bodyPr wrap="square" lIns="0" rIns="0" tIns="0" bIns="0" anchor="t">
            <a:spAutoFit/>
          </a:bodyPr>
          <a:lstStyle/>
          <a:p>
            <a:pPr algn="ctr">
              <a:spcAft>
                <a:spcPts val="0"/>
              </a:spcAft>
            </a:pPr>
            <a:r>
              <a:rPr sz="1080" b="1" i="1">
                <a:solidFill>
                  <a:srgbClr val="5A6B68"/>
                </a:solidFill>
                <a:latin typeface="Arial"/>
              </a:rPr>
              <a:t>w₁</a:t>
            </a:r>
          </a:p>
        </p:txBody>
      </p:sp>
      <p:sp>
        <p:nvSpPr>
          <p:cNvPr id="26" name="Oval 25"/>
          <p:cNvSpPr/>
          <p:nvPr/>
        </p:nvSpPr>
        <p:spPr>
          <a:xfrm>
            <a:off x="7170860" y="3194560"/>
            <a:ext cx="482138" cy="482138"/>
          </a:xfrm>
          <a:prstGeom prst="ellipse">
            <a:avLst/>
          </a:prstGeom>
          <a:solidFill>
            <a:srgbClr val="FFFFFF"/>
          </a:solidFill>
          <a:ln w="19050">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0860" y="3176625"/>
            <a:ext cx="482138" cy="518007"/>
          </a:xfrm>
          <a:prstGeom prst="rect">
            <a:avLst/>
          </a:prstGeom>
          <a:noFill/>
        </p:spPr>
        <p:txBody>
          <a:bodyPr wrap="square" lIns="0" rIns="0" tIns="0" bIns="0" anchor="ctr">
            <a:spAutoFit/>
          </a:bodyPr>
          <a:lstStyle/>
          <a:p>
            <a:pPr algn="ctr">
              <a:spcAft>
                <a:spcPts val="0"/>
              </a:spcAft>
            </a:pPr>
            <a:r>
              <a:rPr sz="1260" b="1" i="0">
                <a:solidFill>
                  <a:srgbClr val="1A2E2B"/>
                </a:solidFill>
                <a:latin typeface="Arial"/>
              </a:rPr>
              <a:t>x₂</a:t>
            </a:r>
          </a:p>
        </p:txBody>
      </p:sp>
      <p:cxnSp>
        <p:nvCxnSpPr>
          <p:cNvPr id="28" name="Connector 27"/>
          <p:cNvCxnSpPr/>
          <p:nvPr/>
        </p:nvCxnSpPr>
        <p:spPr>
          <a:xfrm>
            <a:off x="7670531" y="3435629"/>
            <a:ext cx="1165898" cy="4709"/>
          </a:xfrm>
          <a:prstGeom prst="line">
            <a:avLst/>
          </a:prstGeom>
          <a:ln w="22225">
            <a:solidFill>
              <a:srgbClr val="00AB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047475" y="3148370"/>
            <a:ext cx="394476" cy="263712"/>
          </a:xfrm>
          <a:prstGeom prst="rect">
            <a:avLst/>
          </a:prstGeom>
          <a:noFill/>
        </p:spPr>
        <p:txBody>
          <a:bodyPr wrap="square" lIns="0" rIns="0" tIns="0" bIns="0" anchor="t">
            <a:spAutoFit/>
          </a:bodyPr>
          <a:lstStyle/>
          <a:p>
            <a:pPr algn="ctr">
              <a:spcAft>
                <a:spcPts val="0"/>
              </a:spcAft>
            </a:pPr>
            <a:r>
              <a:rPr sz="1080" b="1" i="1">
                <a:solidFill>
                  <a:srgbClr val="5A6B68"/>
                </a:solidFill>
                <a:latin typeface="Arial"/>
              </a:rPr>
              <a:t>w₂</a:t>
            </a:r>
          </a:p>
        </p:txBody>
      </p:sp>
      <p:sp>
        <p:nvSpPr>
          <p:cNvPr id="30" name="Oval 29"/>
          <p:cNvSpPr/>
          <p:nvPr/>
        </p:nvSpPr>
        <p:spPr>
          <a:xfrm>
            <a:off x="7170860" y="4089300"/>
            <a:ext cx="482138" cy="482138"/>
          </a:xfrm>
          <a:prstGeom prst="ellipse">
            <a:avLst/>
          </a:prstGeom>
          <a:solidFill>
            <a:srgbClr val="FFFFFF"/>
          </a:solidFill>
          <a:ln w="19050">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70860" y="4071366"/>
            <a:ext cx="482138" cy="518007"/>
          </a:xfrm>
          <a:prstGeom prst="rect">
            <a:avLst/>
          </a:prstGeom>
          <a:noFill/>
        </p:spPr>
        <p:txBody>
          <a:bodyPr wrap="square" lIns="0" rIns="0" tIns="0" bIns="0" anchor="ctr">
            <a:spAutoFit/>
          </a:bodyPr>
          <a:lstStyle/>
          <a:p>
            <a:pPr algn="ctr">
              <a:spcAft>
                <a:spcPts val="0"/>
              </a:spcAft>
            </a:pPr>
            <a:r>
              <a:rPr sz="1260" b="1" i="0">
                <a:solidFill>
                  <a:srgbClr val="1A2E2B"/>
                </a:solidFill>
                <a:latin typeface="Arial"/>
              </a:rPr>
              <a:t>x₃</a:t>
            </a:r>
          </a:p>
        </p:txBody>
      </p:sp>
      <p:cxnSp>
        <p:nvCxnSpPr>
          <p:cNvPr id="32" name="Connector 31"/>
          <p:cNvCxnSpPr/>
          <p:nvPr/>
        </p:nvCxnSpPr>
        <p:spPr>
          <a:xfrm flipV="1">
            <a:off x="7670531" y="3440338"/>
            <a:ext cx="1165898" cy="890031"/>
          </a:xfrm>
          <a:prstGeom prst="line">
            <a:avLst/>
          </a:prstGeom>
          <a:ln w="22225">
            <a:solidFill>
              <a:srgbClr val="00AB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047475" y="3901836"/>
            <a:ext cx="394476" cy="263712"/>
          </a:xfrm>
          <a:prstGeom prst="rect">
            <a:avLst/>
          </a:prstGeom>
          <a:noFill/>
        </p:spPr>
        <p:txBody>
          <a:bodyPr wrap="square" lIns="0" rIns="0" tIns="0" bIns="0" anchor="t">
            <a:spAutoFit/>
          </a:bodyPr>
          <a:lstStyle/>
          <a:p>
            <a:pPr algn="ctr">
              <a:spcAft>
                <a:spcPts val="0"/>
              </a:spcAft>
            </a:pPr>
            <a:r>
              <a:rPr sz="1080" b="1" i="1">
                <a:solidFill>
                  <a:srgbClr val="5A6B68"/>
                </a:solidFill>
                <a:latin typeface="Arial"/>
              </a:rPr>
              <a:t>w₃</a:t>
            </a:r>
          </a:p>
        </p:txBody>
      </p:sp>
      <p:sp>
        <p:nvSpPr>
          <p:cNvPr id="34" name="Oval 33"/>
          <p:cNvSpPr/>
          <p:nvPr/>
        </p:nvSpPr>
        <p:spPr>
          <a:xfrm>
            <a:off x="8836429" y="2914369"/>
            <a:ext cx="1051937" cy="105193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6429" y="2875239"/>
            <a:ext cx="1051937" cy="1130198"/>
          </a:xfrm>
          <a:prstGeom prst="rect">
            <a:avLst/>
          </a:prstGeom>
          <a:noFill/>
        </p:spPr>
        <p:txBody>
          <a:bodyPr wrap="square" lIns="0" rIns="0" tIns="0" bIns="0" anchor="ctr">
            <a:spAutoFit/>
          </a:bodyPr>
          <a:lstStyle/>
          <a:p>
            <a:pPr algn="ctr">
              <a:spcAft>
                <a:spcPts val="0"/>
              </a:spcAft>
            </a:pPr>
            <a:r>
              <a:rPr sz="2700" b="1" i="0">
                <a:solidFill>
                  <a:srgbClr val="FFFFFF"/>
                </a:solidFill>
                <a:latin typeface="Arial"/>
              </a:rPr>
              <a:t>Σ</a:t>
            </a:r>
          </a:p>
        </p:txBody>
      </p:sp>
      <p:cxnSp>
        <p:nvCxnSpPr>
          <p:cNvPr id="36" name="Connector 35"/>
          <p:cNvCxnSpPr/>
          <p:nvPr/>
        </p:nvCxnSpPr>
        <p:spPr>
          <a:xfrm>
            <a:off x="9905899" y="3440338"/>
            <a:ext cx="508436" cy="0"/>
          </a:xfrm>
          <a:prstGeom prst="line">
            <a:avLst/>
          </a:prstGeom>
          <a:ln w="22225">
            <a:solidFill>
              <a:srgbClr val="00AB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414335" y="3251972"/>
            <a:ext cx="788953" cy="376732"/>
          </a:xfrm>
          <a:prstGeom prst="rect">
            <a:avLst/>
          </a:prstGeom>
          <a:noFill/>
        </p:spPr>
        <p:txBody>
          <a:bodyPr wrap="square" lIns="0" rIns="0" tIns="0" bIns="0" anchor="t">
            <a:spAutoFit/>
          </a:bodyPr>
          <a:lstStyle/>
          <a:p>
            <a:pPr algn="l">
              <a:spcAft>
                <a:spcPts val="0"/>
              </a:spcAft>
            </a:pPr>
            <a:r>
              <a:rPr sz="1170" b="1" i="0">
                <a:solidFill>
                  <a:srgbClr val="1A2E2B"/>
                </a:solidFill>
                <a:latin typeface="Arial"/>
              </a:rPr>
              <a:t>0 ou 1</a:t>
            </a:r>
          </a:p>
        </p:txBody>
      </p:sp>
      <p:sp>
        <p:nvSpPr>
          <p:cNvPr id="38" name="TextBox 37"/>
          <p:cNvSpPr txBox="1"/>
          <p:nvPr/>
        </p:nvSpPr>
        <p:spPr>
          <a:xfrm>
            <a:off x="7127030" y="4730648"/>
            <a:ext cx="3944766" cy="1130198"/>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Chaque entrée est multipliée par un poids ; le neurone fait la somme et « s'allume » (1) si elle dépasse un seuil. Toutes les IA à base de réseaux de neurones, jusqu'à ChatGPT, reposent sur cette brique.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1950 · Les pionniers</a:t>
            </a:r>
          </a:p>
        </p:txBody>
      </p:sp>
      <p:sp>
        <p:nvSpPr>
          <p:cNvPr id="3" name="Text Placeholder 2"/>
          <p:cNvSpPr>
            <a:spLocks noGrp="1"/>
          </p:cNvSpPr>
          <p:nvPr>
            <p:ph type="body" idx="25" sz="quarter"/>
          </p:nvPr>
        </p:nvSpPr>
        <p:spPr/>
        <p:txBody>
          <a:bodyPr/>
          <a:lstStyle/>
          <a:p>
            <a:r>
              <a:t>Le test de Turing</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8</a:t>
            </a:fld>
          </a:p>
        </p:txBody>
      </p:sp>
      <p:sp>
        <p:nvSpPr>
          <p:cNvPr id="6" name="Oval 5"/>
          <p:cNvSpPr/>
          <p:nvPr/>
        </p:nvSpPr>
        <p:spPr>
          <a:xfrm>
            <a:off x="815402" y="2606825"/>
            <a:ext cx="1139599" cy="1139599"/>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UserTie.png"/>
          <p:cNvPicPr>
            <a:picLocks noChangeAspect="1"/>
          </p:cNvPicPr>
          <p:nvPr/>
        </p:nvPicPr>
        <p:blipFill>
          <a:blip r:embed="rId2"/>
          <a:stretch>
            <a:fillRect/>
          </a:stretch>
        </p:blipFill>
        <p:spPr>
          <a:xfrm>
            <a:off x="1111698" y="2903121"/>
            <a:ext cx="547007" cy="547007"/>
          </a:xfrm>
          <a:prstGeom prst="rect">
            <a:avLst/>
          </a:prstGeom>
        </p:spPr>
      </p:pic>
      <p:sp>
        <p:nvSpPr>
          <p:cNvPr id="8" name="TextBox 7"/>
          <p:cNvSpPr txBox="1"/>
          <p:nvPr/>
        </p:nvSpPr>
        <p:spPr>
          <a:xfrm>
            <a:off x="640080" y="3835908"/>
            <a:ext cx="1490245" cy="329641"/>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Le juge</a:t>
            </a:r>
          </a:p>
        </p:txBody>
      </p:sp>
      <p:sp>
        <p:nvSpPr>
          <p:cNvPr id="9" name="Rounded Rectangle 8"/>
          <p:cNvSpPr/>
          <p:nvPr/>
        </p:nvSpPr>
        <p:spPr>
          <a:xfrm>
            <a:off x="2261817" y="2046427"/>
            <a:ext cx="2235367" cy="583935"/>
          </a:xfrm>
          <a:prstGeom prst="roundRect">
            <a:avLst>
              <a:gd name="adj" fmla="val 18000"/>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49479" y="2046427"/>
            <a:ext cx="2060044" cy="583935"/>
          </a:xfrm>
          <a:prstGeom prst="rect">
            <a:avLst/>
          </a:prstGeom>
          <a:noFill/>
        </p:spPr>
        <p:txBody>
          <a:bodyPr wrap="square" lIns="0" rIns="0" tIns="0" bIns="0" anchor="ctr">
            <a:spAutoFit/>
          </a:bodyPr>
          <a:lstStyle/>
          <a:p>
            <a:pPr algn="ctr">
              <a:spcAft>
                <a:spcPts val="0"/>
              </a:spcAft>
            </a:pPr>
            <a:r>
              <a:rPr sz="1080" b="0" i="0">
                <a:solidFill>
                  <a:srgbClr val="2B3A38"/>
                </a:solidFill>
                <a:latin typeface="Arial"/>
              </a:rPr>
              <a:t>Aimez-vous la poésie ?</a:t>
            </a:r>
          </a:p>
        </p:txBody>
      </p:sp>
      <p:sp>
        <p:nvSpPr>
          <p:cNvPr id="11" name="Rounded Rectangle 10"/>
          <p:cNvSpPr/>
          <p:nvPr/>
        </p:nvSpPr>
        <p:spPr>
          <a:xfrm>
            <a:off x="2261817" y="2846984"/>
            <a:ext cx="2235367" cy="583935"/>
          </a:xfrm>
          <a:prstGeom prst="roundRect">
            <a:avLst>
              <a:gd name="adj" fmla="val 18000"/>
            </a:avLst>
          </a:prstGeom>
          <a:solidFill>
            <a:srgbClr val="E1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49479" y="2846984"/>
            <a:ext cx="2060044" cy="583935"/>
          </a:xfrm>
          <a:prstGeom prst="rect">
            <a:avLst/>
          </a:prstGeom>
          <a:noFill/>
        </p:spPr>
        <p:txBody>
          <a:bodyPr wrap="square" lIns="0" rIns="0" tIns="0" bIns="0" anchor="ctr">
            <a:spAutoFit/>
          </a:bodyPr>
          <a:lstStyle/>
          <a:p>
            <a:pPr algn="ctr">
              <a:spcAft>
                <a:spcPts val="0"/>
              </a:spcAft>
            </a:pPr>
            <a:r>
              <a:rPr sz="1080" b="0" i="0">
                <a:solidFill>
                  <a:srgbClr val="2B3A38"/>
                </a:solidFill>
                <a:latin typeface="Arial"/>
              </a:rPr>
              <a:t>Pas trop… je préfère le rap !</a:t>
            </a:r>
          </a:p>
        </p:txBody>
      </p:sp>
      <p:sp>
        <p:nvSpPr>
          <p:cNvPr id="13" name="Rounded Rectangle 12"/>
          <p:cNvSpPr/>
          <p:nvPr/>
        </p:nvSpPr>
        <p:spPr>
          <a:xfrm>
            <a:off x="2261817" y="3647541"/>
            <a:ext cx="2235367" cy="583935"/>
          </a:xfrm>
          <a:prstGeom prst="roundRect">
            <a:avLst>
              <a:gd name="adj" fmla="val 18000"/>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9479" y="3647541"/>
            <a:ext cx="2060044" cy="583935"/>
          </a:xfrm>
          <a:prstGeom prst="rect">
            <a:avLst/>
          </a:prstGeom>
          <a:noFill/>
        </p:spPr>
        <p:txBody>
          <a:bodyPr wrap="square" lIns="0" rIns="0" tIns="0" bIns="0" anchor="ctr">
            <a:spAutoFit/>
          </a:bodyPr>
          <a:lstStyle/>
          <a:p>
            <a:pPr algn="ctr">
              <a:spcAft>
                <a:spcPts val="0"/>
              </a:spcAft>
            </a:pPr>
            <a:r>
              <a:rPr sz="1080" b="0" i="0">
                <a:solidFill>
                  <a:srgbClr val="2B3A38"/>
                </a:solidFill>
                <a:latin typeface="Arial"/>
              </a:rPr>
              <a:t>Combien font 3 874 × 29 ?</a:t>
            </a:r>
          </a:p>
        </p:txBody>
      </p:sp>
      <p:sp>
        <p:nvSpPr>
          <p:cNvPr id="15" name="Rectangle 14"/>
          <p:cNvSpPr/>
          <p:nvPr/>
        </p:nvSpPr>
        <p:spPr>
          <a:xfrm>
            <a:off x="4760169" y="1528419"/>
            <a:ext cx="192855" cy="3390595"/>
          </a:xfrm>
          <a:prstGeom prst="rect">
            <a:avLst/>
          </a:prstGeom>
          <a:solidFill>
            <a:srgbClr val="C9D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3354" y="4966106"/>
            <a:ext cx="832784" cy="282549"/>
          </a:xfrm>
          <a:prstGeom prst="rect">
            <a:avLst/>
          </a:prstGeom>
          <a:noFill/>
        </p:spPr>
        <p:txBody>
          <a:bodyPr wrap="square" lIns="0" rIns="0" tIns="0" bIns="0" anchor="t">
            <a:spAutoFit/>
          </a:bodyPr>
          <a:lstStyle/>
          <a:p>
            <a:pPr algn="ctr">
              <a:spcAft>
                <a:spcPts val="0"/>
              </a:spcAft>
            </a:pPr>
            <a:r>
              <a:rPr sz="900" b="0" i="1">
                <a:solidFill>
                  <a:srgbClr val="5A6B68"/>
                </a:solidFill>
                <a:latin typeface="Arial"/>
              </a:rPr>
              <a:t>rideau</a:t>
            </a:r>
          </a:p>
        </p:txBody>
      </p:sp>
      <p:sp>
        <p:nvSpPr>
          <p:cNvPr id="17" name="Oval 16"/>
          <p:cNvSpPr/>
          <p:nvPr/>
        </p:nvSpPr>
        <p:spPr>
          <a:xfrm>
            <a:off x="5286138" y="1747764"/>
            <a:ext cx="832784" cy="832784"/>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User.png"/>
          <p:cNvPicPr>
            <a:picLocks noChangeAspect="1"/>
          </p:cNvPicPr>
          <p:nvPr/>
        </p:nvPicPr>
        <p:blipFill>
          <a:blip r:embed="rId3"/>
          <a:stretch>
            <a:fillRect/>
          </a:stretch>
        </p:blipFill>
        <p:spPr>
          <a:xfrm>
            <a:off x="5502662" y="1964288"/>
            <a:ext cx="399736" cy="399736"/>
          </a:xfrm>
          <a:prstGeom prst="rect">
            <a:avLst/>
          </a:prstGeom>
        </p:spPr>
      </p:pic>
      <p:sp>
        <p:nvSpPr>
          <p:cNvPr id="19" name="TextBox 18"/>
          <p:cNvSpPr txBox="1"/>
          <p:nvPr/>
        </p:nvSpPr>
        <p:spPr>
          <a:xfrm>
            <a:off x="5286138" y="2658618"/>
            <a:ext cx="832784" cy="329641"/>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A</a:t>
            </a:r>
          </a:p>
        </p:txBody>
      </p:sp>
      <p:sp>
        <p:nvSpPr>
          <p:cNvPr id="20" name="Oval 19"/>
          <p:cNvSpPr/>
          <p:nvPr/>
        </p:nvSpPr>
        <p:spPr>
          <a:xfrm>
            <a:off x="5286138" y="3395970"/>
            <a:ext cx="832784" cy="832784"/>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Robot.png"/>
          <p:cNvPicPr>
            <a:picLocks noChangeAspect="1"/>
          </p:cNvPicPr>
          <p:nvPr/>
        </p:nvPicPr>
        <p:blipFill>
          <a:blip r:embed="rId4"/>
          <a:stretch>
            <a:fillRect/>
          </a:stretch>
        </p:blipFill>
        <p:spPr>
          <a:xfrm>
            <a:off x="5502662" y="3612494"/>
            <a:ext cx="399736" cy="399736"/>
          </a:xfrm>
          <a:prstGeom prst="rect">
            <a:avLst/>
          </a:prstGeom>
        </p:spPr>
      </p:pic>
      <p:sp>
        <p:nvSpPr>
          <p:cNvPr id="22" name="TextBox 21"/>
          <p:cNvSpPr txBox="1"/>
          <p:nvPr/>
        </p:nvSpPr>
        <p:spPr>
          <a:xfrm>
            <a:off x="5286138" y="4306824"/>
            <a:ext cx="832784" cy="329641"/>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B</a:t>
            </a:r>
          </a:p>
        </p:txBody>
      </p:sp>
      <p:sp>
        <p:nvSpPr>
          <p:cNvPr id="23" name="TextBox 22"/>
          <p:cNvSpPr txBox="1"/>
          <p:nvPr/>
        </p:nvSpPr>
        <p:spPr>
          <a:xfrm>
            <a:off x="640080" y="5389930"/>
            <a:ext cx="5522673" cy="376732"/>
          </a:xfrm>
          <a:prstGeom prst="rect">
            <a:avLst/>
          </a:prstGeom>
          <a:noFill/>
        </p:spPr>
        <p:txBody>
          <a:bodyPr wrap="square" lIns="0" rIns="0" tIns="0" bIns="0" anchor="t">
            <a:spAutoFit/>
          </a:bodyPr>
          <a:lstStyle/>
          <a:p>
            <a:pPr algn="ctr">
              <a:spcAft>
                <a:spcPts val="0"/>
              </a:spcAft>
            </a:pPr>
            <a:r>
              <a:rPr sz="1350" b="1" i="1">
                <a:solidFill>
                  <a:srgbClr val="00877A"/>
                </a:solidFill>
                <a:latin typeface="Arial"/>
              </a:rPr>
              <a:t>Qui est l'humain ?</a:t>
            </a:r>
          </a:p>
        </p:txBody>
      </p:sp>
      <p:sp>
        <p:nvSpPr>
          <p:cNvPr id="24" name="TextBox 23"/>
          <p:cNvSpPr txBox="1"/>
          <p:nvPr/>
        </p:nvSpPr>
        <p:spPr>
          <a:xfrm>
            <a:off x="6601061" y="1481328"/>
            <a:ext cx="4646058"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Le principe</a:t>
            </a:r>
          </a:p>
        </p:txBody>
      </p:sp>
      <p:sp>
        <p:nvSpPr>
          <p:cNvPr id="25" name="TextBox 24"/>
          <p:cNvSpPr txBox="1"/>
          <p:nvPr/>
        </p:nvSpPr>
        <p:spPr>
          <a:xfrm>
            <a:off x="6601061" y="1905152"/>
            <a:ext cx="4646058"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Un juge dialogue par écrit avec deux interlocuteurs cachés : un humain et une machine. S'il n'arrive pas à les distinguer, la machine « passe » le test.</a:t>
            </a:r>
          </a:p>
        </p:txBody>
      </p:sp>
      <p:sp>
        <p:nvSpPr>
          <p:cNvPr id="26" name="TextBox 25"/>
          <p:cNvSpPr txBox="1"/>
          <p:nvPr/>
        </p:nvSpPr>
        <p:spPr>
          <a:xfrm>
            <a:off x="6601061" y="2988259"/>
            <a:ext cx="4646058"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L'idée clé</a:t>
            </a:r>
          </a:p>
        </p:txBody>
      </p:sp>
      <p:sp>
        <p:nvSpPr>
          <p:cNvPr id="27" name="TextBox 26"/>
          <p:cNvSpPr txBox="1"/>
          <p:nvPr/>
        </p:nvSpPr>
        <p:spPr>
          <a:xfrm>
            <a:off x="6601061" y="3412083"/>
            <a:ext cx="4646058"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Plutôt que de définir l'intelligence, question philosophique sans fin, Turing propose un critère observable : le comportement.</a:t>
            </a:r>
          </a:p>
        </p:txBody>
      </p:sp>
      <p:sp>
        <p:nvSpPr>
          <p:cNvPr id="28" name="TextBox 27"/>
          <p:cNvSpPr txBox="1"/>
          <p:nvPr/>
        </p:nvSpPr>
        <p:spPr>
          <a:xfrm>
            <a:off x="6601061" y="4495190"/>
            <a:ext cx="4646058"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Et aujourd'hui ?</a:t>
            </a:r>
          </a:p>
        </p:txBody>
      </p:sp>
      <p:sp>
        <p:nvSpPr>
          <p:cNvPr id="29" name="TextBox 28"/>
          <p:cNvSpPr txBox="1"/>
          <p:nvPr/>
        </p:nvSpPr>
        <p:spPr>
          <a:xfrm>
            <a:off x="6601061" y="4919014"/>
            <a:ext cx="4646058"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Des études récentes montrent que les chatbots actuels sont régulièrement pris pour des humains. Cela prouve-t-il qu'ils pensent ? Le débat reste ouvert.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9</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02</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1956 – 1974</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LES PREMIERS ESPOIRS</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Tout semble possible…</a:t>
            </a:r>
          </a:p>
        </p:txBody>
      </p:sp>
      <p:sp>
        <p:nvSpPr>
          <p:cNvPr id="8" name="Oval 7"/>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47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19"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031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603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3F63A8"/>
                </a:solidFill>
              </a:rPr>
              <a:t>1956 – 1974 · Les premiers espoirs</a:t>
            </a:r>
          </a:p>
        </p:txBody>
      </p:sp>
      <p:sp>
        <p:nvSpPr>
          <p:cNvPr id="3" name="Text Placeholder 2"/>
          <p:cNvSpPr>
            <a:spLocks noGrp="1"/>
          </p:cNvSpPr>
          <p:nvPr>
            <p:ph type="body" idx="25" sz="quarter"/>
          </p:nvPr>
        </p:nvSpPr>
        <p:spPr/>
        <p:txBody>
          <a:bodyPr/>
          <a:lstStyle/>
          <a:p>
            <a:r>
              <a:t>Les premiers succès… et un optimisme débordant</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10</a:t>
            </a:fld>
          </a:p>
        </p:txBody>
      </p:sp>
      <p:sp>
        <p:nvSpPr>
          <p:cNvPr id="6" name="Rectangle 5"/>
          <p:cNvSpPr/>
          <p:nvPr/>
        </p:nvSpPr>
        <p:spPr>
          <a:xfrm>
            <a:off x="640080" y="1481328"/>
            <a:ext cx="3374967" cy="268422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3064" y="1837056"/>
            <a:ext cx="701291" cy="701291"/>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SquareRootAlt.png"/>
          <p:cNvPicPr>
            <a:picLocks noChangeAspect="1"/>
          </p:cNvPicPr>
          <p:nvPr/>
        </p:nvPicPr>
        <p:blipFill>
          <a:blip r:embed="rId2"/>
          <a:stretch>
            <a:fillRect/>
          </a:stretch>
        </p:blipFill>
        <p:spPr>
          <a:xfrm>
            <a:off x="1085400" y="2019391"/>
            <a:ext cx="336620" cy="336620"/>
          </a:xfrm>
          <a:prstGeom prst="rect">
            <a:avLst/>
          </a:prstGeom>
        </p:spPr>
      </p:pic>
      <p:sp>
        <p:nvSpPr>
          <p:cNvPr id="10" name="TextBox 9"/>
          <p:cNvSpPr txBox="1"/>
          <p:nvPr/>
        </p:nvSpPr>
        <p:spPr>
          <a:xfrm>
            <a:off x="1779679" y="1810969"/>
            <a:ext cx="2016214" cy="329641"/>
          </a:xfrm>
          <a:prstGeom prst="rect">
            <a:avLst/>
          </a:prstGeom>
          <a:noFill/>
        </p:spPr>
        <p:txBody>
          <a:bodyPr wrap="square" lIns="0" rIns="0" tIns="0" bIns="0" anchor="t">
            <a:spAutoFit/>
          </a:bodyPr>
          <a:lstStyle/>
          <a:p>
            <a:pPr algn="l">
              <a:spcAft>
                <a:spcPts val="0"/>
              </a:spcAft>
            </a:pPr>
            <a:r>
              <a:rPr sz="1350" b="1" i="0">
                <a:solidFill>
                  <a:srgbClr val="3F63A8"/>
                </a:solidFill>
                <a:latin typeface="Arial"/>
              </a:rPr>
              <a:t>1956</a:t>
            </a:r>
          </a:p>
        </p:txBody>
      </p:sp>
      <p:sp>
        <p:nvSpPr>
          <p:cNvPr id="11" name="TextBox 10"/>
          <p:cNvSpPr txBox="1"/>
          <p:nvPr/>
        </p:nvSpPr>
        <p:spPr>
          <a:xfrm>
            <a:off x="1779679" y="2140610"/>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Logic Theorist</a:t>
            </a:r>
          </a:p>
        </p:txBody>
      </p:sp>
      <p:sp>
        <p:nvSpPr>
          <p:cNvPr id="12" name="TextBox 11"/>
          <p:cNvSpPr txBox="1"/>
          <p:nvPr/>
        </p:nvSpPr>
        <p:spPr>
          <a:xfrm>
            <a:off x="903064" y="2799892"/>
            <a:ext cx="2892829" cy="131856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Allen Newell et Herbert Simon écrivent un programme qui démontre seul 38 des 52 premiers théorèmes d'un traité de logique mathématique.</a:t>
            </a:r>
          </a:p>
        </p:txBody>
      </p:sp>
      <p:sp>
        <p:nvSpPr>
          <p:cNvPr id="13" name="Rectangle 12"/>
          <p:cNvSpPr/>
          <p:nvPr/>
        </p:nvSpPr>
        <p:spPr>
          <a:xfrm>
            <a:off x="4278031" y="1481328"/>
            <a:ext cx="3374967" cy="268422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8031" y="1481328"/>
            <a:ext cx="337496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41016" y="1837056"/>
            <a:ext cx="701291" cy="701291"/>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Eye.png"/>
          <p:cNvPicPr>
            <a:picLocks noChangeAspect="1"/>
          </p:cNvPicPr>
          <p:nvPr/>
        </p:nvPicPr>
        <p:blipFill>
          <a:blip r:embed="rId3"/>
          <a:stretch>
            <a:fillRect/>
          </a:stretch>
        </p:blipFill>
        <p:spPr>
          <a:xfrm>
            <a:off x="4723352" y="2019391"/>
            <a:ext cx="336620" cy="336620"/>
          </a:xfrm>
          <a:prstGeom prst="rect">
            <a:avLst/>
          </a:prstGeom>
        </p:spPr>
      </p:pic>
      <p:sp>
        <p:nvSpPr>
          <p:cNvPr id="17" name="TextBox 16"/>
          <p:cNvSpPr txBox="1"/>
          <p:nvPr/>
        </p:nvSpPr>
        <p:spPr>
          <a:xfrm>
            <a:off x="5417631" y="1810969"/>
            <a:ext cx="2016214" cy="329641"/>
          </a:xfrm>
          <a:prstGeom prst="rect">
            <a:avLst/>
          </a:prstGeom>
          <a:noFill/>
        </p:spPr>
        <p:txBody>
          <a:bodyPr wrap="square" lIns="0" rIns="0" tIns="0" bIns="0" anchor="t">
            <a:spAutoFit/>
          </a:bodyPr>
          <a:lstStyle/>
          <a:p>
            <a:pPr algn="l">
              <a:spcAft>
                <a:spcPts val="0"/>
              </a:spcAft>
            </a:pPr>
            <a:r>
              <a:rPr sz="1350" b="1" i="0">
                <a:solidFill>
                  <a:srgbClr val="3F63A8"/>
                </a:solidFill>
                <a:latin typeface="Arial"/>
              </a:rPr>
              <a:t>1958</a:t>
            </a:r>
          </a:p>
        </p:txBody>
      </p:sp>
      <p:sp>
        <p:nvSpPr>
          <p:cNvPr id="18" name="TextBox 17"/>
          <p:cNvSpPr txBox="1"/>
          <p:nvPr/>
        </p:nvSpPr>
        <p:spPr>
          <a:xfrm>
            <a:off x="5417631" y="2140610"/>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Le Perceptron</a:t>
            </a:r>
          </a:p>
        </p:txBody>
      </p:sp>
      <p:sp>
        <p:nvSpPr>
          <p:cNvPr id="19" name="TextBox 18"/>
          <p:cNvSpPr txBox="1"/>
          <p:nvPr/>
        </p:nvSpPr>
        <p:spPr>
          <a:xfrm>
            <a:off x="4541016" y="2799892"/>
            <a:ext cx="2892829" cy="131856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Frank Rosenblatt construit une machine qui apprend à reconnaître des formes simples en ajustant ses poids à partir d'exemples. La presse s'emballe.</a:t>
            </a:r>
          </a:p>
        </p:txBody>
      </p:sp>
      <p:sp>
        <p:nvSpPr>
          <p:cNvPr id="20" name="Rectangle 19"/>
          <p:cNvSpPr/>
          <p:nvPr/>
        </p:nvSpPr>
        <p:spPr>
          <a:xfrm>
            <a:off x="7915983" y="1481328"/>
            <a:ext cx="3374967" cy="268422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15983" y="1481328"/>
            <a:ext cx="337496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78967" y="1837056"/>
            <a:ext cx="701291" cy="701291"/>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ChessBoard.png"/>
          <p:cNvPicPr>
            <a:picLocks noChangeAspect="1"/>
          </p:cNvPicPr>
          <p:nvPr/>
        </p:nvPicPr>
        <p:blipFill>
          <a:blip r:embed="rId4"/>
          <a:stretch>
            <a:fillRect/>
          </a:stretch>
        </p:blipFill>
        <p:spPr>
          <a:xfrm>
            <a:off x="8361303" y="2019391"/>
            <a:ext cx="336620" cy="336620"/>
          </a:xfrm>
          <a:prstGeom prst="rect">
            <a:avLst/>
          </a:prstGeom>
        </p:spPr>
      </p:pic>
      <p:sp>
        <p:nvSpPr>
          <p:cNvPr id="24" name="TextBox 23"/>
          <p:cNvSpPr txBox="1"/>
          <p:nvPr/>
        </p:nvSpPr>
        <p:spPr>
          <a:xfrm>
            <a:off x="9055582" y="1810969"/>
            <a:ext cx="2016214" cy="329641"/>
          </a:xfrm>
          <a:prstGeom prst="rect">
            <a:avLst/>
          </a:prstGeom>
          <a:noFill/>
        </p:spPr>
        <p:txBody>
          <a:bodyPr wrap="square" lIns="0" rIns="0" tIns="0" bIns="0" anchor="t">
            <a:spAutoFit/>
          </a:bodyPr>
          <a:lstStyle/>
          <a:p>
            <a:pPr algn="l">
              <a:spcAft>
                <a:spcPts val="0"/>
              </a:spcAft>
            </a:pPr>
            <a:r>
              <a:rPr sz="1350" b="1" i="0">
                <a:solidFill>
                  <a:srgbClr val="3F63A8"/>
                </a:solidFill>
                <a:latin typeface="Arial"/>
              </a:rPr>
              <a:t>1959</a:t>
            </a:r>
          </a:p>
        </p:txBody>
      </p:sp>
      <p:sp>
        <p:nvSpPr>
          <p:cNvPr id="25" name="TextBox 24"/>
          <p:cNvSpPr txBox="1"/>
          <p:nvPr/>
        </p:nvSpPr>
        <p:spPr>
          <a:xfrm>
            <a:off x="9055582" y="2140610"/>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Le jeu de dames</a:t>
            </a:r>
          </a:p>
        </p:txBody>
      </p:sp>
      <p:sp>
        <p:nvSpPr>
          <p:cNvPr id="26" name="TextBox 25"/>
          <p:cNvSpPr txBox="1"/>
          <p:nvPr/>
        </p:nvSpPr>
        <p:spPr>
          <a:xfrm>
            <a:off x="8178967" y="2799892"/>
            <a:ext cx="2892829" cy="131856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Arthur Samuel (IBM) crée un programme qui progresse en jouant contre lui-même. Il invente l'expression « machine learning ».</a:t>
            </a:r>
          </a:p>
        </p:txBody>
      </p:sp>
      <p:sp>
        <p:nvSpPr>
          <p:cNvPr id="27" name="Rectangle 26"/>
          <p:cNvSpPr/>
          <p:nvPr/>
        </p:nvSpPr>
        <p:spPr>
          <a:xfrm>
            <a:off x="640080" y="4495190"/>
            <a:ext cx="10607040" cy="1224381"/>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9233" y="4800565"/>
            <a:ext cx="613630" cy="613630"/>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aQuoteLeft.png"/>
          <p:cNvPicPr>
            <a:picLocks noChangeAspect="1"/>
          </p:cNvPicPr>
          <p:nvPr/>
        </p:nvPicPr>
        <p:blipFill>
          <a:blip r:embed="rId5"/>
          <a:stretch>
            <a:fillRect/>
          </a:stretch>
        </p:blipFill>
        <p:spPr>
          <a:xfrm>
            <a:off x="1018777" y="4960109"/>
            <a:ext cx="294542" cy="294542"/>
          </a:xfrm>
          <a:prstGeom prst="rect">
            <a:avLst/>
          </a:prstGeom>
        </p:spPr>
      </p:pic>
      <p:sp>
        <p:nvSpPr>
          <p:cNvPr id="30" name="TextBox 29"/>
          <p:cNvSpPr txBox="1"/>
          <p:nvPr/>
        </p:nvSpPr>
        <p:spPr>
          <a:xfrm>
            <a:off x="1692017" y="4495190"/>
            <a:ext cx="9379779" cy="1224381"/>
          </a:xfrm>
          <a:prstGeom prst="rect">
            <a:avLst/>
          </a:prstGeom>
          <a:noFill/>
        </p:spPr>
        <p:txBody>
          <a:bodyPr wrap="square" lIns="0" rIns="0" tIns="0" bIns="0" anchor="ctr">
            <a:spAutoFit/>
          </a:bodyPr>
          <a:lstStyle/>
          <a:p>
            <a:pPr algn="l">
              <a:spcAft>
                <a:spcPts val="400"/>
              </a:spcAft>
            </a:pPr>
            <a:r>
              <a:rPr sz="1440" b="0" i="0">
                <a:solidFill>
                  <a:srgbClr val="2B3A38"/>
                </a:solidFill>
                <a:latin typeface="Arial"/>
              </a:rPr>
              <a:t>En 1965, Herbert Simon prédit que, d'ici vingt ans, les machines pourront faire tout travail qu'un humain peut faire.</a:t>
            </a:r>
          </a:p>
          <a:p>
            <a:pPr algn="l">
              <a:spcAft>
                <a:spcPts val="400"/>
              </a:spcAft>
            </a:pPr>
            <a:r>
              <a:rPr sz="1440" b="1" i="1">
                <a:solidFill>
                  <a:srgbClr val="3F63A8"/>
                </a:solidFill>
                <a:latin typeface="Arial"/>
              </a:rPr>
              <a:t>Spoiler : ce n'est pas vraiment ce qui s'est passé.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3F63A8"/>
                </a:solidFill>
              </a:rPr>
              <a:t>1966 · Les premiers espoirs</a:t>
            </a:r>
          </a:p>
        </p:txBody>
      </p:sp>
      <p:sp>
        <p:nvSpPr>
          <p:cNvPr id="3" name="Text Placeholder 2"/>
          <p:cNvSpPr>
            <a:spLocks noGrp="1"/>
          </p:cNvSpPr>
          <p:nvPr>
            <p:ph type="body" idx="25" sz="quarter"/>
          </p:nvPr>
        </p:nvSpPr>
        <p:spPr/>
        <p:txBody>
          <a:bodyPr/>
          <a:lstStyle/>
          <a:p>
            <a:r>
              <a:t>ELIZA, le premier « chatbot »</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11</a:t>
            </a:fld>
          </a:p>
        </p:txBody>
      </p:sp>
      <p:sp>
        <p:nvSpPr>
          <p:cNvPr id="6" name="Rectangle 5"/>
          <p:cNvSpPr/>
          <p:nvPr/>
        </p:nvSpPr>
        <p:spPr>
          <a:xfrm>
            <a:off x="640080" y="1481328"/>
            <a:ext cx="5172027" cy="442661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517202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064" y="1669694"/>
            <a:ext cx="4646058" cy="376732"/>
          </a:xfrm>
          <a:prstGeom prst="rect">
            <a:avLst/>
          </a:prstGeom>
          <a:noFill/>
        </p:spPr>
        <p:txBody>
          <a:bodyPr wrap="square" lIns="0" rIns="0" tIns="0" bIns="0" anchor="t">
            <a:spAutoFit/>
          </a:bodyPr>
          <a:lstStyle/>
          <a:p>
            <a:pPr algn="l">
              <a:spcAft>
                <a:spcPts val="0"/>
              </a:spcAft>
            </a:pPr>
            <a:r>
              <a:rPr sz="1260" b="1" i="0">
                <a:solidFill>
                  <a:srgbClr val="5A6B68"/>
                </a:solidFill>
                <a:latin typeface="Arial"/>
              </a:rPr>
              <a:t>Une conversation avec ELIZA</a:t>
            </a:r>
          </a:p>
        </p:txBody>
      </p:sp>
      <p:sp>
        <p:nvSpPr>
          <p:cNvPr id="9" name="Rounded Rectangle 8"/>
          <p:cNvSpPr/>
          <p:nvPr/>
        </p:nvSpPr>
        <p:spPr>
          <a:xfrm>
            <a:off x="2130325" y="2140610"/>
            <a:ext cx="3506459" cy="678119"/>
          </a:xfrm>
          <a:prstGeom prst="roundRect">
            <a:avLst>
              <a:gd name="adj" fmla="val 18000"/>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61817" y="2140610"/>
            <a:ext cx="3243475" cy="678119"/>
          </a:xfrm>
          <a:prstGeom prst="rect">
            <a:avLst/>
          </a:prstGeom>
          <a:noFill/>
        </p:spPr>
        <p:txBody>
          <a:bodyPr wrap="square" lIns="0" rIns="0" tIns="0" bIns="0" anchor="ctr">
            <a:spAutoFit/>
          </a:bodyPr>
          <a:lstStyle/>
          <a:p>
            <a:pPr algn="l">
              <a:spcAft>
                <a:spcPts val="0"/>
              </a:spcAft>
            </a:pPr>
            <a:r>
              <a:rPr sz="1170" b="0" i="0">
                <a:solidFill>
                  <a:srgbClr val="2B3A38"/>
                </a:solidFill>
                <a:latin typeface="Arial"/>
              </a:rPr>
              <a:t>Je me sens un peu déprimé en ce moment.</a:t>
            </a:r>
          </a:p>
        </p:txBody>
      </p:sp>
      <p:sp>
        <p:nvSpPr>
          <p:cNvPr id="11" name="Rounded Rectangle 10"/>
          <p:cNvSpPr/>
          <p:nvPr/>
        </p:nvSpPr>
        <p:spPr>
          <a:xfrm>
            <a:off x="903064" y="2988259"/>
            <a:ext cx="3506459" cy="678119"/>
          </a:xfrm>
          <a:prstGeom prst="roundRect">
            <a:avLst>
              <a:gd name="adj" fmla="val 18000"/>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4556" y="2988259"/>
            <a:ext cx="3243475" cy="678119"/>
          </a:xfrm>
          <a:prstGeom prst="rect">
            <a:avLst/>
          </a:prstGeom>
          <a:noFill/>
        </p:spPr>
        <p:txBody>
          <a:bodyPr wrap="square" lIns="0" rIns="0" tIns="0" bIns="0" anchor="ctr">
            <a:spAutoFit/>
          </a:bodyPr>
          <a:lstStyle/>
          <a:p>
            <a:pPr algn="l">
              <a:spcAft>
                <a:spcPts val="0"/>
              </a:spcAft>
            </a:pPr>
            <a:r>
              <a:rPr sz="1170" b="0" i="0">
                <a:solidFill>
                  <a:srgbClr val="FFFFFF"/>
                </a:solidFill>
                <a:latin typeface="Arial"/>
              </a:rPr>
              <a:t>Pourquoi dites-vous que vous vous sentez un peu déprimé ?</a:t>
            </a:r>
          </a:p>
        </p:txBody>
      </p:sp>
      <p:sp>
        <p:nvSpPr>
          <p:cNvPr id="13" name="Rounded Rectangle 12"/>
          <p:cNvSpPr/>
          <p:nvPr/>
        </p:nvSpPr>
        <p:spPr>
          <a:xfrm>
            <a:off x="2130325" y="3835908"/>
            <a:ext cx="3506459" cy="678119"/>
          </a:xfrm>
          <a:prstGeom prst="roundRect">
            <a:avLst>
              <a:gd name="adj" fmla="val 18000"/>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1817" y="3835908"/>
            <a:ext cx="3243475" cy="678119"/>
          </a:xfrm>
          <a:prstGeom prst="rect">
            <a:avLst/>
          </a:prstGeom>
          <a:noFill/>
        </p:spPr>
        <p:txBody>
          <a:bodyPr wrap="square" lIns="0" rIns="0" tIns="0" bIns="0" anchor="ctr">
            <a:spAutoFit/>
          </a:bodyPr>
          <a:lstStyle/>
          <a:p>
            <a:pPr algn="l">
              <a:spcAft>
                <a:spcPts val="0"/>
              </a:spcAft>
            </a:pPr>
            <a:r>
              <a:rPr sz="1170" b="0" i="0">
                <a:solidFill>
                  <a:srgbClr val="2B3A38"/>
                </a:solidFill>
                <a:latin typeface="Arial"/>
              </a:rPr>
              <a:t>Ma mère ne me comprend pas.</a:t>
            </a:r>
          </a:p>
        </p:txBody>
      </p:sp>
      <p:sp>
        <p:nvSpPr>
          <p:cNvPr id="15" name="Rounded Rectangle 14"/>
          <p:cNvSpPr/>
          <p:nvPr/>
        </p:nvSpPr>
        <p:spPr>
          <a:xfrm>
            <a:off x="903064" y="4683556"/>
            <a:ext cx="3506459" cy="678119"/>
          </a:xfrm>
          <a:prstGeom prst="roundRect">
            <a:avLst>
              <a:gd name="adj" fmla="val 18000"/>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4556" y="4683556"/>
            <a:ext cx="3243475" cy="678119"/>
          </a:xfrm>
          <a:prstGeom prst="rect">
            <a:avLst/>
          </a:prstGeom>
          <a:noFill/>
        </p:spPr>
        <p:txBody>
          <a:bodyPr wrap="square" lIns="0" rIns="0" tIns="0" bIns="0" anchor="ctr">
            <a:spAutoFit/>
          </a:bodyPr>
          <a:lstStyle/>
          <a:p>
            <a:pPr algn="l">
              <a:spcAft>
                <a:spcPts val="0"/>
              </a:spcAft>
            </a:pPr>
            <a:r>
              <a:rPr sz="1170" b="0" i="0">
                <a:solidFill>
                  <a:srgbClr val="FFFFFF"/>
                </a:solidFill>
                <a:latin typeface="Arial"/>
              </a:rPr>
              <a:t>Parlez-moi de votre famille.</a:t>
            </a:r>
          </a:p>
        </p:txBody>
      </p:sp>
      <p:sp>
        <p:nvSpPr>
          <p:cNvPr id="17" name="TextBox 16"/>
          <p:cNvSpPr txBox="1"/>
          <p:nvPr/>
        </p:nvSpPr>
        <p:spPr>
          <a:xfrm>
            <a:off x="903064" y="5531205"/>
            <a:ext cx="4646058" cy="282549"/>
          </a:xfrm>
          <a:prstGeom prst="rect">
            <a:avLst/>
          </a:prstGeom>
          <a:noFill/>
        </p:spPr>
        <p:txBody>
          <a:bodyPr wrap="square" lIns="0" rIns="0" tIns="0" bIns="0" anchor="t">
            <a:spAutoFit/>
          </a:bodyPr>
          <a:lstStyle/>
          <a:p>
            <a:pPr algn="l">
              <a:spcAft>
                <a:spcPts val="0"/>
              </a:spcAft>
            </a:pPr>
            <a:r>
              <a:rPr sz="900" b="0" i="1">
                <a:solidFill>
                  <a:srgbClr val="5A6B68"/>
                </a:solidFill>
                <a:latin typeface="Arial"/>
              </a:rPr>
              <a:t>Dialogue inspiré des échanges avec ELIZA</a:t>
            </a:r>
          </a:p>
        </p:txBody>
      </p:sp>
      <p:sp>
        <p:nvSpPr>
          <p:cNvPr id="18" name="Oval 17"/>
          <p:cNvSpPr/>
          <p:nvPr/>
        </p:nvSpPr>
        <p:spPr>
          <a:xfrm>
            <a:off x="6250415" y="1502523"/>
            <a:ext cx="569799" cy="569799"/>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Cogs.png"/>
          <p:cNvPicPr>
            <a:picLocks noChangeAspect="1"/>
          </p:cNvPicPr>
          <p:nvPr/>
        </p:nvPicPr>
        <p:blipFill>
          <a:blip r:embed="rId2"/>
          <a:stretch>
            <a:fillRect/>
          </a:stretch>
        </p:blipFill>
        <p:spPr>
          <a:xfrm>
            <a:off x="6398563" y="1650671"/>
            <a:ext cx="273503" cy="273503"/>
          </a:xfrm>
          <a:prstGeom prst="rect">
            <a:avLst/>
          </a:prstGeom>
        </p:spPr>
      </p:pic>
      <p:sp>
        <p:nvSpPr>
          <p:cNvPr id="20" name="TextBox 19"/>
          <p:cNvSpPr txBox="1"/>
          <p:nvPr/>
        </p:nvSpPr>
        <p:spPr>
          <a:xfrm>
            <a:off x="6995537" y="1481328"/>
            <a:ext cx="4251582" cy="376732"/>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Comment ça marche ?</a:t>
            </a:r>
          </a:p>
        </p:txBody>
      </p:sp>
      <p:sp>
        <p:nvSpPr>
          <p:cNvPr id="21" name="TextBox 20"/>
          <p:cNvSpPr txBox="1"/>
          <p:nvPr/>
        </p:nvSpPr>
        <p:spPr>
          <a:xfrm>
            <a:off x="6995537" y="1905152"/>
            <a:ext cx="4251582"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Aucune compréhension : ELIZA repère des mots-clés (« mère » → famille) et reformule la phrase selon des règles écrites à la main.</a:t>
            </a:r>
          </a:p>
        </p:txBody>
      </p:sp>
      <p:sp>
        <p:nvSpPr>
          <p:cNvPr id="22" name="Oval 21"/>
          <p:cNvSpPr/>
          <p:nvPr/>
        </p:nvSpPr>
        <p:spPr>
          <a:xfrm>
            <a:off x="6250415" y="3009454"/>
            <a:ext cx="569799" cy="569799"/>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Heart.png"/>
          <p:cNvPicPr>
            <a:picLocks noChangeAspect="1"/>
          </p:cNvPicPr>
          <p:nvPr/>
        </p:nvPicPr>
        <p:blipFill>
          <a:blip r:embed="rId3"/>
          <a:stretch>
            <a:fillRect/>
          </a:stretch>
        </p:blipFill>
        <p:spPr>
          <a:xfrm>
            <a:off x="6398563" y="3157602"/>
            <a:ext cx="273503" cy="273503"/>
          </a:xfrm>
          <a:prstGeom prst="rect">
            <a:avLst/>
          </a:prstGeom>
        </p:spPr>
      </p:pic>
      <p:sp>
        <p:nvSpPr>
          <p:cNvPr id="24" name="TextBox 23"/>
          <p:cNvSpPr txBox="1"/>
          <p:nvPr/>
        </p:nvSpPr>
        <p:spPr>
          <a:xfrm>
            <a:off x="6995537" y="2988259"/>
            <a:ext cx="4251582" cy="376732"/>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L'« effet ELIZA »</a:t>
            </a:r>
          </a:p>
        </p:txBody>
      </p:sp>
      <p:sp>
        <p:nvSpPr>
          <p:cNvPr id="25" name="TextBox 24"/>
          <p:cNvSpPr txBox="1"/>
          <p:nvPr/>
        </p:nvSpPr>
        <p:spPr>
          <a:xfrm>
            <a:off x="6995537" y="3412083"/>
            <a:ext cx="4251582"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Son créateur, Joseph Weizenbaum (MIT), est stupéfait : des utilisateurs lui confient leurs secrets et lui prêtent des sentiments.</a:t>
            </a:r>
          </a:p>
        </p:txBody>
      </p:sp>
      <p:sp>
        <p:nvSpPr>
          <p:cNvPr id="26" name="Oval 25"/>
          <p:cNvSpPr/>
          <p:nvPr/>
        </p:nvSpPr>
        <p:spPr>
          <a:xfrm>
            <a:off x="6250415" y="4516385"/>
            <a:ext cx="569799" cy="569799"/>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Lightbulb.png"/>
          <p:cNvPicPr>
            <a:picLocks noChangeAspect="1"/>
          </p:cNvPicPr>
          <p:nvPr/>
        </p:nvPicPr>
        <p:blipFill>
          <a:blip r:embed="rId4"/>
          <a:stretch>
            <a:fillRect/>
          </a:stretch>
        </p:blipFill>
        <p:spPr>
          <a:xfrm>
            <a:off x="6398563" y="4664533"/>
            <a:ext cx="273503" cy="273503"/>
          </a:xfrm>
          <a:prstGeom prst="rect">
            <a:avLst/>
          </a:prstGeom>
        </p:spPr>
      </p:pic>
      <p:sp>
        <p:nvSpPr>
          <p:cNvPr id="28" name="TextBox 27"/>
          <p:cNvSpPr txBox="1"/>
          <p:nvPr/>
        </p:nvSpPr>
        <p:spPr>
          <a:xfrm>
            <a:off x="6995537" y="4495190"/>
            <a:ext cx="4251582" cy="376732"/>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Une leçon toujours actuelle</a:t>
            </a:r>
          </a:p>
        </p:txBody>
      </p:sp>
      <p:sp>
        <p:nvSpPr>
          <p:cNvPr id="29" name="TextBox 28"/>
          <p:cNvSpPr txBox="1"/>
          <p:nvPr/>
        </p:nvSpPr>
        <p:spPr>
          <a:xfrm>
            <a:off x="6995537" y="4919014"/>
            <a:ext cx="4251582"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Nous avons tendance à attribuer de l'intelligence à une machine qui parle bien. Gardez-le en tête face aux chatbots modernes.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F2F3"/>
        </a:solidFill>
        <a:effectLst/>
      </p:bgPr>
    </p:bg>
    <p:spTree>
      <p:nvGrpSpPr>
        <p:cNvPr id="1" name=""/>
        <p:cNvGrpSpPr/>
        <p:nvPr/>
      </p:nvGrpSpPr>
      <p:grpSpPr/>
      <p:sp>
        <p:nvSpPr>
          <p:cNvPr id="2" name="Text Placeholder 1"/>
          <p:cNvSpPr>
            <a:spLocks noGrp="1"/>
          </p:cNvSpPr>
          <p:nvPr>
            <p:ph type="body" idx="24" sz="quarter"/>
          </p:nvPr>
        </p:nvSpPr>
        <p:spPr/>
        <p:txBody>
          <a:bodyPr/>
          <a:lstStyle/>
          <a:p>
            <a:r>
              <a:rPr b="1" sz="1400">
                <a:solidFill>
                  <a:srgbClr val="6B7876"/>
                </a:solidFill>
              </a:rPr>
              <a:t>1974 – 1980 · Hiver</a:t>
            </a:r>
          </a:p>
        </p:txBody>
      </p:sp>
      <p:sp>
        <p:nvSpPr>
          <p:cNvPr id="3" name="Text Placeholder 2"/>
          <p:cNvSpPr>
            <a:spLocks noGrp="1"/>
          </p:cNvSpPr>
          <p:nvPr>
            <p:ph type="body" idx="25" sz="quarter"/>
          </p:nvPr>
        </p:nvSpPr>
        <p:spPr/>
        <p:txBody>
          <a:bodyPr/>
          <a:lstStyle/>
          <a:p>
            <a:r>
              <a:t>Le premier hiver de l'IA</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12</a:t>
            </a:fld>
          </a:p>
        </p:txBody>
      </p:sp>
      <p:sp>
        <p:nvSpPr>
          <p:cNvPr id="6" name="Rectangle 5"/>
          <p:cNvSpPr/>
          <p:nvPr/>
        </p:nvSpPr>
        <p:spPr>
          <a:xfrm>
            <a:off x="640080" y="1481328"/>
            <a:ext cx="3374967" cy="33435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3064" y="1788334"/>
            <a:ext cx="657461" cy="657461"/>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Language.png"/>
          <p:cNvPicPr>
            <a:picLocks noChangeAspect="1"/>
          </p:cNvPicPr>
          <p:nvPr/>
        </p:nvPicPr>
        <p:blipFill>
          <a:blip r:embed="rId2"/>
          <a:stretch>
            <a:fillRect/>
          </a:stretch>
        </p:blipFill>
        <p:spPr>
          <a:xfrm>
            <a:off x="1074004" y="1959273"/>
            <a:ext cx="315581" cy="315581"/>
          </a:xfrm>
          <a:prstGeom prst="rect">
            <a:avLst/>
          </a:prstGeom>
        </p:spPr>
      </p:pic>
      <p:sp>
        <p:nvSpPr>
          <p:cNvPr id="10" name="TextBox 9"/>
          <p:cNvSpPr txBox="1"/>
          <p:nvPr/>
        </p:nvSpPr>
        <p:spPr>
          <a:xfrm>
            <a:off x="1692017" y="1763877"/>
            <a:ext cx="2191537" cy="706374"/>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Des promesses non tenues</a:t>
            </a:r>
          </a:p>
        </p:txBody>
      </p:sp>
      <p:sp>
        <p:nvSpPr>
          <p:cNvPr id="11" name="TextBox 10"/>
          <p:cNvSpPr txBox="1"/>
          <p:nvPr/>
        </p:nvSpPr>
        <p:spPr>
          <a:xfrm>
            <a:off x="903064" y="2658618"/>
            <a:ext cx="2892829" cy="1506931"/>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La traduction automatique, très financée pendant la guerre froide, déçoit : un rapport officiel (ALPAC, 1966) la juge plus lente et plus chère qu'un traducteur humain.</a:t>
            </a:r>
          </a:p>
        </p:txBody>
      </p:sp>
      <p:sp>
        <p:nvSpPr>
          <p:cNvPr id="12" name="Rectangle 11"/>
          <p:cNvSpPr/>
          <p:nvPr/>
        </p:nvSpPr>
        <p:spPr>
          <a:xfrm>
            <a:off x="4278031" y="1481328"/>
            <a:ext cx="3374967" cy="33435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8031" y="1481328"/>
            <a:ext cx="3374967" cy="64008"/>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1016" y="1788334"/>
            <a:ext cx="657461" cy="657461"/>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TimesCircle.png"/>
          <p:cNvPicPr>
            <a:picLocks noChangeAspect="1"/>
          </p:cNvPicPr>
          <p:nvPr/>
        </p:nvPicPr>
        <p:blipFill>
          <a:blip r:embed="rId3"/>
          <a:stretch>
            <a:fillRect/>
          </a:stretch>
        </p:blipFill>
        <p:spPr>
          <a:xfrm>
            <a:off x="4711956" y="1959273"/>
            <a:ext cx="315581" cy="315581"/>
          </a:xfrm>
          <a:prstGeom prst="rect">
            <a:avLst/>
          </a:prstGeom>
        </p:spPr>
      </p:pic>
      <p:sp>
        <p:nvSpPr>
          <p:cNvPr id="16" name="TextBox 15"/>
          <p:cNvSpPr txBox="1"/>
          <p:nvPr/>
        </p:nvSpPr>
        <p:spPr>
          <a:xfrm>
            <a:off x="5329969" y="1763877"/>
            <a:ext cx="2191537" cy="706374"/>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Des limites théoriques</a:t>
            </a:r>
          </a:p>
        </p:txBody>
      </p:sp>
      <p:sp>
        <p:nvSpPr>
          <p:cNvPr id="17" name="TextBox 16"/>
          <p:cNvSpPr txBox="1"/>
          <p:nvPr/>
        </p:nvSpPr>
        <p:spPr>
          <a:xfrm>
            <a:off x="4541016" y="2658618"/>
            <a:ext cx="2892829" cy="1506931"/>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En 1969, Minsky et Papert montrent qu'un perceptron simple ne peut pas apprendre certaines fonctions élémentaires, comme le « OU exclusif ».</a:t>
            </a:r>
          </a:p>
        </p:txBody>
      </p:sp>
      <p:sp>
        <p:nvSpPr>
          <p:cNvPr id="18" name="Rectangle 17"/>
          <p:cNvSpPr/>
          <p:nvPr/>
        </p:nvSpPr>
        <p:spPr>
          <a:xfrm>
            <a:off x="7915983" y="1481328"/>
            <a:ext cx="3374967" cy="33435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15983" y="1481328"/>
            <a:ext cx="3374967" cy="64008"/>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8967" y="1788334"/>
            <a:ext cx="657461" cy="657461"/>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Microchip.png"/>
          <p:cNvPicPr>
            <a:picLocks noChangeAspect="1"/>
          </p:cNvPicPr>
          <p:nvPr/>
        </p:nvPicPr>
        <p:blipFill>
          <a:blip r:embed="rId4"/>
          <a:stretch>
            <a:fillRect/>
          </a:stretch>
        </p:blipFill>
        <p:spPr>
          <a:xfrm>
            <a:off x="8349907" y="1959273"/>
            <a:ext cx="315581" cy="315581"/>
          </a:xfrm>
          <a:prstGeom prst="rect">
            <a:avLst/>
          </a:prstGeom>
        </p:spPr>
      </p:pic>
      <p:sp>
        <p:nvSpPr>
          <p:cNvPr id="22" name="TextBox 21"/>
          <p:cNvSpPr txBox="1"/>
          <p:nvPr/>
        </p:nvSpPr>
        <p:spPr>
          <a:xfrm>
            <a:off x="8967921" y="1763877"/>
            <a:ext cx="2191537" cy="706374"/>
          </a:xfrm>
          <a:prstGeom prst="rect">
            <a:avLst/>
          </a:prstGeom>
          <a:noFill/>
        </p:spPr>
        <p:txBody>
          <a:bodyPr wrap="square" lIns="0" rIns="0" tIns="0" bIns="0" anchor="ctr">
            <a:spAutoFit/>
          </a:bodyPr>
          <a:lstStyle/>
          <a:p>
            <a:pPr algn="l">
              <a:spcAft>
                <a:spcPts val="0"/>
              </a:spcAft>
            </a:pPr>
            <a:r>
              <a:rPr sz="1440" b="1" i="0">
                <a:solidFill>
                  <a:srgbClr val="1A2E2B"/>
                </a:solidFill>
                <a:latin typeface="Arial"/>
              </a:rPr>
              <a:t>Pas assez de puissance</a:t>
            </a:r>
          </a:p>
        </p:txBody>
      </p:sp>
      <p:sp>
        <p:nvSpPr>
          <p:cNvPr id="23" name="TextBox 22"/>
          <p:cNvSpPr txBox="1"/>
          <p:nvPr/>
        </p:nvSpPr>
        <p:spPr>
          <a:xfrm>
            <a:off x="8178967" y="2658618"/>
            <a:ext cx="2892829" cy="1506931"/>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Les ordinateurs sont des millions de fois moins puissants qu'aujourd'hui, et le nombre de cas à examiner explose avec la taille du problème.</a:t>
            </a:r>
          </a:p>
        </p:txBody>
      </p:sp>
      <p:sp>
        <p:nvSpPr>
          <p:cNvPr id="24" name="Oval 23"/>
          <p:cNvSpPr/>
          <p:nvPr/>
        </p:nvSpPr>
        <p:spPr>
          <a:xfrm>
            <a:off x="5066985" y="4267558"/>
            <a:ext cx="210387" cy="210387"/>
          </a:xfrm>
          <a:prstGeom prst="ellipse">
            <a:avLst/>
          </a:prstGeom>
          <a:solidFill>
            <a:srgbClr val="FFFFFF"/>
          </a:solidFill>
          <a:ln w="19050">
            <a:solidFill>
              <a:srgbClr val="ED5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49123" y="4267558"/>
            <a:ext cx="210387" cy="210387"/>
          </a:xfrm>
          <a:prstGeom prst="ellipse">
            <a:avLst/>
          </a:prstGeom>
          <a:solidFill>
            <a:srgbClr val="ED5D42"/>
          </a:solidFill>
          <a:ln w="19050">
            <a:solidFill>
              <a:srgbClr val="ED5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66985" y="3843734"/>
            <a:ext cx="210387" cy="210387"/>
          </a:xfrm>
          <a:prstGeom prst="ellipse">
            <a:avLst/>
          </a:prstGeom>
          <a:solidFill>
            <a:srgbClr val="ED5D42"/>
          </a:solidFill>
          <a:ln w="19050">
            <a:solidFill>
              <a:srgbClr val="ED5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49123" y="3843734"/>
            <a:ext cx="210387" cy="210387"/>
          </a:xfrm>
          <a:prstGeom prst="ellipse">
            <a:avLst/>
          </a:prstGeom>
          <a:solidFill>
            <a:srgbClr val="FFFFFF"/>
          </a:solidFill>
          <a:ln w="19050">
            <a:solidFill>
              <a:srgbClr val="ED5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5938" y="3930091"/>
            <a:ext cx="1490245" cy="659282"/>
          </a:xfrm>
          <a:prstGeom prst="rect">
            <a:avLst/>
          </a:prstGeom>
          <a:noFill/>
        </p:spPr>
        <p:txBody>
          <a:bodyPr wrap="square" lIns="0" rIns="0" tIns="0" bIns="0" anchor="ctr">
            <a:spAutoFit/>
          </a:bodyPr>
          <a:lstStyle/>
          <a:p>
            <a:pPr algn="l">
              <a:spcAft>
                <a:spcPts val="0"/>
              </a:spcAft>
            </a:pPr>
            <a:r>
              <a:rPr sz="900" b="0" i="1">
                <a:solidFill>
                  <a:srgbClr val="5A6B68"/>
                </a:solidFill>
                <a:latin typeface="Arial"/>
              </a:rPr>
              <a:t>Aucune droite ne sépare les points pleins des points vides</a:t>
            </a:r>
          </a:p>
        </p:txBody>
      </p:sp>
      <p:sp>
        <p:nvSpPr>
          <p:cNvPr id="29" name="Rectangle 28"/>
          <p:cNvSpPr/>
          <p:nvPr/>
        </p:nvSpPr>
        <p:spPr>
          <a:xfrm>
            <a:off x="640080" y="5107381"/>
            <a:ext cx="10607040" cy="894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59233" y="5269851"/>
            <a:ext cx="569799" cy="569799"/>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aSnowflake.png"/>
          <p:cNvPicPr>
            <a:picLocks noChangeAspect="1"/>
          </p:cNvPicPr>
          <p:nvPr/>
        </p:nvPicPr>
        <p:blipFill>
          <a:blip r:embed="rId5"/>
          <a:stretch>
            <a:fillRect/>
          </a:stretch>
        </p:blipFill>
        <p:spPr>
          <a:xfrm>
            <a:off x="1007381" y="5417999"/>
            <a:ext cx="273503" cy="273503"/>
          </a:xfrm>
          <a:prstGeom prst="rect">
            <a:avLst/>
          </a:prstGeom>
        </p:spPr>
      </p:pic>
      <p:sp>
        <p:nvSpPr>
          <p:cNvPr id="32" name="TextBox 31"/>
          <p:cNvSpPr txBox="1"/>
          <p:nvPr/>
        </p:nvSpPr>
        <p:spPr>
          <a:xfrm>
            <a:off x="1648187" y="5107381"/>
            <a:ext cx="9467440" cy="894740"/>
          </a:xfrm>
          <a:prstGeom prst="rect">
            <a:avLst/>
          </a:prstGeom>
          <a:noFill/>
        </p:spPr>
        <p:txBody>
          <a:bodyPr wrap="square" lIns="0" rIns="0" tIns="0" bIns="0" anchor="ctr">
            <a:spAutoFit/>
          </a:bodyPr>
          <a:lstStyle/>
          <a:p>
            <a:pPr algn="l">
              <a:spcAft>
                <a:spcPts val="0"/>
              </a:spcAft>
            </a:pPr>
            <a:r>
              <a:rPr sz="1350" b="1" i="0">
                <a:solidFill>
                  <a:srgbClr val="2B3A38"/>
                </a:solidFill>
                <a:latin typeface="Arial"/>
              </a:rPr>
              <a:t>Conséquence : </a:t>
            </a:r>
            <a:r>
              <a:rPr sz="1350" b="0" i="0">
                <a:solidFill>
                  <a:srgbClr val="2B3A38"/>
                </a:solidFill>
                <a:latin typeface="Arial"/>
              </a:rPr>
              <a:t>au Royaume-Uni (rapport Lighthill, 1973) comme aux États-Unis, les financements s'effondrent. Pendant des années, beaucoup de chercheurs évitent même le mot « IA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13</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03</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1980 – 1987</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LES SYSTÈMES EXPERTS</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Et si l'on mettait le savoir des experts dans la machine ?</a:t>
            </a:r>
          </a:p>
        </p:txBody>
      </p:sp>
      <p:sp>
        <p:nvSpPr>
          <p:cNvPr id="8" name="Oval 7"/>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819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031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603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9C8200"/>
                </a:solidFill>
              </a:rPr>
              <a:t>1980 – 1987 · Les systèmes experts</a:t>
            </a:r>
          </a:p>
        </p:txBody>
      </p:sp>
      <p:sp>
        <p:nvSpPr>
          <p:cNvPr id="3" name="Text Placeholder 2"/>
          <p:cNvSpPr>
            <a:spLocks noGrp="1"/>
          </p:cNvSpPr>
          <p:nvPr>
            <p:ph type="body" idx="25" sz="quarter"/>
          </p:nvPr>
        </p:nvSpPr>
        <p:spPr/>
        <p:txBody>
          <a:bodyPr/>
          <a:lstStyle/>
          <a:p>
            <a:r>
              <a:t>Les systèmes experts : le savoir humain mis en règles</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14</a:t>
            </a:fld>
          </a:p>
        </p:txBody>
      </p:sp>
      <p:sp>
        <p:nvSpPr>
          <p:cNvPr id="6" name="Rectangle 5"/>
          <p:cNvSpPr/>
          <p:nvPr/>
        </p:nvSpPr>
        <p:spPr>
          <a:xfrm>
            <a:off x="640080" y="1481328"/>
            <a:ext cx="2323029" cy="145983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323029"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5402" y="1736351"/>
            <a:ext cx="525968" cy="525968"/>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UserMd_dark.png"/>
          <p:cNvPicPr>
            <a:picLocks noChangeAspect="1"/>
          </p:cNvPicPr>
          <p:nvPr/>
        </p:nvPicPr>
        <p:blipFill>
          <a:blip r:embed="rId2"/>
          <a:stretch>
            <a:fillRect/>
          </a:stretch>
        </p:blipFill>
        <p:spPr>
          <a:xfrm>
            <a:off x="952154" y="1873103"/>
            <a:ext cx="252465" cy="252465"/>
          </a:xfrm>
          <a:prstGeom prst="rect">
            <a:avLst/>
          </a:prstGeom>
        </p:spPr>
      </p:pic>
      <p:sp>
        <p:nvSpPr>
          <p:cNvPr id="10" name="TextBox 9"/>
          <p:cNvSpPr txBox="1"/>
          <p:nvPr/>
        </p:nvSpPr>
        <p:spPr>
          <a:xfrm>
            <a:off x="1429033" y="1669694"/>
            <a:ext cx="1446414"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Un expert humain</a:t>
            </a:r>
          </a:p>
        </p:txBody>
      </p:sp>
      <p:sp>
        <p:nvSpPr>
          <p:cNvPr id="11" name="TextBox 10"/>
          <p:cNvSpPr txBox="1"/>
          <p:nvPr/>
        </p:nvSpPr>
        <p:spPr>
          <a:xfrm>
            <a:off x="815402" y="2376068"/>
            <a:ext cx="2016214" cy="518007"/>
          </a:xfrm>
          <a:prstGeom prst="rect">
            <a:avLst/>
          </a:prstGeom>
          <a:noFill/>
        </p:spPr>
        <p:txBody>
          <a:bodyPr wrap="square" lIns="0" rIns="0" tIns="0" bIns="0" anchor="t">
            <a:spAutoFit/>
          </a:bodyPr>
          <a:lstStyle/>
          <a:p>
            <a:pPr algn="l">
              <a:spcAft>
                <a:spcPts val="0"/>
              </a:spcAft>
            </a:pPr>
            <a:r>
              <a:rPr sz="1080" b="0" i="0">
                <a:solidFill>
                  <a:srgbClr val="5A6B68"/>
                </a:solidFill>
                <a:latin typeface="Arial"/>
              </a:rPr>
              <a:t>explique son raisonnement</a:t>
            </a:r>
          </a:p>
        </p:txBody>
      </p:sp>
      <p:cxnSp>
        <p:nvCxnSpPr>
          <p:cNvPr id="12" name="Connector 11"/>
          <p:cNvCxnSpPr/>
          <p:nvPr/>
        </p:nvCxnSpPr>
        <p:spPr>
          <a:xfrm>
            <a:off x="3006940" y="2206538"/>
            <a:ext cx="350646" cy="0"/>
          </a:xfrm>
          <a:prstGeom prst="line">
            <a:avLst/>
          </a:prstGeom>
          <a:ln w="25400">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01416" y="1481328"/>
            <a:ext cx="2323029" cy="145983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416" y="1481328"/>
            <a:ext cx="2323029"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6739" y="1736351"/>
            <a:ext cx="525968" cy="525968"/>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Book_dark.png"/>
          <p:cNvPicPr>
            <a:picLocks noChangeAspect="1"/>
          </p:cNvPicPr>
          <p:nvPr/>
        </p:nvPicPr>
        <p:blipFill>
          <a:blip r:embed="rId3"/>
          <a:stretch>
            <a:fillRect/>
          </a:stretch>
        </p:blipFill>
        <p:spPr>
          <a:xfrm>
            <a:off x="3713491" y="1873103"/>
            <a:ext cx="252465" cy="252465"/>
          </a:xfrm>
          <a:prstGeom prst="rect">
            <a:avLst/>
          </a:prstGeom>
        </p:spPr>
      </p:pic>
      <p:sp>
        <p:nvSpPr>
          <p:cNvPr id="17" name="TextBox 16"/>
          <p:cNvSpPr txBox="1"/>
          <p:nvPr/>
        </p:nvSpPr>
        <p:spPr>
          <a:xfrm>
            <a:off x="4190370" y="1669694"/>
            <a:ext cx="1446414"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Base de connaissances</a:t>
            </a:r>
          </a:p>
        </p:txBody>
      </p:sp>
      <p:sp>
        <p:nvSpPr>
          <p:cNvPr id="18" name="TextBox 17"/>
          <p:cNvSpPr txBox="1"/>
          <p:nvPr/>
        </p:nvSpPr>
        <p:spPr>
          <a:xfrm>
            <a:off x="3576739" y="2376068"/>
            <a:ext cx="2016214" cy="518007"/>
          </a:xfrm>
          <a:prstGeom prst="rect">
            <a:avLst/>
          </a:prstGeom>
          <a:noFill/>
        </p:spPr>
        <p:txBody>
          <a:bodyPr wrap="square" lIns="0" rIns="0" tIns="0" bIns="0" anchor="t">
            <a:spAutoFit/>
          </a:bodyPr>
          <a:lstStyle/>
          <a:p>
            <a:pPr algn="l">
              <a:spcAft>
                <a:spcPts val="0"/>
              </a:spcAft>
            </a:pPr>
            <a:r>
              <a:rPr sz="1080" b="0" i="0">
                <a:solidFill>
                  <a:srgbClr val="5A6B68"/>
                </a:solidFill>
                <a:latin typeface="Arial"/>
              </a:rPr>
              <a:t>des milliers de règles SI… ALORS…</a:t>
            </a:r>
          </a:p>
        </p:txBody>
      </p:sp>
      <p:cxnSp>
        <p:nvCxnSpPr>
          <p:cNvPr id="19" name="Connector 18"/>
          <p:cNvCxnSpPr/>
          <p:nvPr/>
        </p:nvCxnSpPr>
        <p:spPr>
          <a:xfrm>
            <a:off x="5768277" y="2206538"/>
            <a:ext cx="350645" cy="0"/>
          </a:xfrm>
          <a:prstGeom prst="line">
            <a:avLst/>
          </a:prstGeom>
          <a:ln w="25400">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162753" y="1481328"/>
            <a:ext cx="2323029" cy="145983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2753" y="1481328"/>
            <a:ext cx="2323029"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8076" y="1736351"/>
            <a:ext cx="525968" cy="525968"/>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Cogs_dark.png"/>
          <p:cNvPicPr>
            <a:picLocks noChangeAspect="1"/>
          </p:cNvPicPr>
          <p:nvPr/>
        </p:nvPicPr>
        <p:blipFill>
          <a:blip r:embed="rId4"/>
          <a:stretch>
            <a:fillRect/>
          </a:stretch>
        </p:blipFill>
        <p:spPr>
          <a:xfrm>
            <a:off x="6474828" y="1873103"/>
            <a:ext cx="252465" cy="252465"/>
          </a:xfrm>
          <a:prstGeom prst="rect">
            <a:avLst/>
          </a:prstGeom>
        </p:spPr>
      </p:pic>
      <p:sp>
        <p:nvSpPr>
          <p:cNvPr id="24" name="TextBox 23"/>
          <p:cNvSpPr txBox="1"/>
          <p:nvPr/>
        </p:nvSpPr>
        <p:spPr>
          <a:xfrm>
            <a:off x="6951707" y="1669694"/>
            <a:ext cx="1446414"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Moteur d'inférence</a:t>
            </a:r>
          </a:p>
        </p:txBody>
      </p:sp>
      <p:sp>
        <p:nvSpPr>
          <p:cNvPr id="25" name="TextBox 24"/>
          <p:cNvSpPr txBox="1"/>
          <p:nvPr/>
        </p:nvSpPr>
        <p:spPr>
          <a:xfrm>
            <a:off x="6338076" y="2376068"/>
            <a:ext cx="2016214" cy="518007"/>
          </a:xfrm>
          <a:prstGeom prst="rect">
            <a:avLst/>
          </a:prstGeom>
          <a:noFill/>
        </p:spPr>
        <p:txBody>
          <a:bodyPr wrap="square" lIns="0" rIns="0" tIns="0" bIns="0" anchor="t">
            <a:spAutoFit/>
          </a:bodyPr>
          <a:lstStyle/>
          <a:p>
            <a:pPr algn="l">
              <a:spcAft>
                <a:spcPts val="0"/>
              </a:spcAft>
            </a:pPr>
            <a:r>
              <a:rPr sz="1080" b="0" i="0">
                <a:solidFill>
                  <a:srgbClr val="5A6B68"/>
                </a:solidFill>
                <a:latin typeface="Arial"/>
              </a:rPr>
              <a:t>enchaîne les règles</a:t>
            </a:r>
          </a:p>
        </p:txBody>
      </p:sp>
      <p:cxnSp>
        <p:nvCxnSpPr>
          <p:cNvPr id="26" name="Connector 25"/>
          <p:cNvCxnSpPr/>
          <p:nvPr/>
        </p:nvCxnSpPr>
        <p:spPr>
          <a:xfrm>
            <a:off x="8529613" y="2206538"/>
            <a:ext cx="350646" cy="0"/>
          </a:xfrm>
          <a:prstGeom prst="line">
            <a:avLst/>
          </a:prstGeom>
          <a:ln w="25400">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924090" y="1481328"/>
            <a:ext cx="2323029" cy="145983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090" y="1481328"/>
            <a:ext cx="2323029"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99413" y="1736351"/>
            <a:ext cx="525968" cy="525968"/>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CheckCircle_dark.png"/>
          <p:cNvPicPr>
            <a:picLocks noChangeAspect="1"/>
          </p:cNvPicPr>
          <p:nvPr/>
        </p:nvPicPr>
        <p:blipFill>
          <a:blip r:embed="rId5"/>
          <a:stretch>
            <a:fillRect/>
          </a:stretch>
        </p:blipFill>
        <p:spPr>
          <a:xfrm>
            <a:off x="9236165" y="1873103"/>
            <a:ext cx="252465" cy="252465"/>
          </a:xfrm>
          <a:prstGeom prst="rect">
            <a:avLst/>
          </a:prstGeom>
        </p:spPr>
      </p:pic>
      <p:sp>
        <p:nvSpPr>
          <p:cNvPr id="31" name="TextBox 30"/>
          <p:cNvSpPr txBox="1"/>
          <p:nvPr/>
        </p:nvSpPr>
        <p:spPr>
          <a:xfrm>
            <a:off x="9713043" y="1669694"/>
            <a:ext cx="1446414"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Conclusion</a:t>
            </a:r>
          </a:p>
        </p:txBody>
      </p:sp>
      <p:sp>
        <p:nvSpPr>
          <p:cNvPr id="32" name="TextBox 31"/>
          <p:cNvSpPr txBox="1"/>
          <p:nvPr/>
        </p:nvSpPr>
        <p:spPr>
          <a:xfrm>
            <a:off x="9099413" y="2376068"/>
            <a:ext cx="2016214" cy="518007"/>
          </a:xfrm>
          <a:prstGeom prst="rect">
            <a:avLst/>
          </a:prstGeom>
          <a:noFill/>
        </p:spPr>
        <p:txBody>
          <a:bodyPr wrap="square" lIns="0" rIns="0" tIns="0" bIns="0" anchor="t">
            <a:spAutoFit/>
          </a:bodyPr>
          <a:lstStyle/>
          <a:p>
            <a:pPr algn="l">
              <a:spcAft>
                <a:spcPts val="0"/>
              </a:spcAft>
            </a:pPr>
            <a:r>
              <a:rPr sz="1080" b="0" i="0">
                <a:solidFill>
                  <a:srgbClr val="5A6B68"/>
                </a:solidFill>
                <a:latin typeface="Arial"/>
              </a:rPr>
              <a:t>diagnostic, conseil, décision</a:t>
            </a:r>
          </a:p>
        </p:txBody>
      </p:sp>
      <p:sp>
        <p:nvSpPr>
          <p:cNvPr id="33" name="Rectangle 32"/>
          <p:cNvSpPr/>
          <p:nvPr/>
        </p:nvSpPr>
        <p:spPr>
          <a:xfrm>
            <a:off x="640080" y="3270808"/>
            <a:ext cx="5259689" cy="2731312"/>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233" y="3412083"/>
            <a:ext cx="4909043" cy="329641"/>
          </a:xfrm>
          <a:prstGeom prst="rect">
            <a:avLst/>
          </a:prstGeom>
          <a:noFill/>
        </p:spPr>
        <p:txBody>
          <a:bodyPr wrap="square" lIns="0" rIns="0" tIns="0" bIns="0" anchor="t">
            <a:spAutoFit/>
          </a:bodyPr>
          <a:lstStyle/>
          <a:p>
            <a:pPr algn="l">
              <a:spcAft>
                <a:spcPts val="0"/>
              </a:spcAft>
            </a:pPr>
            <a:r>
              <a:rPr sz="1080" b="0" i="1">
                <a:solidFill>
                  <a:srgbClr val="A9BDBA"/>
                </a:solidFill>
                <a:latin typeface="Arial"/>
              </a:rPr>
              <a:t>Exemple de règle (inspirée de MYCIN, simplifiée)</a:t>
            </a:r>
          </a:p>
        </p:txBody>
      </p:sp>
      <p:sp>
        <p:nvSpPr>
          <p:cNvPr id="35" name="TextBox 34"/>
          <p:cNvSpPr txBox="1"/>
          <p:nvPr/>
        </p:nvSpPr>
        <p:spPr>
          <a:xfrm>
            <a:off x="859233" y="3835908"/>
            <a:ext cx="4909043" cy="1977847"/>
          </a:xfrm>
          <a:prstGeom prst="rect">
            <a:avLst/>
          </a:prstGeom>
          <a:noFill/>
        </p:spPr>
        <p:txBody>
          <a:bodyPr wrap="square" lIns="0" rIns="0" tIns="0" bIns="0" anchor="t">
            <a:spAutoFit/>
          </a:bodyPr>
          <a:lstStyle/>
          <a:p>
            <a:pPr algn="l">
              <a:spcAft>
                <a:spcPts val="600"/>
              </a:spcAft>
            </a:pPr>
            <a:r>
              <a:rPr sz="1350" b="1" i="0">
                <a:solidFill>
                  <a:srgbClr val="F4D73F"/>
                </a:solidFill>
                <a:latin typeface="Courier New"/>
              </a:rPr>
              <a:t>SI    </a:t>
            </a:r>
            <a:r>
              <a:rPr sz="1350" b="0" i="0">
                <a:solidFill>
                  <a:srgbClr val="FFFFFF"/>
                </a:solidFill>
                <a:latin typeface="Courier New"/>
              </a:rPr>
              <a:t>l'infection est bactérienne</a:t>
            </a:r>
          </a:p>
          <a:p>
            <a:pPr algn="l">
              <a:spcAft>
                <a:spcPts val="600"/>
              </a:spcAft>
            </a:pPr>
            <a:r>
              <a:rPr sz="1350" b="1" i="0">
                <a:solidFill>
                  <a:srgbClr val="F4D73F"/>
                </a:solidFill>
                <a:latin typeface="Courier New"/>
              </a:rPr>
              <a:t>ET    </a:t>
            </a:r>
            <a:r>
              <a:rPr sz="1350" b="0" i="0">
                <a:solidFill>
                  <a:srgbClr val="FFFFFF"/>
                </a:solidFill>
                <a:latin typeface="Courier New"/>
              </a:rPr>
              <a:t>le patient a de la fièvre</a:t>
            </a:r>
          </a:p>
          <a:p>
            <a:pPr algn="l">
              <a:spcAft>
                <a:spcPts val="600"/>
              </a:spcAft>
            </a:pPr>
            <a:r>
              <a:rPr sz="1350" b="1" i="0">
                <a:solidFill>
                  <a:srgbClr val="F4D73F"/>
                </a:solidFill>
                <a:latin typeface="Courier New"/>
              </a:rPr>
              <a:t>ET    </a:t>
            </a:r>
            <a:r>
              <a:rPr sz="1350" b="0" i="0">
                <a:solidFill>
                  <a:srgbClr val="FFFFFF"/>
                </a:solidFill>
                <a:latin typeface="Courier New"/>
              </a:rPr>
              <a:t>la culture sanguine est positive</a:t>
            </a:r>
          </a:p>
          <a:p>
            <a:pPr algn="l">
              <a:spcAft>
                <a:spcPts val="600"/>
              </a:spcAft>
            </a:pPr>
            <a:r>
              <a:rPr sz="1350" b="1" i="0">
                <a:solidFill>
                  <a:srgbClr val="F4D73F"/>
                </a:solidFill>
                <a:latin typeface="Courier New"/>
              </a:rPr>
              <a:t>ALORS </a:t>
            </a:r>
            <a:r>
              <a:rPr sz="1350" b="0" i="0">
                <a:solidFill>
                  <a:srgbClr val="FFFFFF"/>
                </a:solidFill>
                <a:latin typeface="Courier New"/>
              </a:rPr>
              <a:t>proposer l'antibiotique X</a:t>
            </a:r>
          </a:p>
        </p:txBody>
      </p:sp>
      <p:sp>
        <p:nvSpPr>
          <p:cNvPr id="36" name="Rectangle 35"/>
          <p:cNvSpPr/>
          <p:nvPr/>
        </p:nvSpPr>
        <p:spPr>
          <a:xfrm>
            <a:off x="6162753" y="3270808"/>
            <a:ext cx="5084366" cy="1318564"/>
          </a:xfrm>
          <a:prstGeom prst="rect">
            <a:avLst/>
          </a:prstGeom>
          <a:solidFill>
            <a:srgbClr val="FD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62753" y="3270808"/>
            <a:ext cx="5084366"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81907" y="3430920"/>
            <a:ext cx="4733720" cy="376732"/>
          </a:xfrm>
          <a:prstGeom prst="rect">
            <a:avLst/>
          </a:prstGeom>
          <a:noFill/>
        </p:spPr>
        <p:txBody>
          <a:bodyPr wrap="square" lIns="0" rIns="0" tIns="0" bIns="0" anchor="t">
            <a:spAutoFit/>
          </a:bodyPr>
          <a:lstStyle/>
          <a:p>
            <a:pPr algn="l">
              <a:spcAft>
                <a:spcPts val="0"/>
              </a:spcAft>
            </a:pPr>
            <a:r>
              <a:rPr sz="1350" b="1" i="0">
                <a:solidFill>
                  <a:srgbClr val="1A2E2B"/>
                </a:solidFill>
                <a:latin typeface="Arial"/>
              </a:rPr>
              <a:t>MYCIN (Stanford, années 1970)</a:t>
            </a:r>
          </a:p>
        </p:txBody>
      </p:sp>
      <p:sp>
        <p:nvSpPr>
          <p:cNvPr id="39" name="TextBox 38"/>
          <p:cNvSpPr txBox="1"/>
          <p:nvPr/>
        </p:nvSpPr>
        <p:spPr>
          <a:xfrm>
            <a:off x="6381907" y="3807653"/>
            <a:ext cx="4733720" cy="753465"/>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Diagnostique les infections du sang et propose un traitement ; lors des tests, il fait aussi bien que des spécialistes.</a:t>
            </a:r>
          </a:p>
        </p:txBody>
      </p:sp>
      <p:sp>
        <p:nvSpPr>
          <p:cNvPr id="40" name="Rectangle 39"/>
          <p:cNvSpPr/>
          <p:nvPr/>
        </p:nvSpPr>
        <p:spPr>
          <a:xfrm>
            <a:off x="6162753" y="4683556"/>
            <a:ext cx="5084366" cy="1318564"/>
          </a:xfrm>
          <a:prstGeom prst="rect">
            <a:avLst/>
          </a:prstGeom>
          <a:solidFill>
            <a:srgbClr val="FD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2753" y="4683556"/>
            <a:ext cx="5084366"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81907" y="4843668"/>
            <a:ext cx="4733720" cy="376732"/>
          </a:xfrm>
          <a:prstGeom prst="rect">
            <a:avLst/>
          </a:prstGeom>
          <a:noFill/>
        </p:spPr>
        <p:txBody>
          <a:bodyPr wrap="square" lIns="0" rIns="0" tIns="0" bIns="0" anchor="t">
            <a:spAutoFit/>
          </a:bodyPr>
          <a:lstStyle/>
          <a:p>
            <a:pPr algn="l">
              <a:spcAft>
                <a:spcPts val="0"/>
              </a:spcAft>
            </a:pPr>
            <a:r>
              <a:rPr sz="1350" b="1" i="0">
                <a:solidFill>
                  <a:srgbClr val="1A2E2B"/>
                </a:solidFill>
                <a:latin typeface="Arial"/>
              </a:rPr>
              <a:t>XCON (DEC, 1980)</a:t>
            </a:r>
          </a:p>
        </p:txBody>
      </p:sp>
      <p:sp>
        <p:nvSpPr>
          <p:cNvPr id="43" name="TextBox 42"/>
          <p:cNvSpPr txBox="1"/>
          <p:nvPr/>
        </p:nvSpPr>
        <p:spPr>
          <a:xfrm>
            <a:off x="6381907" y="5220401"/>
            <a:ext cx="4733720" cy="753465"/>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Configure les commandes d'ordinateurs de l'entreprise DEC et lui fait économiser des dizaines de millions de dollars par 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DF2F3"/>
        </a:solidFill>
        <a:effectLst/>
      </p:bgPr>
    </p:bg>
    <p:spTree>
      <p:nvGrpSpPr>
        <p:cNvPr id="1" name=""/>
        <p:cNvGrpSpPr/>
        <p:nvPr/>
      </p:nvGrpSpPr>
      <p:grpSpPr/>
      <p:sp>
        <p:nvSpPr>
          <p:cNvPr id="2" name="Text Placeholder 1"/>
          <p:cNvSpPr>
            <a:spLocks noGrp="1"/>
          </p:cNvSpPr>
          <p:nvPr>
            <p:ph type="body" idx="24" sz="quarter"/>
          </p:nvPr>
        </p:nvSpPr>
        <p:spPr/>
        <p:txBody>
          <a:bodyPr/>
          <a:lstStyle/>
          <a:p>
            <a:r>
              <a:rPr b="1" sz="1400">
                <a:solidFill>
                  <a:srgbClr val="6B7876"/>
                </a:solidFill>
              </a:rPr>
              <a:t>1987 – 1993 · Hiver</a:t>
            </a:r>
          </a:p>
        </p:txBody>
      </p:sp>
      <p:sp>
        <p:nvSpPr>
          <p:cNvPr id="3" name="Text Placeholder 2"/>
          <p:cNvSpPr>
            <a:spLocks noGrp="1"/>
          </p:cNvSpPr>
          <p:nvPr>
            <p:ph type="body" idx="25" sz="quarter"/>
          </p:nvPr>
        </p:nvSpPr>
        <p:spPr/>
        <p:txBody>
          <a:bodyPr/>
          <a:lstStyle/>
          <a:p>
            <a:r>
              <a:t>Le second hiver de l'IA</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15</a:t>
            </a:fld>
          </a:p>
        </p:txBody>
      </p:sp>
      <p:sp>
        <p:nvSpPr>
          <p:cNvPr id="6" name="Oval 5"/>
          <p:cNvSpPr/>
          <p:nvPr/>
        </p:nvSpPr>
        <p:spPr>
          <a:xfrm>
            <a:off x="640079" y="1504153"/>
            <a:ext cx="613630" cy="613630"/>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Coins.png"/>
          <p:cNvPicPr>
            <a:picLocks noChangeAspect="1"/>
          </p:cNvPicPr>
          <p:nvPr/>
        </p:nvPicPr>
        <p:blipFill>
          <a:blip r:embed="rId2"/>
          <a:stretch>
            <a:fillRect/>
          </a:stretch>
        </p:blipFill>
        <p:spPr>
          <a:xfrm>
            <a:off x="799623" y="1663697"/>
            <a:ext cx="294542" cy="294542"/>
          </a:xfrm>
          <a:prstGeom prst="rect">
            <a:avLst/>
          </a:prstGeom>
        </p:spPr>
      </p:pic>
      <p:sp>
        <p:nvSpPr>
          <p:cNvPr id="8" name="TextBox 7"/>
          <p:cNvSpPr txBox="1"/>
          <p:nvPr/>
        </p:nvSpPr>
        <p:spPr>
          <a:xfrm>
            <a:off x="1429033" y="1481328"/>
            <a:ext cx="4558397" cy="339059"/>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Coûteux</a:t>
            </a:r>
          </a:p>
        </p:txBody>
      </p:sp>
      <p:sp>
        <p:nvSpPr>
          <p:cNvPr id="9" name="TextBox 8"/>
          <p:cNvSpPr txBox="1"/>
          <p:nvPr/>
        </p:nvSpPr>
        <p:spPr>
          <a:xfrm>
            <a:off x="1429033" y="1858060"/>
            <a:ext cx="4558397" cy="70637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Extraire le savoir des experts et maintenir des milliers de règles coûte très cher.</a:t>
            </a:r>
          </a:p>
        </p:txBody>
      </p:sp>
      <p:sp>
        <p:nvSpPr>
          <p:cNvPr id="10" name="Oval 9"/>
          <p:cNvSpPr/>
          <p:nvPr/>
        </p:nvSpPr>
        <p:spPr>
          <a:xfrm>
            <a:off x="640079" y="2615515"/>
            <a:ext cx="613630" cy="613630"/>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ExclamationTriangle.png"/>
          <p:cNvPicPr>
            <a:picLocks noChangeAspect="1"/>
          </p:cNvPicPr>
          <p:nvPr/>
        </p:nvPicPr>
        <p:blipFill>
          <a:blip r:embed="rId3"/>
          <a:stretch>
            <a:fillRect/>
          </a:stretch>
        </p:blipFill>
        <p:spPr>
          <a:xfrm>
            <a:off x="799623" y="2775059"/>
            <a:ext cx="294542" cy="294542"/>
          </a:xfrm>
          <a:prstGeom prst="rect">
            <a:avLst/>
          </a:prstGeom>
        </p:spPr>
      </p:pic>
      <p:sp>
        <p:nvSpPr>
          <p:cNvPr id="12" name="TextBox 11"/>
          <p:cNvSpPr txBox="1"/>
          <p:nvPr/>
        </p:nvSpPr>
        <p:spPr>
          <a:xfrm>
            <a:off x="1429033" y="2592689"/>
            <a:ext cx="4558397" cy="339059"/>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Fragiles</a:t>
            </a:r>
          </a:p>
        </p:txBody>
      </p:sp>
      <p:sp>
        <p:nvSpPr>
          <p:cNvPr id="13" name="TextBox 12"/>
          <p:cNvSpPr txBox="1"/>
          <p:nvPr/>
        </p:nvSpPr>
        <p:spPr>
          <a:xfrm>
            <a:off x="1429033" y="2969422"/>
            <a:ext cx="4558397" cy="70637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Face à un cas imprévu, le système se trompe grossièrement : il ne sait que ce qu'on lui a dit.</a:t>
            </a:r>
          </a:p>
        </p:txBody>
      </p:sp>
      <p:sp>
        <p:nvSpPr>
          <p:cNvPr id="14" name="Oval 13"/>
          <p:cNvSpPr/>
          <p:nvPr/>
        </p:nvSpPr>
        <p:spPr>
          <a:xfrm>
            <a:off x="640079" y="3726877"/>
            <a:ext cx="613630" cy="613630"/>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Lock.png"/>
          <p:cNvPicPr>
            <a:picLocks noChangeAspect="1"/>
          </p:cNvPicPr>
          <p:nvPr/>
        </p:nvPicPr>
        <p:blipFill>
          <a:blip r:embed="rId4"/>
          <a:stretch>
            <a:fillRect/>
          </a:stretch>
        </p:blipFill>
        <p:spPr>
          <a:xfrm>
            <a:off x="799623" y="3886421"/>
            <a:ext cx="294542" cy="294542"/>
          </a:xfrm>
          <a:prstGeom prst="rect">
            <a:avLst/>
          </a:prstGeom>
        </p:spPr>
      </p:pic>
      <p:sp>
        <p:nvSpPr>
          <p:cNvPr id="16" name="TextBox 15"/>
          <p:cNvSpPr txBox="1"/>
          <p:nvPr/>
        </p:nvSpPr>
        <p:spPr>
          <a:xfrm>
            <a:off x="1429033" y="3704051"/>
            <a:ext cx="4558397" cy="339059"/>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Figés</a:t>
            </a:r>
          </a:p>
        </p:txBody>
      </p:sp>
      <p:sp>
        <p:nvSpPr>
          <p:cNvPr id="17" name="TextBox 16"/>
          <p:cNvSpPr txBox="1"/>
          <p:nvPr/>
        </p:nvSpPr>
        <p:spPr>
          <a:xfrm>
            <a:off x="1429033" y="4080784"/>
            <a:ext cx="4558397" cy="70637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Ils n'apprennent pas : chaque nouvelle connaissance doit être ajoutée à la main.</a:t>
            </a:r>
          </a:p>
        </p:txBody>
      </p:sp>
      <p:sp>
        <p:nvSpPr>
          <p:cNvPr id="18" name="Oval 17"/>
          <p:cNvSpPr/>
          <p:nvPr/>
        </p:nvSpPr>
        <p:spPr>
          <a:xfrm>
            <a:off x="640079" y="4838239"/>
            <a:ext cx="613630" cy="613630"/>
          </a:xfrm>
          <a:prstGeom prst="ellipse">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ChartLine.png"/>
          <p:cNvPicPr>
            <a:picLocks noChangeAspect="1"/>
          </p:cNvPicPr>
          <p:nvPr/>
        </p:nvPicPr>
        <p:blipFill>
          <a:blip r:embed="rId5"/>
          <a:stretch>
            <a:fillRect/>
          </a:stretch>
        </p:blipFill>
        <p:spPr>
          <a:xfrm>
            <a:off x="799623" y="4997783"/>
            <a:ext cx="294542" cy="294542"/>
          </a:xfrm>
          <a:prstGeom prst="rect">
            <a:avLst/>
          </a:prstGeom>
        </p:spPr>
      </p:pic>
      <p:sp>
        <p:nvSpPr>
          <p:cNvPr id="20" name="TextBox 19"/>
          <p:cNvSpPr txBox="1"/>
          <p:nvPr/>
        </p:nvSpPr>
        <p:spPr>
          <a:xfrm>
            <a:off x="1429033" y="4815413"/>
            <a:ext cx="4558397" cy="339059"/>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Un marché qui s'effondre</a:t>
            </a:r>
          </a:p>
        </p:txBody>
      </p:sp>
      <p:sp>
        <p:nvSpPr>
          <p:cNvPr id="21" name="TextBox 20"/>
          <p:cNvSpPr txBox="1"/>
          <p:nvPr/>
        </p:nvSpPr>
        <p:spPr>
          <a:xfrm>
            <a:off x="1429033" y="5192146"/>
            <a:ext cx="4558397" cy="706374"/>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En 1987, le marché des ordinateurs spécialisés pour l'IA disparaît presque du jour au lendemain.</a:t>
            </a:r>
          </a:p>
        </p:txBody>
      </p:sp>
      <p:sp>
        <p:nvSpPr>
          <p:cNvPr id="22" name="Rectangle 21"/>
          <p:cNvSpPr/>
          <p:nvPr/>
        </p:nvSpPr>
        <p:spPr>
          <a:xfrm>
            <a:off x="6425738" y="1481328"/>
            <a:ext cx="4821381" cy="4473702"/>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32553" y="1837056"/>
            <a:ext cx="701291" cy="701291"/>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aLightbulb_dark.png"/>
          <p:cNvPicPr>
            <a:picLocks noChangeAspect="1"/>
          </p:cNvPicPr>
          <p:nvPr/>
        </p:nvPicPr>
        <p:blipFill>
          <a:blip r:embed="rId6"/>
          <a:stretch>
            <a:fillRect/>
          </a:stretch>
        </p:blipFill>
        <p:spPr>
          <a:xfrm>
            <a:off x="6914889" y="2019391"/>
            <a:ext cx="336620" cy="336620"/>
          </a:xfrm>
          <a:prstGeom prst="rect">
            <a:avLst/>
          </a:prstGeom>
        </p:spPr>
      </p:pic>
      <p:sp>
        <p:nvSpPr>
          <p:cNvPr id="25" name="TextBox 24"/>
          <p:cNvSpPr txBox="1"/>
          <p:nvPr/>
        </p:nvSpPr>
        <p:spPr>
          <a:xfrm>
            <a:off x="7609168" y="1810969"/>
            <a:ext cx="3418798" cy="753465"/>
          </a:xfrm>
          <a:prstGeom prst="rect">
            <a:avLst/>
          </a:prstGeom>
          <a:noFill/>
        </p:spPr>
        <p:txBody>
          <a:bodyPr wrap="square" lIns="0" rIns="0" tIns="0" bIns="0" anchor="ctr">
            <a:spAutoFit/>
          </a:bodyPr>
          <a:lstStyle/>
          <a:p>
            <a:pPr algn="l">
              <a:spcAft>
                <a:spcPts val="0"/>
              </a:spcAft>
            </a:pPr>
            <a:r>
              <a:rPr sz="1800" b="1" i="0">
                <a:solidFill>
                  <a:srgbClr val="FFFFFF"/>
                </a:solidFill>
                <a:latin typeface="Arial"/>
              </a:rPr>
              <a:t>La leçon</a:t>
            </a:r>
          </a:p>
        </p:txBody>
      </p:sp>
      <p:sp>
        <p:nvSpPr>
          <p:cNvPr id="26" name="TextBox 25"/>
          <p:cNvSpPr txBox="1"/>
          <p:nvPr/>
        </p:nvSpPr>
        <p:spPr>
          <a:xfrm>
            <a:off x="6732553" y="2752801"/>
            <a:ext cx="4251582" cy="1130198"/>
          </a:xfrm>
          <a:prstGeom prst="rect">
            <a:avLst/>
          </a:prstGeom>
          <a:noFill/>
        </p:spPr>
        <p:txBody>
          <a:bodyPr wrap="square" lIns="0" rIns="0" tIns="0" bIns="0" anchor="t">
            <a:spAutoFit/>
          </a:bodyPr>
          <a:lstStyle/>
          <a:p>
            <a:pPr algn="l">
              <a:spcAft>
                <a:spcPts val="0"/>
              </a:spcAft>
            </a:pPr>
            <a:r>
              <a:rPr sz="1890" b="1" i="0">
                <a:solidFill>
                  <a:srgbClr val="FFFFFF"/>
                </a:solidFill>
                <a:latin typeface="Arial"/>
              </a:rPr>
              <a:t>On ne peut pas écrire à la main toutes les règles du monde.</a:t>
            </a:r>
          </a:p>
        </p:txBody>
      </p:sp>
      <p:sp>
        <p:nvSpPr>
          <p:cNvPr id="27" name="TextBox 26"/>
          <p:cNvSpPr txBox="1"/>
          <p:nvPr/>
        </p:nvSpPr>
        <p:spPr>
          <a:xfrm>
            <a:off x="6732553" y="4071366"/>
            <a:ext cx="4251582" cy="1318564"/>
          </a:xfrm>
          <a:prstGeom prst="rect">
            <a:avLst/>
          </a:prstGeom>
          <a:noFill/>
        </p:spPr>
        <p:txBody>
          <a:bodyPr wrap="square" lIns="0" rIns="0" tIns="0" bIns="0" anchor="t">
            <a:spAutoFit/>
          </a:bodyPr>
          <a:lstStyle/>
          <a:p>
            <a:pPr algn="l">
              <a:spcAft>
                <a:spcPts val="0"/>
              </a:spcAft>
            </a:pPr>
            <a:r>
              <a:rPr sz="1710" b="0" i="1">
                <a:solidFill>
                  <a:srgbClr val="E3F6F5"/>
                </a:solidFill>
                <a:latin typeface="Arial"/>
              </a:rPr>
              <a:t>Et si la machine apprenait les règles elle-même, à partir d'exemples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Le tournant</a:t>
            </a:r>
          </a:p>
        </p:txBody>
      </p:sp>
      <p:sp>
        <p:nvSpPr>
          <p:cNvPr id="3" name="Text Placeholder 2"/>
          <p:cNvSpPr>
            <a:spLocks noGrp="1"/>
          </p:cNvSpPr>
          <p:nvPr>
            <p:ph type="body" idx="25" sz="quarter"/>
          </p:nvPr>
        </p:nvSpPr>
        <p:spPr/>
        <p:txBody>
          <a:bodyPr/>
          <a:lstStyle/>
          <a:p>
            <a:r>
              <a:t>Deux façons de faire de l'IA</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16</a:t>
            </a:fld>
          </a:p>
        </p:txBody>
      </p:sp>
      <p:sp>
        <p:nvSpPr>
          <p:cNvPr id="6" name="Rectangle 5"/>
          <p:cNvSpPr/>
          <p:nvPr/>
        </p:nvSpPr>
        <p:spPr>
          <a:xfrm>
            <a:off x="640080" y="1434236"/>
            <a:ext cx="5172027" cy="461497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34236"/>
            <a:ext cx="5172027"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064" y="1622602"/>
            <a:ext cx="4646058" cy="423824"/>
          </a:xfrm>
          <a:prstGeom prst="rect">
            <a:avLst/>
          </a:prstGeom>
          <a:noFill/>
        </p:spPr>
        <p:txBody>
          <a:bodyPr wrap="square" lIns="0" rIns="0" tIns="0" bIns="0" anchor="t">
            <a:spAutoFit/>
          </a:bodyPr>
          <a:lstStyle/>
          <a:p>
            <a:pPr algn="l">
              <a:spcAft>
                <a:spcPts val="0"/>
              </a:spcAft>
            </a:pPr>
            <a:r>
              <a:rPr sz="1710" b="1" i="0">
                <a:solidFill>
                  <a:srgbClr val="9C8200"/>
                </a:solidFill>
                <a:latin typeface="Arial"/>
              </a:rPr>
              <a:t>Programmer les règles</a:t>
            </a:r>
          </a:p>
        </p:txBody>
      </p:sp>
      <p:sp>
        <p:nvSpPr>
          <p:cNvPr id="9" name="TextBox 8"/>
          <p:cNvSpPr txBox="1"/>
          <p:nvPr/>
        </p:nvSpPr>
        <p:spPr>
          <a:xfrm>
            <a:off x="903064" y="2027590"/>
            <a:ext cx="4646058" cy="329641"/>
          </a:xfrm>
          <a:prstGeom prst="rect">
            <a:avLst/>
          </a:prstGeom>
          <a:noFill/>
        </p:spPr>
        <p:txBody>
          <a:bodyPr wrap="square" lIns="0" rIns="0" tIns="0" bIns="0" anchor="t">
            <a:spAutoFit/>
          </a:bodyPr>
          <a:lstStyle/>
          <a:p>
            <a:pPr algn="l">
              <a:spcAft>
                <a:spcPts val="0"/>
              </a:spcAft>
            </a:pPr>
            <a:r>
              <a:rPr sz="1170" b="0" i="1">
                <a:solidFill>
                  <a:srgbClr val="5A6B68"/>
                </a:solidFill>
                <a:latin typeface="Arial"/>
              </a:rPr>
              <a:t>IA symbolique : ELIZA, systèmes experts…</a:t>
            </a:r>
          </a:p>
        </p:txBody>
      </p:sp>
      <p:sp>
        <p:nvSpPr>
          <p:cNvPr id="10" name="Rectangle 9"/>
          <p:cNvSpPr/>
          <p:nvPr/>
        </p:nvSpPr>
        <p:spPr>
          <a:xfrm>
            <a:off x="903064" y="2517343"/>
            <a:ext cx="1314922" cy="518007"/>
          </a:xfrm>
          <a:prstGeom prst="rect">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3064" y="2517343"/>
            <a:ext cx="1314922" cy="518007"/>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Données</a:t>
            </a:r>
          </a:p>
        </p:txBody>
      </p:sp>
      <p:sp>
        <p:nvSpPr>
          <p:cNvPr id="12" name="Rectangle 11"/>
          <p:cNvSpPr/>
          <p:nvPr/>
        </p:nvSpPr>
        <p:spPr>
          <a:xfrm>
            <a:off x="903064" y="3223717"/>
            <a:ext cx="1314922" cy="518007"/>
          </a:xfrm>
          <a:prstGeom prst="rect">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3064" y="3223717"/>
            <a:ext cx="1314922" cy="518007"/>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Règles</a:t>
            </a:r>
          </a:p>
        </p:txBody>
      </p:sp>
      <p:sp>
        <p:nvSpPr>
          <p:cNvPr id="14" name="Rectangle 13"/>
          <p:cNvSpPr/>
          <p:nvPr/>
        </p:nvSpPr>
        <p:spPr>
          <a:xfrm>
            <a:off x="2612463" y="2865821"/>
            <a:ext cx="1358753" cy="518007"/>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12463" y="2865821"/>
            <a:ext cx="1358753" cy="518007"/>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Programme</a:t>
            </a:r>
          </a:p>
        </p:txBody>
      </p:sp>
      <p:sp>
        <p:nvSpPr>
          <p:cNvPr id="16" name="Rectangle 15"/>
          <p:cNvSpPr/>
          <p:nvPr/>
        </p:nvSpPr>
        <p:spPr>
          <a:xfrm>
            <a:off x="4365693" y="2865821"/>
            <a:ext cx="1183430" cy="518007"/>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5693" y="2865821"/>
            <a:ext cx="1183430" cy="518007"/>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Réponses</a:t>
            </a:r>
          </a:p>
        </p:txBody>
      </p:sp>
      <p:cxnSp>
        <p:nvCxnSpPr>
          <p:cNvPr id="18" name="Connector 17"/>
          <p:cNvCxnSpPr/>
          <p:nvPr/>
        </p:nvCxnSpPr>
        <p:spPr>
          <a:xfrm>
            <a:off x="2235519" y="2781056"/>
            <a:ext cx="359412" cy="273131"/>
          </a:xfrm>
          <a:prstGeom prst="line">
            <a:avLst/>
          </a:prstGeom>
          <a:ln w="22225">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35519" y="3204880"/>
            <a:ext cx="359412" cy="273131"/>
          </a:xfrm>
          <a:prstGeom prst="line">
            <a:avLst/>
          </a:prstGeom>
          <a:ln w="22225">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88748" y="3129534"/>
            <a:ext cx="359412" cy="0"/>
          </a:xfrm>
          <a:prstGeom prst="line">
            <a:avLst/>
          </a:prstGeom>
          <a:ln w="22225">
            <a:solidFill>
              <a:srgbClr val="9C8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3064" y="3977182"/>
            <a:ext cx="4646058" cy="1083106"/>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Anti-spam : on écrit « SI le mail contient “gratuit” ET “!!!” ALORS spam ». Les spammeurs écrivent « gr@tuit »… et il faut ajouter une règle.</a:t>
            </a:r>
          </a:p>
        </p:txBody>
      </p:sp>
      <p:sp>
        <p:nvSpPr>
          <p:cNvPr id="22" name="TextBox 21"/>
          <p:cNvSpPr txBox="1"/>
          <p:nvPr/>
        </p:nvSpPr>
        <p:spPr>
          <a:xfrm>
            <a:off x="903064" y="5107381"/>
            <a:ext cx="4646058" cy="847648"/>
          </a:xfrm>
          <a:prstGeom prst="rect">
            <a:avLst/>
          </a:prstGeom>
          <a:noFill/>
        </p:spPr>
        <p:txBody>
          <a:bodyPr wrap="square" lIns="0" rIns="0" tIns="0" bIns="0" anchor="t">
            <a:spAutoFit/>
          </a:bodyPr>
          <a:lstStyle/>
          <a:p>
            <a:pPr algn="l">
              <a:spcAft>
                <a:spcPts val="0"/>
              </a:spcAft>
            </a:pPr>
            <a:r>
              <a:rPr sz="1170" b="1" i="0">
                <a:solidFill>
                  <a:srgbClr val="00877A"/>
                </a:solidFill>
                <a:latin typeface="Arial"/>
              </a:rPr>
              <a:t>Atout : </a:t>
            </a:r>
            <a:r>
              <a:rPr sz="1170" b="0" i="0">
                <a:solidFill>
                  <a:srgbClr val="2B3A38"/>
                </a:solidFill>
                <a:latin typeface="Arial"/>
              </a:rPr>
              <a:t>compréhensible, pas besoin de données</a:t>
            </a:r>
          </a:p>
          <a:p>
            <a:pPr algn="l">
              <a:spcAft>
                <a:spcPts val="0"/>
              </a:spcAft>
            </a:pPr>
            <a:r>
              <a:rPr sz="1170" b="1" i="0">
                <a:solidFill>
                  <a:srgbClr val="D1452B"/>
                </a:solidFill>
                <a:latin typeface="Arial"/>
              </a:rPr>
              <a:t>Limite : </a:t>
            </a:r>
            <a:r>
              <a:rPr sz="1170" b="0" i="0">
                <a:solidFill>
                  <a:srgbClr val="2B3A38"/>
                </a:solidFill>
                <a:latin typeface="Arial"/>
              </a:rPr>
              <a:t>fragile, laborieux, ne passe pas à l'échelle</a:t>
            </a:r>
          </a:p>
        </p:txBody>
      </p:sp>
      <p:sp>
        <p:nvSpPr>
          <p:cNvPr id="23" name="Rectangle 22"/>
          <p:cNvSpPr/>
          <p:nvPr/>
        </p:nvSpPr>
        <p:spPr>
          <a:xfrm>
            <a:off x="6075092" y="1434236"/>
            <a:ext cx="5172027" cy="461497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75092" y="1434236"/>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8076" y="1622602"/>
            <a:ext cx="4646058" cy="423824"/>
          </a:xfrm>
          <a:prstGeom prst="rect">
            <a:avLst/>
          </a:prstGeom>
          <a:noFill/>
        </p:spPr>
        <p:txBody>
          <a:bodyPr wrap="square" lIns="0" rIns="0" tIns="0" bIns="0" anchor="t">
            <a:spAutoFit/>
          </a:bodyPr>
          <a:lstStyle/>
          <a:p>
            <a:pPr algn="l">
              <a:spcAft>
                <a:spcPts val="0"/>
              </a:spcAft>
            </a:pPr>
            <a:r>
              <a:rPr sz="1710" b="1" i="0">
                <a:solidFill>
                  <a:srgbClr val="D1452B"/>
                </a:solidFill>
                <a:latin typeface="Arial"/>
              </a:rPr>
              <a:t>Apprendre à partir d'exemples</a:t>
            </a:r>
          </a:p>
        </p:txBody>
      </p:sp>
      <p:sp>
        <p:nvSpPr>
          <p:cNvPr id="26" name="TextBox 25"/>
          <p:cNvSpPr txBox="1"/>
          <p:nvPr/>
        </p:nvSpPr>
        <p:spPr>
          <a:xfrm>
            <a:off x="6338076" y="2027590"/>
            <a:ext cx="4646058" cy="329641"/>
          </a:xfrm>
          <a:prstGeom prst="rect">
            <a:avLst/>
          </a:prstGeom>
          <a:noFill/>
        </p:spPr>
        <p:txBody>
          <a:bodyPr wrap="square" lIns="0" rIns="0" tIns="0" bIns="0" anchor="t">
            <a:spAutoFit/>
          </a:bodyPr>
          <a:lstStyle/>
          <a:p>
            <a:pPr algn="l">
              <a:spcAft>
                <a:spcPts val="0"/>
              </a:spcAft>
            </a:pPr>
            <a:r>
              <a:rPr sz="1170" b="0" i="1">
                <a:solidFill>
                  <a:srgbClr val="5A6B68"/>
                </a:solidFill>
                <a:latin typeface="Arial"/>
              </a:rPr>
              <a:t>Apprentissage automatique (machine learning)</a:t>
            </a:r>
          </a:p>
        </p:txBody>
      </p:sp>
      <p:sp>
        <p:nvSpPr>
          <p:cNvPr id="27" name="Rectangle 26"/>
          <p:cNvSpPr/>
          <p:nvPr/>
        </p:nvSpPr>
        <p:spPr>
          <a:xfrm>
            <a:off x="6338076" y="2517343"/>
            <a:ext cx="1314922" cy="518007"/>
          </a:xfrm>
          <a:prstGeom prst="rect">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8076" y="2517343"/>
            <a:ext cx="1314922" cy="518007"/>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Données</a:t>
            </a:r>
          </a:p>
        </p:txBody>
      </p:sp>
      <p:sp>
        <p:nvSpPr>
          <p:cNvPr id="29" name="Rectangle 28"/>
          <p:cNvSpPr/>
          <p:nvPr/>
        </p:nvSpPr>
        <p:spPr>
          <a:xfrm>
            <a:off x="6338076" y="3223717"/>
            <a:ext cx="1314922" cy="518007"/>
          </a:xfrm>
          <a:prstGeom prst="rect">
            <a:avLst/>
          </a:prstGeom>
          <a:solidFill>
            <a:srgbClr val="FFFFFF"/>
          </a:solidFill>
          <a:ln w="12700">
            <a:solidFill>
              <a:srgbClr val="C9D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8076" y="3223717"/>
            <a:ext cx="1314922" cy="518007"/>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Réponses</a:t>
            </a:r>
          </a:p>
        </p:txBody>
      </p:sp>
      <p:sp>
        <p:nvSpPr>
          <p:cNvPr id="31" name="Rectangle 30"/>
          <p:cNvSpPr/>
          <p:nvPr/>
        </p:nvSpPr>
        <p:spPr>
          <a:xfrm>
            <a:off x="8047475" y="2865821"/>
            <a:ext cx="1358753" cy="518007"/>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7475" y="2865821"/>
            <a:ext cx="1358753" cy="518007"/>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Apprentissage</a:t>
            </a:r>
          </a:p>
        </p:txBody>
      </p:sp>
      <p:sp>
        <p:nvSpPr>
          <p:cNvPr id="33" name="Rectangle 32"/>
          <p:cNvSpPr/>
          <p:nvPr/>
        </p:nvSpPr>
        <p:spPr>
          <a:xfrm>
            <a:off x="9800705" y="2865821"/>
            <a:ext cx="1183430" cy="518007"/>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00705" y="2865821"/>
            <a:ext cx="1183430" cy="518007"/>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Règles</a:t>
            </a:r>
          </a:p>
        </p:txBody>
      </p:sp>
      <p:cxnSp>
        <p:nvCxnSpPr>
          <p:cNvPr id="35" name="Connector 34"/>
          <p:cNvCxnSpPr/>
          <p:nvPr/>
        </p:nvCxnSpPr>
        <p:spPr>
          <a:xfrm>
            <a:off x="7670531" y="2781056"/>
            <a:ext cx="359412" cy="273131"/>
          </a:xfrm>
          <a:prstGeom prst="line">
            <a:avLst/>
          </a:prstGeom>
          <a:ln w="22225">
            <a:solidFill>
              <a:srgbClr val="D145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670531" y="3204880"/>
            <a:ext cx="359412" cy="273131"/>
          </a:xfrm>
          <a:prstGeom prst="line">
            <a:avLst/>
          </a:prstGeom>
          <a:ln w="22225">
            <a:solidFill>
              <a:srgbClr val="D145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423761" y="3129534"/>
            <a:ext cx="359412" cy="0"/>
          </a:xfrm>
          <a:prstGeom prst="line">
            <a:avLst/>
          </a:prstGeom>
          <a:ln w="22225">
            <a:solidFill>
              <a:srgbClr val="D14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38076" y="3977182"/>
            <a:ext cx="4646058" cy="1083106"/>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Anti-spam : on fournit 100 000 mails étiquetés « spam » ou « pas spam » ; l'algorithme découvre seul les indices utiles, et se met à jour avec de nouveaux exemples.</a:t>
            </a:r>
          </a:p>
        </p:txBody>
      </p:sp>
      <p:sp>
        <p:nvSpPr>
          <p:cNvPr id="39" name="TextBox 38"/>
          <p:cNvSpPr txBox="1"/>
          <p:nvPr/>
        </p:nvSpPr>
        <p:spPr>
          <a:xfrm>
            <a:off x="6338076" y="5107381"/>
            <a:ext cx="4646058" cy="847648"/>
          </a:xfrm>
          <a:prstGeom prst="rect">
            <a:avLst/>
          </a:prstGeom>
          <a:noFill/>
        </p:spPr>
        <p:txBody>
          <a:bodyPr wrap="square" lIns="0" rIns="0" tIns="0" bIns="0" anchor="t">
            <a:spAutoFit/>
          </a:bodyPr>
          <a:lstStyle/>
          <a:p>
            <a:pPr algn="l">
              <a:spcAft>
                <a:spcPts val="0"/>
              </a:spcAft>
            </a:pPr>
            <a:r>
              <a:rPr sz="1170" b="1" i="0">
                <a:solidFill>
                  <a:srgbClr val="00877A"/>
                </a:solidFill>
                <a:latin typeface="Arial"/>
              </a:rPr>
              <a:t>Atout : </a:t>
            </a:r>
            <a:r>
              <a:rPr sz="1170" b="0" i="0">
                <a:solidFill>
                  <a:srgbClr val="2B3A38"/>
                </a:solidFill>
                <a:latin typeface="Arial"/>
              </a:rPr>
              <a:t>s'adapte, gère des problèmes très complexes</a:t>
            </a:r>
          </a:p>
          <a:p>
            <a:pPr algn="l">
              <a:spcAft>
                <a:spcPts val="0"/>
              </a:spcAft>
            </a:pPr>
            <a:r>
              <a:rPr sz="1170" b="1" i="0">
                <a:solidFill>
                  <a:srgbClr val="D1452B"/>
                </a:solidFill>
                <a:latin typeface="Arial"/>
              </a:rPr>
              <a:t>Limite : </a:t>
            </a:r>
            <a:r>
              <a:rPr sz="1170" b="0" i="0">
                <a:solidFill>
                  <a:srgbClr val="2B3A38"/>
                </a:solidFill>
                <a:latin typeface="Arial"/>
              </a:rPr>
              <a:t>demande beaucoup de données, parfois opaque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17</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04</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1993 – 2011</a:t>
            </a:r>
          </a:p>
        </p:txBody>
      </p:sp>
      <p:sp>
        <p:nvSpPr>
          <p:cNvPr id="6" name="TextBox 5"/>
          <p:cNvSpPr txBox="1"/>
          <p:nvPr/>
        </p:nvSpPr>
        <p:spPr>
          <a:xfrm>
            <a:off x="731520" y="2743200"/>
            <a:ext cx="7680960" cy="155448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L'APPRENTISSAGE AUTOMATIQUE</a:t>
            </a:r>
          </a:p>
        </p:txBody>
      </p:sp>
      <p:sp>
        <p:nvSpPr>
          <p:cNvPr id="7" name="TextBox 6"/>
          <p:cNvSpPr txBox="1"/>
          <p:nvPr/>
        </p:nvSpPr>
        <p:spPr>
          <a:xfrm>
            <a:off x="731520" y="443484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Apprendre à partir des données</a:t>
            </a:r>
          </a:p>
        </p:txBody>
      </p:sp>
      <p:sp>
        <p:nvSpPr>
          <p:cNvPr id="8" name="Oval 7"/>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391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603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D1452B"/>
                </a:solidFill>
              </a:rPr>
              <a:t>1986 – 2011 · L'apprentissage automatique</a:t>
            </a:r>
          </a:p>
        </p:txBody>
      </p:sp>
      <p:sp>
        <p:nvSpPr>
          <p:cNvPr id="3" name="Text Placeholder 2"/>
          <p:cNvSpPr>
            <a:spLocks noGrp="1"/>
          </p:cNvSpPr>
          <p:nvPr>
            <p:ph type="body" idx="25" sz="quarter"/>
          </p:nvPr>
        </p:nvSpPr>
        <p:spPr/>
        <p:txBody>
          <a:bodyPr/>
          <a:lstStyle/>
          <a:p>
            <a:r>
              <a:t>L'apprentissage automatique s'impose… en silence</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18</a:t>
            </a:fld>
          </a:p>
        </p:txBody>
      </p:sp>
      <p:sp>
        <p:nvSpPr>
          <p:cNvPr id="6" name="Rectangle 5"/>
          <p:cNvSpPr/>
          <p:nvPr/>
        </p:nvSpPr>
        <p:spPr>
          <a:xfrm>
            <a:off x="640080" y="1481328"/>
            <a:ext cx="2498352" cy="362605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233" y="1786703"/>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ProjectDiagram.png"/>
          <p:cNvPicPr>
            <a:picLocks noChangeAspect="1"/>
          </p:cNvPicPr>
          <p:nvPr/>
        </p:nvPicPr>
        <p:blipFill>
          <a:blip r:embed="rId2"/>
          <a:stretch>
            <a:fillRect/>
          </a:stretch>
        </p:blipFill>
        <p:spPr>
          <a:xfrm>
            <a:off x="1018777" y="1946247"/>
            <a:ext cx="294542" cy="294542"/>
          </a:xfrm>
          <a:prstGeom prst="rect">
            <a:avLst/>
          </a:prstGeom>
        </p:spPr>
      </p:pic>
      <p:sp>
        <p:nvSpPr>
          <p:cNvPr id="10" name="TextBox 9"/>
          <p:cNvSpPr txBox="1"/>
          <p:nvPr/>
        </p:nvSpPr>
        <p:spPr>
          <a:xfrm>
            <a:off x="1604356" y="1763877"/>
            <a:ext cx="1446414" cy="659282"/>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1986</a:t>
            </a:r>
          </a:p>
        </p:txBody>
      </p:sp>
      <p:sp>
        <p:nvSpPr>
          <p:cNvPr id="11" name="TextBox 10"/>
          <p:cNvSpPr txBox="1"/>
          <p:nvPr/>
        </p:nvSpPr>
        <p:spPr>
          <a:xfrm>
            <a:off x="859233" y="2564434"/>
            <a:ext cx="2147706" cy="659282"/>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La rétro-propagation</a:t>
            </a:r>
          </a:p>
        </p:txBody>
      </p:sp>
      <p:sp>
        <p:nvSpPr>
          <p:cNvPr id="12" name="TextBox 11"/>
          <p:cNvSpPr txBox="1"/>
          <p:nvPr/>
        </p:nvSpPr>
        <p:spPr>
          <a:xfrm>
            <a:off x="859233" y="3270808"/>
            <a:ext cx="2147706" cy="178948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Rumelhart, Hinton et Williams popularisent une méthode pour entraîner des réseaux de neurones à plusieurs couches. Elle est encore utilisée aujourd'hui.</a:t>
            </a:r>
          </a:p>
        </p:txBody>
      </p:sp>
      <p:sp>
        <p:nvSpPr>
          <p:cNvPr id="13" name="Rectangle 12"/>
          <p:cNvSpPr/>
          <p:nvPr/>
        </p:nvSpPr>
        <p:spPr>
          <a:xfrm>
            <a:off x="3331287" y="1481328"/>
            <a:ext cx="2498352" cy="362605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1287"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0441" y="1786703"/>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MoneyCheckAlt.png"/>
          <p:cNvPicPr>
            <a:picLocks noChangeAspect="1"/>
          </p:cNvPicPr>
          <p:nvPr/>
        </p:nvPicPr>
        <p:blipFill>
          <a:blip r:embed="rId3"/>
          <a:stretch>
            <a:fillRect/>
          </a:stretch>
        </p:blipFill>
        <p:spPr>
          <a:xfrm>
            <a:off x="3709985" y="1946247"/>
            <a:ext cx="294542" cy="294542"/>
          </a:xfrm>
          <a:prstGeom prst="rect">
            <a:avLst/>
          </a:prstGeom>
        </p:spPr>
      </p:pic>
      <p:sp>
        <p:nvSpPr>
          <p:cNvPr id="17" name="TextBox 16"/>
          <p:cNvSpPr txBox="1"/>
          <p:nvPr/>
        </p:nvSpPr>
        <p:spPr>
          <a:xfrm>
            <a:off x="4295564" y="1763877"/>
            <a:ext cx="1446414" cy="659282"/>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1998</a:t>
            </a:r>
          </a:p>
        </p:txBody>
      </p:sp>
      <p:sp>
        <p:nvSpPr>
          <p:cNvPr id="18" name="TextBox 17"/>
          <p:cNvSpPr txBox="1"/>
          <p:nvPr/>
        </p:nvSpPr>
        <p:spPr>
          <a:xfrm>
            <a:off x="3550441" y="2564434"/>
            <a:ext cx="2147706" cy="659282"/>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LeNet lit les chèques</a:t>
            </a:r>
          </a:p>
        </p:txBody>
      </p:sp>
      <p:sp>
        <p:nvSpPr>
          <p:cNvPr id="19" name="TextBox 18"/>
          <p:cNvSpPr txBox="1"/>
          <p:nvPr/>
        </p:nvSpPr>
        <p:spPr>
          <a:xfrm>
            <a:off x="3550441" y="3270808"/>
            <a:ext cx="2147706" cy="178948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Yann LeCun (Bell Labs) conçoit un réseau qui lit les chiffres manuscrits. À la fin des années 1990, il lit plus de 10 % des chèques aux États-Unis.</a:t>
            </a:r>
          </a:p>
        </p:txBody>
      </p:sp>
      <p:sp>
        <p:nvSpPr>
          <p:cNvPr id="20" name="Rectangle 19"/>
          <p:cNvSpPr/>
          <p:nvPr/>
        </p:nvSpPr>
        <p:spPr>
          <a:xfrm>
            <a:off x="6022495" y="1481328"/>
            <a:ext cx="2498352" cy="362605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22495"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41649" y="1786703"/>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Tree.png"/>
          <p:cNvPicPr>
            <a:picLocks noChangeAspect="1"/>
          </p:cNvPicPr>
          <p:nvPr/>
        </p:nvPicPr>
        <p:blipFill>
          <a:blip r:embed="rId4"/>
          <a:stretch>
            <a:fillRect/>
          </a:stretch>
        </p:blipFill>
        <p:spPr>
          <a:xfrm>
            <a:off x="6401192" y="1946247"/>
            <a:ext cx="294542" cy="294542"/>
          </a:xfrm>
          <a:prstGeom prst="rect">
            <a:avLst/>
          </a:prstGeom>
        </p:spPr>
      </p:pic>
      <p:sp>
        <p:nvSpPr>
          <p:cNvPr id="24" name="TextBox 23"/>
          <p:cNvSpPr txBox="1"/>
          <p:nvPr/>
        </p:nvSpPr>
        <p:spPr>
          <a:xfrm>
            <a:off x="6986771" y="1763877"/>
            <a:ext cx="1446414" cy="659282"/>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1995 – 2001</a:t>
            </a:r>
          </a:p>
        </p:txBody>
      </p:sp>
      <p:sp>
        <p:nvSpPr>
          <p:cNvPr id="25" name="TextBox 24"/>
          <p:cNvSpPr txBox="1"/>
          <p:nvPr/>
        </p:nvSpPr>
        <p:spPr>
          <a:xfrm>
            <a:off x="6241649" y="2564434"/>
            <a:ext cx="2147706" cy="659282"/>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SVM, forêts aléatoires</a:t>
            </a:r>
          </a:p>
        </p:txBody>
      </p:sp>
      <p:sp>
        <p:nvSpPr>
          <p:cNvPr id="26" name="TextBox 25"/>
          <p:cNvSpPr txBox="1"/>
          <p:nvPr/>
        </p:nvSpPr>
        <p:spPr>
          <a:xfrm>
            <a:off x="6241649" y="3270808"/>
            <a:ext cx="2147706" cy="178948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Des algorithmes robustes et efficaces sur des tableaux de données. Ce sont ceux que vous utiliserez en TP.</a:t>
            </a:r>
          </a:p>
        </p:txBody>
      </p:sp>
      <p:sp>
        <p:nvSpPr>
          <p:cNvPr id="27" name="Rectangle 26"/>
          <p:cNvSpPr/>
          <p:nvPr/>
        </p:nvSpPr>
        <p:spPr>
          <a:xfrm>
            <a:off x="8713703" y="1481328"/>
            <a:ext cx="2498352" cy="362605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13703"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32856" y="1786703"/>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Film.png"/>
          <p:cNvPicPr>
            <a:picLocks noChangeAspect="1"/>
          </p:cNvPicPr>
          <p:nvPr/>
        </p:nvPicPr>
        <p:blipFill>
          <a:blip r:embed="rId5"/>
          <a:stretch>
            <a:fillRect/>
          </a:stretch>
        </p:blipFill>
        <p:spPr>
          <a:xfrm>
            <a:off x="9092400" y="1946247"/>
            <a:ext cx="294542" cy="294542"/>
          </a:xfrm>
          <a:prstGeom prst="rect">
            <a:avLst/>
          </a:prstGeom>
        </p:spPr>
      </p:pic>
      <p:sp>
        <p:nvSpPr>
          <p:cNvPr id="31" name="TextBox 30"/>
          <p:cNvSpPr txBox="1"/>
          <p:nvPr/>
        </p:nvSpPr>
        <p:spPr>
          <a:xfrm>
            <a:off x="9677979" y="1763877"/>
            <a:ext cx="1446414" cy="659282"/>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2006 – 2009</a:t>
            </a:r>
          </a:p>
        </p:txBody>
      </p:sp>
      <p:sp>
        <p:nvSpPr>
          <p:cNvPr id="32" name="TextBox 31"/>
          <p:cNvSpPr txBox="1"/>
          <p:nvPr/>
        </p:nvSpPr>
        <p:spPr>
          <a:xfrm>
            <a:off x="8932856" y="2564434"/>
            <a:ext cx="2147706" cy="659282"/>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Le Netflix Prize</a:t>
            </a:r>
          </a:p>
        </p:txBody>
      </p:sp>
      <p:sp>
        <p:nvSpPr>
          <p:cNvPr id="33" name="TextBox 32"/>
          <p:cNvSpPr txBox="1"/>
          <p:nvPr/>
        </p:nvSpPr>
        <p:spPr>
          <a:xfrm>
            <a:off x="8932856" y="3270808"/>
            <a:ext cx="2147706" cy="178948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Netflix offre 1 million de dollars à qui améliorera de 10 % ses recommandations. Il est remporté en 2009 par une combinaison de modèles.</a:t>
            </a:r>
          </a:p>
        </p:txBody>
      </p:sp>
      <p:sp>
        <p:nvSpPr>
          <p:cNvPr id="34" name="Rectangle 33"/>
          <p:cNvSpPr/>
          <p:nvPr/>
        </p:nvSpPr>
        <p:spPr>
          <a:xfrm>
            <a:off x="640080" y="5342839"/>
            <a:ext cx="10607040" cy="678119"/>
          </a:xfrm>
          <a:prstGeom prst="rect">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233" y="5342839"/>
            <a:ext cx="10256394" cy="678119"/>
          </a:xfrm>
          <a:prstGeom prst="rect">
            <a:avLst/>
          </a:prstGeom>
          <a:noFill/>
        </p:spPr>
        <p:txBody>
          <a:bodyPr wrap="square" lIns="0" rIns="0" tIns="0" bIns="0" anchor="ctr">
            <a:spAutoFit/>
          </a:bodyPr>
          <a:lstStyle/>
          <a:p>
            <a:pPr algn="l">
              <a:spcAft>
                <a:spcPts val="0"/>
              </a:spcAft>
            </a:pPr>
            <a:r>
              <a:rPr sz="1260" b="1" i="0">
                <a:solidFill>
                  <a:srgbClr val="2B3A38"/>
                </a:solidFill>
                <a:latin typeface="Arial"/>
              </a:rPr>
              <a:t>Pendant ce temps, l'IA entre dans les produits : </a:t>
            </a:r>
            <a:r>
              <a:rPr sz="1260" b="0" i="0">
                <a:solidFill>
                  <a:srgbClr val="2B3A38"/>
                </a:solidFill>
                <a:latin typeface="Arial"/>
              </a:rPr>
              <a:t>filtres anti-spam, moteurs de recherche, recommandations d'Amazon, détection de fraude bancaire… sans qu'on l'appelle « IA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19</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05</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2012 – 2017</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LE DEEP LEARNING</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Les réseaux de neurones prennent leur revanche</a:t>
            </a:r>
          </a:p>
        </p:txBody>
      </p:sp>
      <p:sp>
        <p:nvSpPr>
          <p:cNvPr id="8" name="Oval 7"/>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031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963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5669280"/>
            <a:ext cx="182880" cy="182880"/>
          </a:xfrm>
          <a:prstGeom prst="ellipse">
            <a:avLst/>
          </a:prstGeom>
          <a:solidFill>
            <a:srgbClr val="7F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Vers 2010 · Le deep learning</a:t>
            </a:r>
          </a:p>
        </p:txBody>
      </p:sp>
      <p:sp>
        <p:nvSpPr>
          <p:cNvPr id="3" name="Text Placeholder 2"/>
          <p:cNvSpPr>
            <a:spLocks noGrp="1"/>
          </p:cNvSpPr>
          <p:nvPr>
            <p:ph type="body" idx="25" sz="quarter"/>
          </p:nvPr>
        </p:nvSpPr>
        <p:spPr/>
        <p:txBody>
          <a:bodyPr/>
          <a:lstStyle/>
          <a:p>
            <a:r>
              <a:t>Pourquoi maintenant ? Trois ingrédients réunis</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20</a:t>
            </a:fld>
          </a:p>
        </p:txBody>
      </p:sp>
      <p:sp>
        <p:nvSpPr>
          <p:cNvPr id="6" name="Rectangle 5"/>
          <p:cNvSpPr/>
          <p:nvPr/>
        </p:nvSpPr>
        <p:spPr>
          <a:xfrm>
            <a:off x="640080" y="1481328"/>
            <a:ext cx="337496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67340" y="1798116"/>
            <a:ext cx="920445" cy="920445"/>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Database_dark.png"/>
          <p:cNvPicPr>
            <a:picLocks noChangeAspect="1"/>
          </p:cNvPicPr>
          <p:nvPr/>
        </p:nvPicPr>
        <p:blipFill>
          <a:blip r:embed="rId2"/>
          <a:stretch>
            <a:fillRect/>
          </a:stretch>
        </p:blipFill>
        <p:spPr>
          <a:xfrm>
            <a:off x="2106656" y="2037432"/>
            <a:ext cx="441813" cy="441813"/>
          </a:xfrm>
          <a:prstGeom prst="rect">
            <a:avLst/>
          </a:prstGeom>
        </p:spPr>
      </p:pic>
      <p:sp>
        <p:nvSpPr>
          <p:cNvPr id="10" name="TextBox 9"/>
          <p:cNvSpPr txBox="1"/>
          <p:nvPr/>
        </p:nvSpPr>
        <p:spPr>
          <a:xfrm>
            <a:off x="815402" y="2846984"/>
            <a:ext cx="3024321" cy="376732"/>
          </a:xfrm>
          <a:prstGeom prst="rect">
            <a:avLst/>
          </a:prstGeom>
          <a:noFill/>
        </p:spPr>
        <p:txBody>
          <a:bodyPr wrap="square" lIns="0" rIns="0" tIns="0" bIns="0" anchor="t">
            <a:spAutoFit/>
          </a:bodyPr>
          <a:lstStyle/>
          <a:p>
            <a:pPr algn="ctr">
              <a:spcAft>
                <a:spcPts val="0"/>
              </a:spcAft>
            </a:pPr>
            <a:r>
              <a:rPr sz="1440" b="1" i="0">
                <a:solidFill>
                  <a:srgbClr val="5A6B68"/>
                </a:solidFill>
                <a:latin typeface="Arial"/>
              </a:rPr>
              <a:t>Des données</a:t>
            </a:r>
          </a:p>
        </p:txBody>
      </p:sp>
      <p:sp>
        <p:nvSpPr>
          <p:cNvPr id="11" name="TextBox 10"/>
          <p:cNvSpPr txBox="1"/>
          <p:nvPr/>
        </p:nvSpPr>
        <p:spPr>
          <a:xfrm>
            <a:off x="815402" y="3223717"/>
            <a:ext cx="3024321" cy="753465"/>
          </a:xfrm>
          <a:prstGeom prst="rect">
            <a:avLst/>
          </a:prstGeom>
          <a:noFill/>
        </p:spPr>
        <p:txBody>
          <a:bodyPr wrap="square" lIns="0" rIns="0" tIns="0" bIns="0" anchor="ctr">
            <a:spAutoFit/>
          </a:bodyPr>
          <a:lstStyle/>
          <a:p>
            <a:pPr algn="ctr">
              <a:spcAft>
                <a:spcPts val="0"/>
              </a:spcAft>
            </a:pPr>
            <a:r>
              <a:rPr sz="3060" b="1" i="0">
                <a:solidFill>
                  <a:srgbClr val="5F7C17"/>
                </a:solidFill>
                <a:latin typeface="Arial"/>
              </a:rPr>
              <a:t>14 millions</a:t>
            </a:r>
          </a:p>
        </p:txBody>
      </p:sp>
      <p:sp>
        <p:nvSpPr>
          <p:cNvPr id="12" name="TextBox 11"/>
          <p:cNvSpPr txBox="1"/>
          <p:nvPr/>
        </p:nvSpPr>
        <p:spPr>
          <a:xfrm>
            <a:off x="903064" y="3977182"/>
            <a:ext cx="2848998" cy="565099"/>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d'images étiquetées à la main dans ImageNet (2009)</a:t>
            </a:r>
          </a:p>
        </p:txBody>
      </p:sp>
      <p:sp>
        <p:nvSpPr>
          <p:cNvPr id="13" name="TextBox 12"/>
          <p:cNvSpPr txBox="1"/>
          <p:nvPr/>
        </p:nvSpPr>
        <p:spPr>
          <a:xfrm>
            <a:off x="903064" y="4589373"/>
            <a:ext cx="2848998" cy="1318564"/>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Internet, smartphones et réseaux sociaux produisent des quantités massives de textes, d'images et de vidéos.</a:t>
            </a:r>
          </a:p>
        </p:txBody>
      </p:sp>
      <p:sp>
        <p:nvSpPr>
          <p:cNvPr id="14" name="Rectangle 13"/>
          <p:cNvSpPr/>
          <p:nvPr/>
        </p:nvSpPr>
        <p:spPr>
          <a:xfrm>
            <a:off x="4278031" y="1481328"/>
            <a:ext cx="337496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8031" y="1481328"/>
            <a:ext cx="337496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05292" y="1798116"/>
            <a:ext cx="920445" cy="920445"/>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Microchip_dark.png"/>
          <p:cNvPicPr>
            <a:picLocks noChangeAspect="1"/>
          </p:cNvPicPr>
          <p:nvPr/>
        </p:nvPicPr>
        <p:blipFill>
          <a:blip r:embed="rId3"/>
          <a:stretch>
            <a:fillRect/>
          </a:stretch>
        </p:blipFill>
        <p:spPr>
          <a:xfrm>
            <a:off x="5744608" y="2037432"/>
            <a:ext cx="441813" cy="441813"/>
          </a:xfrm>
          <a:prstGeom prst="rect">
            <a:avLst/>
          </a:prstGeom>
        </p:spPr>
      </p:pic>
      <p:sp>
        <p:nvSpPr>
          <p:cNvPr id="18" name="TextBox 17"/>
          <p:cNvSpPr txBox="1"/>
          <p:nvPr/>
        </p:nvSpPr>
        <p:spPr>
          <a:xfrm>
            <a:off x="4453354" y="2846984"/>
            <a:ext cx="3024321" cy="376732"/>
          </a:xfrm>
          <a:prstGeom prst="rect">
            <a:avLst/>
          </a:prstGeom>
          <a:noFill/>
        </p:spPr>
        <p:txBody>
          <a:bodyPr wrap="square" lIns="0" rIns="0" tIns="0" bIns="0" anchor="t">
            <a:spAutoFit/>
          </a:bodyPr>
          <a:lstStyle/>
          <a:p>
            <a:pPr algn="ctr">
              <a:spcAft>
                <a:spcPts val="0"/>
              </a:spcAft>
            </a:pPr>
            <a:r>
              <a:rPr sz="1440" b="1" i="0">
                <a:solidFill>
                  <a:srgbClr val="5A6B68"/>
                </a:solidFill>
                <a:latin typeface="Arial"/>
              </a:rPr>
              <a:t>Du calcul</a:t>
            </a:r>
          </a:p>
        </p:txBody>
      </p:sp>
      <p:sp>
        <p:nvSpPr>
          <p:cNvPr id="19" name="TextBox 18"/>
          <p:cNvSpPr txBox="1"/>
          <p:nvPr/>
        </p:nvSpPr>
        <p:spPr>
          <a:xfrm>
            <a:off x="4453354" y="3223717"/>
            <a:ext cx="3024321" cy="753465"/>
          </a:xfrm>
          <a:prstGeom prst="rect">
            <a:avLst/>
          </a:prstGeom>
          <a:noFill/>
        </p:spPr>
        <p:txBody>
          <a:bodyPr wrap="square" lIns="0" rIns="0" tIns="0" bIns="0" anchor="ctr">
            <a:spAutoFit/>
          </a:bodyPr>
          <a:lstStyle/>
          <a:p>
            <a:pPr algn="ctr">
              <a:spcAft>
                <a:spcPts val="0"/>
              </a:spcAft>
            </a:pPr>
            <a:r>
              <a:rPr sz="3060" b="1" i="0">
                <a:solidFill>
                  <a:srgbClr val="5F7C17"/>
                </a:solidFill>
                <a:latin typeface="Arial"/>
              </a:rPr>
              <a:t>GPU</a:t>
            </a:r>
          </a:p>
        </p:txBody>
      </p:sp>
      <p:sp>
        <p:nvSpPr>
          <p:cNvPr id="20" name="TextBox 19"/>
          <p:cNvSpPr txBox="1"/>
          <p:nvPr/>
        </p:nvSpPr>
        <p:spPr>
          <a:xfrm>
            <a:off x="4541016" y="3977182"/>
            <a:ext cx="2848998" cy="565099"/>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des cartes graphiques conçues pour le jeu vidéo</a:t>
            </a:r>
          </a:p>
        </p:txBody>
      </p:sp>
      <p:sp>
        <p:nvSpPr>
          <p:cNvPr id="21" name="TextBox 20"/>
          <p:cNvSpPr txBox="1"/>
          <p:nvPr/>
        </p:nvSpPr>
        <p:spPr>
          <a:xfrm>
            <a:off x="4541016" y="4589373"/>
            <a:ext cx="2848998" cy="1318564"/>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Elles font des milliers de calculs en parallèle, exactement ce dont les réseaux de neurones ont besoin.</a:t>
            </a:r>
          </a:p>
        </p:txBody>
      </p:sp>
      <p:sp>
        <p:nvSpPr>
          <p:cNvPr id="22" name="Rectangle 21"/>
          <p:cNvSpPr/>
          <p:nvPr/>
        </p:nvSpPr>
        <p:spPr>
          <a:xfrm>
            <a:off x="7915983" y="1481328"/>
            <a:ext cx="337496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15983" y="1481328"/>
            <a:ext cx="337496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3244" y="1798116"/>
            <a:ext cx="920445" cy="920445"/>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aLayerGroup_dark.png"/>
          <p:cNvPicPr>
            <a:picLocks noChangeAspect="1"/>
          </p:cNvPicPr>
          <p:nvPr/>
        </p:nvPicPr>
        <p:blipFill>
          <a:blip r:embed="rId4"/>
          <a:stretch>
            <a:fillRect/>
          </a:stretch>
        </p:blipFill>
        <p:spPr>
          <a:xfrm>
            <a:off x="9382560" y="2037432"/>
            <a:ext cx="441813" cy="441813"/>
          </a:xfrm>
          <a:prstGeom prst="rect">
            <a:avLst/>
          </a:prstGeom>
        </p:spPr>
      </p:pic>
      <p:sp>
        <p:nvSpPr>
          <p:cNvPr id="26" name="TextBox 25"/>
          <p:cNvSpPr txBox="1"/>
          <p:nvPr/>
        </p:nvSpPr>
        <p:spPr>
          <a:xfrm>
            <a:off x="8091306" y="2846984"/>
            <a:ext cx="3024321" cy="376732"/>
          </a:xfrm>
          <a:prstGeom prst="rect">
            <a:avLst/>
          </a:prstGeom>
          <a:noFill/>
        </p:spPr>
        <p:txBody>
          <a:bodyPr wrap="square" lIns="0" rIns="0" tIns="0" bIns="0" anchor="t">
            <a:spAutoFit/>
          </a:bodyPr>
          <a:lstStyle/>
          <a:p>
            <a:pPr algn="ctr">
              <a:spcAft>
                <a:spcPts val="0"/>
              </a:spcAft>
            </a:pPr>
            <a:r>
              <a:rPr sz="1440" b="1" i="0">
                <a:solidFill>
                  <a:srgbClr val="5A6B68"/>
                </a:solidFill>
                <a:latin typeface="Arial"/>
              </a:rPr>
              <a:t>Des algorithmes</a:t>
            </a:r>
          </a:p>
        </p:txBody>
      </p:sp>
      <p:sp>
        <p:nvSpPr>
          <p:cNvPr id="27" name="TextBox 26"/>
          <p:cNvSpPr txBox="1"/>
          <p:nvPr/>
        </p:nvSpPr>
        <p:spPr>
          <a:xfrm>
            <a:off x="8091306" y="3223717"/>
            <a:ext cx="3024321" cy="753465"/>
          </a:xfrm>
          <a:prstGeom prst="rect">
            <a:avLst/>
          </a:prstGeom>
          <a:noFill/>
        </p:spPr>
        <p:txBody>
          <a:bodyPr wrap="square" lIns="0" rIns="0" tIns="0" bIns="0" anchor="ctr">
            <a:spAutoFit/>
          </a:bodyPr>
          <a:lstStyle/>
          <a:p>
            <a:pPr algn="ctr">
              <a:spcAft>
                <a:spcPts val="0"/>
              </a:spcAft>
            </a:pPr>
            <a:r>
              <a:rPr sz="3060" b="1" i="0">
                <a:solidFill>
                  <a:srgbClr val="5F7C17"/>
                </a:solidFill>
                <a:latin typeface="Arial"/>
              </a:rPr>
              <a:t>Profonds</a:t>
            </a:r>
          </a:p>
        </p:txBody>
      </p:sp>
      <p:sp>
        <p:nvSpPr>
          <p:cNvPr id="28" name="TextBox 27"/>
          <p:cNvSpPr txBox="1"/>
          <p:nvPr/>
        </p:nvSpPr>
        <p:spPr>
          <a:xfrm>
            <a:off x="8178967" y="3977182"/>
            <a:ext cx="2848998" cy="565099"/>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des réseaux à nombreuses couches</a:t>
            </a:r>
          </a:p>
        </p:txBody>
      </p:sp>
      <p:sp>
        <p:nvSpPr>
          <p:cNvPr id="29" name="TextBox 28"/>
          <p:cNvSpPr txBox="1"/>
          <p:nvPr/>
        </p:nvSpPr>
        <p:spPr>
          <a:xfrm>
            <a:off x="8178967" y="4589373"/>
            <a:ext cx="2848998" cy="1318564"/>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De nouvelles astuces d'entraînement permettent enfin d'empiler des dizaines de couches de neurones.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2012 · Le deep learning</a:t>
            </a:r>
          </a:p>
        </p:txBody>
      </p:sp>
      <p:sp>
        <p:nvSpPr>
          <p:cNvPr id="3" name="Text Placeholder 2"/>
          <p:cNvSpPr>
            <a:spLocks noGrp="1"/>
          </p:cNvSpPr>
          <p:nvPr>
            <p:ph type="body" idx="25" sz="quarter"/>
          </p:nvPr>
        </p:nvSpPr>
        <p:spPr/>
        <p:txBody>
          <a:bodyPr/>
          <a:lstStyle/>
          <a:p>
            <a:r>
              <a:t>Le choc AlexNet</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21</a:t>
            </a:fld>
          </a:p>
        </p:txBody>
      </p:sp>
      <p:graphicFrame>
        <p:nvGraphicFramePr>
          <p:cNvPr id="6" name="Chart 5"/>
          <p:cNvGraphicFramePr>
            <a:graphicFrameLocks noGrp="1"/>
          </p:cNvGraphicFramePr>
          <p:nvPr/>
        </p:nvGraphicFramePr>
        <p:xfrm>
          <a:off x="640080" y="1434236"/>
          <a:ext cx="5960981" cy="4567885"/>
        </p:xfrm>
        <a:graphic>
          <a:graphicData uri="http://schemas.openxmlformats.org/drawingml/2006/chart">
            <c:chart xmlns:c="http://schemas.openxmlformats.org/drawingml/2006/chart" r:id="rId2"/>
          </a:graphicData>
        </a:graphic>
      </p:graphicFrame>
      <p:sp>
        <p:nvSpPr>
          <p:cNvPr id="7" name="TextBox 6"/>
          <p:cNvSpPr txBox="1"/>
          <p:nvPr/>
        </p:nvSpPr>
        <p:spPr>
          <a:xfrm>
            <a:off x="6951707" y="1481328"/>
            <a:ext cx="4295412"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Le concours</a:t>
            </a:r>
          </a:p>
        </p:txBody>
      </p:sp>
      <p:sp>
        <p:nvSpPr>
          <p:cNvPr id="8" name="TextBox 7"/>
          <p:cNvSpPr txBox="1"/>
          <p:nvPr/>
        </p:nvSpPr>
        <p:spPr>
          <a:xfrm>
            <a:off x="6951707" y="1905152"/>
            <a:ext cx="4295412" cy="1083106"/>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Reconnaître des objets parmi 1 000 catégories (chiens, voitures, champignons…). Le modèle a le droit à 5 propositions ; on compte une erreur si aucune n'est la bonne.</a:t>
            </a:r>
          </a:p>
        </p:txBody>
      </p:sp>
      <p:sp>
        <p:nvSpPr>
          <p:cNvPr id="9" name="TextBox 8"/>
          <p:cNvSpPr txBox="1"/>
          <p:nvPr/>
        </p:nvSpPr>
        <p:spPr>
          <a:xfrm>
            <a:off x="6951707" y="2988259"/>
            <a:ext cx="4295412" cy="376732"/>
          </a:xfrm>
          <a:prstGeom prst="rect">
            <a:avLst/>
          </a:prstGeom>
          <a:noFill/>
        </p:spPr>
        <p:txBody>
          <a:bodyPr wrap="square" lIns="0" rIns="0" tIns="0" bIns="0" anchor="t">
            <a:spAutoFit/>
          </a:bodyPr>
          <a:lstStyle/>
          <a:p>
            <a:pPr algn="l">
              <a:spcAft>
                <a:spcPts val="0"/>
              </a:spcAft>
            </a:pPr>
            <a:r>
              <a:rPr sz="1530" b="1" i="0">
                <a:solidFill>
                  <a:srgbClr val="5F7C17"/>
                </a:solidFill>
                <a:latin typeface="Arial"/>
              </a:rPr>
              <a:t>2012 : la rupture</a:t>
            </a:r>
          </a:p>
        </p:txBody>
      </p:sp>
      <p:sp>
        <p:nvSpPr>
          <p:cNvPr id="10" name="TextBox 9"/>
          <p:cNvSpPr txBox="1"/>
          <p:nvPr/>
        </p:nvSpPr>
        <p:spPr>
          <a:xfrm>
            <a:off x="6951707" y="3412083"/>
            <a:ext cx="4295412" cy="1083106"/>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Le réseau de neurones profond AlexNet (Krizhevsky, Sutskever, Hinton) fait chuter l'erreur de 10 points d'un coup. Toute la recherche bascule vers le deep learning.</a:t>
            </a:r>
          </a:p>
        </p:txBody>
      </p:sp>
      <p:sp>
        <p:nvSpPr>
          <p:cNvPr id="11" name="TextBox 10"/>
          <p:cNvSpPr txBox="1"/>
          <p:nvPr/>
        </p:nvSpPr>
        <p:spPr>
          <a:xfrm>
            <a:off x="6951707" y="4495190"/>
            <a:ext cx="4295412"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2015 : mieux que nous ?</a:t>
            </a:r>
          </a:p>
        </p:txBody>
      </p:sp>
      <p:sp>
        <p:nvSpPr>
          <p:cNvPr id="12" name="TextBox 11"/>
          <p:cNvSpPr txBox="1"/>
          <p:nvPr/>
        </p:nvSpPr>
        <p:spPr>
          <a:xfrm>
            <a:off x="6951707" y="4919014"/>
            <a:ext cx="4295412" cy="1083106"/>
          </a:xfrm>
          <a:prstGeom prst="rect">
            <a:avLst/>
          </a:prstGeom>
          <a:noFill/>
        </p:spPr>
        <p:txBody>
          <a:bodyPr wrap="square" lIns="0" rIns="0" tIns="0" bIns="0" anchor="t">
            <a:spAutoFit/>
          </a:bodyPr>
          <a:lstStyle/>
          <a:p>
            <a:pPr algn="l">
              <a:spcAft>
                <a:spcPts val="0"/>
              </a:spcAft>
            </a:pPr>
            <a:r>
              <a:rPr sz="1215" b="0" i="0">
                <a:solidFill>
                  <a:srgbClr val="2B3A38"/>
                </a:solidFill>
                <a:latin typeface="Arial"/>
              </a:rPr>
              <a:t>Les meilleurs modèles passent sous l'estimation de l'erreur humaine sur cette tâche (environ 5 %).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Le deep learning</a:t>
            </a:r>
          </a:p>
        </p:txBody>
      </p:sp>
      <p:sp>
        <p:nvSpPr>
          <p:cNvPr id="3" name="Text Placeholder 2"/>
          <p:cNvSpPr>
            <a:spLocks noGrp="1"/>
          </p:cNvSpPr>
          <p:nvPr>
            <p:ph type="body" idx="25" sz="quarter"/>
          </p:nvPr>
        </p:nvSpPr>
        <p:spPr/>
        <p:txBody>
          <a:bodyPr/>
          <a:lstStyle/>
          <a:p>
            <a:r>
              <a:t>Pourquoi « profond » ?</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22</a:t>
            </a:fld>
          </a:p>
        </p:txBody>
      </p:sp>
      <p:sp>
        <p:nvSpPr>
          <p:cNvPr id="6" name="Rectangle 5"/>
          <p:cNvSpPr/>
          <p:nvPr/>
        </p:nvSpPr>
        <p:spPr>
          <a:xfrm>
            <a:off x="640080" y="1528419"/>
            <a:ext cx="1840891" cy="230748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28419"/>
            <a:ext cx="184089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09879"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Image_dark.png"/>
          <p:cNvPicPr>
            <a:picLocks noChangeAspect="1"/>
          </p:cNvPicPr>
          <p:nvPr/>
        </p:nvPicPr>
        <p:blipFill>
          <a:blip r:embed="rId2"/>
          <a:stretch>
            <a:fillRect/>
          </a:stretch>
        </p:blipFill>
        <p:spPr>
          <a:xfrm>
            <a:off x="1392215" y="1972300"/>
            <a:ext cx="336620" cy="336620"/>
          </a:xfrm>
          <a:prstGeom prst="rect">
            <a:avLst/>
          </a:prstGeom>
        </p:spPr>
      </p:pic>
      <p:sp>
        <p:nvSpPr>
          <p:cNvPr id="10" name="TextBox 9"/>
          <p:cNvSpPr txBox="1"/>
          <p:nvPr/>
        </p:nvSpPr>
        <p:spPr>
          <a:xfrm>
            <a:off x="727741" y="261152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Image</a:t>
            </a:r>
          </a:p>
        </p:txBody>
      </p:sp>
      <p:sp>
        <p:nvSpPr>
          <p:cNvPr id="11" name="TextBox 10"/>
          <p:cNvSpPr txBox="1"/>
          <p:nvPr/>
        </p:nvSpPr>
        <p:spPr>
          <a:xfrm>
            <a:off x="771572" y="2988259"/>
            <a:ext cx="1577906" cy="800557"/>
          </a:xfrm>
          <a:prstGeom prst="rect">
            <a:avLst/>
          </a:prstGeom>
          <a:noFill/>
        </p:spPr>
        <p:txBody>
          <a:bodyPr wrap="square" lIns="0" rIns="0" tIns="0" bIns="0" anchor="t">
            <a:spAutoFit/>
          </a:bodyPr>
          <a:lstStyle/>
          <a:p>
            <a:pPr algn="ctr">
              <a:spcAft>
                <a:spcPts val="0"/>
              </a:spcAft>
            </a:pPr>
            <a:r>
              <a:rPr sz="1125" b="0" i="0">
                <a:solidFill>
                  <a:srgbClr val="2B3A38"/>
                </a:solidFill>
                <a:latin typeface="Arial"/>
              </a:rPr>
              <a:t>des millions de pixels</a:t>
            </a:r>
          </a:p>
        </p:txBody>
      </p:sp>
      <p:cxnSp>
        <p:nvCxnSpPr>
          <p:cNvPr id="12" name="Connector 11"/>
          <p:cNvCxnSpPr/>
          <p:nvPr/>
        </p:nvCxnSpPr>
        <p:spPr>
          <a:xfrm>
            <a:off x="2498503" y="2677454"/>
            <a:ext cx="315581" cy="0"/>
          </a:xfrm>
          <a:prstGeom prst="line">
            <a:avLst/>
          </a:prstGeom>
          <a:ln w="25400">
            <a:solidFill>
              <a:srgbClr val="5F7C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831617" y="1528419"/>
            <a:ext cx="1840891" cy="230748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1617" y="1528419"/>
            <a:ext cx="184089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01416"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GripLines_dark.png"/>
          <p:cNvPicPr>
            <a:picLocks noChangeAspect="1"/>
          </p:cNvPicPr>
          <p:nvPr/>
        </p:nvPicPr>
        <p:blipFill>
          <a:blip r:embed="rId3"/>
          <a:stretch>
            <a:fillRect/>
          </a:stretch>
        </p:blipFill>
        <p:spPr>
          <a:xfrm>
            <a:off x="3583752" y="1972300"/>
            <a:ext cx="336620" cy="336620"/>
          </a:xfrm>
          <a:prstGeom prst="rect">
            <a:avLst/>
          </a:prstGeom>
        </p:spPr>
      </p:pic>
      <p:sp>
        <p:nvSpPr>
          <p:cNvPr id="17" name="TextBox 16"/>
          <p:cNvSpPr txBox="1"/>
          <p:nvPr/>
        </p:nvSpPr>
        <p:spPr>
          <a:xfrm>
            <a:off x="2919278" y="261152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Couche 1</a:t>
            </a:r>
          </a:p>
        </p:txBody>
      </p:sp>
      <p:sp>
        <p:nvSpPr>
          <p:cNvPr id="18" name="TextBox 17"/>
          <p:cNvSpPr txBox="1"/>
          <p:nvPr/>
        </p:nvSpPr>
        <p:spPr>
          <a:xfrm>
            <a:off x="2963109" y="2988259"/>
            <a:ext cx="1577906" cy="800557"/>
          </a:xfrm>
          <a:prstGeom prst="rect">
            <a:avLst/>
          </a:prstGeom>
          <a:noFill/>
        </p:spPr>
        <p:txBody>
          <a:bodyPr wrap="square" lIns="0" rIns="0" tIns="0" bIns="0" anchor="t">
            <a:spAutoFit/>
          </a:bodyPr>
          <a:lstStyle/>
          <a:p>
            <a:pPr algn="ctr">
              <a:spcAft>
                <a:spcPts val="0"/>
              </a:spcAft>
            </a:pPr>
            <a:r>
              <a:rPr sz="1125" b="0" i="0">
                <a:solidFill>
                  <a:srgbClr val="2B3A38"/>
                </a:solidFill>
                <a:latin typeface="Arial"/>
              </a:rPr>
              <a:t>repère des contours</a:t>
            </a:r>
          </a:p>
        </p:txBody>
      </p:sp>
      <p:cxnSp>
        <p:nvCxnSpPr>
          <p:cNvPr id="19" name="Connector 18"/>
          <p:cNvCxnSpPr/>
          <p:nvPr/>
        </p:nvCxnSpPr>
        <p:spPr>
          <a:xfrm>
            <a:off x="4690040" y="2677454"/>
            <a:ext cx="315582" cy="0"/>
          </a:xfrm>
          <a:prstGeom prst="line">
            <a:avLst/>
          </a:prstGeom>
          <a:ln w="25400">
            <a:solidFill>
              <a:srgbClr val="5F7C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023154" y="1528419"/>
            <a:ext cx="1840891" cy="230748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3154" y="1528419"/>
            <a:ext cx="184089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92954"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Shapes_dark.png"/>
          <p:cNvPicPr>
            <a:picLocks noChangeAspect="1"/>
          </p:cNvPicPr>
          <p:nvPr/>
        </p:nvPicPr>
        <p:blipFill>
          <a:blip r:embed="rId4"/>
          <a:stretch>
            <a:fillRect/>
          </a:stretch>
        </p:blipFill>
        <p:spPr>
          <a:xfrm>
            <a:off x="5775289" y="1972300"/>
            <a:ext cx="336620" cy="336620"/>
          </a:xfrm>
          <a:prstGeom prst="rect">
            <a:avLst/>
          </a:prstGeom>
        </p:spPr>
      </p:pic>
      <p:sp>
        <p:nvSpPr>
          <p:cNvPr id="24" name="TextBox 23"/>
          <p:cNvSpPr txBox="1"/>
          <p:nvPr/>
        </p:nvSpPr>
        <p:spPr>
          <a:xfrm>
            <a:off x="5110815" y="261152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Couche 2</a:t>
            </a:r>
          </a:p>
        </p:txBody>
      </p:sp>
      <p:sp>
        <p:nvSpPr>
          <p:cNvPr id="25" name="TextBox 24"/>
          <p:cNvSpPr txBox="1"/>
          <p:nvPr/>
        </p:nvSpPr>
        <p:spPr>
          <a:xfrm>
            <a:off x="5154646" y="2988259"/>
            <a:ext cx="1577906" cy="800557"/>
          </a:xfrm>
          <a:prstGeom prst="rect">
            <a:avLst/>
          </a:prstGeom>
          <a:noFill/>
        </p:spPr>
        <p:txBody>
          <a:bodyPr wrap="square" lIns="0" rIns="0" tIns="0" bIns="0" anchor="t">
            <a:spAutoFit/>
          </a:bodyPr>
          <a:lstStyle/>
          <a:p>
            <a:pPr algn="ctr">
              <a:spcAft>
                <a:spcPts val="0"/>
              </a:spcAft>
            </a:pPr>
            <a:r>
              <a:rPr sz="1125" b="0" i="0">
                <a:solidFill>
                  <a:srgbClr val="2B3A38"/>
                </a:solidFill>
                <a:latin typeface="Arial"/>
              </a:rPr>
              <a:t>assemble des formes</a:t>
            </a:r>
          </a:p>
        </p:txBody>
      </p:sp>
      <p:cxnSp>
        <p:nvCxnSpPr>
          <p:cNvPr id="26" name="Connector 25"/>
          <p:cNvCxnSpPr/>
          <p:nvPr/>
        </p:nvCxnSpPr>
        <p:spPr>
          <a:xfrm>
            <a:off x="6881577" y="2677454"/>
            <a:ext cx="315582" cy="0"/>
          </a:xfrm>
          <a:prstGeom prst="line">
            <a:avLst/>
          </a:prstGeom>
          <a:ln w="25400">
            <a:solidFill>
              <a:srgbClr val="5F7C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214691" y="1528419"/>
            <a:ext cx="1840891" cy="230748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14691" y="1528419"/>
            <a:ext cx="184089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784491"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Cat_dark.png"/>
          <p:cNvPicPr>
            <a:picLocks noChangeAspect="1"/>
          </p:cNvPicPr>
          <p:nvPr/>
        </p:nvPicPr>
        <p:blipFill>
          <a:blip r:embed="rId5"/>
          <a:stretch>
            <a:fillRect/>
          </a:stretch>
        </p:blipFill>
        <p:spPr>
          <a:xfrm>
            <a:off x="7966827" y="1972300"/>
            <a:ext cx="336620" cy="336620"/>
          </a:xfrm>
          <a:prstGeom prst="rect">
            <a:avLst/>
          </a:prstGeom>
        </p:spPr>
      </p:pic>
      <p:sp>
        <p:nvSpPr>
          <p:cNvPr id="31" name="TextBox 30"/>
          <p:cNvSpPr txBox="1"/>
          <p:nvPr/>
        </p:nvSpPr>
        <p:spPr>
          <a:xfrm>
            <a:off x="7302353" y="261152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Couches suivantes</a:t>
            </a:r>
          </a:p>
        </p:txBody>
      </p:sp>
      <p:sp>
        <p:nvSpPr>
          <p:cNvPr id="32" name="TextBox 31"/>
          <p:cNvSpPr txBox="1"/>
          <p:nvPr/>
        </p:nvSpPr>
        <p:spPr>
          <a:xfrm>
            <a:off x="7346183" y="2988259"/>
            <a:ext cx="1577906" cy="800557"/>
          </a:xfrm>
          <a:prstGeom prst="rect">
            <a:avLst/>
          </a:prstGeom>
          <a:noFill/>
        </p:spPr>
        <p:txBody>
          <a:bodyPr wrap="square" lIns="0" rIns="0" tIns="0" bIns="0" anchor="t">
            <a:spAutoFit/>
          </a:bodyPr>
          <a:lstStyle/>
          <a:p>
            <a:pPr algn="ctr">
              <a:spcAft>
                <a:spcPts val="0"/>
              </a:spcAft>
            </a:pPr>
            <a:r>
              <a:rPr sz="1125" b="0" i="0">
                <a:solidFill>
                  <a:srgbClr val="2B3A38"/>
                </a:solidFill>
                <a:latin typeface="Arial"/>
              </a:rPr>
              <a:t>reconnaît des parties : oreilles, yeux…</a:t>
            </a:r>
          </a:p>
        </p:txBody>
      </p:sp>
      <p:cxnSp>
        <p:nvCxnSpPr>
          <p:cNvPr id="33" name="Connector 32"/>
          <p:cNvCxnSpPr/>
          <p:nvPr/>
        </p:nvCxnSpPr>
        <p:spPr>
          <a:xfrm>
            <a:off x="9073115" y="2677454"/>
            <a:ext cx="315581" cy="0"/>
          </a:xfrm>
          <a:prstGeom prst="line">
            <a:avLst/>
          </a:prstGeom>
          <a:ln w="25400">
            <a:solidFill>
              <a:srgbClr val="5F7C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406228" y="1528419"/>
            <a:ext cx="1840891" cy="230748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976028" y="1789964"/>
            <a:ext cx="701291" cy="701291"/>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aCheck.png"/>
          <p:cNvPicPr>
            <a:picLocks noChangeAspect="1"/>
          </p:cNvPicPr>
          <p:nvPr/>
        </p:nvPicPr>
        <p:blipFill>
          <a:blip r:embed="rId6"/>
          <a:stretch>
            <a:fillRect/>
          </a:stretch>
        </p:blipFill>
        <p:spPr>
          <a:xfrm>
            <a:off x="10158364" y="1972300"/>
            <a:ext cx="336620" cy="336620"/>
          </a:xfrm>
          <a:prstGeom prst="rect">
            <a:avLst/>
          </a:prstGeom>
        </p:spPr>
      </p:pic>
      <p:sp>
        <p:nvSpPr>
          <p:cNvPr id="37" name="TextBox 36"/>
          <p:cNvSpPr txBox="1"/>
          <p:nvPr/>
        </p:nvSpPr>
        <p:spPr>
          <a:xfrm>
            <a:off x="9493890" y="261152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Sortie</a:t>
            </a:r>
          </a:p>
        </p:txBody>
      </p:sp>
      <p:sp>
        <p:nvSpPr>
          <p:cNvPr id="38" name="TextBox 37"/>
          <p:cNvSpPr txBox="1"/>
          <p:nvPr/>
        </p:nvSpPr>
        <p:spPr>
          <a:xfrm>
            <a:off x="9537720" y="2988259"/>
            <a:ext cx="1577906" cy="800557"/>
          </a:xfrm>
          <a:prstGeom prst="rect">
            <a:avLst/>
          </a:prstGeom>
          <a:noFill/>
        </p:spPr>
        <p:txBody>
          <a:bodyPr wrap="square" lIns="0" rIns="0" tIns="0" bIns="0" anchor="t">
            <a:spAutoFit/>
          </a:bodyPr>
          <a:lstStyle/>
          <a:p>
            <a:pPr algn="ctr">
              <a:spcAft>
                <a:spcPts val="0"/>
              </a:spcAft>
            </a:pPr>
            <a:r>
              <a:rPr sz="1125" b="0" i="0">
                <a:solidFill>
                  <a:srgbClr val="1A2E2B"/>
                </a:solidFill>
                <a:latin typeface="Arial"/>
              </a:rPr>
              <a:t>« chat » à 97 %</a:t>
            </a:r>
          </a:p>
        </p:txBody>
      </p:sp>
      <p:sp>
        <p:nvSpPr>
          <p:cNvPr id="39" name="TextBox 38"/>
          <p:cNvSpPr txBox="1"/>
          <p:nvPr/>
        </p:nvSpPr>
        <p:spPr>
          <a:xfrm>
            <a:off x="2831617" y="3930091"/>
            <a:ext cx="6136304" cy="329641"/>
          </a:xfrm>
          <a:prstGeom prst="rect">
            <a:avLst/>
          </a:prstGeom>
          <a:noFill/>
        </p:spPr>
        <p:txBody>
          <a:bodyPr wrap="square" lIns="0" rIns="0" tIns="0" bIns="0" anchor="t">
            <a:spAutoFit/>
          </a:bodyPr>
          <a:lstStyle/>
          <a:p>
            <a:pPr algn="ctr">
              <a:spcAft>
                <a:spcPts val="0"/>
              </a:spcAft>
            </a:pPr>
            <a:r>
              <a:rPr sz="1170" b="0" i="1">
                <a:solidFill>
                  <a:srgbClr val="5A6B68"/>
                </a:solidFill>
                <a:latin typeface="Arial"/>
              </a:rPr>
              <a:t>de plus en plus abstrait  →</a:t>
            </a:r>
          </a:p>
        </p:txBody>
      </p:sp>
      <p:sp>
        <p:nvSpPr>
          <p:cNvPr id="40" name="Rectangle 39"/>
          <p:cNvSpPr/>
          <p:nvPr/>
        </p:nvSpPr>
        <p:spPr>
          <a:xfrm>
            <a:off x="640080" y="4448098"/>
            <a:ext cx="5172027" cy="15540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233" y="4542282"/>
            <a:ext cx="4733720" cy="1365656"/>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Un réseau profond </a:t>
            </a:r>
            <a:r>
              <a:rPr sz="1215" b="0" i="0">
                <a:solidFill>
                  <a:srgbClr val="2B3A38"/>
                </a:solidFill>
                <a:latin typeface="Arial"/>
              </a:rPr>
              <a:t>empile des dizaines de couches de neurones formels (ceux de 1943 !). Chaque couche combine les résultats de la précédente pour construire des notions de plus en plus abstraites.</a:t>
            </a:r>
          </a:p>
        </p:txBody>
      </p:sp>
      <p:sp>
        <p:nvSpPr>
          <p:cNvPr id="42" name="Rectangle 41"/>
          <p:cNvSpPr/>
          <p:nvPr/>
        </p:nvSpPr>
        <p:spPr>
          <a:xfrm>
            <a:off x="6075092" y="4448098"/>
            <a:ext cx="5172027" cy="1554022"/>
          </a:xfrm>
          <a:prstGeom prst="rect">
            <a:avLst/>
          </a:prstGeom>
          <a:solidFill>
            <a:srgbClr val="F1F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94245" y="4542282"/>
            <a:ext cx="4733720" cy="1365656"/>
          </a:xfrm>
          <a:prstGeom prst="rect">
            <a:avLst/>
          </a:prstGeom>
          <a:noFill/>
        </p:spPr>
        <p:txBody>
          <a:bodyPr wrap="square" lIns="0" rIns="0" tIns="0" bIns="0" anchor="ctr">
            <a:spAutoFit/>
          </a:bodyPr>
          <a:lstStyle/>
          <a:p>
            <a:pPr algn="l">
              <a:spcAft>
                <a:spcPts val="0"/>
              </a:spcAft>
            </a:pPr>
            <a:r>
              <a:rPr sz="1215" b="1" i="0">
                <a:solidFill>
                  <a:srgbClr val="5F7C17"/>
                </a:solidFill>
                <a:latin typeface="Arial"/>
              </a:rPr>
              <a:t>Le point clé : </a:t>
            </a:r>
            <a:r>
              <a:rPr sz="1215" b="0" i="0">
                <a:solidFill>
                  <a:srgbClr val="2B3A38"/>
                </a:solidFill>
                <a:latin typeface="Arial"/>
              </a:rPr>
              <a:t>personne ne programme ces étapes. Le réseau découvre seul, à partir de millions d'exemples, les caractéristiques utiles pour reconnaître un chat.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1997 vs 2016</a:t>
            </a:r>
          </a:p>
        </p:txBody>
      </p:sp>
      <p:sp>
        <p:nvSpPr>
          <p:cNvPr id="3" name="Text Placeholder 2"/>
          <p:cNvSpPr>
            <a:spLocks noGrp="1"/>
          </p:cNvSpPr>
          <p:nvPr>
            <p:ph type="body" idx="25" sz="quarter"/>
          </p:nvPr>
        </p:nvSpPr>
        <p:spPr/>
        <p:txBody>
          <a:bodyPr/>
          <a:lstStyle/>
          <a:p>
            <a:r>
              <a:t>Deux victoires, deux philosophies</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23</a:t>
            </a:fld>
          </a:p>
        </p:txBody>
      </p:sp>
      <p:sp>
        <p:nvSpPr>
          <p:cNvPr id="6" name="Rectangle 5"/>
          <p:cNvSpPr/>
          <p:nvPr/>
        </p:nvSpPr>
        <p:spPr>
          <a:xfrm>
            <a:off x="640080" y="1481328"/>
            <a:ext cx="517202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3064" y="1789964"/>
            <a:ext cx="701291" cy="70129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ChessKnight.png"/>
          <p:cNvPicPr>
            <a:picLocks noChangeAspect="1"/>
          </p:cNvPicPr>
          <p:nvPr/>
        </p:nvPicPr>
        <p:blipFill>
          <a:blip r:embed="rId2"/>
          <a:stretch>
            <a:fillRect/>
          </a:stretch>
        </p:blipFill>
        <p:spPr>
          <a:xfrm>
            <a:off x="1085400" y="1972300"/>
            <a:ext cx="336620" cy="336620"/>
          </a:xfrm>
          <a:prstGeom prst="rect">
            <a:avLst/>
          </a:prstGeom>
        </p:spPr>
      </p:pic>
      <p:sp>
        <p:nvSpPr>
          <p:cNvPr id="10" name="TextBox 9"/>
          <p:cNvSpPr txBox="1"/>
          <p:nvPr/>
        </p:nvSpPr>
        <p:spPr>
          <a:xfrm>
            <a:off x="1779679" y="1716786"/>
            <a:ext cx="3769443" cy="376732"/>
          </a:xfrm>
          <a:prstGeom prst="rect">
            <a:avLst/>
          </a:prstGeom>
          <a:noFill/>
        </p:spPr>
        <p:txBody>
          <a:bodyPr wrap="square" lIns="0" rIns="0" tIns="0" bIns="0" anchor="t">
            <a:spAutoFit/>
          </a:bodyPr>
          <a:lstStyle/>
          <a:p>
            <a:pPr algn="l">
              <a:spcAft>
                <a:spcPts val="0"/>
              </a:spcAft>
            </a:pPr>
            <a:r>
              <a:rPr sz="1350" b="1" i="0">
                <a:solidFill>
                  <a:srgbClr val="D1452B"/>
                </a:solidFill>
                <a:latin typeface="Arial"/>
              </a:rPr>
              <a:t>1997 — échecs</a:t>
            </a:r>
          </a:p>
        </p:txBody>
      </p:sp>
      <p:sp>
        <p:nvSpPr>
          <p:cNvPr id="11" name="TextBox 10"/>
          <p:cNvSpPr txBox="1"/>
          <p:nvPr/>
        </p:nvSpPr>
        <p:spPr>
          <a:xfrm>
            <a:off x="1779679" y="2065263"/>
            <a:ext cx="3857105" cy="470916"/>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Deep Blue (IBM) bat Garry Kasparov</a:t>
            </a:r>
          </a:p>
        </p:txBody>
      </p:sp>
      <p:sp>
        <p:nvSpPr>
          <p:cNvPr id="12" name="TextBox 11"/>
          <p:cNvSpPr txBox="1"/>
          <p:nvPr/>
        </p:nvSpPr>
        <p:spPr>
          <a:xfrm>
            <a:off x="903064" y="2658618"/>
            <a:ext cx="4646058" cy="847648"/>
          </a:xfrm>
          <a:prstGeom prst="rect">
            <a:avLst/>
          </a:prstGeom>
          <a:noFill/>
        </p:spPr>
        <p:txBody>
          <a:bodyPr wrap="square" lIns="0" rIns="0" tIns="0" bIns="0" anchor="ctr">
            <a:spAutoFit/>
          </a:bodyPr>
          <a:lstStyle/>
          <a:p>
            <a:pPr algn="l">
              <a:spcAft>
                <a:spcPts val="0"/>
              </a:spcAft>
            </a:pPr>
            <a:r>
              <a:rPr sz="3780" b="1" i="0">
                <a:solidFill>
                  <a:srgbClr val="D1452B"/>
                </a:solidFill>
                <a:latin typeface="Arial"/>
              </a:rPr>
              <a:t>200 millions</a:t>
            </a:r>
          </a:p>
        </p:txBody>
      </p:sp>
      <p:sp>
        <p:nvSpPr>
          <p:cNvPr id="13" name="TextBox 12"/>
          <p:cNvSpPr txBox="1"/>
          <p:nvPr/>
        </p:nvSpPr>
        <p:spPr>
          <a:xfrm>
            <a:off x="903064" y="3506266"/>
            <a:ext cx="4646058" cy="565099"/>
          </a:xfrm>
          <a:prstGeom prst="rect">
            <a:avLst/>
          </a:prstGeom>
          <a:noFill/>
        </p:spPr>
        <p:txBody>
          <a:bodyPr wrap="square" lIns="0" rIns="0" tIns="0" bIns="0" anchor="t">
            <a:spAutoFit/>
          </a:bodyPr>
          <a:lstStyle/>
          <a:p>
            <a:pPr algn="l">
              <a:spcAft>
                <a:spcPts val="0"/>
              </a:spcAft>
            </a:pPr>
            <a:r>
              <a:rPr sz="1170" b="0" i="0">
                <a:solidFill>
                  <a:srgbClr val="5A6B68"/>
                </a:solidFill>
                <a:latin typeface="Arial"/>
              </a:rPr>
              <a:t>de positions examinées par seconde</a:t>
            </a:r>
          </a:p>
        </p:txBody>
      </p:sp>
      <p:sp>
        <p:nvSpPr>
          <p:cNvPr id="14" name="TextBox 13"/>
          <p:cNvSpPr txBox="1"/>
          <p:nvPr/>
        </p:nvSpPr>
        <p:spPr>
          <a:xfrm>
            <a:off x="903064" y="4165549"/>
            <a:ext cx="4646058" cy="1742389"/>
          </a:xfrm>
          <a:prstGeom prst="rect">
            <a:avLst/>
          </a:prstGeom>
          <a:noFill/>
        </p:spPr>
        <p:txBody>
          <a:bodyPr wrap="square" lIns="0" rIns="0" tIns="0" bIns="0" anchor="t">
            <a:spAutoFit/>
          </a:bodyPr>
          <a:lstStyle/>
          <a:p>
            <a:pPr algn="l">
              <a:spcAft>
                <a:spcPts val="600"/>
              </a:spcAft>
            </a:pPr>
            <a:r>
              <a:rPr sz="1215" b="0" i="0">
                <a:solidFill>
                  <a:srgbClr val="2B3A38"/>
                </a:solidFill>
                <a:latin typeface="Arial"/>
              </a:rPr>
              <a:t>•  Des règles d'évaluation écrites par des experts en échecs</a:t>
            </a:r>
          </a:p>
          <a:p>
            <a:pPr algn="l">
              <a:spcAft>
                <a:spcPts val="600"/>
              </a:spcAft>
            </a:pPr>
            <a:r>
              <a:rPr sz="1215" b="0" i="0">
                <a:solidFill>
                  <a:srgbClr val="2B3A38"/>
                </a:solidFill>
                <a:latin typeface="Arial"/>
              </a:rPr>
              <a:t>•  Une recherche par « force brute » sur un super-ordinateur</a:t>
            </a:r>
          </a:p>
          <a:p>
            <a:pPr algn="l">
              <a:spcAft>
                <a:spcPts val="600"/>
              </a:spcAft>
            </a:pPr>
            <a:r>
              <a:rPr sz="1215" b="0" i="0">
                <a:solidFill>
                  <a:srgbClr val="2B3A38"/>
                </a:solidFill>
                <a:latin typeface="Arial"/>
              </a:rPr>
              <a:t>•  Aucun apprentissage : il ne progresse pas en jouant</a:t>
            </a:r>
          </a:p>
        </p:txBody>
      </p:sp>
      <p:sp>
        <p:nvSpPr>
          <p:cNvPr id="15" name="Rectangle 14"/>
          <p:cNvSpPr/>
          <p:nvPr/>
        </p:nvSpPr>
        <p:spPr>
          <a:xfrm>
            <a:off x="6075092" y="1481328"/>
            <a:ext cx="517202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75092" y="1481328"/>
            <a:ext cx="517202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38076" y="178996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Gamepad_dark.png"/>
          <p:cNvPicPr>
            <a:picLocks noChangeAspect="1"/>
          </p:cNvPicPr>
          <p:nvPr/>
        </p:nvPicPr>
        <p:blipFill>
          <a:blip r:embed="rId3"/>
          <a:stretch>
            <a:fillRect/>
          </a:stretch>
        </p:blipFill>
        <p:spPr>
          <a:xfrm>
            <a:off x="6520412" y="1972300"/>
            <a:ext cx="336620" cy="336620"/>
          </a:xfrm>
          <a:prstGeom prst="rect">
            <a:avLst/>
          </a:prstGeom>
        </p:spPr>
      </p:pic>
      <p:sp>
        <p:nvSpPr>
          <p:cNvPr id="19" name="TextBox 18"/>
          <p:cNvSpPr txBox="1"/>
          <p:nvPr/>
        </p:nvSpPr>
        <p:spPr>
          <a:xfrm>
            <a:off x="7214691" y="1716786"/>
            <a:ext cx="3769443" cy="376732"/>
          </a:xfrm>
          <a:prstGeom prst="rect">
            <a:avLst/>
          </a:prstGeom>
          <a:noFill/>
        </p:spPr>
        <p:txBody>
          <a:bodyPr wrap="square" lIns="0" rIns="0" tIns="0" bIns="0" anchor="t">
            <a:spAutoFit/>
          </a:bodyPr>
          <a:lstStyle/>
          <a:p>
            <a:pPr algn="l">
              <a:spcAft>
                <a:spcPts val="0"/>
              </a:spcAft>
            </a:pPr>
            <a:r>
              <a:rPr sz="1350" b="1" i="0">
                <a:solidFill>
                  <a:srgbClr val="5F7C17"/>
                </a:solidFill>
                <a:latin typeface="Arial"/>
              </a:rPr>
              <a:t>2016 — jeu de go</a:t>
            </a:r>
          </a:p>
        </p:txBody>
      </p:sp>
      <p:sp>
        <p:nvSpPr>
          <p:cNvPr id="20" name="TextBox 19"/>
          <p:cNvSpPr txBox="1"/>
          <p:nvPr/>
        </p:nvSpPr>
        <p:spPr>
          <a:xfrm>
            <a:off x="7214691" y="2065263"/>
            <a:ext cx="3857105" cy="470916"/>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AlphaGo (DeepMind) bat Lee Sedol 4 – 1</a:t>
            </a:r>
          </a:p>
        </p:txBody>
      </p:sp>
      <p:sp>
        <p:nvSpPr>
          <p:cNvPr id="21" name="TextBox 20"/>
          <p:cNvSpPr txBox="1"/>
          <p:nvPr/>
        </p:nvSpPr>
        <p:spPr>
          <a:xfrm>
            <a:off x="6338076" y="2658618"/>
            <a:ext cx="4646058" cy="847648"/>
          </a:xfrm>
          <a:prstGeom prst="rect">
            <a:avLst/>
          </a:prstGeom>
          <a:noFill/>
        </p:spPr>
        <p:txBody>
          <a:bodyPr wrap="square" lIns="0" rIns="0" tIns="0" bIns="0" anchor="ctr">
            <a:spAutoFit/>
          </a:bodyPr>
          <a:lstStyle/>
          <a:p>
            <a:pPr algn="l">
              <a:spcAft>
                <a:spcPts val="0"/>
              </a:spcAft>
            </a:pPr>
            <a:r>
              <a:rPr sz="3780" b="1" i="0">
                <a:solidFill>
                  <a:srgbClr val="5F7C17"/>
                </a:solidFill>
                <a:latin typeface="Arial"/>
              </a:rPr>
              <a:t>10</a:t>
            </a:r>
            <a:r>
              <a:rPr sz="3780" b="1" i="0" baseline="30000">
                <a:solidFill>
                  <a:srgbClr val="5F7C17"/>
                </a:solidFill>
                <a:latin typeface="Arial"/>
              </a:rPr>
              <a:t>170</a:t>
            </a:r>
          </a:p>
        </p:txBody>
      </p:sp>
      <p:sp>
        <p:nvSpPr>
          <p:cNvPr id="22" name="TextBox 21"/>
          <p:cNvSpPr txBox="1"/>
          <p:nvPr/>
        </p:nvSpPr>
        <p:spPr>
          <a:xfrm>
            <a:off x="6338076" y="3506266"/>
            <a:ext cx="4646058" cy="565099"/>
          </a:xfrm>
          <a:prstGeom prst="rect">
            <a:avLst/>
          </a:prstGeom>
          <a:noFill/>
        </p:spPr>
        <p:txBody>
          <a:bodyPr wrap="square" lIns="0" rIns="0" tIns="0" bIns="0" anchor="t">
            <a:spAutoFit/>
          </a:bodyPr>
          <a:lstStyle/>
          <a:p>
            <a:pPr algn="l">
              <a:spcAft>
                <a:spcPts val="0"/>
              </a:spcAft>
            </a:pPr>
            <a:r>
              <a:rPr sz="1170" b="0" i="0">
                <a:solidFill>
                  <a:srgbClr val="5A6B68"/>
                </a:solidFill>
                <a:latin typeface="Arial"/>
              </a:rPr>
              <a:t>positions possibles au go : bien plus que d'atomes dans l'univers (environ 10⁸⁰)</a:t>
            </a:r>
          </a:p>
        </p:txBody>
      </p:sp>
      <p:sp>
        <p:nvSpPr>
          <p:cNvPr id="23" name="TextBox 22"/>
          <p:cNvSpPr txBox="1"/>
          <p:nvPr/>
        </p:nvSpPr>
        <p:spPr>
          <a:xfrm>
            <a:off x="6338076" y="4165549"/>
            <a:ext cx="4646058" cy="1742389"/>
          </a:xfrm>
          <a:prstGeom prst="rect">
            <a:avLst/>
          </a:prstGeom>
          <a:noFill/>
        </p:spPr>
        <p:txBody>
          <a:bodyPr wrap="square" lIns="0" rIns="0" tIns="0" bIns="0" anchor="t">
            <a:spAutoFit/>
          </a:bodyPr>
          <a:lstStyle/>
          <a:p>
            <a:pPr algn="l">
              <a:spcAft>
                <a:spcPts val="600"/>
              </a:spcAft>
            </a:pPr>
            <a:r>
              <a:rPr sz="1215" b="0" i="0">
                <a:solidFill>
                  <a:srgbClr val="2B3A38"/>
                </a:solidFill>
                <a:latin typeface="Arial"/>
              </a:rPr>
              <a:t>•  Impossible d'explorer par force brute</a:t>
            </a:r>
          </a:p>
          <a:p>
            <a:pPr algn="l">
              <a:spcAft>
                <a:spcPts val="600"/>
              </a:spcAft>
            </a:pPr>
            <a:r>
              <a:rPr sz="1215" b="0" i="0">
                <a:solidFill>
                  <a:srgbClr val="2B3A38"/>
                </a:solidFill>
                <a:latin typeface="Arial"/>
              </a:rPr>
              <a:t>•  Apprend de millions de coups de parties humaines, puis en jouant contre lui-même</a:t>
            </a:r>
          </a:p>
          <a:p>
            <a:pPr algn="l">
              <a:spcAft>
                <a:spcPts val="600"/>
              </a:spcAft>
            </a:pPr>
            <a:r>
              <a:rPr sz="1215" b="0" i="0">
                <a:solidFill>
                  <a:srgbClr val="2B3A38"/>
                </a:solidFill>
                <a:latin typeface="Arial"/>
              </a:rPr>
              <a:t>•  Joue des coups que les experts jugent d'abord « inhumains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2012 – 2020 · Le deep learning</a:t>
            </a:r>
          </a:p>
        </p:txBody>
      </p:sp>
      <p:sp>
        <p:nvSpPr>
          <p:cNvPr id="3" name="Text Placeholder 2"/>
          <p:cNvSpPr>
            <a:spLocks noGrp="1"/>
          </p:cNvSpPr>
          <p:nvPr>
            <p:ph type="body" idx="25" sz="quarter"/>
          </p:nvPr>
        </p:nvSpPr>
        <p:spPr/>
        <p:txBody>
          <a:bodyPr/>
          <a:lstStyle/>
          <a:p>
            <a:r>
              <a:t>Le deep learning change le quotidien</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24</a:t>
            </a:fld>
          </a:p>
        </p:txBody>
      </p:sp>
      <p:sp>
        <p:nvSpPr>
          <p:cNvPr id="6" name="Oval 5"/>
          <p:cNvSpPr/>
          <p:nvPr/>
        </p:nvSpPr>
        <p:spPr>
          <a:xfrm>
            <a:off x="640080" y="1554506"/>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Microphone_dark.png"/>
          <p:cNvPicPr>
            <a:picLocks noChangeAspect="1"/>
          </p:cNvPicPr>
          <p:nvPr/>
        </p:nvPicPr>
        <p:blipFill>
          <a:blip r:embed="rId2"/>
          <a:stretch>
            <a:fillRect/>
          </a:stretch>
        </p:blipFill>
        <p:spPr>
          <a:xfrm>
            <a:off x="822415" y="1736842"/>
            <a:ext cx="336620" cy="336620"/>
          </a:xfrm>
          <a:prstGeom prst="rect">
            <a:avLst/>
          </a:prstGeom>
        </p:spPr>
      </p:pic>
      <p:sp>
        <p:nvSpPr>
          <p:cNvPr id="8" name="TextBox 7"/>
          <p:cNvSpPr txBox="1"/>
          <p:nvPr/>
        </p:nvSpPr>
        <p:spPr>
          <a:xfrm>
            <a:off x="1560525" y="1481328"/>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Reconnaissance vocale</a:t>
            </a:r>
          </a:p>
        </p:txBody>
      </p:sp>
      <p:sp>
        <p:nvSpPr>
          <p:cNvPr id="9" name="TextBox 8"/>
          <p:cNvSpPr txBox="1"/>
          <p:nvPr/>
        </p:nvSpPr>
        <p:spPr>
          <a:xfrm>
            <a:off x="1560525" y="1905152"/>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Siri, Alexa, dictée vocale : les réseaux profonds rendent la reconnaissance de la parole enfin fiable.</a:t>
            </a:r>
          </a:p>
        </p:txBody>
      </p:sp>
      <p:sp>
        <p:nvSpPr>
          <p:cNvPr id="10" name="Oval 9"/>
          <p:cNvSpPr/>
          <p:nvPr/>
        </p:nvSpPr>
        <p:spPr>
          <a:xfrm>
            <a:off x="6075092" y="1554506"/>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Language_dark.png"/>
          <p:cNvPicPr>
            <a:picLocks noChangeAspect="1"/>
          </p:cNvPicPr>
          <p:nvPr/>
        </p:nvPicPr>
        <p:blipFill>
          <a:blip r:embed="rId3"/>
          <a:stretch>
            <a:fillRect/>
          </a:stretch>
        </p:blipFill>
        <p:spPr>
          <a:xfrm>
            <a:off x="6257428" y="1736842"/>
            <a:ext cx="336620" cy="336620"/>
          </a:xfrm>
          <a:prstGeom prst="rect">
            <a:avLst/>
          </a:prstGeom>
        </p:spPr>
      </p:pic>
      <p:sp>
        <p:nvSpPr>
          <p:cNvPr id="12" name="TextBox 11"/>
          <p:cNvSpPr txBox="1"/>
          <p:nvPr/>
        </p:nvSpPr>
        <p:spPr>
          <a:xfrm>
            <a:off x="6995537" y="1481328"/>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Traduction neuronale</a:t>
            </a:r>
          </a:p>
        </p:txBody>
      </p:sp>
      <p:sp>
        <p:nvSpPr>
          <p:cNvPr id="13" name="TextBox 12"/>
          <p:cNvSpPr txBox="1"/>
          <p:nvPr/>
        </p:nvSpPr>
        <p:spPr>
          <a:xfrm>
            <a:off x="6995537" y="1905152"/>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Google Traduction (2016) puis DeepL (2017) traduisent des phrases entières, et non plus mot à mot.</a:t>
            </a:r>
          </a:p>
        </p:txBody>
      </p:sp>
      <p:sp>
        <p:nvSpPr>
          <p:cNvPr id="14" name="Oval 13"/>
          <p:cNvSpPr/>
          <p:nvPr/>
        </p:nvSpPr>
        <p:spPr>
          <a:xfrm>
            <a:off x="640080" y="308027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XRay_dark.png"/>
          <p:cNvPicPr>
            <a:picLocks noChangeAspect="1"/>
          </p:cNvPicPr>
          <p:nvPr/>
        </p:nvPicPr>
        <p:blipFill>
          <a:blip r:embed="rId4"/>
          <a:stretch>
            <a:fillRect/>
          </a:stretch>
        </p:blipFill>
        <p:spPr>
          <a:xfrm>
            <a:off x="822415" y="3262610"/>
            <a:ext cx="336620" cy="336620"/>
          </a:xfrm>
          <a:prstGeom prst="rect">
            <a:avLst/>
          </a:prstGeom>
        </p:spPr>
      </p:pic>
      <p:sp>
        <p:nvSpPr>
          <p:cNvPr id="16" name="TextBox 15"/>
          <p:cNvSpPr txBox="1"/>
          <p:nvPr/>
        </p:nvSpPr>
        <p:spPr>
          <a:xfrm>
            <a:off x="1560525" y="3007095"/>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Imagerie médicale</a:t>
            </a:r>
          </a:p>
        </p:txBody>
      </p:sp>
      <p:sp>
        <p:nvSpPr>
          <p:cNvPr id="17" name="TextBox 16"/>
          <p:cNvSpPr txBox="1"/>
          <p:nvPr/>
        </p:nvSpPr>
        <p:spPr>
          <a:xfrm>
            <a:off x="1560525" y="3430920"/>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Détection de rétinopathies, de cancers de la peau, de tumeurs sur des radios : au niveau de spécialistes dans certaines études.</a:t>
            </a:r>
          </a:p>
        </p:txBody>
      </p:sp>
      <p:sp>
        <p:nvSpPr>
          <p:cNvPr id="18" name="Oval 17"/>
          <p:cNvSpPr/>
          <p:nvPr/>
        </p:nvSpPr>
        <p:spPr>
          <a:xfrm>
            <a:off x="6075092" y="3080274"/>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CarSide_dark.png"/>
          <p:cNvPicPr>
            <a:picLocks noChangeAspect="1"/>
          </p:cNvPicPr>
          <p:nvPr/>
        </p:nvPicPr>
        <p:blipFill>
          <a:blip r:embed="rId5"/>
          <a:stretch>
            <a:fillRect/>
          </a:stretch>
        </p:blipFill>
        <p:spPr>
          <a:xfrm>
            <a:off x="6257428" y="3262610"/>
            <a:ext cx="336620" cy="336620"/>
          </a:xfrm>
          <a:prstGeom prst="rect">
            <a:avLst/>
          </a:prstGeom>
        </p:spPr>
      </p:pic>
      <p:sp>
        <p:nvSpPr>
          <p:cNvPr id="20" name="TextBox 19"/>
          <p:cNvSpPr txBox="1"/>
          <p:nvPr/>
        </p:nvSpPr>
        <p:spPr>
          <a:xfrm>
            <a:off x="6995537" y="3007095"/>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Véhicules autonomes</a:t>
            </a:r>
          </a:p>
        </p:txBody>
      </p:sp>
      <p:sp>
        <p:nvSpPr>
          <p:cNvPr id="21" name="TextBox 20"/>
          <p:cNvSpPr txBox="1"/>
          <p:nvPr/>
        </p:nvSpPr>
        <p:spPr>
          <a:xfrm>
            <a:off x="6995537" y="3430920"/>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En 2020, Waymo ouvre à Phoenix (Arizona) un service de taxis sans conducteur accessible au public.</a:t>
            </a:r>
          </a:p>
        </p:txBody>
      </p:sp>
      <p:sp>
        <p:nvSpPr>
          <p:cNvPr id="22" name="Oval 21"/>
          <p:cNvSpPr/>
          <p:nvPr/>
        </p:nvSpPr>
        <p:spPr>
          <a:xfrm>
            <a:off x="640080" y="4606042"/>
            <a:ext cx="701291" cy="701291"/>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Dna_dark.png"/>
          <p:cNvPicPr>
            <a:picLocks noChangeAspect="1"/>
          </p:cNvPicPr>
          <p:nvPr/>
        </p:nvPicPr>
        <p:blipFill>
          <a:blip r:embed="rId6"/>
          <a:stretch>
            <a:fillRect/>
          </a:stretch>
        </p:blipFill>
        <p:spPr>
          <a:xfrm>
            <a:off x="822415" y="4788378"/>
            <a:ext cx="336620" cy="336620"/>
          </a:xfrm>
          <a:prstGeom prst="rect">
            <a:avLst/>
          </a:prstGeom>
        </p:spPr>
      </p:pic>
      <p:sp>
        <p:nvSpPr>
          <p:cNvPr id="24" name="TextBox 23"/>
          <p:cNvSpPr txBox="1"/>
          <p:nvPr/>
        </p:nvSpPr>
        <p:spPr>
          <a:xfrm>
            <a:off x="1560525" y="4532863"/>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Biologie : AlphaFold</a:t>
            </a:r>
          </a:p>
        </p:txBody>
      </p:sp>
      <p:sp>
        <p:nvSpPr>
          <p:cNvPr id="25" name="TextBox 24"/>
          <p:cNvSpPr txBox="1"/>
          <p:nvPr/>
        </p:nvSpPr>
        <p:spPr>
          <a:xfrm>
            <a:off x="1560525" y="4956688"/>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En 2020, AlphaFold prédit la forme 3D des protéines, un problème ouvert depuis 50 ans. Prix Nobel de chimie 2024.</a:t>
            </a:r>
          </a:p>
        </p:txBody>
      </p:sp>
      <p:sp>
        <p:nvSpPr>
          <p:cNvPr id="26" name="Oval 25"/>
          <p:cNvSpPr/>
          <p:nvPr/>
        </p:nvSpPr>
        <p:spPr>
          <a:xfrm>
            <a:off x="6075092" y="4606042"/>
            <a:ext cx="701291" cy="70129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TheaterMasks.png"/>
          <p:cNvPicPr>
            <a:picLocks noChangeAspect="1"/>
          </p:cNvPicPr>
          <p:nvPr/>
        </p:nvPicPr>
        <p:blipFill>
          <a:blip r:embed="rId7"/>
          <a:stretch>
            <a:fillRect/>
          </a:stretch>
        </p:blipFill>
        <p:spPr>
          <a:xfrm>
            <a:off x="6257428" y="4788378"/>
            <a:ext cx="336620" cy="336620"/>
          </a:xfrm>
          <a:prstGeom prst="rect">
            <a:avLst/>
          </a:prstGeom>
        </p:spPr>
      </p:pic>
      <p:sp>
        <p:nvSpPr>
          <p:cNvPr id="28" name="TextBox 27"/>
          <p:cNvSpPr txBox="1"/>
          <p:nvPr/>
        </p:nvSpPr>
        <p:spPr>
          <a:xfrm>
            <a:off x="6995537" y="4532863"/>
            <a:ext cx="4207751" cy="376732"/>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Le revers : les deepfakes</a:t>
            </a:r>
          </a:p>
        </p:txBody>
      </p:sp>
      <p:sp>
        <p:nvSpPr>
          <p:cNvPr id="29" name="TextBox 28"/>
          <p:cNvSpPr txBox="1"/>
          <p:nvPr/>
        </p:nvSpPr>
        <p:spPr>
          <a:xfrm>
            <a:off x="6995537" y="4956688"/>
            <a:ext cx="4207751" cy="988923"/>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Dès 2017, de fausses vidéos très réalistes servent à la désinformation ou au harcèlement.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25</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06</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2017 – aujourd'hui</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L'IA GÉNÉRATIVE</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La machine qui écrit, dessine et converse</a:t>
            </a:r>
          </a:p>
        </p:txBody>
      </p:sp>
      <p:sp>
        <p:nvSpPr>
          <p:cNvPr id="8" name="Oval 7"/>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031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603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535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Comment ça marche ? · L'IA générative</a:t>
            </a:r>
          </a:p>
        </p:txBody>
      </p:sp>
      <p:sp>
        <p:nvSpPr>
          <p:cNvPr id="3" name="Text Placeholder 2"/>
          <p:cNvSpPr>
            <a:spLocks noGrp="1"/>
          </p:cNvSpPr>
          <p:nvPr>
            <p:ph type="body" idx="25" sz="quarter"/>
          </p:nvPr>
        </p:nvSpPr>
        <p:spPr/>
        <p:txBody>
          <a:bodyPr/>
          <a:lstStyle/>
          <a:p>
            <a:r>
              <a:t>Un grand modèle de langage prédit le mot suivant</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26</a:t>
            </a:fld>
          </a:p>
        </p:txBody>
      </p:sp>
      <p:sp>
        <p:nvSpPr>
          <p:cNvPr id="6" name="Rectangle 5"/>
          <p:cNvSpPr/>
          <p:nvPr/>
        </p:nvSpPr>
        <p:spPr>
          <a:xfrm>
            <a:off x="640080" y="1481328"/>
            <a:ext cx="5259689" cy="753465"/>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233" y="1481328"/>
            <a:ext cx="4821381" cy="753465"/>
          </a:xfrm>
          <a:prstGeom prst="rect">
            <a:avLst/>
          </a:prstGeom>
          <a:noFill/>
        </p:spPr>
        <p:txBody>
          <a:bodyPr wrap="square" lIns="0" rIns="0" tIns="0" bIns="0" anchor="ctr">
            <a:spAutoFit/>
          </a:bodyPr>
          <a:lstStyle/>
          <a:p>
            <a:pPr algn="l">
              <a:spcAft>
                <a:spcPts val="0"/>
              </a:spcAft>
            </a:pPr>
            <a:r>
              <a:rPr sz="1980" b="0" i="0">
                <a:solidFill>
                  <a:srgbClr val="FFFFFF"/>
                </a:solidFill>
                <a:latin typeface="Arial"/>
              </a:rPr>
              <a:t>Le chat dort sur le  </a:t>
            </a:r>
            <a:r>
              <a:rPr sz="1980" b="1" i="0">
                <a:solidFill>
                  <a:srgbClr val="F4D73F"/>
                </a:solidFill>
                <a:latin typeface="Arial"/>
              </a:rPr>
              <a:t>…</a:t>
            </a:r>
          </a:p>
        </p:txBody>
      </p:sp>
      <p:graphicFrame>
        <p:nvGraphicFramePr>
          <p:cNvPr id="8" name="Chart 7"/>
          <p:cNvGraphicFramePr>
            <a:graphicFrameLocks noGrp="1"/>
          </p:cNvGraphicFramePr>
          <p:nvPr/>
        </p:nvGraphicFramePr>
        <p:xfrm>
          <a:off x="640080" y="2376068"/>
          <a:ext cx="5259689" cy="3155137"/>
        </p:xfrm>
        <a:graphic>
          <a:graphicData uri="http://schemas.openxmlformats.org/drawingml/2006/chart">
            <c:chart xmlns:c="http://schemas.openxmlformats.org/drawingml/2006/chart" r:id="rId2"/>
          </a:graphicData>
        </a:graphic>
      </p:graphicFrame>
      <p:sp>
        <p:nvSpPr>
          <p:cNvPr id="9" name="TextBox 8"/>
          <p:cNvSpPr txBox="1"/>
          <p:nvPr/>
        </p:nvSpPr>
        <p:spPr>
          <a:xfrm>
            <a:off x="640080" y="5578297"/>
            <a:ext cx="5259689" cy="282549"/>
          </a:xfrm>
          <a:prstGeom prst="rect">
            <a:avLst/>
          </a:prstGeom>
          <a:noFill/>
        </p:spPr>
        <p:txBody>
          <a:bodyPr wrap="square" lIns="0" rIns="0" tIns="0" bIns="0" anchor="t">
            <a:spAutoFit/>
          </a:bodyPr>
          <a:lstStyle/>
          <a:p>
            <a:pPr algn="l">
              <a:spcAft>
                <a:spcPts val="0"/>
              </a:spcAft>
            </a:pPr>
            <a:r>
              <a:rPr sz="900" b="0" i="1">
                <a:solidFill>
                  <a:srgbClr val="5A6B68"/>
                </a:solidFill>
                <a:latin typeface="Arial"/>
              </a:rPr>
              <a:t>Probabilités illustratives</a:t>
            </a:r>
          </a:p>
        </p:txBody>
      </p:sp>
      <p:sp>
        <p:nvSpPr>
          <p:cNvPr id="10" name="Oval 9"/>
          <p:cNvSpPr/>
          <p:nvPr/>
        </p:nvSpPr>
        <p:spPr>
          <a:xfrm>
            <a:off x="6338076" y="1516468"/>
            <a:ext cx="438307" cy="43830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8076" y="1500164"/>
            <a:ext cx="438307" cy="470916"/>
          </a:xfrm>
          <a:prstGeom prst="rect">
            <a:avLst/>
          </a:prstGeom>
          <a:noFill/>
        </p:spPr>
        <p:txBody>
          <a:bodyPr wrap="square" lIns="0" rIns="0" tIns="0" bIns="0" anchor="ctr">
            <a:spAutoFit/>
          </a:bodyPr>
          <a:lstStyle/>
          <a:p>
            <a:pPr algn="ctr">
              <a:spcAft>
                <a:spcPts val="0"/>
              </a:spcAft>
            </a:pPr>
            <a:r>
              <a:rPr sz="1350" b="1" i="0">
                <a:solidFill>
                  <a:srgbClr val="FFFFFF"/>
                </a:solidFill>
                <a:latin typeface="Arial"/>
              </a:rPr>
              <a:t>1</a:t>
            </a:r>
          </a:p>
        </p:txBody>
      </p:sp>
      <p:sp>
        <p:nvSpPr>
          <p:cNvPr id="12" name="TextBox 11"/>
          <p:cNvSpPr txBox="1"/>
          <p:nvPr/>
        </p:nvSpPr>
        <p:spPr>
          <a:xfrm>
            <a:off x="6951707" y="1481328"/>
            <a:ext cx="4295412" cy="357896"/>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Pré-entraînement</a:t>
            </a:r>
          </a:p>
        </p:txBody>
      </p:sp>
      <p:sp>
        <p:nvSpPr>
          <p:cNvPr id="13" name="TextBox 12"/>
          <p:cNvSpPr txBox="1"/>
          <p:nvPr/>
        </p:nvSpPr>
        <p:spPr>
          <a:xfrm>
            <a:off x="6951707" y="1876897"/>
            <a:ext cx="4295412" cy="61219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Le modèle lit une quantité gigantesque de textes (web, livres, code) avec un seul objectif : prédire le mot suivant.</a:t>
            </a:r>
          </a:p>
        </p:txBody>
      </p:sp>
      <p:sp>
        <p:nvSpPr>
          <p:cNvPr id="14" name="Oval 13"/>
          <p:cNvSpPr/>
          <p:nvPr/>
        </p:nvSpPr>
        <p:spPr>
          <a:xfrm>
            <a:off x="6338076" y="2524229"/>
            <a:ext cx="438307" cy="43830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8076" y="2507924"/>
            <a:ext cx="438307" cy="470916"/>
          </a:xfrm>
          <a:prstGeom prst="rect">
            <a:avLst/>
          </a:prstGeom>
          <a:noFill/>
        </p:spPr>
        <p:txBody>
          <a:bodyPr wrap="square" lIns="0" rIns="0" tIns="0" bIns="0" anchor="ctr">
            <a:spAutoFit/>
          </a:bodyPr>
          <a:lstStyle/>
          <a:p>
            <a:pPr algn="ctr">
              <a:spcAft>
                <a:spcPts val="0"/>
              </a:spcAft>
            </a:pPr>
            <a:r>
              <a:rPr sz="1350" b="1" i="0">
                <a:solidFill>
                  <a:srgbClr val="FFFFFF"/>
                </a:solidFill>
                <a:latin typeface="Arial"/>
              </a:rPr>
              <a:t>2</a:t>
            </a:r>
          </a:p>
        </p:txBody>
      </p:sp>
      <p:sp>
        <p:nvSpPr>
          <p:cNvPr id="16" name="TextBox 15"/>
          <p:cNvSpPr txBox="1"/>
          <p:nvPr/>
        </p:nvSpPr>
        <p:spPr>
          <a:xfrm>
            <a:off x="6951707" y="2489088"/>
            <a:ext cx="4295412" cy="357896"/>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Ce qu'il en retire</a:t>
            </a:r>
          </a:p>
        </p:txBody>
      </p:sp>
      <p:sp>
        <p:nvSpPr>
          <p:cNvPr id="17" name="TextBox 16"/>
          <p:cNvSpPr txBox="1"/>
          <p:nvPr/>
        </p:nvSpPr>
        <p:spPr>
          <a:xfrm>
            <a:off x="6951707" y="2884657"/>
            <a:ext cx="4295412" cy="61219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À force, il capture la grammaire, des connaissances, des styles, des raisonnements.</a:t>
            </a:r>
          </a:p>
        </p:txBody>
      </p:sp>
      <p:sp>
        <p:nvSpPr>
          <p:cNvPr id="18" name="Oval 17"/>
          <p:cNvSpPr/>
          <p:nvPr/>
        </p:nvSpPr>
        <p:spPr>
          <a:xfrm>
            <a:off x="6338076" y="3531989"/>
            <a:ext cx="438307" cy="43830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8076" y="3515685"/>
            <a:ext cx="438307" cy="470916"/>
          </a:xfrm>
          <a:prstGeom prst="rect">
            <a:avLst/>
          </a:prstGeom>
          <a:noFill/>
        </p:spPr>
        <p:txBody>
          <a:bodyPr wrap="square" lIns="0" rIns="0" tIns="0" bIns="0" anchor="ctr">
            <a:spAutoFit/>
          </a:bodyPr>
          <a:lstStyle/>
          <a:p>
            <a:pPr algn="ctr">
              <a:spcAft>
                <a:spcPts val="0"/>
              </a:spcAft>
            </a:pPr>
            <a:r>
              <a:rPr sz="1350" b="1" i="0">
                <a:solidFill>
                  <a:srgbClr val="FFFFFF"/>
                </a:solidFill>
                <a:latin typeface="Arial"/>
              </a:rPr>
              <a:t>3</a:t>
            </a:r>
          </a:p>
        </p:txBody>
      </p:sp>
      <p:sp>
        <p:nvSpPr>
          <p:cNvPr id="20" name="TextBox 19"/>
          <p:cNvSpPr txBox="1"/>
          <p:nvPr/>
        </p:nvSpPr>
        <p:spPr>
          <a:xfrm>
            <a:off x="6951707" y="3496848"/>
            <a:ext cx="4295412" cy="357896"/>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Affinage</a:t>
            </a:r>
          </a:p>
        </p:txBody>
      </p:sp>
      <p:sp>
        <p:nvSpPr>
          <p:cNvPr id="21" name="TextBox 20"/>
          <p:cNvSpPr txBox="1"/>
          <p:nvPr/>
        </p:nvSpPr>
        <p:spPr>
          <a:xfrm>
            <a:off x="6951707" y="3892417"/>
            <a:ext cx="4295412" cy="61219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Des humains notent ses réponses pour en faire un assistant utile, qui suit les consignes.</a:t>
            </a:r>
          </a:p>
        </p:txBody>
      </p:sp>
      <p:sp>
        <p:nvSpPr>
          <p:cNvPr id="22" name="Oval 21"/>
          <p:cNvSpPr/>
          <p:nvPr/>
        </p:nvSpPr>
        <p:spPr>
          <a:xfrm>
            <a:off x="6338076" y="4539749"/>
            <a:ext cx="438307" cy="43830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8076" y="4523445"/>
            <a:ext cx="438307" cy="470916"/>
          </a:xfrm>
          <a:prstGeom prst="rect">
            <a:avLst/>
          </a:prstGeom>
          <a:noFill/>
        </p:spPr>
        <p:txBody>
          <a:bodyPr wrap="square" lIns="0" rIns="0" tIns="0" bIns="0" anchor="ctr">
            <a:spAutoFit/>
          </a:bodyPr>
          <a:lstStyle/>
          <a:p>
            <a:pPr algn="ctr">
              <a:spcAft>
                <a:spcPts val="0"/>
              </a:spcAft>
            </a:pPr>
            <a:r>
              <a:rPr sz="1350" b="1" i="0">
                <a:solidFill>
                  <a:srgbClr val="FFFFFF"/>
                </a:solidFill>
                <a:latin typeface="Arial"/>
              </a:rPr>
              <a:t>4</a:t>
            </a:r>
          </a:p>
        </p:txBody>
      </p:sp>
      <p:sp>
        <p:nvSpPr>
          <p:cNvPr id="24" name="TextBox 23"/>
          <p:cNvSpPr txBox="1"/>
          <p:nvPr/>
        </p:nvSpPr>
        <p:spPr>
          <a:xfrm>
            <a:off x="6951707" y="4504608"/>
            <a:ext cx="4295412" cy="357896"/>
          </a:xfrm>
          <a:prstGeom prst="rect">
            <a:avLst/>
          </a:prstGeom>
          <a:noFill/>
        </p:spPr>
        <p:txBody>
          <a:bodyPr wrap="square" lIns="0" rIns="0" tIns="0" bIns="0" anchor="t">
            <a:spAutoFit/>
          </a:bodyPr>
          <a:lstStyle/>
          <a:p>
            <a:pPr algn="l">
              <a:spcAft>
                <a:spcPts val="0"/>
              </a:spcAft>
            </a:pPr>
            <a:r>
              <a:rPr sz="1440" b="1" i="0">
                <a:solidFill>
                  <a:srgbClr val="1A2E2B"/>
                </a:solidFill>
                <a:latin typeface="Arial"/>
              </a:rPr>
              <a:t>Génération</a:t>
            </a:r>
          </a:p>
        </p:txBody>
      </p:sp>
      <p:sp>
        <p:nvSpPr>
          <p:cNvPr id="25" name="TextBox 24"/>
          <p:cNvSpPr txBox="1"/>
          <p:nvPr/>
        </p:nvSpPr>
        <p:spPr>
          <a:xfrm>
            <a:off x="6951707" y="4900178"/>
            <a:ext cx="4295412" cy="612190"/>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Il écrit mot après mot, en tirant chaque mot selon ces probabilités.</a:t>
            </a:r>
          </a:p>
        </p:txBody>
      </p:sp>
      <p:sp>
        <p:nvSpPr>
          <p:cNvPr id="26" name="Rectangle 25"/>
          <p:cNvSpPr/>
          <p:nvPr/>
        </p:nvSpPr>
        <p:spPr>
          <a:xfrm>
            <a:off x="6338076" y="5578297"/>
            <a:ext cx="4909043" cy="470916"/>
          </a:xfrm>
          <a:prstGeom prst="rect">
            <a:avLst/>
          </a:prstGeom>
          <a:solidFill>
            <a:srgbClr val="F3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9568" y="5578297"/>
            <a:ext cx="4689889" cy="470916"/>
          </a:xfrm>
          <a:prstGeom prst="rect">
            <a:avLst/>
          </a:prstGeom>
          <a:noFill/>
        </p:spPr>
        <p:txBody>
          <a:bodyPr wrap="square" lIns="0" rIns="0" tIns="0" bIns="0" anchor="ctr">
            <a:spAutoFit/>
          </a:bodyPr>
          <a:lstStyle/>
          <a:p>
            <a:pPr algn="l">
              <a:spcAft>
                <a:spcPts val="0"/>
              </a:spcAft>
            </a:pPr>
            <a:r>
              <a:rPr sz="1170" b="1" i="0">
                <a:solidFill>
                  <a:srgbClr val="712180"/>
                </a:solidFill>
                <a:latin typeface="Arial"/>
              </a:rPr>
              <a:t>Il prédit du texte plausible, pas des faits vérifiés.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2017 – aujourd'hui · L'IA générative</a:t>
            </a:r>
          </a:p>
        </p:txBody>
      </p:sp>
      <p:sp>
        <p:nvSpPr>
          <p:cNvPr id="3" name="Text Placeholder 2"/>
          <p:cNvSpPr>
            <a:spLocks noGrp="1"/>
          </p:cNvSpPr>
          <p:nvPr>
            <p:ph type="body" idx="25" sz="quarter"/>
          </p:nvPr>
        </p:nvSpPr>
        <p:spPr/>
        <p:txBody>
          <a:bodyPr/>
          <a:lstStyle/>
          <a:p>
            <a:r>
              <a:t>De l'article Transformer à ChatGPT… et au-delà</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27</a:t>
            </a:fld>
          </a:p>
        </p:txBody>
      </p:sp>
      <p:cxnSp>
        <p:nvCxnSpPr>
          <p:cNvPr id="6" name="Connector 5"/>
          <p:cNvCxnSpPr/>
          <p:nvPr/>
        </p:nvCxnSpPr>
        <p:spPr>
          <a:xfrm>
            <a:off x="946895" y="1810969"/>
            <a:ext cx="10037240" cy="0"/>
          </a:xfrm>
          <a:prstGeom prst="line">
            <a:avLst/>
          </a:prstGeom>
          <a:ln w="25400">
            <a:solidFill>
              <a:srgbClr val="C9D6D4"/>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15402"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2017</a:t>
            </a:r>
          </a:p>
        </p:txBody>
      </p:sp>
      <p:sp>
        <p:nvSpPr>
          <p:cNvPr id="9" name="Rectangle 8"/>
          <p:cNvSpPr/>
          <p:nvPr/>
        </p:nvSpPr>
        <p:spPr>
          <a:xfrm>
            <a:off x="640080"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1572"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Le Transformer</a:t>
            </a:r>
          </a:p>
        </p:txBody>
      </p:sp>
      <p:sp>
        <p:nvSpPr>
          <p:cNvPr id="12" name="TextBox 11"/>
          <p:cNvSpPr txBox="1"/>
          <p:nvPr/>
        </p:nvSpPr>
        <p:spPr>
          <a:xfrm>
            <a:off x="771572"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Google publie « Attention Is All You Need », l'architecture de tous les grands modèles actuels.</a:t>
            </a:r>
          </a:p>
        </p:txBody>
      </p:sp>
      <p:sp>
        <p:nvSpPr>
          <p:cNvPr id="13" name="Oval 12"/>
          <p:cNvSpPr/>
          <p:nvPr/>
        </p:nvSpPr>
        <p:spPr>
          <a:xfrm>
            <a:off x="2594931"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19608"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2018</a:t>
            </a:r>
          </a:p>
        </p:txBody>
      </p:sp>
      <p:sp>
        <p:nvSpPr>
          <p:cNvPr id="15" name="Rectangle 14"/>
          <p:cNvSpPr/>
          <p:nvPr/>
        </p:nvSpPr>
        <p:spPr>
          <a:xfrm>
            <a:off x="2419608"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9608"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00"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GPT et BERT</a:t>
            </a:r>
          </a:p>
        </p:txBody>
      </p:sp>
      <p:sp>
        <p:nvSpPr>
          <p:cNvPr id="18" name="TextBox 17"/>
          <p:cNvSpPr txBox="1"/>
          <p:nvPr/>
        </p:nvSpPr>
        <p:spPr>
          <a:xfrm>
            <a:off x="2551100"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Premiers modèles de langage pré-entraînés sur de grands corpus de textes.</a:t>
            </a:r>
          </a:p>
        </p:txBody>
      </p:sp>
      <p:sp>
        <p:nvSpPr>
          <p:cNvPr id="19" name="Oval 18"/>
          <p:cNvSpPr/>
          <p:nvPr/>
        </p:nvSpPr>
        <p:spPr>
          <a:xfrm>
            <a:off x="4374459"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99136"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2020</a:t>
            </a:r>
          </a:p>
        </p:txBody>
      </p:sp>
      <p:sp>
        <p:nvSpPr>
          <p:cNvPr id="21" name="Rectangle 20"/>
          <p:cNvSpPr/>
          <p:nvPr/>
        </p:nvSpPr>
        <p:spPr>
          <a:xfrm>
            <a:off x="4199136"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99136"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30628"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GPT-3</a:t>
            </a:r>
          </a:p>
        </p:txBody>
      </p:sp>
      <p:sp>
        <p:nvSpPr>
          <p:cNvPr id="24" name="TextBox 23"/>
          <p:cNvSpPr txBox="1"/>
          <p:nvPr/>
        </p:nvSpPr>
        <p:spPr>
          <a:xfrm>
            <a:off x="4330628"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175 milliards de paramètres : le modèle rédige des textes étonnamment fluides.</a:t>
            </a:r>
          </a:p>
        </p:txBody>
      </p:sp>
      <p:sp>
        <p:nvSpPr>
          <p:cNvPr id="25" name="Oval 24"/>
          <p:cNvSpPr/>
          <p:nvPr/>
        </p:nvSpPr>
        <p:spPr>
          <a:xfrm>
            <a:off x="6153987"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78664"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2022</a:t>
            </a:r>
          </a:p>
        </p:txBody>
      </p:sp>
      <p:sp>
        <p:nvSpPr>
          <p:cNvPr id="27" name="Rectangle 26"/>
          <p:cNvSpPr/>
          <p:nvPr/>
        </p:nvSpPr>
        <p:spPr>
          <a:xfrm>
            <a:off x="5978664"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78664"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10156"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Images et ChatGPT</a:t>
            </a:r>
          </a:p>
        </p:txBody>
      </p:sp>
      <p:sp>
        <p:nvSpPr>
          <p:cNvPr id="30" name="TextBox 29"/>
          <p:cNvSpPr txBox="1"/>
          <p:nvPr/>
        </p:nvSpPr>
        <p:spPr>
          <a:xfrm>
            <a:off x="6110156"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DALL·E 2, Midjourney, Stable Diffusion génèrent des images. Le 30 novembre, ChatGPT est ouvert au public.</a:t>
            </a:r>
          </a:p>
        </p:txBody>
      </p:sp>
      <p:sp>
        <p:nvSpPr>
          <p:cNvPr id="31" name="Oval 30"/>
          <p:cNvSpPr/>
          <p:nvPr/>
        </p:nvSpPr>
        <p:spPr>
          <a:xfrm>
            <a:off x="7933515"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58192"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2023</a:t>
            </a:r>
          </a:p>
        </p:txBody>
      </p:sp>
      <p:sp>
        <p:nvSpPr>
          <p:cNvPr id="33" name="Rectangle 32"/>
          <p:cNvSpPr/>
          <p:nvPr/>
        </p:nvSpPr>
        <p:spPr>
          <a:xfrm>
            <a:off x="7758192"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58192"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89685"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La course</a:t>
            </a:r>
          </a:p>
        </p:txBody>
      </p:sp>
      <p:sp>
        <p:nvSpPr>
          <p:cNvPr id="36" name="TextBox 35"/>
          <p:cNvSpPr txBox="1"/>
          <p:nvPr/>
        </p:nvSpPr>
        <p:spPr>
          <a:xfrm>
            <a:off x="7889685"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GPT-4, Claude (Anthropic), Llama (Meta), Mistral AI (start-up française fondée à Paris).</a:t>
            </a:r>
          </a:p>
        </p:txBody>
      </p:sp>
      <p:sp>
        <p:nvSpPr>
          <p:cNvPr id="37" name="Oval 36"/>
          <p:cNvSpPr/>
          <p:nvPr/>
        </p:nvSpPr>
        <p:spPr>
          <a:xfrm>
            <a:off x="9713043" y="1679476"/>
            <a:ext cx="262984" cy="262984"/>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37720" y="2093518"/>
            <a:ext cx="1665568" cy="376732"/>
          </a:xfrm>
          <a:prstGeom prst="rect">
            <a:avLst/>
          </a:prstGeom>
          <a:noFill/>
        </p:spPr>
        <p:txBody>
          <a:bodyPr wrap="square" lIns="0" rIns="0" tIns="0" bIns="0" anchor="t">
            <a:spAutoFit/>
          </a:bodyPr>
          <a:lstStyle/>
          <a:p>
            <a:pPr algn="l">
              <a:spcAft>
                <a:spcPts val="0"/>
              </a:spcAft>
            </a:pPr>
            <a:r>
              <a:rPr sz="1440" b="1" i="0">
                <a:solidFill>
                  <a:srgbClr val="712180"/>
                </a:solidFill>
                <a:latin typeface="Arial"/>
              </a:rPr>
              <a:t>2024 – 2025</a:t>
            </a:r>
          </a:p>
        </p:txBody>
      </p:sp>
      <p:sp>
        <p:nvSpPr>
          <p:cNvPr id="39" name="Rectangle 38"/>
          <p:cNvSpPr/>
          <p:nvPr/>
        </p:nvSpPr>
        <p:spPr>
          <a:xfrm>
            <a:off x="9537720" y="2564434"/>
            <a:ext cx="1648035" cy="2590038"/>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37720" y="2564434"/>
            <a:ext cx="1648035"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69213" y="2705709"/>
            <a:ext cx="1402583" cy="659282"/>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Au-delà du texte</a:t>
            </a:r>
          </a:p>
        </p:txBody>
      </p:sp>
      <p:sp>
        <p:nvSpPr>
          <p:cNvPr id="42" name="TextBox 41"/>
          <p:cNvSpPr txBox="1"/>
          <p:nvPr/>
        </p:nvSpPr>
        <p:spPr>
          <a:xfrm>
            <a:off x="9669213" y="3412083"/>
            <a:ext cx="1420116" cy="1977847"/>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Modèles multimodaux (voix, image, vidéo), modèles qui « réfléchissent » avant de répondre, agents qui utilisent des outils et écrivent du code.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2023 · L'IA générative</a:t>
            </a:r>
          </a:p>
        </p:txBody>
      </p:sp>
      <p:sp>
        <p:nvSpPr>
          <p:cNvPr id="3" name="Text Placeholder 2"/>
          <p:cNvSpPr>
            <a:spLocks noGrp="1"/>
          </p:cNvSpPr>
          <p:nvPr>
            <p:ph type="body" idx="25" sz="quarter"/>
          </p:nvPr>
        </p:nvSpPr>
        <p:spPr/>
        <p:txBody>
          <a:bodyPr/>
          <a:lstStyle/>
          <a:p>
            <a:r>
              <a:t>Une adoption sans précédent</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28</a:t>
            </a:fld>
          </a:p>
        </p:txBody>
      </p:sp>
      <p:graphicFrame>
        <p:nvGraphicFramePr>
          <p:cNvPr id="6" name="Chart 5"/>
          <p:cNvGraphicFramePr>
            <a:graphicFrameLocks noGrp="1"/>
          </p:cNvGraphicFramePr>
          <p:nvPr/>
        </p:nvGraphicFramePr>
        <p:xfrm>
          <a:off x="640080" y="1434236"/>
          <a:ext cx="6399288" cy="4332427"/>
        </p:xfrm>
        <a:graphic>
          <a:graphicData uri="http://schemas.openxmlformats.org/drawingml/2006/chart">
            <c:chart xmlns:c="http://schemas.openxmlformats.org/drawingml/2006/chart" r:id="rId2"/>
          </a:graphicData>
        </a:graphic>
      </p:graphicFrame>
      <p:sp>
        <p:nvSpPr>
          <p:cNvPr id="7" name="TextBox 6"/>
          <p:cNvSpPr txBox="1"/>
          <p:nvPr/>
        </p:nvSpPr>
        <p:spPr>
          <a:xfrm>
            <a:off x="640080" y="5766663"/>
            <a:ext cx="6399288" cy="282549"/>
          </a:xfrm>
          <a:prstGeom prst="rect">
            <a:avLst/>
          </a:prstGeom>
          <a:noFill/>
        </p:spPr>
        <p:txBody>
          <a:bodyPr wrap="square" lIns="0" rIns="0" tIns="0" bIns="0" anchor="t">
            <a:spAutoFit/>
          </a:bodyPr>
          <a:lstStyle/>
          <a:p>
            <a:pPr algn="l">
              <a:spcAft>
                <a:spcPts val="0"/>
              </a:spcAft>
            </a:pPr>
            <a:r>
              <a:rPr sz="900" b="0" i="1">
                <a:solidFill>
                  <a:srgbClr val="5A6B68"/>
                </a:solidFill>
                <a:latin typeface="Arial"/>
              </a:rPr>
              <a:t>Source : estimations UBS et Similarweb (2023) ; ordres de grandeur.</a:t>
            </a:r>
          </a:p>
        </p:txBody>
      </p:sp>
      <p:sp>
        <p:nvSpPr>
          <p:cNvPr id="8" name="Rectangle 7"/>
          <p:cNvSpPr/>
          <p:nvPr/>
        </p:nvSpPr>
        <p:spPr>
          <a:xfrm>
            <a:off x="7390014" y="1481328"/>
            <a:ext cx="3857105" cy="4520793"/>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09168" y="1810969"/>
            <a:ext cx="3418798" cy="1224381"/>
          </a:xfrm>
          <a:prstGeom prst="rect">
            <a:avLst/>
          </a:prstGeom>
          <a:noFill/>
        </p:spPr>
        <p:txBody>
          <a:bodyPr wrap="square" lIns="0" rIns="0" tIns="0" bIns="0" anchor="ctr">
            <a:spAutoFit/>
          </a:bodyPr>
          <a:lstStyle/>
          <a:p>
            <a:pPr algn="ctr">
              <a:spcAft>
                <a:spcPts val="0"/>
              </a:spcAft>
            </a:pPr>
            <a:r>
              <a:rPr sz="5400" b="1" i="0">
                <a:solidFill>
                  <a:srgbClr val="F4D73F"/>
                </a:solidFill>
                <a:latin typeface="Arial"/>
              </a:rPr>
              <a:t>2 mois</a:t>
            </a:r>
          </a:p>
        </p:txBody>
      </p:sp>
      <p:sp>
        <p:nvSpPr>
          <p:cNvPr id="10" name="TextBox 9"/>
          <p:cNvSpPr txBox="1"/>
          <p:nvPr/>
        </p:nvSpPr>
        <p:spPr>
          <a:xfrm>
            <a:off x="7652999" y="3082442"/>
            <a:ext cx="3331136" cy="941832"/>
          </a:xfrm>
          <a:prstGeom prst="rect">
            <a:avLst/>
          </a:prstGeom>
          <a:noFill/>
        </p:spPr>
        <p:txBody>
          <a:bodyPr wrap="square" lIns="0" rIns="0" tIns="0" bIns="0" anchor="t">
            <a:spAutoFit/>
          </a:bodyPr>
          <a:lstStyle/>
          <a:p>
            <a:pPr algn="ctr">
              <a:spcAft>
                <a:spcPts val="0"/>
              </a:spcAft>
            </a:pPr>
            <a:r>
              <a:rPr sz="1440" b="0" i="0">
                <a:solidFill>
                  <a:srgbClr val="FFFFFF"/>
                </a:solidFill>
                <a:latin typeface="Arial"/>
              </a:rPr>
              <a:t>pour que ChatGPT atteigne 100 millions d'utilisateurs, en janvier 2023</a:t>
            </a:r>
          </a:p>
        </p:txBody>
      </p:sp>
      <p:sp>
        <p:nvSpPr>
          <p:cNvPr id="11" name="TextBox 10"/>
          <p:cNvSpPr txBox="1"/>
          <p:nvPr/>
        </p:nvSpPr>
        <p:spPr>
          <a:xfrm>
            <a:off x="7652999" y="4259732"/>
            <a:ext cx="3331136" cy="1412748"/>
          </a:xfrm>
          <a:prstGeom prst="rect">
            <a:avLst/>
          </a:prstGeom>
          <a:noFill/>
        </p:spPr>
        <p:txBody>
          <a:bodyPr wrap="square" lIns="0" rIns="0" tIns="0" bIns="0" anchor="t">
            <a:spAutoFit/>
          </a:bodyPr>
          <a:lstStyle/>
          <a:p>
            <a:pPr algn="ctr">
              <a:spcAft>
                <a:spcPts val="0"/>
              </a:spcAft>
            </a:pPr>
            <a:r>
              <a:rPr sz="1215" b="0" i="1">
                <a:solidFill>
                  <a:srgbClr val="E9D9EC"/>
                </a:solidFill>
                <a:latin typeface="Arial"/>
              </a:rPr>
              <a:t>Pour la première fois, n'importe qui peut utiliser une IA puissante en langage naturel, sans aucune compétence technique.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Aujourd'hui</a:t>
            </a:r>
          </a:p>
        </p:txBody>
      </p:sp>
      <p:sp>
        <p:nvSpPr>
          <p:cNvPr id="3" name="Text Placeholder 2"/>
          <p:cNvSpPr>
            <a:spLocks noGrp="1"/>
          </p:cNvSpPr>
          <p:nvPr>
            <p:ph type="body" idx="25" sz="quarter"/>
          </p:nvPr>
        </p:nvSpPr>
        <p:spPr/>
        <p:txBody>
          <a:bodyPr/>
          <a:lstStyle/>
          <a:p>
            <a:r>
              <a:t>Les grands enjeux de l'IA</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29</a:t>
            </a:fld>
          </a:p>
        </p:txBody>
      </p:sp>
      <p:sp>
        <p:nvSpPr>
          <p:cNvPr id="6" name="Rectangle 5"/>
          <p:cNvSpPr/>
          <p:nvPr/>
        </p:nvSpPr>
        <p:spPr>
          <a:xfrm>
            <a:off x="640080" y="148132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233" y="1785073"/>
            <a:ext cx="569799" cy="569799"/>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BalanceScale.png"/>
          <p:cNvPicPr>
            <a:picLocks noChangeAspect="1"/>
          </p:cNvPicPr>
          <p:nvPr/>
        </p:nvPicPr>
        <p:blipFill>
          <a:blip r:embed="rId2"/>
          <a:stretch>
            <a:fillRect/>
          </a:stretch>
        </p:blipFill>
        <p:spPr>
          <a:xfrm>
            <a:off x="1007381" y="1933221"/>
            <a:ext cx="273503" cy="273503"/>
          </a:xfrm>
          <a:prstGeom prst="rect">
            <a:avLst/>
          </a:prstGeom>
        </p:spPr>
      </p:pic>
      <p:sp>
        <p:nvSpPr>
          <p:cNvPr id="10" name="TextBox 9"/>
          <p:cNvSpPr txBox="1"/>
          <p:nvPr/>
        </p:nvSpPr>
        <p:spPr>
          <a:xfrm>
            <a:off x="1560525" y="176387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Biais</a:t>
            </a:r>
          </a:p>
        </p:txBody>
      </p:sp>
      <p:sp>
        <p:nvSpPr>
          <p:cNvPr id="11" name="TextBox 10"/>
          <p:cNvSpPr txBox="1"/>
          <p:nvPr/>
        </p:nvSpPr>
        <p:spPr>
          <a:xfrm>
            <a:off x="859233" y="247025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Un modèle reproduit les biais de ses données. En 2018, Amazon abandonne un outil de tri de CV qui défavorisait les candidatures féminines.</a:t>
            </a:r>
          </a:p>
        </p:txBody>
      </p:sp>
      <p:sp>
        <p:nvSpPr>
          <p:cNvPr id="12" name="Rectangle 11"/>
          <p:cNvSpPr/>
          <p:nvPr/>
        </p:nvSpPr>
        <p:spPr>
          <a:xfrm>
            <a:off x="4278031" y="148132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8031" y="1481328"/>
            <a:ext cx="3374967"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97185" y="1785073"/>
            <a:ext cx="569799" cy="569799"/>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ExclamationTriangle_dark.png"/>
          <p:cNvPicPr>
            <a:picLocks noChangeAspect="1"/>
          </p:cNvPicPr>
          <p:nvPr/>
        </p:nvPicPr>
        <p:blipFill>
          <a:blip r:embed="rId3"/>
          <a:stretch>
            <a:fillRect/>
          </a:stretch>
        </p:blipFill>
        <p:spPr>
          <a:xfrm>
            <a:off x="4645333" y="1933221"/>
            <a:ext cx="273503" cy="273503"/>
          </a:xfrm>
          <a:prstGeom prst="rect">
            <a:avLst/>
          </a:prstGeom>
        </p:spPr>
      </p:pic>
      <p:sp>
        <p:nvSpPr>
          <p:cNvPr id="16" name="TextBox 15"/>
          <p:cNvSpPr txBox="1"/>
          <p:nvPr/>
        </p:nvSpPr>
        <p:spPr>
          <a:xfrm>
            <a:off x="5198477" y="176387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Hallucinations</a:t>
            </a:r>
          </a:p>
        </p:txBody>
      </p:sp>
      <p:sp>
        <p:nvSpPr>
          <p:cNvPr id="17" name="TextBox 16"/>
          <p:cNvSpPr txBox="1"/>
          <p:nvPr/>
        </p:nvSpPr>
        <p:spPr>
          <a:xfrm>
            <a:off x="4497185" y="247025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Un modèle de langage peut inventer avec aplomb. En 2023, un avocat new-yorkais est sanctionné pour avoir cité des jurisprudences inventées par ChatGPT.</a:t>
            </a:r>
          </a:p>
        </p:txBody>
      </p:sp>
      <p:sp>
        <p:nvSpPr>
          <p:cNvPr id="18" name="Rectangle 17"/>
          <p:cNvSpPr/>
          <p:nvPr/>
        </p:nvSpPr>
        <p:spPr>
          <a:xfrm>
            <a:off x="7915983" y="148132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15983" y="1481328"/>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35137" y="1785073"/>
            <a:ext cx="569799" cy="569799"/>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UserSecret.png"/>
          <p:cNvPicPr>
            <a:picLocks noChangeAspect="1"/>
          </p:cNvPicPr>
          <p:nvPr/>
        </p:nvPicPr>
        <p:blipFill>
          <a:blip r:embed="rId4"/>
          <a:stretch>
            <a:fillRect/>
          </a:stretch>
        </p:blipFill>
        <p:spPr>
          <a:xfrm>
            <a:off x="8283285" y="1933221"/>
            <a:ext cx="273503" cy="273503"/>
          </a:xfrm>
          <a:prstGeom prst="rect">
            <a:avLst/>
          </a:prstGeom>
        </p:spPr>
      </p:pic>
      <p:sp>
        <p:nvSpPr>
          <p:cNvPr id="22" name="TextBox 21"/>
          <p:cNvSpPr txBox="1"/>
          <p:nvPr/>
        </p:nvSpPr>
        <p:spPr>
          <a:xfrm>
            <a:off x="8836429" y="176387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Désinformation</a:t>
            </a:r>
          </a:p>
        </p:txBody>
      </p:sp>
      <p:sp>
        <p:nvSpPr>
          <p:cNvPr id="23" name="TextBox 22"/>
          <p:cNvSpPr txBox="1"/>
          <p:nvPr/>
        </p:nvSpPr>
        <p:spPr>
          <a:xfrm>
            <a:off x="8135137" y="247025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Deepfakes audio et vidéo, faux contenus produits en masse : distinguer le vrai du faux devient plus difficile.</a:t>
            </a:r>
          </a:p>
        </p:txBody>
      </p:sp>
      <p:sp>
        <p:nvSpPr>
          <p:cNvPr id="24" name="Rectangle 23"/>
          <p:cNvSpPr/>
          <p:nvPr/>
        </p:nvSpPr>
        <p:spPr>
          <a:xfrm>
            <a:off x="640080" y="383590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835908"/>
            <a:ext cx="3374967" cy="64008"/>
          </a:xfrm>
          <a:prstGeom prst="rect">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233" y="4139653"/>
            <a:ext cx="569799" cy="569799"/>
          </a:xfrm>
          <a:prstGeom prst="ellipse">
            <a:avLst/>
          </a:prstGeom>
          <a:solidFill>
            <a:srgbClr val="5B7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Bolt.png"/>
          <p:cNvPicPr>
            <a:picLocks noChangeAspect="1"/>
          </p:cNvPicPr>
          <p:nvPr/>
        </p:nvPicPr>
        <p:blipFill>
          <a:blip r:embed="rId5"/>
          <a:stretch>
            <a:fillRect/>
          </a:stretch>
        </p:blipFill>
        <p:spPr>
          <a:xfrm>
            <a:off x="1007381" y="4287801"/>
            <a:ext cx="273503" cy="273503"/>
          </a:xfrm>
          <a:prstGeom prst="rect">
            <a:avLst/>
          </a:prstGeom>
        </p:spPr>
      </p:pic>
      <p:sp>
        <p:nvSpPr>
          <p:cNvPr id="28" name="TextBox 27"/>
          <p:cNvSpPr txBox="1"/>
          <p:nvPr/>
        </p:nvSpPr>
        <p:spPr>
          <a:xfrm>
            <a:off x="1560525" y="411845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Énergie</a:t>
            </a:r>
          </a:p>
        </p:txBody>
      </p:sp>
      <p:sp>
        <p:nvSpPr>
          <p:cNvPr id="29" name="TextBox 28"/>
          <p:cNvSpPr txBox="1"/>
          <p:nvPr/>
        </p:nvSpPr>
        <p:spPr>
          <a:xfrm>
            <a:off x="859233" y="482483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Entraîner et faire fonctionner les grands modèles demande d'immenses centres de données, gourmands en électricité et en eau.</a:t>
            </a:r>
          </a:p>
        </p:txBody>
      </p:sp>
      <p:sp>
        <p:nvSpPr>
          <p:cNvPr id="30" name="Rectangle 29"/>
          <p:cNvSpPr/>
          <p:nvPr/>
        </p:nvSpPr>
        <p:spPr>
          <a:xfrm>
            <a:off x="4278031" y="383590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8031" y="3835908"/>
            <a:ext cx="3374967"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97185" y="4139653"/>
            <a:ext cx="569799" cy="569799"/>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Briefcase.png"/>
          <p:cNvPicPr>
            <a:picLocks noChangeAspect="1"/>
          </p:cNvPicPr>
          <p:nvPr/>
        </p:nvPicPr>
        <p:blipFill>
          <a:blip r:embed="rId6"/>
          <a:stretch>
            <a:fillRect/>
          </a:stretch>
        </p:blipFill>
        <p:spPr>
          <a:xfrm>
            <a:off x="4645333" y="4287801"/>
            <a:ext cx="273503" cy="273503"/>
          </a:xfrm>
          <a:prstGeom prst="rect">
            <a:avLst/>
          </a:prstGeom>
        </p:spPr>
      </p:pic>
      <p:sp>
        <p:nvSpPr>
          <p:cNvPr id="34" name="TextBox 33"/>
          <p:cNvSpPr txBox="1"/>
          <p:nvPr/>
        </p:nvSpPr>
        <p:spPr>
          <a:xfrm>
            <a:off x="5198477" y="411845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Travail et formation</a:t>
            </a:r>
          </a:p>
        </p:txBody>
      </p:sp>
      <p:sp>
        <p:nvSpPr>
          <p:cNvPr id="35" name="TextBox 34"/>
          <p:cNvSpPr txBox="1"/>
          <p:nvPr/>
        </p:nvSpPr>
        <p:spPr>
          <a:xfrm>
            <a:off x="4497185" y="482483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Des tâches sont automatisées, d'autres transformées. Savoir utiliser l'IA de façon critique devient une compétence clé, y compris pour les développeurs.</a:t>
            </a:r>
          </a:p>
        </p:txBody>
      </p:sp>
      <p:sp>
        <p:nvSpPr>
          <p:cNvPr id="36" name="Rectangle 35"/>
          <p:cNvSpPr/>
          <p:nvPr/>
        </p:nvSpPr>
        <p:spPr>
          <a:xfrm>
            <a:off x="7915983" y="3835908"/>
            <a:ext cx="3374967" cy="211912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15983" y="3835908"/>
            <a:ext cx="3374967"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35137" y="4139653"/>
            <a:ext cx="569799" cy="569799"/>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aUserShield_dark.png"/>
          <p:cNvPicPr>
            <a:picLocks noChangeAspect="1"/>
          </p:cNvPicPr>
          <p:nvPr/>
        </p:nvPicPr>
        <p:blipFill>
          <a:blip r:embed="rId7"/>
          <a:stretch>
            <a:fillRect/>
          </a:stretch>
        </p:blipFill>
        <p:spPr>
          <a:xfrm>
            <a:off x="8283285" y="4287801"/>
            <a:ext cx="273503" cy="273503"/>
          </a:xfrm>
          <a:prstGeom prst="rect">
            <a:avLst/>
          </a:prstGeom>
        </p:spPr>
      </p:pic>
      <p:sp>
        <p:nvSpPr>
          <p:cNvPr id="40" name="TextBox 39"/>
          <p:cNvSpPr txBox="1"/>
          <p:nvPr/>
        </p:nvSpPr>
        <p:spPr>
          <a:xfrm>
            <a:off x="8836429" y="4118457"/>
            <a:ext cx="2323029" cy="612190"/>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Vie privée et droits d'auteur</a:t>
            </a:r>
          </a:p>
        </p:txBody>
      </p:sp>
      <p:sp>
        <p:nvSpPr>
          <p:cNvPr id="41" name="TextBox 40"/>
          <p:cNvSpPr txBox="1"/>
          <p:nvPr/>
        </p:nvSpPr>
        <p:spPr>
          <a:xfrm>
            <a:off x="8135137" y="4824831"/>
            <a:ext cx="2980490" cy="1083106"/>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Données personnelles, textes et images utilisés pour l'entraînement : de nombreux procès sont en cours.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2024 · Aujourd'hui</a:t>
            </a:r>
          </a:p>
        </p:txBody>
      </p:sp>
      <p:sp>
        <p:nvSpPr>
          <p:cNvPr id="3" name="Text Placeholder 2"/>
          <p:cNvSpPr>
            <a:spLocks noGrp="1"/>
          </p:cNvSpPr>
          <p:nvPr>
            <p:ph type="body" idx="25" sz="quarter"/>
          </p:nvPr>
        </p:nvSpPr>
        <p:spPr/>
        <p:txBody>
          <a:bodyPr/>
          <a:lstStyle/>
          <a:p>
            <a:r>
              <a:t>Réguler : l'AI Act européen</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30</a:t>
            </a:fld>
          </a:p>
        </p:txBody>
      </p:sp>
      <p:sp>
        <p:nvSpPr>
          <p:cNvPr id="6" name="Rectangle 5"/>
          <p:cNvSpPr/>
          <p:nvPr/>
        </p:nvSpPr>
        <p:spPr>
          <a:xfrm>
            <a:off x="2086494" y="1481328"/>
            <a:ext cx="2805167" cy="988923"/>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74156" y="1481328"/>
            <a:ext cx="2629844" cy="988923"/>
          </a:xfrm>
          <a:prstGeom prst="rect">
            <a:avLst/>
          </a:prstGeom>
          <a:noFill/>
        </p:spPr>
        <p:txBody>
          <a:bodyPr wrap="square" lIns="0" rIns="0" tIns="0" bIns="0" anchor="ctr">
            <a:spAutoFit/>
          </a:bodyPr>
          <a:lstStyle/>
          <a:p>
            <a:pPr algn="ctr">
              <a:spcAft>
                <a:spcPts val="0"/>
              </a:spcAft>
            </a:pPr>
            <a:r>
              <a:rPr sz="1215" b="1" i="0">
                <a:solidFill>
                  <a:srgbClr val="FFFFFF"/>
                </a:solidFill>
                <a:latin typeface="Arial"/>
              </a:rPr>
              <a:t>Risque inacceptable : interdit</a:t>
            </a:r>
          </a:p>
          <a:p>
            <a:pPr algn="ctr">
              <a:spcAft>
                <a:spcPts val="0"/>
              </a:spcAft>
            </a:pPr>
            <a:r>
              <a:rPr sz="1035" b="0" i="0">
                <a:solidFill>
                  <a:srgbClr val="FFFFFF"/>
                </a:solidFill>
                <a:latin typeface="Arial"/>
              </a:rPr>
              <a:t>notation sociale des citoyens, manipulation</a:t>
            </a:r>
          </a:p>
        </p:txBody>
      </p:sp>
      <p:sp>
        <p:nvSpPr>
          <p:cNvPr id="8" name="Rectangle 7"/>
          <p:cNvSpPr/>
          <p:nvPr/>
        </p:nvSpPr>
        <p:spPr>
          <a:xfrm>
            <a:off x="1604356" y="2611526"/>
            <a:ext cx="3769443" cy="988923"/>
          </a:xfrm>
          <a:prstGeom prst="rect">
            <a:avLst/>
          </a:prstGeom>
          <a:solidFill>
            <a:srgbClr val="F2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2017" y="2611526"/>
            <a:ext cx="3594120" cy="988923"/>
          </a:xfrm>
          <a:prstGeom prst="rect">
            <a:avLst/>
          </a:prstGeom>
          <a:noFill/>
        </p:spPr>
        <p:txBody>
          <a:bodyPr wrap="square" lIns="0" rIns="0" tIns="0" bIns="0" anchor="ctr">
            <a:spAutoFit/>
          </a:bodyPr>
          <a:lstStyle/>
          <a:p>
            <a:pPr algn="ctr">
              <a:spcAft>
                <a:spcPts val="0"/>
              </a:spcAft>
            </a:pPr>
            <a:r>
              <a:rPr sz="1215" b="1" i="0">
                <a:solidFill>
                  <a:srgbClr val="FFFFFF"/>
                </a:solidFill>
                <a:latin typeface="Arial"/>
              </a:rPr>
              <a:t>Haut risque : obligations strictes</a:t>
            </a:r>
          </a:p>
          <a:p>
            <a:pPr algn="ctr">
              <a:spcAft>
                <a:spcPts val="0"/>
              </a:spcAft>
            </a:pPr>
            <a:r>
              <a:rPr sz="1035" b="0" i="0">
                <a:solidFill>
                  <a:srgbClr val="FFFFFF"/>
                </a:solidFill>
                <a:latin typeface="Arial"/>
              </a:rPr>
              <a:t>recrutement, crédit, santé, éducation</a:t>
            </a:r>
          </a:p>
        </p:txBody>
      </p:sp>
      <p:sp>
        <p:nvSpPr>
          <p:cNvPr id="10" name="Rectangle 9"/>
          <p:cNvSpPr/>
          <p:nvPr/>
        </p:nvSpPr>
        <p:spPr>
          <a:xfrm>
            <a:off x="1122218" y="3741724"/>
            <a:ext cx="4733720" cy="988923"/>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879" y="3741724"/>
            <a:ext cx="4558397" cy="988923"/>
          </a:xfrm>
          <a:prstGeom prst="rect">
            <a:avLst/>
          </a:prstGeom>
          <a:noFill/>
        </p:spPr>
        <p:txBody>
          <a:bodyPr wrap="square" lIns="0" rIns="0" tIns="0" bIns="0" anchor="ctr">
            <a:spAutoFit/>
          </a:bodyPr>
          <a:lstStyle/>
          <a:p>
            <a:pPr algn="ctr">
              <a:spcAft>
                <a:spcPts val="0"/>
              </a:spcAft>
            </a:pPr>
            <a:r>
              <a:rPr sz="1215" b="1" i="0">
                <a:solidFill>
                  <a:srgbClr val="1A2E2B"/>
                </a:solidFill>
                <a:latin typeface="Arial"/>
              </a:rPr>
              <a:t>Risque limité : transparence</a:t>
            </a:r>
          </a:p>
          <a:p>
            <a:pPr algn="ctr">
              <a:spcAft>
                <a:spcPts val="0"/>
              </a:spcAft>
            </a:pPr>
            <a:r>
              <a:rPr sz="1035" b="0" i="0">
                <a:solidFill>
                  <a:srgbClr val="1A2E2B"/>
                </a:solidFill>
                <a:latin typeface="Arial"/>
              </a:rPr>
              <a:t>chatbots, contenus générés par IA</a:t>
            </a:r>
          </a:p>
        </p:txBody>
      </p:sp>
      <p:sp>
        <p:nvSpPr>
          <p:cNvPr id="12" name="Rectangle 11"/>
          <p:cNvSpPr/>
          <p:nvPr/>
        </p:nvSpPr>
        <p:spPr>
          <a:xfrm>
            <a:off x="640080" y="4871923"/>
            <a:ext cx="5697996" cy="988923"/>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7741" y="4871923"/>
            <a:ext cx="5522673" cy="988923"/>
          </a:xfrm>
          <a:prstGeom prst="rect">
            <a:avLst/>
          </a:prstGeom>
          <a:noFill/>
        </p:spPr>
        <p:txBody>
          <a:bodyPr wrap="square" lIns="0" rIns="0" tIns="0" bIns="0" anchor="ctr">
            <a:spAutoFit/>
          </a:bodyPr>
          <a:lstStyle/>
          <a:p>
            <a:pPr algn="ctr">
              <a:spcAft>
                <a:spcPts val="0"/>
              </a:spcAft>
            </a:pPr>
            <a:r>
              <a:rPr sz="1215" b="1" i="0">
                <a:solidFill>
                  <a:srgbClr val="1A2E2B"/>
                </a:solidFill>
                <a:latin typeface="Arial"/>
              </a:rPr>
              <a:t>Risque minimal : libre</a:t>
            </a:r>
          </a:p>
          <a:p>
            <a:pPr algn="ctr">
              <a:spcAft>
                <a:spcPts val="0"/>
              </a:spcAft>
            </a:pPr>
            <a:r>
              <a:rPr sz="1035" b="0" i="0">
                <a:solidFill>
                  <a:srgbClr val="1A2E2B"/>
                </a:solidFill>
                <a:latin typeface="Arial"/>
              </a:rPr>
              <a:t>filtres anti-spam, jeux vidéo</a:t>
            </a:r>
          </a:p>
        </p:txBody>
      </p:sp>
      <p:sp>
        <p:nvSpPr>
          <p:cNvPr id="14" name="TextBox 13"/>
          <p:cNvSpPr txBox="1"/>
          <p:nvPr/>
        </p:nvSpPr>
        <p:spPr>
          <a:xfrm>
            <a:off x="6776384" y="1481328"/>
            <a:ext cx="4470735"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La première loi globale sur l'IA</a:t>
            </a:r>
          </a:p>
        </p:txBody>
      </p:sp>
      <p:sp>
        <p:nvSpPr>
          <p:cNvPr id="15" name="TextBox 14"/>
          <p:cNvSpPr txBox="1"/>
          <p:nvPr/>
        </p:nvSpPr>
        <p:spPr>
          <a:xfrm>
            <a:off x="6776384" y="1905152"/>
            <a:ext cx="4470735"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Adoptée par l'Union européenne en 2024, elle s'applique progressivement de 2025 à 2027.</a:t>
            </a:r>
          </a:p>
        </p:txBody>
      </p:sp>
      <p:sp>
        <p:nvSpPr>
          <p:cNvPr id="16" name="TextBox 15"/>
          <p:cNvSpPr txBox="1"/>
          <p:nvPr/>
        </p:nvSpPr>
        <p:spPr>
          <a:xfrm>
            <a:off x="6776384" y="2988259"/>
            <a:ext cx="4470735"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Le principe</a:t>
            </a:r>
          </a:p>
        </p:txBody>
      </p:sp>
      <p:sp>
        <p:nvSpPr>
          <p:cNvPr id="17" name="TextBox 16"/>
          <p:cNvSpPr txBox="1"/>
          <p:nvPr/>
        </p:nvSpPr>
        <p:spPr>
          <a:xfrm>
            <a:off x="6776384" y="3412083"/>
            <a:ext cx="4470735"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Plus une application présente de risques pour les personnes, plus les obligations sont fortes.</a:t>
            </a:r>
          </a:p>
        </p:txBody>
      </p:sp>
      <p:sp>
        <p:nvSpPr>
          <p:cNvPr id="18" name="TextBox 17"/>
          <p:cNvSpPr txBox="1"/>
          <p:nvPr/>
        </p:nvSpPr>
        <p:spPr>
          <a:xfrm>
            <a:off x="6776384" y="4495190"/>
            <a:ext cx="4470735"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Pour vous, futurs développeurs</a:t>
            </a:r>
          </a:p>
        </p:txBody>
      </p:sp>
      <p:sp>
        <p:nvSpPr>
          <p:cNvPr id="19" name="TextBox 18"/>
          <p:cNvSpPr txBox="1"/>
          <p:nvPr/>
        </p:nvSpPr>
        <p:spPr>
          <a:xfrm>
            <a:off x="6776384" y="4919014"/>
            <a:ext cx="4470735" cy="1036015"/>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Documenter les données et les modèles, évaluer les biais, prévoir une supervision humaine, informer les utilisateurs.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Conclusion</a:t>
            </a:r>
          </a:p>
        </p:txBody>
      </p:sp>
      <p:sp>
        <p:nvSpPr>
          <p:cNvPr id="3" name="Text Placeholder 2"/>
          <p:cNvSpPr>
            <a:spLocks noGrp="1"/>
          </p:cNvSpPr>
          <p:nvPr>
            <p:ph type="body" idx="25" sz="quarter"/>
          </p:nvPr>
        </p:nvSpPr>
        <p:spPr/>
        <p:txBody>
          <a:bodyPr/>
          <a:lstStyle/>
          <a:p>
            <a:r>
              <a:t>Ce qu'il faut retenir</a:t>
            </a:r>
          </a:p>
        </p:txBody>
      </p:sp>
      <p:sp>
        <p:nvSpPr>
          <p:cNvPr id="4" name="Footer Placeholder 3"/>
          <p:cNvSpPr>
            <a:spLocks noGrp="1"/>
          </p:cNvSpPr>
          <p:nvPr>
            <p:ph type="ftr" idx="3" sz="quarter"/>
          </p:nvPr>
        </p:nvSpPr>
        <p:spPr/>
        <p:txBody>
          <a:bodyPr/>
          <a:p>
            <a:r>
              <a:t>Cours d'IA — BUT 3 informatique | Partie 1 : une histoire de l'IA</a:t>
            </a:r>
          </a:p>
        </p:txBody>
      </p:sp>
      <p:sp>
        <p:nvSpPr>
          <p:cNvPr id="5" name="Slide Number Placeholder 4"/>
          <p:cNvSpPr>
            <a:spLocks noGrp="1"/>
          </p:cNvSpPr>
          <p:nvPr>
            <p:ph type="sldNum" idx="4" sz="quarter"/>
          </p:nvPr>
        </p:nvSpPr>
        <p:spPr/>
        <p:txBody>
          <a:bodyPr/>
          <a:p>
            <a:fld id="{B6F15528-21DE-4FAA-801E-634DDDAF4B2B}" type="slidenum">
              <a:rPr lang="fr-FR"/>
              <a:t>31</a:t>
            </a:fld>
          </a:p>
        </p:txBody>
      </p:sp>
      <p:sp>
        <p:nvSpPr>
          <p:cNvPr id="6" name="Rectangle 5"/>
          <p:cNvSpPr/>
          <p:nvPr/>
        </p:nvSpPr>
        <p:spPr>
          <a:xfrm>
            <a:off x="640080" y="1481328"/>
            <a:ext cx="2454521" cy="282549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54521" cy="64008"/>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5402" y="1739611"/>
            <a:ext cx="613630" cy="613630"/>
          </a:xfrm>
          <a:prstGeom prst="ellipse">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Pen_dark.png"/>
          <p:cNvPicPr>
            <a:picLocks noChangeAspect="1"/>
          </p:cNvPicPr>
          <p:nvPr/>
        </p:nvPicPr>
        <p:blipFill>
          <a:blip r:embed="rId2"/>
          <a:stretch>
            <a:fillRect/>
          </a:stretch>
        </p:blipFill>
        <p:spPr>
          <a:xfrm>
            <a:off x="974946" y="1899155"/>
            <a:ext cx="294542" cy="294542"/>
          </a:xfrm>
          <a:prstGeom prst="rect">
            <a:avLst/>
          </a:prstGeom>
        </p:spPr>
      </p:pic>
      <p:sp>
        <p:nvSpPr>
          <p:cNvPr id="10" name="TextBox 9"/>
          <p:cNvSpPr txBox="1"/>
          <p:nvPr/>
        </p:nvSpPr>
        <p:spPr>
          <a:xfrm>
            <a:off x="1516694" y="1716786"/>
            <a:ext cx="1490245" cy="659282"/>
          </a:xfrm>
          <a:prstGeom prst="rect">
            <a:avLst/>
          </a:prstGeom>
          <a:noFill/>
        </p:spPr>
        <p:txBody>
          <a:bodyPr wrap="square" lIns="0" rIns="0" tIns="0" bIns="0" anchor="ctr">
            <a:spAutoFit/>
          </a:bodyPr>
          <a:lstStyle/>
          <a:p>
            <a:pPr algn="l">
              <a:spcAft>
                <a:spcPts val="0"/>
              </a:spcAft>
            </a:pPr>
            <a:r>
              <a:rPr sz="1170" b="1" i="0">
                <a:solidFill>
                  <a:srgbClr val="9C8200"/>
                </a:solidFill>
                <a:latin typeface="Arial"/>
              </a:rPr>
              <a:t>1950 – 1990</a:t>
            </a:r>
          </a:p>
        </p:txBody>
      </p:sp>
      <p:sp>
        <p:nvSpPr>
          <p:cNvPr id="11" name="TextBox 10"/>
          <p:cNvSpPr txBox="1"/>
          <p:nvPr/>
        </p:nvSpPr>
        <p:spPr>
          <a:xfrm>
            <a:off x="815402" y="2517343"/>
            <a:ext cx="2147706" cy="706374"/>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Écrire les règles</a:t>
            </a:r>
          </a:p>
        </p:txBody>
      </p:sp>
      <p:sp>
        <p:nvSpPr>
          <p:cNvPr id="12" name="TextBox 11"/>
          <p:cNvSpPr txBox="1"/>
          <p:nvPr/>
        </p:nvSpPr>
        <p:spPr>
          <a:xfrm>
            <a:off x="815402" y="3270808"/>
            <a:ext cx="2147706" cy="988923"/>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Logique, systèmes experts : l'humain programme le savoir.</a:t>
            </a:r>
          </a:p>
        </p:txBody>
      </p:sp>
      <p:cxnSp>
        <p:nvCxnSpPr>
          <p:cNvPr id="13" name="Connector 12"/>
          <p:cNvCxnSpPr/>
          <p:nvPr/>
        </p:nvCxnSpPr>
        <p:spPr>
          <a:xfrm>
            <a:off x="3103367" y="2894076"/>
            <a:ext cx="245452" cy="0"/>
          </a:xfrm>
          <a:prstGeom prst="line">
            <a:avLst/>
          </a:prstGeom>
          <a:ln w="25400">
            <a:solidFill>
              <a:srgbClr val="5A6B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57586" y="1481328"/>
            <a:ext cx="2454521" cy="282549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7586" y="1481328"/>
            <a:ext cx="2454521"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2909" y="1739611"/>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Table.png"/>
          <p:cNvPicPr>
            <a:picLocks noChangeAspect="1"/>
          </p:cNvPicPr>
          <p:nvPr/>
        </p:nvPicPr>
        <p:blipFill>
          <a:blip r:embed="rId3"/>
          <a:stretch>
            <a:fillRect/>
          </a:stretch>
        </p:blipFill>
        <p:spPr>
          <a:xfrm>
            <a:off x="3692452" y="1899155"/>
            <a:ext cx="294542" cy="294542"/>
          </a:xfrm>
          <a:prstGeom prst="rect">
            <a:avLst/>
          </a:prstGeom>
        </p:spPr>
      </p:pic>
      <p:sp>
        <p:nvSpPr>
          <p:cNvPr id="18" name="TextBox 17"/>
          <p:cNvSpPr txBox="1"/>
          <p:nvPr/>
        </p:nvSpPr>
        <p:spPr>
          <a:xfrm>
            <a:off x="4234200" y="1716786"/>
            <a:ext cx="1490245" cy="659282"/>
          </a:xfrm>
          <a:prstGeom prst="rect">
            <a:avLst/>
          </a:prstGeom>
          <a:noFill/>
        </p:spPr>
        <p:txBody>
          <a:bodyPr wrap="square" lIns="0" rIns="0" tIns="0" bIns="0" anchor="ctr">
            <a:spAutoFit/>
          </a:bodyPr>
          <a:lstStyle/>
          <a:p>
            <a:pPr algn="l">
              <a:spcAft>
                <a:spcPts val="0"/>
              </a:spcAft>
            </a:pPr>
            <a:r>
              <a:rPr sz="1170" b="1" i="0">
                <a:solidFill>
                  <a:srgbClr val="D1452B"/>
                </a:solidFill>
                <a:latin typeface="Arial"/>
              </a:rPr>
              <a:t>1990 – 2012</a:t>
            </a:r>
          </a:p>
        </p:txBody>
      </p:sp>
      <p:sp>
        <p:nvSpPr>
          <p:cNvPr id="19" name="TextBox 18"/>
          <p:cNvSpPr txBox="1"/>
          <p:nvPr/>
        </p:nvSpPr>
        <p:spPr>
          <a:xfrm>
            <a:off x="3532909" y="2517343"/>
            <a:ext cx="2147706" cy="706374"/>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Apprendre des exemples</a:t>
            </a:r>
          </a:p>
        </p:txBody>
      </p:sp>
      <p:sp>
        <p:nvSpPr>
          <p:cNvPr id="20" name="TextBox 19"/>
          <p:cNvSpPr txBox="1"/>
          <p:nvPr/>
        </p:nvSpPr>
        <p:spPr>
          <a:xfrm>
            <a:off x="3532909" y="3270808"/>
            <a:ext cx="2147706" cy="988923"/>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La machine déduit les règles à partir de données étiquetées.</a:t>
            </a:r>
          </a:p>
        </p:txBody>
      </p:sp>
      <p:cxnSp>
        <p:nvCxnSpPr>
          <p:cNvPr id="21" name="Connector 20"/>
          <p:cNvCxnSpPr/>
          <p:nvPr/>
        </p:nvCxnSpPr>
        <p:spPr>
          <a:xfrm>
            <a:off x="5820873" y="2894076"/>
            <a:ext cx="245453" cy="0"/>
          </a:xfrm>
          <a:prstGeom prst="line">
            <a:avLst/>
          </a:prstGeom>
          <a:ln w="25400">
            <a:solidFill>
              <a:srgbClr val="5A6B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075092" y="1481328"/>
            <a:ext cx="2454521" cy="282549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75092" y="1481328"/>
            <a:ext cx="245452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50415" y="1739611"/>
            <a:ext cx="613630" cy="613630"/>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aBrain_dark.png"/>
          <p:cNvPicPr>
            <a:picLocks noChangeAspect="1"/>
          </p:cNvPicPr>
          <p:nvPr/>
        </p:nvPicPr>
        <p:blipFill>
          <a:blip r:embed="rId4"/>
          <a:stretch>
            <a:fillRect/>
          </a:stretch>
        </p:blipFill>
        <p:spPr>
          <a:xfrm>
            <a:off x="6409959" y="1899155"/>
            <a:ext cx="294542" cy="294542"/>
          </a:xfrm>
          <a:prstGeom prst="rect">
            <a:avLst/>
          </a:prstGeom>
        </p:spPr>
      </p:pic>
      <p:sp>
        <p:nvSpPr>
          <p:cNvPr id="26" name="TextBox 25"/>
          <p:cNvSpPr txBox="1"/>
          <p:nvPr/>
        </p:nvSpPr>
        <p:spPr>
          <a:xfrm>
            <a:off x="6951707" y="1716786"/>
            <a:ext cx="1490245" cy="659282"/>
          </a:xfrm>
          <a:prstGeom prst="rect">
            <a:avLst/>
          </a:prstGeom>
          <a:noFill/>
        </p:spPr>
        <p:txBody>
          <a:bodyPr wrap="square" lIns="0" rIns="0" tIns="0" bIns="0" anchor="ctr">
            <a:spAutoFit/>
          </a:bodyPr>
          <a:lstStyle/>
          <a:p>
            <a:pPr algn="l">
              <a:spcAft>
                <a:spcPts val="0"/>
              </a:spcAft>
            </a:pPr>
            <a:r>
              <a:rPr sz="1170" b="1" i="0">
                <a:solidFill>
                  <a:srgbClr val="5F7C17"/>
                </a:solidFill>
                <a:latin typeface="Arial"/>
              </a:rPr>
              <a:t>2012 – 2017</a:t>
            </a:r>
          </a:p>
        </p:txBody>
      </p:sp>
      <p:sp>
        <p:nvSpPr>
          <p:cNvPr id="27" name="TextBox 26"/>
          <p:cNvSpPr txBox="1"/>
          <p:nvPr/>
        </p:nvSpPr>
        <p:spPr>
          <a:xfrm>
            <a:off x="6250415" y="2517343"/>
            <a:ext cx="2147706" cy="706374"/>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Apprendre les représentations</a:t>
            </a:r>
          </a:p>
        </p:txBody>
      </p:sp>
      <p:sp>
        <p:nvSpPr>
          <p:cNvPr id="28" name="TextBox 27"/>
          <p:cNvSpPr txBox="1"/>
          <p:nvPr/>
        </p:nvSpPr>
        <p:spPr>
          <a:xfrm>
            <a:off x="6250415" y="3270808"/>
            <a:ext cx="2147706" cy="988923"/>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Les réseaux profonds découvrent seuls les bonnes caractéristiques.</a:t>
            </a:r>
          </a:p>
        </p:txBody>
      </p:sp>
      <p:cxnSp>
        <p:nvCxnSpPr>
          <p:cNvPr id="29" name="Connector 28"/>
          <p:cNvCxnSpPr/>
          <p:nvPr/>
        </p:nvCxnSpPr>
        <p:spPr>
          <a:xfrm>
            <a:off x="8538380" y="2894076"/>
            <a:ext cx="245452" cy="0"/>
          </a:xfrm>
          <a:prstGeom prst="line">
            <a:avLst/>
          </a:prstGeom>
          <a:ln w="25400">
            <a:solidFill>
              <a:srgbClr val="5A6B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792598" y="1481328"/>
            <a:ext cx="2454521" cy="282549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792598" y="1481328"/>
            <a:ext cx="2454521"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967921" y="1739611"/>
            <a:ext cx="613630" cy="613630"/>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Magic.png"/>
          <p:cNvPicPr>
            <a:picLocks noChangeAspect="1"/>
          </p:cNvPicPr>
          <p:nvPr/>
        </p:nvPicPr>
        <p:blipFill>
          <a:blip r:embed="rId5"/>
          <a:stretch>
            <a:fillRect/>
          </a:stretch>
        </p:blipFill>
        <p:spPr>
          <a:xfrm>
            <a:off x="9127465" y="1899155"/>
            <a:ext cx="294542" cy="294542"/>
          </a:xfrm>
          <a:prstGeom prst="rect">
            <a:avLst/>
          </a:prstGeom>
        </p:spPr>
      </p:pic>
      <p:sp>
        <p:nvSpPr>
          <p:cNvPr id="34" name="TextBox 33"/>
          <p:cNvSpPr txBox="1"/>
          <p:nvPr/>
        </p:nvSpPr>
        <p:spPr>
          <a:xfrm>
            <a:off x="9669213" y="1716786"/>
            <a:ext cx="1490245" cy="659282"/>
          </a:xfrm>
          <a:prstGeom prst="rect">
            <a:avLst/>
          </a:prstGeom>
          <a:noFill/>
        </p:spPr>
        <p:txBody>
          <a:bodyPr wrap="square" lIns="0" rIns="0" tIns="0" bIns="0" anchor="ctr">
            <a:spAutoFit/>
          </a:bodyPr>
          <a:lstStyle/>
          <a:p>
            <a:pPr algn="l">
              <a:spcAft>
                <a:spcPts val="0"/>
              </a:spcAft>
            </a:pPr>
            <a:r>
              <a:rPr sz="1170" b="1" i="0">
                <a:solidFill>
                  <a:srgbClr val="712180"/>
                </a:solidFill>
                <a:latin typeface="Arial"/>
              </a:rPr>
              <a:t>2017 – …</a:t>
            </a:r>
          </a:p>
        </p:txBody>
      </p:sp>
      <p:sp>
        <p:nvSpPr>
          <p:cNvPr id="35" name="TextBox 34"/>
          <p:cNvSpPr txBox="1"/>
          <p:nvPr/>
        </p:nvSpPr>
        <p:spPr>
          <a:xfrm>
            <a:off x="8967921" y="2517343"/>
            <a:ext cx="2147706" cy="706374"/>
          </a:xfrm>
          <a:prstGeom prst="rect">
            <a:avLst/>
          </a:prstGeom>
          <a:noFill/>
        </p:spPr>
        <p:txBody>
          <a:bodyPr wrap="square" lIns="0" rIns="0" tIns="0" bIns="0" anchor="ctr">
            <a:spAutoFit/>
          </a:bodyPr>
          <a:lstStyle/>
          <a:p>
            <a:pPr algn="l">
              <a:spcAft>
                <a:spcPts val="0"/>
              </a:spcAft>
            </a:pPr>
            <a:r>
              <a:rPr sz="1350" b="1" i="0">
                <a:solidFill>
                  <a:srgbClr val="1A2E2B"/>
                </a:solidFill>
                <a:latin typeface="Arial"/>
              </a:rPr>
              <a:t>Générer</a:t>
            </a:r>
          </a:p>
        </p:txBody>
      </p:sp>
      <p:sp>
        <p:nvSpPr>
          <p:cNvPr id="36" name="TextBox 35"/>
          <p:cNvSpPr txBox="1"/>
          <p:nvPr/>
        </p:nvSpPr>
        <p:spPr>
          <a:xfrm>
            <a:off x="8967921" y="3270808"/>
            <a:ext cx="2147706" cy="988923"/>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Les modèles produisent du texte, des images, du code.</a:t>
            </a:r>
          </a:p>
        </p:txBody>
      </p:sp>
      <p:sp>
        <p:nvSpPr>
          <p:cNvPr id="37" name="Rectangle 36"/>
          <p:cNvSpPr/>
          <p:nvPr/>
        </p:nvSpPr>
        <p:spPr>
          <a:xfrm>
            <a:off x="640080" y="4542282"/>
            <a:ext cx="10607040" cy="1459839"/>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03064" y="4829185"/>
            <a:ext cx="876614" cy="87661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aLaptopCode_teal.png"/>
          <p:cNvPicPr>
            <a:picLocks noChangeAspect="1"/>
          </p:cNvPicPr>
          <p:nvPr/>
        </p:nvPicPr>
        <p:blipFill>
          <a:blip r:embed="rId7"/>
          <a:stretch>
            <a:fillRect/>
          </a:stretch>
        </p:blipFill>
        <p:spPr>
          <a:xfrm>
            <a:off x="1130984" y="5057105"/>
            <a:ext cx="420775" cy="420775"/>
          </a:xfrm>
          <a:prstGeom prst="rect">
            <a:avLst/>
          </a:prstGeom>
        </p:spPr>
      </p:pic>
      <p:sp>
        <p:nvSpPr>
          <p:cNvPr id="40" name="TextBox 39"/>
          <p:cNvSpPr txBox="1"/>
          <p:nvPr/>
        </p:nvSpPr>
        <p:spPr>
          <a:xfrm>
            <a:off x="1998833" y="4542282"/>
            <a:ext cx="9029133" cy="1459839"/>
          </a:xfrm>
          <a:prstGeom prst="rect">
            <a:avLst/>
          </a:prstGeom>
          <a:noFill/>
        </p:spPr>
        <p:txBody>
          <a:bodyPr wrap="square" lIns="0" rIns="0" tIns="0" bIns="0" anchor="ctr">
            <a:spAutoFit/>
          </a:bodyPr>
          <a:lstStyle/>
          <a:p>
            <a:pPr algn="l">
              <a:spcAft>
                <a:spcPts val="0"/>
              </a:spcAft>
            </a:pPr>
            <a:r>
              <a:rPr sz="1350" b="1" i="0">
                <a:solidFill>
                  <a:srgbClr val="F4D73F"/>
                </a:solidFill>
                <a:latin typeface="Arial"/>
              </a:rPr>
              <a:t>Et dans ce cours ? </a:t>
            </a:r>
            <a:r>
              <a:rPr sz="1350" b="0" i="0">
                <a:solidFill>
                  <a:srgbClr val="FFFFFF"/>
                </a:solidFill>
                <a:latin typeface="Arial"/>
              </a:rPr>
              <a:t>Les TP portent sur l'apprentissage automatique « classique » : clustering, classification, XGBoost, régression, séries temporelles. C'est encore aujourd'hui ce qui est le plus utilisé en entreprise sur des données en tableau (clients, ventes, capteurs…).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1 : une histoire de l'IA</a:t>
            </a:r>
          </a:p>
        </p:txBody>
      </p:sp>
      <p:sp>
        <p:nvSpPr>
          <p:cNvPr id="3" name="Slide Number Placeholder 2"/>
          <p:cNvSpPr>
            <a:spLocks noGrp="1"/>
          </p:cNvSpPr>
          <p:nvPr>
            <p:ph type="sldNum" idx="4" sz="quarter"/>
          </p:nvPr>
        </p:nvSpPr>
        <p:spPr/>
        <p:txBody>
          <a:bodyPr/>
          <a:p>
            <a:fld id="{B6F15528-21DE-4FAA-801E-634DDDAF4B2B}" type="slidenum">
              <a:rPr lang="fr-FR"/>
              <a:t>32</a:t>
            </a:fld>
          </a:p>
        </p:txBody>
      </p:sp>
      <p:sp>
        <p:nvSpPr>
          <p:cNvPr id="4" name="TextBox 3"/>
          <p:cNvSpPr txBox="1"/>
          <p:nvPr/>
        </p:nvSpPr>
        <p:spPr>
          <a:xfrm>
            <a:off x="731520" y="2011680"/>
            <a:ext cx="7772400" cy="1097280"/>
          </a:xfrm>
          <a:prstGeom prst="rect">
            <a:avLst/>
          </a:prstGeom>
          <a:noFill/>
        </p:spPr>
        <p:txBody>
          <a:bodyPr wrap="square" lIns="0" rIns="0" tIns="0" bIns="0" anchor="ctr">
            <a:spAutoFit/>
          </a:bodyPr>
          <a:lstStyle/>
          <a:p>
            <a:pPr algn="l">
              <a:spcAft>
                <a:spcPts val="0"/>
              </a:spcAft>
            </a:pPr>
            <a:r>
              <a:rPr sz="5400" b="1" i="0">
                <a:solidFill>
                  <a:srgbClr val="FFFFFF"/>
                </a:solidFill>
                <a:latin typeface="Arial"/>
              </a:rPr>
              <a:t>DES QUESTIONS ?</a:t>
            </a:r>
          </a:p>
        </p:txBody>
      </p:sp>
      <p:sp>
        <p:nvSpPr>
          <p:cNvPr id="5" name="TextBox 4"/>
          <p:cNvSpPr txBox="1"/>
          <p:nvPr/>
        </p:nvSpPr>
        <p:spPr>
          <a:xfrm>
            <a:off x="731520" y="3200400"/>
            <a:ext cx="7772400" cy="548640"/>
          </a:xfrm>
          <a:prstGeom prst="rect">
            <a:avLst/>
          </a:prstGeom>
          <a:noFill/>
        </p:spPr>
        <p:txBody>
          <a:bodyPr wrap="square" lIns="0" rIns="0" tIns="0" bIns="0" anchor="t">
            <a:spAutoFit/>
          </a:bodyPr>
          <a:lstStyle/>
          <a:p>
            <a:pPr algn="l">
              <a:spcAft>
                <a:spcPts val="0"/>
              </a:spcAft>
            </a:pPr>
            <a:r>
              <a:rPr sz="2200" b="0" i="0">
                <a:solidFill>
                  <a:srgbClr val="F4D73F"/>
                </a:solidFill>
                <a:latin typeface="Arial"/>
              </a:rPr>
              <a:t>Fin de la partie 1 — Une histoire de l'IA</a:t>
            </a:r>
          </a:p>
        </p:txBody>
      </p:sp>
      <p:sp>
        <p:nvSpPr>
          <p:cNvPr id="6" name="Oval 5"/>
          <p:cNvSpPr/>
          <p:nvPr/>
        </p:nvSpPr>
        <p:spPr>
          <a:xfrm>
            <a:off x="7315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887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45919"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031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5669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53512" y="5605272"/>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1_Thème Office">
  <a:themeElements>
    <a:clrScheme name="Personnalisé 2">
      <a:dk1>
        <a:sysClr val="windowText" lastClr="000000"/>
      </a:dk1>
      <a:lt1>
        <a:srgbClr val="FFFFFF"/>
      </a:lt1>
      <a:dk2>
        <a:srgbClr val="00ABA2"/>
      </a:dk2>
      <a:lt2>
        <a:srgbClr val="D8D8D8"/>
      </a:lt2>
      <a:accent1>
        <a:srgbClr val="00ABA2"/>
      </a:accent1>
      <a:accent2>
        <a:srgbClr val="F4D73F"/>
      </a:accent2>
      <a:accent3>
        <a:srgbClr val="ED5D42"/>
      </a:accent3>
      <a:accent4>
        <a:srgbClr val="712180"/>
      </a:accent4>
      <a:accent5>
        <a:srgbClr val="8EAADB"/>
      </a:accent5>
      <a:accent6>
        <a:srgbClr val="A0C14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ABA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4000" dirty="0" smtClean="0">
            <a:solidFill>
              <a:srgbClr val="231F20"/>
            </a:solidFill>
            <a:latin typeface="Arial"/>
            <a:cs typeface="Arial"/>
          </a:defRPr>
        </a:defPPr>
      </a:lstStyle>
    </a:txDef>
  </a:objectDefaults>
  <a:extraClrSchemeLst/>
  <a:extLst>
    <a:ext uri="{05A4C25C-085E-4340-85A3-A5531E510DB2}">
      <thm15:themeFamily xmlns:thm15="http://schemas.microsoft.com/office/thememl/2012/main" name="FEMTO-ST_Template-2022-public-16-9_v2_mai2023" id="{7CE13D5B-39DC-4CA2-A686-CD63EED9A315}" vid="{B2F97892-9AC1-40FD-ADD4-B1B1EC0B3F2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1E96338D5CC0459B028C481A9F05FF" ma:contentTypeVersion="2" ma:contentTypeDescription="Crée un document." ma:contentTypeScope="" ma:versionID="f1d18672dbf647336786c938df3fc39f">
  <xsd:schema xmlns:xsd="http://www.w3.org/2001/XMLSchema" xmlns:xs="http://www.w3.org/2001/XMLSchema" xmlns:p="http://schemas.microsoft.com/office/2006/metadata/properties" xmlns:ns2="1b458390-de54-4209-8752-a47d264ba6a4" targetNamespace="http://schemas.microsoft.com/office/2006/metadata/properties" ma:root="true" ma:fieldsID="9f3b38dd7cbd3ded9193db25029395d6" ns2:_="">
    <xsd:import namespace="1b458390-de54-4209-8752-a47d264ba6a4"/>
    <xsd:element name="properties">
      <xsd:complexType>
        <xsd:sequence>
          <xsd:element name="documentManagement">
            <xsd:complexType>
              <xsd:all>
                <xsd:element ref="ns2:Date_x0020_de_x0020_publication" minOccurs="0"/>
                <xsd:element ref="ns2:Observation_x0028_s_x0029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58390-de54-4209-8752-a47d264ba6a4" elementFormDefault="qualified">
    <xsd:import namespace="http://schemas.microsoft.com/office/2006/documentManagement/types"/>
    <xsd:import namespace="http://schemas.microsoft.com/office/infopath/2007/PartnerControls"/>
    <xsd:element name="Date_x0020_de_x0020_publication" ma:index="8" nillable="true" ma:displayName="Date de parution" ma:format="DateOnly" ma:internalName="Date_x0020_de_x0020_publication">
      <xsd:simpleType>
        <xsd:restriction base="dms:DateTime"/>
      </xsd:simpleType>
    </xsd:element>
    <xsd:element name="Observation_x0028_s_x0029_" ma:index="9" nillable="true" ma:displayName="Observation(s)" ma:internalName="Observation_x0028_s_x0029_">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te_x0020_de_x0020_publication xmlns="1b458390-de54-4209-8752-a47d264ba6a4" xsi:nil="true"/>
    <Observation_x0028_s_x0029_ xmlns="1b458390-de54-4209-8752-a47d264ba6a4" xsi:nil="true"/>
  </documentManagement>
</p:properties>
</file>

<file path=customXml/itemProps1.xml><?xml version="1.0" encoding="utf-8"?>
<ds:datastoreItem xmlns:ds="http://schemas.openxmlformats.org/officeDocument/2006/customXml" ds:itemID="{0BFE559F-77E4-46C6-9E01-F9A64F23DA92}">
  <ds:schemaRefs>
    <ds:schemaRef ds:uri="http://schemas.microsoft.com/sharepoint/v3/contenttype/forms"/>
  </ds:schemaRefs>
</ds:datastoreItem>
</file>

<file path=customXml/itemProps2.xml><?xml version="1.0" encoding="utf-8"?>
<ds:datastoreItem xmlns:ds="http://schemas.openxmlformats.org/officeDocument/2006/customXml" ds:itemID="{F6528BA6-4CCD-4DA8-8983-9334A8F4B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458390-de54-4209-8752-a47d264ba6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25A7F9-7485-4FB5-9FB5-35CC2E8031ED}">
  <ds:schemaRefs>
    <ds:schemaRef ds:uri="http://schemas.microsoft.com/office/2006/metadata/properties"/>
    <ds:schemaRef ds:uri="http://schemas.microsoft.com/office/infopath/2007/PartnerControls"/>
    <ds:schemaRef ds:uri="1b458390-de54-4209-8752-a47d264ba6a4"/>
  </ds:schemaRefs>
</ds:datastoreItem>
</file>

<file path=docProps/app.xml><?xml version="1.0" encoding="utf-8"?>
<Properties xmlns="http://schemas.openxmlformats.org/officeDocument/2006/extended-properties" xmlns:vt="http://schemas.openxmlformats.org/officeDocument/2006/docPropsVTypes">
  <Template>FEMTO-ST_Template-2022-public-16-9_v2_dec2023(1)</Template>
  <TotalTime>3</TotalTime>
  <Words>45</Words>
  <Application>Microsoft Office PowerPoint</Application>
  <PresentationFormat>Grand écran</PresentationFormat>
  <Paragraphs>10</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Arial</vt:lpstr>
      <vt:lpstr>Calibri</vt:lpstr>
      <vt:lpstr>1_Thème Office</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Sandrine QUARROZ</dc:creator>
  <cp:lastModifiedBy>Sandrine QUARROZ</cp:lastModifiedBy>
  <cp:revision>2</cp:revision>
  <dcterms:created xsi:type="dcterms:W3CDTF">2025-01-30T09:26:16Z</dcterms:created>
  <dcterms:modified xsi:type="dcterms:W3CDTF">2025-01-30T15:22:22Z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0x010100311E96338D5CC0459B028C481A9F05FF</vt:lpwstr>
  </property>
</Properties>
</file>