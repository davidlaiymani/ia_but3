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1"/>
  </p:notesMasterIdLst>
  <p:handoutMasterIdLst>
    <p:handoutMasterId r:id="rId12"/>
  </p:handoutMasterIdLst>
  <p:sldIdLst>
    <p:sldId id="256" r:id="rId10"/>
    <p:sldId id="257" r:id="rId9"/>
    <p:sldId id="258" r:id="rId8"/>
    <p:sldId id="259" r:id="rId7"/>
    <p:sldId id="260" r:id="rId6"/>
    <p:sldId id="261" r:id="rId5"/>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1" autoAdjust="0"/>
    <p:restoredTop sz="95934"/>
  </p:normalViewPr>
  <p:slideViewPr>
    <p:cSldViewPr snapToGrid="0" snapToObjects="1">
      <p:cViewPr>
        <p:scale>
          <a:sx n="66" d="100"/>
          <a:sy n="66" d="100"/>
        </p:scale>
        <p:origin x="1253" y="701"/>
      </p:cViewPr>
      <p:guideLst/>
    </p:cSldViewPr>
  </p:slideViewPr>
  <p:notesTextViewPr>
    <p:cViewPr>
      <p:scale>
        <a:sx n="1" d="1"/>
        <a:sy n="1" d="1"/>
      </p:scale>
      <p:origin x="0" y="0"/>
    </p:cViewPr>
  </p:notesTextViewPr>
  <p:notesViewPr>
    <p:cSldViewPr snapToGrid="0" snapToObjects="1">
      <p:cViewPr varScale="1">
        <p:scale>
          <a:sx n="87" d="100"/>
          <a:sy n="87" d="100"/>
        </p:scale>
        <p:origin x="3904"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A2E2B"/>
                </a:solidFill>
              </a:rPr>
              <a:t>Locations de vélos par jour à Washington (2011-2012)</a:t>
            </a:r>
          </a:p>
        </c:rich>
      </c:tx>
      <c:layout/>
      <c:overlay val="0"/>
    </c:title>
    <c:autoTitleDeleted val="0"/>
    <c:plotArea>
      <c:lineChart>
        <c:grouping val="standard"/>
        <c:varyColors val="0"/>
        <c:ser>
          <c:idx val="0"/>
          <c:order val="0"/>
          <c:tx>
            <c:strRef>
              <c:f>Sheet1!$B$1</c:f>
              <c:strCache>
                <c:ptCount val="1"/>
                <c:pt idx="0">
                  <c:v>Locations par jour (moyenne hebdomadaire)</c:v>
                </c:pt>
              </c:strCache>
            </c:strRef>
          </c:tx>
          <c:spPr>
            <a:ln w="28575">
              <a:solidFill>
                <a:srgbClr val="5F7C17"/>
              </a:solidFill>
            </a:ln>
          </c:spPr>
          <c:marker>
            <c:symbol val="none"/>
          </c:marker>
          <c:cat>
            <c:strRef>
              <c:f>Sheet1!$A$2:$A$107</c:f>
              <c:strCache>
                <c:ptCount val="106"/>
                <c:pt idx="0">
                  <c:v>janv. 2011</c:v>
                </c:pt>
                <c:pt idx="1">
                  <c:v>janv. 2011</c:v>
                </c:pt>
                <c:pt idx="2">
                  <c:v>janv. 2011</c:v>
                </c:pt>
                <c:pt idx="3">
                  <c:v>janv. 2011</c:v>
                </c:pt>
                <c:pt idx="4">
                  <c:v>janv. 2011</c:v>
                </c:pt>
                <c:pt idx="5">
                  <c:v>févr. 2011</c:v>
                </c:pt>
                <c:pt idx="6">
                  <c:v>févr. 2011</c:v>
                </c:pt>
                <c:pt idx="7">
                  <c:v>févr. 2011</c:v>
                </c:pt>
                <c:pt idx="8">
                  <c:v>févr. 2011</c:v>
                </c:pt>
                <c:pt idx="9">
                  <c:v>mars 2011</c:v>
                </c:pt>
                <c:pt idx="10">
                  <c:v>mars 2011</c:v>
                </c:pt>
                <c:pt idx="11">
                  <c:v>mars 2011</c:v>
                </c:pt>
                <c:pt idx="12">
                  <c:v>mars 2011</c:v>
                </c:pt>
                <c:pt idx="13">
                  <c:v>avr. 2011</c:v>
                </c:pt>
                <c:pt idx="14">
                  <c:v>avr. 2011</c:v>
                </c:pt>
                <c:pt idx="15">
                  <c:v>avr. 2011</c:v>
                </c:pt>
                <c:pt idx="16">
                  <c:v>avr. 2011</c:v>
                </c:pt>
                <c:pt idx="17">
                  <c:v>mai 2011</c:v>
                </c:pt>
                <c:pt idx="18">
                  <c:v>mai 2011</c:v>
                </c:pt>
                <c:pt idx="19">
                  <c:v>mai 2011</c:v>
                </c:pt>
                <c:pt idx="20">
                  <c:v>mai 2011</c:v>
                </c:pt>
                <c:pt idx="21">
                  <c:v>mai 2011</c:v>
                </c:pt>
                <c:pt idx="22">
                  <c:v>juin 2011</c:v>
                </c:pt>
                <c:pt idx="23">
                  <c:v>juin 2011</c:v>
                </c:pt>
                <c:pt idx="24">
                  <c:v>juin 2011</c:v>
                </c:pt>
                <c:pt idx="25">
                  <c:v>juin 2011</c:v>
                </c:pt>
                <c:pt idx="26">
                  <c:v>juil. 2011</c:v>
                </c:pt>
                <c:pt idx="27">
                  <c:v>juil. 2011</c:v>
                </c:pt>
                <c:pt idx="28">
                  <c:v>juil. 2011</c:v>
                </c:pt>
                <c:pt idx="29">
                  <c:v>juil. 2011</c:v>
                </c:pt>
                <c:pt idx="30">
                  <c:v>juil. 2011</c:v>
                </c:pt>
                <c:pt idx="31">
                  <c:v>août 2011</c:v>
                </c:pt>
                <c:pt idx="32">
                  <c:v>août 2011</c:v>
                </c:pt>
                <c:pt idx="33">
                  <c:v>août 2011</c:v>
                </c:pt>
                <c:pt idx="34">
                  <c:v>août 2011</c:v>
                </c:pt>
                <c:pt idx="35">
                  <c:v>sept. 2011</c:v>
                </c:pt>
                <c:pt idx="36">
                  <c:v>sept. 2011</c:v>
                </c:pt>
                <c:pt idx="37">
                  <c:v>sept. 2011</c:v>
                </c:pt>
                <c:pt idx="38">
                  <c:v>sept. 2011</c:v>
                </c:pt>
                <c:pt idx="39">
                  <c:v>oct. 2011</c:v>
                </c:pt>
                <c:pt idx="40">
                  <c:v>oct. 2011</c:v>
                </c:pt>
                <c:pt idx="41">
                  <c:v>oct. 2011</c:v>
                </c:pt>
                <c:pt idx="42">
                  <c:v>oct. 2011</c:v>
                </c:pt>
                <c:pt idx="43">
                  <c:v>oct. 2011</c:v>
                </c:pt>
                <c:pt idx="44">
                  <c:v>nov. 2011</c:v>
                </c:pt>
                <c:pt idx="45">
                  <c:v>nov. 2011</c:v>
                </c:pt>
                <c:pt idx="46">
                  <c:v>nov. 2011</c:v>
                </c:pt>
                <c:pt idx="47">
                  <c:v>nov. 2011</c:v>
                </c:pt>
                <c:pt idx="48">
                  <c:v>déc. 2011</c:v>
                </c:pt>
                <c:pt idx="49">
                  <c:v>déc. 2011</c:v>
                </c:pt>
                <c:pt idx="50">
                  <c:v>déc. 2011</c:v>
                </c:pt>
                <c:pt idx="51">
                  <c:v>déc. 2011</c:v>
                </c:pt>
                <c:pt idx="52">
                  <c:v>janv. 2012</c:v>
                </c:pt>
                <c:pt idx="53">
                  <c:v>janv. 2012</c:v>
                </c:pt>
                <c:pt idx="54">
                  <c:v>janv. 2012</c:v>
                </c:pt>
                <c:pt idx="55">
                  <c:v>janv. 2012</c:v>
                </c:pt>
                <c:pt idx="56">
                  <c:v>janv. 2012</c:v>
                </c:pt>
                <c:pt idx="57">
                  <c:v>févr. 2012</c:v>
                </c:pt>
                <c:pt idx="58">
                  <c:v>févr. 2012</c:v>
                </c:pt>
                <c:pt idx="59">
                  <c:v>févr. 2012</c:v>
                </c:pt>
                <c:pt idx="60">
                  <c:v>févr. 2012</c:v>
                </c:pt>
                <c:pt idx="61">
                  <c:v>mars 2012</c:v>
                </c:pt>
                <c:pt idx="62">
                  <c:v>mars 2012</c:v>
                </c:pt>
                <c:pt idx="63">
                  <c:v>mars 2012</c:v>
                </c:pt>
                <c:pt idx="64">
                  <c:v>mars 2012</c:v>
                </c:pt>
                <c:pt idx="65">
                  <c:v>avr. 2012</c:v>
                </c:pt>
                <c:pt idx="66">
                  <c:v>avr. 2012</c:v>
                </c:pt>
                <c:pt idx="67">
                  <c:v>avr. 2012</c:v>
                </c:pt>
                <c:pt idx="68">
                  <c:v>avr. 2012</c:v>
                </c:pt>
                <c:pt idx="69">
                  <c:v>avr. 2012</c:v>
                </c:pt>
                <c:pt idx="70">
                  <c:v>mai 2012</c:v>
                </c:pt>
                <c:pt idx="71">
                  <c:v>mai 2012</c:v>
                </c:pt>
                <c:pt idx="72">
                  <c:v>mai 2012</c:v>
                </c:pt>
                <c:pt idx="73">
                  <c:v>mai 2012</c:v>
                </c:pt>
                <c:pt idx="74">
                  <c:v>juin 2012</c:v>
                </c:pt>
                <c:pt idx="75">
                  <c:v>juin 2012</c:v>
                </c:pt>
                <c:pt idx="76">
                  <c:v>juin 2012</c:v>
                </c:pt>
                <c:pt idx="77">
                  <c:v>juin 2012</c:v>
                </c:pt>
                <c:pt idx="78">
                  <c:v>juil. 2012</c:v>
                </c:pt>
                <c:pt idx="79">
                  <c:v>juil. 2012</c:v>
                </c:pt>
                <c:pt idx="80">
                  <c:v>juil. 2012</c:v>
                </c:pt>
                <c:pt idx="81">
                  <c:v>juil. 2012</c:v>
                </c:pt>
                <c:pt idx="82">
                  <c:v>juil. 2012</c:v>
                </c:pt>
                <c:pt idx="83">
                  <c:v>août 2012</c:v>
                </c:pt>
                <c:pt idx="84">
                  <c:v>août 2012</c:v>
                </c:pt>
                <c:pt idx="85">
                  <c:v>août 2012</c:v>
                </c:pt>
                <c:pt idx="86">
                  <c:v>août 2012</c:v>
                </c:pt>
                <c:pt idx="87">
                  <c:v>sept. 2012</c:v>
                </c:pt>
                <c:pt idx="88">
                  <c:v>sept. 2012</c:v>
                </c:pt>
                <c:pt idx="89">
                  <c:v>sept. 2012</c:v>
                </c:pt>
                <c:pt idx="90">
                  <c:v>sept. 2012</c:v>
                </c:pt>
                <c:pt idx="91">
                  <c:v>sept. 2012</c:v>
                </c:pt>
                <c:pt idx="92">
                  <c:v>oct. 2012</c:v>
                </c:pt>
                <c:pt idx="93">
                  <c:v>oct. 2012</c:v>
                </c:pt>
                <c:pt idx="94">
                  <c:v>oct. 2012</c:v>
                </c:pt>
                <c:pt idx="95">
                  <c:v>oct. 2012</c:v>
                </c:pt>
                <c:pt idx="96">
                  <c:v>nov. 2012</c:v>
                </c:pt>
                <c:pt idx="97">
                  <c:v>nov. 2012</c:v>
                </c:pt>
                <c:pt idx="98">
                  <c:v>nov. 2012</c:v>
                </c:pt>
                <c:pt idx="99">
                  <c:v>nov. 2012</c:v>
                </c:pt>
                <c:pt idx="100">
                  <c:v>déc. 2012</c:v>
                </c:pt>
                <c:pt idx="101">
                  <c:v>déc. 2012</c:v>
                </c:pt>
                <c:pt idx="102">
                  <c:v>déc. 2012</c:v>
                </c:pt>
                <c:pt idx="103">
                  <c:v>déc. 2012</c:v>
                </c:pt>
                <c:pt idx="104">
                  <c:v>déc. 2012</c:v>
                </c:pt>
                <c:pt idx="105">
                  <c:v>janv. 2013</c:v>
                </c:pt>
              </c:strCache>
            </c:strRef>
          </c:cat>
          <c:val>
            <c:numRef>
              <c:f>Sheet1!$B$2:$B$107</c:f>
              <c:numCache>
                <c:formatCode>General</c:formatCode>
                <c:ptCount val="106"/>
                <c:pt idx="0">
                  <c:v>893.0</c:v>
                </c:pt>
                <c:pt idx="1">
                  <c:v>1344.0</c:v>
                </c:pt>
                <c:pt idx="2">
                  <c:v>1289.0</c:v>
                </c:pt>
                <c:pt idx="3">
                  <c:v>1253.0</c:v>
                </c:pt>
                <c:pt idx="4">
                  <c:v>1100.0</c:v>
                </c:pt>
                <c:pt idx="5">
                  <c:v>1468.0</c:v>
                </c:pt>
                <c:pt idx="6">
                  <c:v>1599.0</c:v>
                </c:pt>
                <c:pt idx="7">
                  <c:v>2099.0</c:v>
                </c:pt>
                <c:pt idx="8">
                  <c:v>1730.0</c:v>
                </c:pt>
                <c:pt idx="9">
                  <c:v>1677.0</c:v>
                </c:pt>
                <c:pt idx="10">
                  <c:v>1864.0</c:v>
                </c:pt>
                <c:pt idx="11">
                  <c:v>2552.0</c:v>
                </c:pt>
                <c:pt idx="12">
                  <c:v>2166.0</c:v>
                </c:pt>
                <c:pt idx="13">
                  <c:v>2200.0</c:v>
                </c:pt>
                <c:pt idx="14">
                  <c:v>2526.0</c:v>
                </c:pt>
                <c:pt idx="15">
                  <c:v>2639.0</c:v>
                </c:pt>
                <c:pt idx="16">
                  <c:v>3525.0</c:v>
                </c:pt>
                <c:pt idx="17">
                  <c:v>4237.0</c:v>
                </c:pt>
                <c:pt idx="18">
                  <c:v>4225.0</c:v>
                </c:pt>
                <c:pt idx="19">
                  <c:v>4325.0</c:v>
                </c:pt>
                <c:pt idx="20">
                  <c:v>4556.0</c:v>
                </c:pt>
                <c:pt idx="21">
                  <c:v>4664.0</c:v>
                </c:pt>
                <c:pt idx="22">
                  <c:v>4655.0</c:v>
                </c:pt>
                <c:pt idx="23">
                  <c:v>4530.0</c:v>
                </c:pt>
                <c:pt idx="24">
                  <c:v>4795.0</c:v>
                </c:pt>
                <c:pt idx="25">
                  <c:v>4806.0</c:v>
                </c:pt>
                <c:pt idx="26">
                  <c:v>5032.0</c:v>
                </c:pt>
                <c:pt idx="27">
                  <c:v>4884.0</c:v>
                </c:pt>
                <c:pt idx="28">
                  <c:v>4933.0</c:v>
                </c:pt>
                <c:pt idx="29">
                  <c:v>3913.0</c:v>
                </c:pt>
                <c:pt idx="30">
                  <c:v>4300.0</c:v>
                </c:pt>
                <c:pt idx="31">
                  <c:v>4315.0</c:v>
                </c:pt>
                <c:pt idx="32">
                  <c:v>4482.0</c:v>
                </c:pt>
                <c:pt idx="33">
                  <c:v>4397.0</c:v>
                </c:pt>
                <c:pt idx="34">
                  <c:v>4205.0</c:v>
                </c:pt>
                <c:pt idx="35">
                  <c:v>4880.0</c:v>
                </c:pt>
                <c:pt idx="36">
                  <c:v>3405.0</c:v>
                </c:pt>
                <c:pt idx="37">
                  <c:v>4495.0</c:v>
                </c:pt>
                <c:pt idx="38">
                  <c:v>4308.0</c:v>
                </c:pt>
                <c:pt idx="39">
                  <c:v>4006.0</c:v>
                </c:pt>
                <c:pt idx="40">
                  <c:v>4789.0</c:v>
                </c:pt>
                <c:pt idx="41">
                  <c:v>4130.0</c:v>
                </c:pt>
                <c:pt idx="42">
                  <c:v>4133.0</c:v>
                </c:pt>
                <c:pt idx="43">
                  <c:v>3305.0</c:v>
                </c:pt>
                <c:pt idx="44">
                  <c:v>3931.0</c:v>
                </c:pt>
                <c:pt idx="45">
                  <c:v>3776.0</c:v>
                </c:pt>
                <c:pt idx="46">
                  <c:v>3447.0</c:v>
                </c:pt>
                <c:pt idx="47">
                  <c:v>2481.0</c:v>
                </c:pt>
                <c:pt idx="48">
                  <c:v>3594.0</c:v>
                </c:pt>
                <c:pt idx="49">
                  <c:v>2855.0</c:v>
                </c:pt>
                <c:pt idx="50">
                  <c:v>3290.0</c:v>
                </c:pt>
                <c:pt idx="51">
                  <c:v>2408.0</c:v>
                </c:pt>
                <c:pt idx="52">
                  <c:v>2140.0</c:v>
                </c:pt>
                <c:pt idx="53">
                  <c:v>3124.0</c:v>
                </c:pt>
                <c:pt idx="54">
                  <c:v>2895.0</c:v>
                </c:pt>
                <c:pt idx="55">
                  <c:v>2620.0</c:v>
                </c:pt>
                <c:pt idx="56">
                  <c:v>3691.0</c:v>
                </c:pt>
                <c:pt idx="57">
                  <c:v>3772.0</c:v>
                </c:pt>
                <c:pt idx="58">
                  <c:v>3189.0</c:v>
                </c:pt>
                <c:pt idx="59">
                  <c:v>3668.0</c:v>
                </c:pt>
                <c:pt idx="60">
                  <c:v>3764.0</c:v>
                </c:pt>
                <c:pt idx="61">
                  <c:v>3742.0</c:v>
                </c:pt>
                <c:pt idx="62">
                  <c:v>4455.0</c:v>
                </c:pt>
                <c:pt idx="63">
                  <c:v>5965.0</c:v>
                </c:pt>
                <c:pt idx="64">
                  <c:v>6011.0</c:v>
                </c:pt>
                <c:pt idx="65">
                  <c:v>5747.0</c:v>
                </c:pt>
                <c:pt idx="66">
                  <c:v>6298.0</c:v>
                </c:pt>
                <c:pt idx="67">
                  <c:v>6109.0</c:v>
                </c:pt>
                <c:pt idx="68">
                  <c:v>5562.0</c:v>
                </c:pt>
                <c:pt idx="69">
                  <c:v>5261.0</c:v>
                </c:pt>
                <c:pt idx="70">
                  <c:v>6206.0</c:v>
                </c:pt>
                <c:pt idx="71">
                  <c:v>6267.0</c:v>
                </c:pt>
                <c:pt idx="72">
                  <c:v>6547.0</c:v>
                </c:pt>
                <c:pt idx="73">
                  <c:v>6046.0</c:v>
                </c:pt>
                <c:pt idx="74">
                  <c:v>6552.0</c:v>
                </c:pt>
                <c:pt idx="75">
                  <c:v>7197.0</c:v>
                </c:pt>
                <c:pt idx="76">
                  <c:v>6966.0</c:v>
                </c:pt>
                <c:pt idx="77">
                  <c:v>6316.0</c:v>
                </c:pt>
                <c:pt idx="78">
                  <c:v>6445.0</c:v>
                </c:pt>
                <c:pt idx="79">
                  <c:v>6036.0</c:v>
                </c:pt>
                <c:pt idx="80">
                  <c:v>6867.0</c:v>
                </c:pt>
                <c:pt idx="81">
                  <c:v>6237.0</c:v>
                </c:pt>
                <c:pt idx="82">
                  <c:v>7111.0</c:v>
                </c:pt>
                <c:pt idx="83">
                  <c:v>6946.0</c:v>
                </c:pt>
                <c:pt idx="84">
                  <c:v>6819.0</c:v>
                </c:pt>
                <c:pt idx="85">
                  <c:v>6883.0</c:v>
                </c:pt>
                <c:pt idx="86">
                  <c:v>6795.0</c:v>
                </c:pt>
                <c:pt idx="87">
                  <c:v>6952.0</c:v>
                </c:pt>
                <c:pt idx="88">
                  <c:v>6846.0</c:v>
                </c:pt>
                <c:pt idx="89">
                  <c:v>7860.0</c:v>
                </c:pt>
                <c:pt idx="90">
                  <c:v>7246.0</c:v>
                </c:pt>
                <c:pt idx="91">
                  <c:v>7566.0</c:v>
                </c:pt>
                <c:pt idx="92">
                  <c:v>6564.0</c:v>
                </c:pt>
                <c:pt idx="93">
                  <c:v>6880.0</c:v>
                </c:pt>
                <c:pt idx="94">
                  <c:v>6960.0</c:v>
                </c:pt>
                <c:pt idx="95">
                  <c:v>7047.0</c:v>
                </c:pt>
                <c:pt idx="96">
                  <c:v>4109.0</c:v>
                </c:pt>
                <c:pt idx="97">
                  <c:v>5811.0</c:v>
                </c:pt>
                <c:pt idx="98">
                  <c:v>5328.0</c:v>
                </c:pt>
                <c:pt idx="99">
                  <c:v>3902.0</c:v>
                </c:pt>
                <c:pt idx="100">
                  <c:v>5020.0</c:v>
                </c:pt>
                <c:pt idx="101">
                  <c:v>5395.0</c:v>
                </c:pt>
                <c:pt idx="102">
                  <c:v>5138.0</c:v>
                </c:pt>
                <c:pt idx="103">
                  <c:v>3814.0</c:v>
                </c:pt>
                <c:pt idx="104">
                  <c:v>1531.0</c:v>
                </c:pt>
                <c:pt idx="105">
                  <c:v>2729.0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D4"/>
            </a:solidFill>
          </a:ln>
        </c:spPr>
        <c:txPr>
          <a:bodyPr/>
          <a:lstStyle/>
          <a:p>
            <a:pPr>
              <a:defRPr sz="1000">
                <a:solidFill>
                  <a:srgbClr val="5A6B68"/>
                </a:solidFill>
              </a:defRPr>
            </a:pPr>
          </a:p>
        </c:txPr>
        <c:crossAx val="2140495176"/>
        <c:crosses val="autoZero"/>
        <c:auto val="1"/>
        <c:lblAlgn val="ctr"/>
        <c:lblOffset val="100"/>
        <c:noMultiLvlLbl val="0"/>
        <c:tickLblSkip val="13"/>
        <c:tickMarkSkip val="13"/>
      </c:catAx>
      <c:valAx>
        <c:axId val="2140495176"/>
        <c:scaling/>
        <c:delete val="0"/>
        <c:axPos val="l"/>
        <c:majorGridlines>
          <c:spPr>
            <a:ln>
              <a:solidFill>
                <a:srgbClr val="E0E8E7"/>
              </a:solidFill>
            </a:ln>
          </c:spPr>
        </c:majorGridlines>
        <c:majorTickMark val="out"/>
        <c:minorTickMark val="none"/>
        <c:tickLblPos val="nextTo"/>
        <c:spPr>
          <a:ln>
            <a:noFill/>
          </a:ln>
        </c:spPr>
        <c:txPr>
          <a:bodyPr/>
          <a:lstStyle/>
          <a:p>
            <a:pPr>
              <a:defRPr sz="1000">
                <a:solidFill>
                  <a:srgbClr val="5A6B68"/>
                </a:solidFill>
              </a:defRPr>
            </a:pPr>
          </a:p>
        </c:txPr>
        <c:crossAx val="2118791784"/>
        <c:crosses val="autoZero"/>
      </c:valAx>
    </c:plotArea>
    <c:plotVisOnly val="1"/>
    <c:dispBlanksAs val="gap"/>
    <c:showDLblsOverMax val="0"/>
  </c:chart>
  <c:txPr>
    <a:bodyPr/>
    <a:lstStyle/>
    <a:p>
      <a:pPr>
        <a:defRPr sz="1000">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8402B0A2-3364-EF44-AFC1-B05DE05F829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4ABD9D6-9EEB-4B49-9C81-9626DAFCB8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105B58-CDC5-0B43-82BE-E9E87CFAE449}" type="datetimeFigureOut">
              <a:rPr lang="fr-FR" smtClean="0"/>
              <a:t>30/01/2025</a:t>
            </a:fld>
            <a:endParaRPr lang="fr-FR"/>
          </a:p>
        </p:txBody>
      </p:sp>
      <p:sp>
        <p:nvSpPr>
          <p:cNvPr id="4" name="Espace réservé du pied de page 3">
            <a:extLst>
              <a:ext uri="{FF2B5EF4-FFF2-40B4-BE49-F238E27FC236}">
                <a16:creationId xmlns:a16="http://schemas.microsoft.com/office/drawing/2014/main" id="{45DC3110-15E1-9047-9623-5C07133D65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7D81F08-24D0-6743-B8E8-5A5347A39E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88C34F-E734-7B48-91FF-D5A62468551C}" type="slidenum">
              <a:rPr lang="fr-FR" smtClean="0"/>
              <a:t>‹N°›</a:t>
            </a:fld>
            <a:endParaRPr lang="fr-FR"/>
          </a:p>
        </p:txBody>
      </p:sp>
    </p:spTree>
    <p:extLst>
      <p:ext uri="{BB962C8B-B14F-4D97-AF65-F5344CB8AC3E}">
        <p14:creationId xmlns:p14="http://schemas.microsoft.com/office/powerpoint/2010/main" val="1764836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C7BC21-B374-3441-A049-915BD53149BC}" type="datetimeFigureOut">
              <a:rPr lang="fr-FR" smtClean="0"/>
              <a:t>30/01/2025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65EEAD-BC61-F64F-B74B-009758B646E9}" type="slidenum">
              <a:rPr lang="fr-FR" smtClean="0"/>
              <a:t>‹N°›</a:t>
            </a:fld>
            <a:endParaRPr lang="fr-FR"/>
          </a:p>
        </p:txBody>
      </p:sp>
    </p:spTree>
    <p:extLst>
      <p:ext uri="{BB962C8B-B14F-4D97-AF65-F5344CB8AC3E}">
        <p14:creationId xmlns:p14="http://schemas.microsoft.com/office/powerpoint/2010/main" val="976009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emf"/><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emf"/><Relationship Id="rId3"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ure">
    <p:bg>
      <p:bgPr>
        <a:solidFill>
          <a:schemeClr val="tx2"/>
        </a:solidFill>
        <a:effectLst/>
      </p:bgPr>
    </p:bg>
    <p:spTree>
      <p:nvGrpSpPr>
        <p:cNvPr id="1" name=""/>
        <p:cNvGrpSpPr/>
        <p:nvPr/>
      </p:nvGrpSpPr>
      <p:grpSpPr>
        <a:xfrm>
          <a:off x="0" y="0"/>
          <a:ext cx="0" cy="0"/>
          <a:chOff x="0" y="0"/>
          <a:chExt cx="0" cy="0"/>
        </a:xfrm>
      </p:grpSpPr>
      <p:sp>
        <p:nvSpPr>
          <p:cNvPr id="169" name="Picture Placeholder 185">
            <a:extLst>
              <a:ext uri="{FF2B5EF4-FFF2-40B4-BE49-F238E27FC236}">
                <a16:creationId xmlns:a16="http://schemas.microsoft.com/office/drawing/2014/main" id="{9F3FEAEF-AED6-4FB6-8C00-4E271FD14626}"/>
              </a:ext>
            </a:extLst>
          </p:cNvPr>
          <p:cNvSpPr>
            <a:spLocks noGrp="1"/>
          </p:cNvSpPr>
          <p:nvPr>
            <p:ph type="pic" sz="quarter" idx="13"/>
          </p:nvPr>
        </p:nvSpPr>
        <p:spPr>
          <a:xfrm>
            <a:off x="7678265" y="371587"/>
            <a:ext cx="4039989" cy="6144427"/>
          </a:xfrm>
          <a:custGeom>
            <a:avLst/>
            <a:gdLst>
              <a:gd name="connsiteX0" fmla="*/ 0 w 17038640"/>
              <a:gd name="connsiteY0" fmla="*/ 15597745 h 25603201"/>
              <a:gd name="connsiteX1" fmla="*/ 1376468 w 17038640"/>
              <a:gd name="connsiteY1" fmla="*/ 15597745 h 25603201"/>
              <a:gd name="connsiteX2" fmla="*/ 1699886 w 17038640"/>
              <a:gd name="connsiteY2" fmla="*/ 15633825 h 25603201"/>
              <a:gd name="connsiteX3" fmla="*/ 2008988 w 17038640"/>
              <a:gd name="connsiteY3" fmla="*/ 15699567 h 25603201"/>
              <a:gd name="connsiteX4" fmla="*/ 2311510 w 17038640"/>
              <a:gd name="connsiteY4" fmla="*/ 15778833 h 25603201"/>
              <a:gd name="connsiteX5" fmla="*/ 2592704 w 17038640"/>
              <a:gd name="connsiteY5" fmla="*/ 15887173 h 25603201"/>
              <a:gd name="connsiteX6" fmla="*/ 2873846 w 17038640"/>
              <a:gd name="connsiteY6" fmla="*/ 16010107 h 25603201"/>
              <a:gd name="connsiteX7" fmla="*/ 3133128 w 17038640"/>
              <a:gd name="connsiteY7" fmla="*/ 16162647 h 25603201"/>
              <a:gd name="connsiteX8" fmla="*/ 3385464 w 17038640"/>
              <a:gd name="connsiteY8" fmla="*/ 16329249 h 25603201"/>
              <a:gd name="connsiteX9" fmla="*/ 3621336 w 17038640"/>
              <a:gd name="connsiteY9" fmla="*/ 16531931 h 25603201"/>
              <a:gd name="connsiteX10" fmla="*/ 3851752 w 17038640"/>
              <a:gd name="connsiteY10" fmla="*/ 16727605 h 25603201"/>
              <a:gd name="connsiteX11" fmla="*/ 4054274 w 17038640"/>
              <a:gd name="connsiteY11" fmla="*/ 16952361 h 25603201"/>
              <a:gd name="connsiteX12" fmla="*/ 4233434 w 17038640"/>
              <a:gd name="connsiteY12" fmla="*/ 17190635 h 25603201"/>
              <a:gd name="connsiteX13" fmla="*/ 4392178 w 17038640"/>
              <a:gd name="connsiteY13" fmla="*/ 17445593 h 25603201"/>
              <a:gd name="connsiteX14" fmla="*/ 4536546 w 17038640"/>
              <a:gd name="connsiteY14" fmla="*/ 17711981 h 25603201"/>
              <a:gd name="connsiteX15" fmla="*/ 4651940 w 17038640"/>
              <a:gd name="connsiteY15" fmla="*/ 17994941 h 25603201"/>
              <a:gd name="connsiteX16" fmla="*/ 4752000 w 17038640"/>
              <a:gd name="connsiteY16" fmla="*/ 18291957 h 25603201"/>
              <a:gd name="connsiteX17" fmla="*/ 4824156 w 17038640"/>
              <a:gd name="connsiteY17" fmla="*/ 18617035 h 25603201"/>
              <a:gd name="connsiteX18" fmla="*/ 4870068 w 17038640"/>
              <a:gd name="connsiteY18" fmla="*/ 19162533 h 25603201"/>
              <a:gd name="connsiteX19" fmla="*/ 4906460 w 17038640"/>
              <a:gd name="connsiteY19" fmla="*/ 19710499 h 25603201"/>
              <a:gd name="connsiteX20" fmla="*/ 4933138 w 17038640"/>
              <a:gd name="connsiteY20" fmla="*/ 20322923 h 25603201"/>
              <a:gd name="connsiteX21" fmla="*/ 2960968 w 17038640"/>
              <a:gd name="connsiteY21" fmla="*/ 20322923 h 25603201"/>
              <a:gd name="connsiteX22" fmla="*/ 2941512 w 17038640"/>
              <a:gd name="connsiteY22" fmla="*/ 22360405 h 25603201"/>
              <a:gd name="connsiteX23" fmla="*/ 4939072 w 17038640"/>
              <a:gd name="connsiteY23" fmla="*/ 22360405 h 25603201"/>
              <a:gd name="connsiteX24" fmla="*/ 4939072 w 17038640"/>
              <a:gd name="connsiteY24" fmla="*/ 25603201 h 25603201"/>
              <a:gd name="connsiteX25" fmla="*/ 0 w 17038640"/>
              <a:gd name="connsiteY25" fmla="*/ 25603201 h 25603201"/>
              <a:gd name="connsiteX26" fmla="*/ 7017004 w 17038640"/>
              <a:gd name="connsiteY26" fmla="*/ 13468438 h 25603201"/>
              <a:gd name="connsiteX27" fmla="*/ 7017004 w 17038640"/>
              <a:gd name="connsiteY27" fmla="*/ 15579307 h 25603201"/>
              <a:gd name="connsiteX28" fmla="*/ 9110716 w 17038640"/>
              <a:gd name="connsiteY28" fmla="*/ 15579307 h 25603201"/>
              <a:gd name="connsiteX29" fmla="*/ 9110716 w 17038640"/>
              <a:gd name="connsiteY29" fmla="*/ 13468438 h 25603201"/>
              <a:gd name="connsiteX30" fmla="*/ 0 w 17038640"/>
              <a:gd name="connsiteY30" fmla="*/ 0 h 25603201"/>
              <a:gd name="connsiteX31" fmla="*/ 17038640 w 17038640"/>
              <a:gd name="connsiteY31" fmla="*/ 0 h 25603201"/>
              <a:gd name="connsiteX32" fmla="*/ 17038640 w 17038640"/>
              <a:gd name="connsiteY32" fmla="*/ 25603201 h 25603201"/>
              <a:gd name="connsiteX33" fmla="*/ 7011832 w 17038640"/>
              <a:gd name="connsiteY33" fmla="*/ 25603201 h 25603201"/>
              <a:gd name="connsiteX34" fmla="*/ 7011832 w 17038640"/>
              <a:gd name="connsiteY34" fmla="*/ 22360405 h 25603201"/>
              <a:gd name="connsiteX35" fmla="*/ 9174064 w 17038640"/>
              <a:gd name="connsiteY35" fmla="*/ 22360405 h 25603201"/>
              <a:gd name="connsiteX36" fmla="*/ 9174064 w 17038640"/>
              <a:gd name="connsiteY36" fmla="*/ 20322923 h 25603201"/>
              <a:gd name="connsiteX37" fmla="*/ 7008302 w 17038640"/>
              <a:gd name="connsiteY37" fmla="*/ 20322923 h 25603201"/>
              <a:gd name="connsiteX38" fmla="*/ 6998748 w 17038640"/>
              <a:gd name="connsiteY38" fmla="*/ 19802117 h 25603201"/>
              <a:gd name="connsiteX39" fmla="*/ 6987784 w 17038640"/>
              <a:gd name="connsiteY39" fmla="*/ 19450817 h 25603201"/>
              <a:gd name="connsiteX40" fmla="*/ 6968412 w 17038640"/>
              <a:gd name="connsiteY40" fmla="*/ 19109099 h 25603201"/>
              <a:gd name="connsiteX41" fmla="*/ 6933632 w 17038640"/>
              <a:gd name="connsiteY41" fmla="*/ 18617035 h 25603201"/>
              <a:gd name="connsiteX42" fmla="*/ 6896808 w 17038640"/>
              <a:gd name="connsiteY42" fmla="*/ 18321091 h 25603201"/>
              <a:gd name="connsiteX43" fmla="*/ 6840096 w 17038640"/>
              <a:gd name="connsiteY43" fmla="*/ 18038609 h 25603201"/>
              <a:gd name="connsiteX44" fmla="*/ 6775424 w 17038640"/>
              <a:gd name="connsiteY44" fmla="*/ 17763131 h 25603201"/>
              <a:gd name="connsiteX45" fmla="*/ 6688836 w 17038640"/>
              <a:gd name="connsiteY45" fmla="*/ 17502779 h 25603201"/>
              <a:gd name="connsiteX46" fmla="*/ 6601714 w 17038640"/>
              <a:gd name="connsiteY46" fmla="*/ 17234305 h 25603201"/>
              <a:gd name="connsiteX47" fmla="*/ 6502192 w 17038640"/>
              <a:gd name="connsiteY47" fmla="*/ 16988013 h 25603201"/>
              <a:gd name="connsiteX48" fmla="*/ 6393212 w 17038640"/>
              <a:gd name="connsiteY48" fmla="*/ 16742147 h 25603201"/>
              <a:gd name="connsiteX49" fmla="*/ 6263810 w 17038640"/>
              <a:gd name="connsiteY49" fmla="*/ 16510817 h 25603201"/>
              <a:gd name="connsiteX50" fmla="*/ 6141410 w 17038640"/>
              <a:gd name="connsiteY50" fmla="*/ 16272059 h 25603201"/>
              <a:gd name="connsiteX51" fmla="*/ 5997578 w 17038640"/>
              <a:gd name="connsiteY51" fmla="*/ 16053291 h 25603201"/>
              <a:gd name="connsiteX52" fmla="*/ 5846316 w 17038640"/>
              <a:gd name="connsiteY52" fmla="*/ 15837037 h 25603201"/>
              <a:gd name="connsiteX53" fmla="*/ 5514880 w 17038640"/>
              <a:gd name="connsiteY53" fmla="*/ 15431143 h 25603201"/>
              <a:gd name="connsiteX54" fmla="*/ 5327274 w 17038640"/>
              <a:gd name="connsiteY54" fmla="*/ 15243002 h 25603201"/>
              <a:gd name="connsiteX55" fmla="*/ 5133678 w 17038640"/>
              <a:gd name="connsiteY55" fmla="*/ 15054381 h 25603201"/>
              <a:gd name="connsiteX56" fmla="*/ 4493676 w 17038640"/>
              <a:gd name="connsiteY56" fmla="*/ 14540574 h 25603201"/>
              <a:gd name="connsiteX57" fmla="*/ 4038878 w 17038640"/>
              <a:gd name="connsiteY57" fmla="*/ 14258628 h 25603201"/>
              <a:gd name="connsiteX58" fmla="*/ 3808942 w 17038640"/>
              <a:gd name="connsiteY58" fmla="*/ 14120144 h 25603201"/>
              <a:gd name="connsiteX59" fmla="*/ 3319238 w 17038640"/>
              <a:gd name="connsiteY59" fmla="*/ 13903885 h 25603201"/>
              <a:gd name="connsiteX60" fmla="*/ 2809172 w 17038640"/>
              <a:gd name="connsiteY60" fmla="*/ 13729805 h 25603201"/>
              <a:gd name="connsiteX61" fmla="*/ 2275698 w 17038640"/>
              <a:gd name="connsiteY61" fmla="*/ 13599384 h 25603201"/>
              <a:gd name="connsiteX62" fmla="*/ 1722336 w 17038640"/>
              <a:gd name="connsiteY62" fmla="*/ 13513066 h 25603201"/>
              <a:gd name="connsiteX63" fmla="*/ 1146048 w 17038640"/>
              <a:gd name="connsiteY63" fmla="*/ 13468438 h 25603201"/>
              <a:gd name="connsiteX64" fmla="*/ 0 w 17038640"/>
              <a:gd name="connsiteY64" fmla="*/ 13468438 h 2560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7038640" h="25603201">
                <a:moveTo>
                  <a:pt x="0" y="15597745"/>
                </a:moveTo>
                <a:lnTo>
                  <a:pt x="1376468" y="15597745"/>
                </a:lnTo>
                <a:lnTo>
                  <a:pt x="1699886" y="15633825"/>
                </a:lnTo>
                <a:lnTo>
                  <a:pt x="2008988" y="15699567"/>
                </a:lnTo>
                <a:lnTo>
                  <a:pt x="2311510" y="15778833"/>
                </a:lnTo>
                <a:lnTo>
                  <a:pt x="2592704" y="15887173"/>
                </a:lnTo>
                <a:lnTo>
                  <a:pt x="2873846" y="16010107"/>
                </a:lnTo>
                <a:lnTo>
                  <a:pt x="3133128" y="16162647"/>
                </a:lnTo>
                <a:lnTo>
                  <a:pt x="3385464" y="16329249"/>
                </a:lnTo>
                <a:lnTo>
                  <a:pt x="3621336" y="16531931"/>
                </a:lnTo>
                <a:lnTo>
                  <a:pt x="3851752" y="16727605"/>
                </a:lnTo>
                <a:lnTo>
                  <a:pt x="4054274" y="16952361"/>
                </a:lnTo>
                <a:lnTo>
                  <a:pt x="4233434" y="17190635"/>
                </a:lnTo>
                <a:lnTo>
                  <a:pt x="4392178" y="17445593"/>
                </a:lnTo>
                <a:lnTo>
                  <a:pt x="4536546" y="17711981"/>
                </a:lnTo>
                <a:lnTo>
                  <a:pt x="4651940" y="17994941"/>
                </a:lnTo>
                <a:lnTo>
                  <a:pt x="4752000" y="18291957"/>
                </a:lnTo>
                <a:lnTo>
                  <a:pt x="4824156" y="18617035"/>
                </a:lnTo>
                <a:lnTo>
                  <a:pt x="4870068" y="19162533"/>
                </a:lnTo>
                <a:lnTo>
                  <a:pt x="4906460" y="19710499"/>
                </a:lnTo>
                <a:lnTo>
                  <a:pt x="4933138" y="20322923"/>
                </a:lnTo>
                <a:lnTo>
                  <a:pt x="2960968" y="20322923"/>
                </a:lnTo>
                <a:lnTo>
                  <a:pt x="2941512" y="22360405"/>
                </a:lnTo>
                <a:lnTo>
                  <a:pt x="4939072" y="22360405"/>
                </a:lnTo>
                <a:lnTo>
                  <a:pt x="4939072" y="25603201"/>
                </a:lnTo>
                <a:lnTo>
                  <a:pt x="0" y="25603201"/>
                </a:lnTo>
                <a:close/>
                <a:moveTo>
                  <a:pt x="7017004" y="13468438"/>
                </a:moveTo>
                <a:lnTo>
                  <a:pt x="7017004" y="15579307"/>
                </a:lnTo>
                <a:lnTo>
                  <a:pt x="9110716" y="15579307"/>
                </a:lnTo>
                <a:lnTo>
                  <a:pt x="9110716" y="13468438"/>
                </a:lnTo>
                <a:close/>
                <a:moveTo>
                  <a:pt x="0" y="0"/>
                </a:moveTo>
                <a:lnTo>
                  <a:pt x="17038640" y="0"/>
                </a:lnTo>
                <a:lnTo>
                  <a:pt x="17038640" y="25603201"/>
                </a:lnTo>
                <a:lnTo>
                  <a:pt x="7011832" y="25603201"/>
                </a:lnTo>
                <a:lnTo>
                  <a:pt x="7011832" y="22360405"/>
                </a:lnTo>
                <a:lnTo>
                  <a:pt x="9174064" y="22360405"/>
                </a:lnTo>
                <a:lnTo>
                  <a:pt x="9174064" y="20322923"/>
                </a:lnTo>
                <a:lnTo>
                  <a:pt x="7008302" y="20322923"/>
                </a:lnTo>
                <a:lnTo>
                  <a:pt x="6998748" y="19802117"/>
                </a:lnTo>
                <a:lnTo>
                  <a:pt x="6987784" y="19450817"/>
                </a:lnTo>
                <a:lnTo>
                  <a:pt x="6968412" y="19109099"/>
                </a:lnTo>
                <a:lnTo>
                  <a:pt x="6933632" y="18617035"/>
                </a:lnTo>
                <a:lnTo>
                  <a:pt x="6896808" y="18321091"/>
                </a:lnTo>
                <a:lnTo>
                  <a:pt x="6840096" y="18038609"/>
                </a:lnTo>
                <a:lnTo>
                  <a:pt x="6775424" y="17763131"/>
                </a:lnTo>
                <a:lnTo>
                  <a:pt x="6688836" y="17502779"/>
                </a:lnTo>
                <a:lnTo>
                  <a:pt x="6601714" y="17234305"/>
                </a:lnTo>
                <a:lnTo>
                  <a:pt x="6502192" y="16988013"/>
                </a:lnTo>
                <a:lnTo>
                  <a:pt x="6393212" y="16742147"/>
                </a:lnTo>
                <a:lnTo>
                  <a:pt x="6263810" y="16510817"/>
                </a:lnTo>
                <a:lnTo>
                  <a:pt x="6141410" y="16272059"/>
                </a:lnTo>
                <a:lnTo>
                  <a:pt x="5997578" y="16053291"/>
                </a:lnTo>
                <a:lnTo>
                  <a:pt x="5846316" y="15837037"/>
                </a:lnTo>
                <a:lnTo>
                  <a:pt x="5514880" y="15431143"/>
                </a:lnTo>
                <a:lnTo>
                  <a:pt x="5327274" y="15243002"/>
                </a:lnTo>
                <a:lnTo>
                  <a:pt x="5133678" y="15054381"/>
                </a:lnTo>
                <a:lnTo>
                  <a:pt x="4493676" y="14540574"/>
                </a:lnTo>
                <a:lnTo>
                  <a:pt x="4038878" y="14258628"/>
                </a:lnTo>
                <a:lnTo>
                  <a:pt x="3808942" y="14120144"/>
                </a:lnTo>
                <a:lnTo>
                  <a:pt x="3319238" y="13903885"/>
                </a:lnTo>
                <a:lnTo>
                  <a:pt x="2809172" y="13729805"/>
                </a:lnTo>
                <a:lnTo>
                  <a:pt x="2275698" y="13599384"/>
                </a:lnTo>
                <a:lnTo>
                  <a:pt x="1722336" y="13513066"/>
                </a:lnTo>
                <a:lnTo>
                  <a:pt x="1146048" y="13468438"/>
                </a:lnTo>
                <a:lnTo>
                  <a:pt x="0" y="13468438"/>
                </a:lnTo>
                <a:close/>
              </a:path>
            </a:pathLst>
          </a:custGeom>
          <a:solidFill>
            <a:schemeClr val="bg1">
              <a:lumMod val="95000"/>
            </a:schemeClr>
          </a:solidFill>
        </p:spPr>
        <p:txBody>
          <a:bodyPr wrap="square" anchor="ctr">
            <a:noAutofit/>
          </a:bodyPr>
          <a:lstStyle>
            <a:lvl1pPr marL="0" indent="0" algn="ctr">
              <a:buNone/>
              <a:defRPr sz="1080">
                <a:latin typeface="Arial" panose="020B0604020202020204" pitchFamily="34" charset="0"/>
                <a:cs typeface="Arial" panose="020B0604020202020204" pitchFamily="34" charset="0"/>
              </a:defRPr>
            </a:lvl1pPr>
          </a:lstStyle>
          <a:p>
            <a:r>
              <a:rPr lang="fr-FR"/>
              <a:t>Cliquez sur l'icône pour ajouter une image</a:t>
            </a:r>
            <a:endParaRPr lang="en-US" dirty="0"/>
          </a:p>
        </p:txBody>
      </p:sp>
      <p:sp>
        <p:nvSpPr>
          <p:cNvPr id="173" name="Freeform: Shape 172">
            <a:extLst>
              <a:ext uri="{FF2B5EF4-FFF2-40B4-BE49-F238E27FC236}">
                <a16:creationId xmlns:a16="http://schemas.microsoft.com/office/drawing/2014/main" id="{1F83BB84-0103-44B3-9760-CDB5CB536805}"/>
              </a:ext>
            </a:extLst>
          </p:cNvPr>
          <p:cNvSpPr/>
          <p:nvPr userDrawn="1"/>
        </p:nvSpPr>
        <p:spPr>
          <a:xfrm rot="5400000">
            <a:off x="4173546" y="4653662"/>
            <a:ext cx="612198" cy="604853"/>
          </a:xfrm>
          <a:custGeom>
            <a:avLst/>
            <a:gdLst>
              <a:gd name="connsiteX0" fmla="*/ 0 w 2550965"/>
              <a:gd name="connsiteY0" fmla="*/ 1709533 h 2550965"/>
              <a:gd name="connsiteX1" fmla="*/ 0 w 2550965"/>
              <a:gd name="connsiteY1" fmla="*/ 841432 h 2550965"/>
              <a:gd name="connsiteX2" fmla="*/ 841435 w 2550965"/>
              <a:gd name="connsiteY2" fmla="*/ 841432 h 2550965"/>
              <a:gd name="connsiteX3" fmla="*/ 841435 w 2550965"/>
              <a:gd name="connsiteY3" fmla="*/ 0 h 2550965"/>
              <a:gd name="connsiteX4" fmla="*/ 1709535 w 2550965"/>
              <a:gd name="connsiteY4" fmla="*/ 0 h 2550965"/>
              <a:gd name="connsiteX5" fmla="*/ 1709535 w 2550965"/>
              <a:gd name="connsiteY5" fmla="*/ 841432 h 2550965"/>
              <a:gd name="connsiteX6" fmla="*/ 2550965 w 2550965"/>
              <a:gd name="connsiteY6" fmla="*/ 841432 h 2550965"/>
              <a:gd name="connsiteX7" fmla="*/ 2550965 w 2550965"/>
              <a:gd name="connsiteY7" fmla="*/ 1709533 h 2550965"/>
              <a:gd name="connsiteX8" fmla="*/ 1709535 w 2550965"/>
              <a:gd name="connsiteY8" fmla="*/ 1709533 h 2550965"/>
              <a:gd name="connsiteX9" fmla="*/ 1709535 w 2550965"/>
              <a:gd name="connsiteY9" fmla="*/ 2550965 h 2550965"/>
              <a:gd name="connsiteX10" fmla="*/ 841435 w 2550965"/>
              <a:gd name="connsiteY10" fmla="*/ 2550965 h 2550965"/>
              <a:gd name="connsiteX11" fmla="*/ 841435 w 2550965"/>
              <a:gd name="connsiteY11" fmla="*/ 1709533 h 255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50965" h="2550965">
                <a:moveTo>
                  <a:pt x="0" y="1709533"/>
                </a:moveTo>
                <a:lnTo>
                  <a:pt x="0" y="841432"/>
                </a:lnTo>
                <a:lnTo>
                  <a:pt x="841435" y="841432"/>
                </a:lnTo>
                <a:lnTo>
                  <a:pt x="841435" y="0"/>
                </a:lnTo>
                <a:lnTo>
                  <a:pt x="1709535" y="0"/>
                </a:lnTo>
                <a:lnTo>
                  <a:pt x="1709535" y="841432"/>
                </a:lnTo>
                <a:lnTo>
                  <a:pt x="2550965" y="841432"/>
                </a:lnTo>
                <a:lnTo>
                  <a:pt x="2550965" y="1709533"/>
                </a:lnTo>
                <a:lnTo>
                  <a:pt x="1709535" y="1709533"/>
                </a:lnTo>
                <a:lnTo>
                  <a:pt x="1709535" y="2550965"/>
                </a:lnTo>
                <a:lnTo>
                  <a:pt x="841435" y="2550965"/>
                </a:lnTo>
                <a:lnTo>
                  <a:pt x="841435" y="170953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dirty="0"/>
          </a:p>
        </p:txBody>
      </p:sp>
      <p:sp>
        <p:nvSpPr>
          <p:cNvPr id="174" name="Freeform: Shape 173">
            <a:extLst>
              <a:ext uri="{FF2B5EF4-FFF2-40B4-BE49-F238E27FC236}">
                <a16:creationId xmlns:a16="http://schemas.microsoft.com/office/drawing/2014/main" id="{A115397F-3F8E-46F3-8104-A2C3440D04DC}"/>
              </a:ext>
            </a:extLst>
          </p:cNvPr>
          <p:cNvSpPr/>
          <p:nvPr userDrawn="1"/>
        </p:nvSpPr>
        <p:spPr>
          <a:xfrm>
            <a:off x="5381367" y="1947904"/>
            <a:ext cx="463629" cy="933146"/>
          </a:xfrm>
          <a:custGeom>
            <a:avLst/>
            <a:gdLst>
              <a:gd name="connsiteX0" fmla="*/ 1944161 w 1955353"/>
              <a:gd name="connsiteY0" fmla="*/ 0 h 3888324"/>
              <a:gd name="connsiteX1" fmla="*/ 1955353 w 1955353"/>
              <a:gd name="connsiteY1" fmla="*/ 565 h 3888324"/>
              <a:gd name="connsiteX2" fmla="*/ 1955353 w 1955353"/>
              <a:gd name="connsiteY2" fmla="*/ 920897 h 3888324"/>
              <a:gd name="connsiteX3" fmla="*/ 1859379 w 1955353"/>
              <a:gd name="connsiteY3" fmla="*/ 925743 h 3888324"/>
              <a:gd name="connsiteX4" fmla="*/ 940343 w 1955353"/>
              <a:gd name="connsiteY4" fmla="*/ 1944162 h 3888324"/>
              <a:gd name="connsiteX5" fmla="*/ 1859379 w 1955353"/>
              <a:gd name="connsiteY5" fmla="*/ 2962581 h 3888324"/>
              <a:gd name="connsiteX6" fmla="*/ 1955353 w 1955353"/>
              <a:gd name="connsiteY6" fmla="*/ 2967427 h 3888324"/>
              <a:gd name="connsiteX7" fmla="*/ 1955353 w 1955353"/>
              <a:gd name="connsiteY7" fmla="*/ 3887759 h 3888324"/>
              <a:gd name="connsiteX8" fmla="*/ 1944161 w 1955353"/>
              <a:gd name="connsiteY8" fmla="*/ 3888324 h 3888324"/>
              <a:gd name="connsiteX9" fmla="*/ 0 w 1955353"/>
              <a:gd name="connsiteY9" fmla="*/ 1944162 h 3888324"/>
              <a:gd name="connsiteX10" fmla="*/ 1944161 w 1955353"/>
              <a:gd name="connsiteY10" fmla="*/ 0 h 388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55353" h="3888324">
                <a:moveTo>
                  <a:pt x="1944161" y="0"/>
                </a:moveTo>
                <a:lnTo>
                  <a:pt x="1955353" y="565"/>
                </a:lnTo>
                <a:lnTo>
                  <a:pt x="1955353" y="920897"/>
                </a:lnTo>
                <a:lnTo>
                  <a:pt x="1859379" y="925743"/>
                </a:lnTo>
                <a:cubicBezTo>
                  <a:pt x="1343171" y="978167"/>
                  <a:pt x="940343" y="1414122"/>
                  <a:pt x="940343" y="1944162"/>
                </a:cubicBezTo>
                <a:cubicBezTo>
                  <a:pt x="940343" y="2474202"/>
                  <a:pt x="1343171" y="2910157"/>
                  <a:pt x="1859379" y="2962581"/>
                </a:cubicBezTo>
                <a:lnTo>
                  <a:pt x="1955353" y="2967427"/>
                </a:lnTo>
                <a:lnTo>
                  <a:pt x="1955353" y="3887759"/>
                </a:lnTo>
                <a:lnTo>
                  <a:pt x="1944161" y="3888324"/>
                </a:lnTo>
                <a:cubicBezTo>
                  <a:pt x="870431" y="3888324"/>
                  <a:pt x="0" y="3017893"/>
                  <a:pt x="0" y="1944162"/>
                </a:cubicBezTo>
                <a:cubicBezTo>
                  <a:pt x="0" y="870431"/>
                  <a:pt x="870431" y="0"/>
                  <a:pt x="194416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fr-FR" sz="324" dirty="0"/>
              <a:t>  </a:t>
            </a:r>
            <a:endParaRPr lang="en-US" sz="324" dirty="0"/>
          </a:p>
        </p:txBody>
      </p:sp>
      <p:sp>
        <p:nvSpPr>
          <p:cNvPr id="175" name="Freeform: Shape 174">
            <a:extLst>
              <a:ext uri="{FF2B5EF4-FFF2-40B4-BE49-F238E27FC236}">
                <a16:creationId xmlns:a16="http://schemas.microsoft.com/office/drawing/2014/main" id="{494DFAD3-3BAA-43A5-AA03-54CEABE808C7}"/>
              </a:ext>
            </a:extLst>
          </p:cNvPr>
          <p:cNvSpPr/>
          <p:nvPr userDrawn="1"/>
        </p:nvSpPr>
        <p:spPr>
          <a:xfrm>
            <a:off x="3113875" y="1003382"/>
            <a:ext cx="403876"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grpSp>
        <p:nvGrpSpPr>
          <p:cNvPr id="176" name="Groupe 156">
            <a:extLst>
              <a:ext uri="{FF2B5EF4-FFF2-40B4-BE49-F238E27FC236}">
                <a16:creationId xmlns:a16="http://schemas.microsoft.com/office/drawing/2014/main" id="{338D252C-84E4-4B71-A163-F60D45448C3B}"/>
              </a:ext>
            </a:extLst>
          </p:cNvPr>
          <p:cNvGrpSpPr/>
          <p:nvPr userDrawn="1"/>
        </p:nvGrpSpPr>
        <p:grpSpPr>
          <a:xfrm>
            <a:off x="4622087" y="19074"/>
            <a:ext cx="888931" cy="498075"/>
            <a:chOff x="3230833" y="6645"/>
            <a:chExt cx="902409" cy="499560"/>
          </a:xfrm>
        </p:grpSpPr>
        <p:sp>
          <p:nvSpPr>
            <p:cNvPr id="177" name="object 23">
              <a:extLst>
                <a:ext uri="{FF2B5EF4-FFF2-40B4-BE49-F238E27FC236}">
                  <a16:creationId xmlns:a16="http://schemas.microsoft.com/office/drawing/2014/main" id="{BD8218E8-3B17-43AB-B33E-949D2318DB62}"/>
                </a:ext>
              </a:extLst>
            </p:cNvPr>
            <p:cNvSpPr/>
            <p:nvPr/>
          </p:nvSpPr>
          <p:spPr>
            <a:xfrm>
              <a:off x="3230833" y="6645"/>
              <a:ext cx="20320" cy="20320"/>
            </a:xfrm>
            <a:custGeom>
              <a:avLst/>
              <a:gdLst/>
              <a:ahLst/>
              <a:cxnLst/>
              <a:rect l="l" t="t" r="r" b="b"/>
              <a:pathLst>
                <a:path w="20319"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78" name="object 24">
              <a:extLst>
                <a:ext uri="{FF2B5EF4-FFF2-40B4-BE49-F238E27FC236}">
                  <a16:creationId xmlns:a16="http://schemas.microsoft.com/office/drawing/2014/main" id="{19CA42D6-AC7F-4D87-B5F4-99C1EC242A02}"/>
                </a:ext>
              </a:extLst>
            </p:cNvPr>
            <p:cNvSpPr/>
            <p:nvPr/>
          </p:nvSpPr>
          <p:spPr>
            <a:xfrm>
              <a:off x="3282721"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79" name="object 25">
              <a:extLst>
                <a:ext uri="{FF2B5EF4-FFF2-40B4-BE49-F238E27FC236}">
                  <a16:creationId xmlns:a16="http://schemas.microsoft.com/office/drawing/2014/main" id="{D9D68F47-262E-4AC3-A9EC-F0C7CE402647}"/>
                </a:ext>
              </a:extLst>
            </p:cNvPr>
            <p:cNvSpPr/>
            <p:nvPr/>
          </p:nvSpPr>
          <p:spPr>
            <a:xfrm>
              <a:off x="3334608"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0" name="object 26">
              <a:extLst>
                <a:ext uri="{FF2B5EF4-FFF2-40B4-BE49-F238E27FC236}">
                  <a16:creationId xmlns:a16="http://schemas.microsoft.com/office/drawing/2014/main" id="{3425C396-CDD6-453C-B569-319CE5A353A0}"/>
                </a:ext>
              </a:extLst>
            </p:cNvPr>
            <p:cNvSpPr/>
            <p:nvPr/>
          </p:nvSpPr>
          <p:spPr>
            <a:xfrm>
              <a:off x="338649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1" name="object 27">
              <a:extLst>
                <a:ext uri="{FF2B5EF4-FFF2-40B4-BE49-F238E27FC236}">
                  <a16:creationId xmlns:a16="http://schemas.microsoft.com/office/drawing/2014/main" id="{E809289B-2BE0-41C0-8380-F5970B8F92A5}"/>
                </a:ext>
              </a:extLst>
            </p:cNvPr>
            <p:cNvSpPr/>
            <p:nvPr/>
          </p:nvSpPr>
          <p:spPr>
            <a:xfrm>
              <a:off x="3438383" y="6645"/>
              <a:ext cx="6350" cy="19685"/>
            </a:xfrm>
            <a:custGeom>
              <a:avLst/>
              <a:gdLst/>
              <a:ahLst/>
              <a:cxnLst/>
              <a:rect l="l" t="t" r="r" b="b"/>
              <a:pathLst>
                <a:path w="6350" h="19684">
                  <a:moveTo>
                    <a:pt x="5740" y="0"/>
                  </a:moveTo>
                  <a:lnTo>
                    <a:pt x="4521" y="0"/>
                  </a:lnTo>
                  <a:lnTo>
                    <a:pt x="0" y="4508"/>
                  </a:lnTo>
                  <a:lnTo>
                    <a:pt x="0" y="15659"/>
                  </a:lnTo>
                  <a:lnTo>
                    <a:pt x="3639" y="19288"/>
                  </a:lnTo>
                  <a:lnTo>
                    <a:pt x="3963" y="14412"/>
                  </a:lnTo>
                  <a:lnTo>
                    <a:pt x="5143" y="3810"/>
                  </a:lnTo>
                  <a:lnTo>
                    <a:pt x="5740" y="0"/>
                  </a:lnTo>
                  <a:close/>
                </a:path>
              </a:pathLst>
            </a:custGeom>
            <a:solidFill>
              <a:srgbClr val="FFFFFF"/>
            </a:solidFill>
          </p:spPr>
          <p:txBody>
            <a:bodyPr wrap="square" lIns="0" tIns="0" rIns="0" bIns="0" rtlCol="0"/>
            <a:lstStyle/>
            <a:p>
              <a:endParaRPr sz="324"/>
            </a:p>
          </p:txBody>
        </p:sp>
        <p:sp>
          <p:nvSpPr>
            <p:cNvPr id="182" name="object 28">
              <a:extLst>
                <a:ext uri="{FF2B5EF4-FFF2-40B4-BE49-F238E27FC236}">
                  <a16:creationId xmlns:a16="http://schemas.microsoft.com/office/drawing/2014/main" id="{B4593CFC-7AC6-49E5-948D-E766EC3BF981}"/>
                </a:ext>
              </a:extLst>
            </p:cNvPr>
            <p:cNvSpPr/>
            <p:nvPr/>
          </p:nvSpPr>
          <p:spPr>
            <a:xfrm>
              <a:off x="3919823" y="6645"/>
              <a:ext cx="6350" cy="19685"/>
            </a:xfrm>
            <a:custGeom>
              <a:avLst/>
              <a:gdLst/>
              <a:ahLst/>
              <a:cxnLst/>
              <a:rect l="l" t="t" r="r" b="b"/>
              <a:pathLst>
                <a:path w="6350" h="19684">
                  <a:moveTo>
                    <a:pt x="1207" y="0"/>
                  </a:moveTo>
                  <a:lnTo>
                    <a:pt x="0" y="0"/>
                  </a:lnTo>
                  <a:lnTo>
                    <a:pt x="611" y="3923"/>
                  </a:lnTo>
                  <a:lnTo>
                    <a:pt x="1789" y="14559"/>
                  </a:lnTo>
                  <a:lnTo>
                    <a:pt x="2101" y="19276"/>
                  </a:lnTo>
                  <a:lnTo>
                    <a:pt x="5728" y="15659"/>
                  </a:lnTo>
                  <a:lnTo>
                    <a:pt x="5728" y="4508"/>
                  </a:lnTo>
                  <a:lnTo>
                    <a:pt x="1207" y="0"/>
                  </a:lnTo>
                  <a:close/>
                </a:path>
              </a:pathLst>
            </a:custGeom>
            <a:solidFill>
              <a:srgbClr val="FFFFFF"/>
            </a:solidFill>
          </p:spPr>
          <p:txBody>
            <a:bodyPr wrap="square" lIns="0" tIns="0" rIns="0" bIns="0" rtlCol="0"/>
            <a:lstStyle/>
            <a:p>
              <a:endParaRPr sz="324"/>
            </a:p>
          </p:txBody>
        </p:sp>
        <p:sp>
          <p:nvSpPr>
            <p:cNvPr id="183" name="object 29">
              <a:extLst>
                <a:ext uri="{FF2B5EF4-FFF2-40B4-BE49-F238E27FC236}">
                  <a16:creationId xmlns:a16="http://schemas.microsoft.com/office/drawing/2014/main" id="{E21C0F3C-A547-41D7-87F5-D192C7761AC1}"/>
                </a:ext>
              </a:extLst>
            </p:cNvPr>
            <p:cNvSpPr/>
            <p:nvPr/>
          </p:nvSpPr>
          <p:spPr>
            <a:xfrm>
              <a:off x="3957259"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4" name="object 30">
              <a:extLst>
                <a:ext uri="{FF2B5EF4-FFF2-40B4-BE49-F238E27FC236}">
                  <a16:creationId xmlns:a16="http://schemas.microsoft.com/office/drawing/2014/main" id="{6F1B5E9E-8363-4A3D-BF6B-E9631E8A886B}"/>
                </a:ext>
              </a:extLst>
            </p:cNvPr>
            <p:cNvSpPr/>
            <p:nvPr/>
          </p:nvSpPr>
          <p:spPr>
            <a:xfrm>
              <a:off x="400914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5" name="object 31">
              <a:extLst>
                <a:ext uri="{FF2B5EF4-FFF2-40B4-BE49-F238E27FC236}">
                  <a16:creationId xmlns:a16="http://schemas.microsoft.com/office/drawing/2014/main" id="{B6B38092-9E37-47C3-BAA1-C5A8F919E706}"/>
                </a:ext>
              </a:extLst>
            </p:cNvPr>
            <p:cNvSpPr/>
            <p:nvPr/>
          </p:nvSpPr>
          <p:spPr>
            <a:xfrm>
              <a:off x="4061034"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7" name="object 32">
              <a:extLst>
                <a:ext uri="{FF2B5EF4-FFF2-40B4-BE49-F238E27FC236}">
                  <a16:creationId xmlns:a16="http://schemas.microsoft.com/office/drawing/2014/main" id="{38D71171-8579-461A-9DC9-08A9FB9519CC}"/>
                </a:ext>
              </a:extLst>
            </p:cNvPr>
            <p:cNvSpPr/>
            <p:nvPr/>
          </p:nvSpPr>
          <p:spPr>
            <a:xfrm>
              <a:off x="4112922"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8" name="object 33">
              <a:extLst>
                <a:ext uri="{FF2B5EF4-FFF2-40B4-BE49-F238E27FC236}">
                  <a16:creationId xmlns:a16="http://schemas.microsoft.com/office/drawing/2014/main" id="{5FE52D49-FD5B-4BD3-8FE7-792A8D1F821B}"/>
                </a:ext>
              </a:extLst>
            </p:cNvPr>
            <p:cNvSpPr/>
            <p:nvPr/>
          </p:nvSpPr>
          <p:spPr>
            <a:xfrm>
              <a:off x="3230833" y="54569"/>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9" name="object 34">
              <a:extLst>
                <a:ext uri="{FF2B5EF4-FFF2-40B4-BE49-F238E27FC236}">
                  <a16:creationId xmlns:a16="http://schemas.microsoft.com/office/drawing/2014/main" id="{44C0F0BB-C8B0-40DB-9229-92470678AFF5}"/>
                </a:ext>
              </a:extLst>
            </p:cNvPr>
            <p:cNvSpPr/>
            <p:nvPr/>
          </p:nvSpPr>
          <p:spPr>
            <a:xfrm>
              <a:off x="3282721"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0" name="object 35">
              <a:extLst>
                <a:ext uri="{FF2B5EF4-FFF2-40B4-BE49-F238E27FC236}">
                  <a16:creationId xmlns:a16="http://schemas.microsoft.com/office/drawing/2014/main" id="{C68A89B2-15BF-42B1-A41B-6C5F9E9E8034}"/>
                </a:ext>
              </a:extLst>
            </p:cNvPr>
            <p:cNvSpPr/>
            <p:nvPr/>
          </p:nvSpPr>
          <p:spPr>
            <a:xfrm>
              <a:off x="3334608"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1" name="object 36">
              <a:extLst>
                <a:ext uri="{FF2B5EF4-FFF2-40B4-BE49-F238E27FC236}">
                  <a16:creationId xmlns:a16="http://schemas.microsoft.com/office/drawing/2014/main" id="{9DAB20B9-E8A8-41C0-9DE5-791653500B4F}"/>
                </a:ext>
              </a:extLst>
            </p:cNvPr>
            <p:cNvSpPr/>
            <p:nvPr/>
          </p:nvSpPr>
          <p:spPr>
            <a:xfrm>
              <a:off x="338649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2" name="object 37">
              <a:extLst>
                <a:ext uri="{FF2B5EF4-FFF2-40B4-BE49-F238E27FC236}">
                  <a16:creationId xmlns:a16="http://schemas.microsoft.com/office/drawing/2014/main" id="{DEFBBC13-8679-4FB6-AC41-0E1EA27372B8}"/>
                </a:ext>
              </a:extLst>
            </p:cNvPr>
            <p:cNvSpPr/>
            <p:nvPr/>
          </p:nvSpPr>
          <p:spPr>
            <a:xfrm>
              <a:off x="3438383" y="54849"/>
              <a:ext cx="6350" cy="20320"/>
            </a:xfrm>
            <a:custGeom>
              <a:avLst/>
              <a:gdLst/>
              <a:ahLst/>
              <a:cxnLst/>
              <a:rect l="l" t="t" r="r" b="b"/>
              <a:pathLst>
                <a:path w="6350" h="20319">
                  <a:moveTo>
                    <a:pt x="4239" y="0"/>
                  </a:moveTo>
                  <a:lnTo>
                    <a:pt x="0" y="4228"/>
                  </a:lnTo>
                  <a:lnTo>
                    <a:pt x="0" y="15378"/>
                  </a:lnTo>
                  <a:lnTo>
                    <a:pt x="4521" y="19887"/>
                  </a:lnTo>
                  <a:lnTo>
                    <a:pt x="6244" y="19887"/>
                  </a:lnTo>
                  <a:lnTo>
                    <a:pt x="4239" y="0"/>
                  </a:lnTo>
                  <a:close/>
                </a:path>
              </a:pathLst>
            </a:custGeom>
            <a:solidFill>
              <a:srgbClr val="FFFFFF"/>
            </a:solidFill>
          </p:spPr>
          <p:txBody>
            <a:bodyPr wrap="square" lIns="0" tIns="0" rIns="0" bIns="0" rtlCol="0"/>
            <a:lstStyle/>
            <a:p>
              <a:endParaRPr sz="324"/>
            </a:p>
          </p:txBody>
        </p:sp>
        <p:sp>
          <p:nvSpPr>
            <p:cNvPr id="193" name="object 38">
              <a:extLst>
                <a:ext uri="{FF2B5EF4-FFF2-40B4-BE49-F238E27FC236}">
                  <a16:creationId xmlns:a16="http://schemas.microsoft.com/office/drawing/2014/main" id="{DC4F7D1C-2645-4CD3-A1CC-7E6E03FC5D9A}"/>
                </a:ext>
              </a:extLst>
            </p:cNvPr>
            <p:cNvSpPr/>
            <p:nvPr/>
          </p:nvSpPr>
          <p:spPr>
            <a:xfrm>
              <a:off x="3919325" y="54866"/>
              <a:ext cx="6350" cy="20320"/>
            </a:xfrm>
            <a:custGeom>
              <a:avLst/>
              <a:gdLst/>
              <a:ahLst/>
              <a:cxnLst/>
              <a:rect l="l" t="t" r="r" b="b"/>
              <a:pathLst>
                <a:path w="6350" h="20319">
                  <a:moveTo>
                    <a:pt x="2003" y="0"/>
                  </a:moveTo>
                  <a:lnTo>
                    <a:pt x="0" y="19870"/>
                  </a:lnTo>
                  <a:lnTo>
                    <a:pt x="1704" y="19870"/>
                  </a:lnTo>
                  <a:lnTo>
                    <a:pt x="6226" y="15361"/>
                  </a:lnTo>
                  <a:lnTo>
                    <a:pt x="6226" y="4211"/>
                  </a:lnTo>
                  <a:lnTo>
                    <a:pt x="2003" y="0"/>
                  </a:lnTo>
                  <a:close/>
                </a:path>
              </a:pathLst>
            </a:custGeom>
            <a:solidFill>
              <a:srgbClr val="FFFFFF"/>
            </a:solidFill>
          </p:spPr>
          <p:txBody>
            <a:bodyPr wrap="square" lIns="0" tIns="0" rIns="0" bIns="0" rtlCol="0"/>
            <a:lstStyle/>
            <a:p>
              <a:endParaRPr sz="324"/>
            </a:p>
          </p:txBody>
        </p:sp>
        <p:sp>
          <p:nvSpPr>
            <p:cNvPr id="194" name="object 39">
              <a:extLst>
                <a:ext uri="{FF2B5EF4-FFF2-40B4-BE49-F238E27FC236}">
                  <a16:creationId xmlns:a16="http://schemas.microsoft.com/office/drawing/2014/main" id="{B4784042-8E83-4E4E-B14C-E5B2926D842E}"/>
                </a:ext>
              </a:extLst>
            </p:cNvPr>
            <p:cNvSpPr/>
            <p:nvPr/>
          </p:nvSpPr>
          <p:spPr>
            <a:xfrm>
              <a:off x="3957259"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5" name="object 40">
              <a:extLst>
                <a:ext uri="{FF2B5EF4-FFF2-40B4-BE49-F238E27FC236}">
                  <a16:creationId xmlns:a16="http://schemas.microsoft.com/office/drawing/2014/main" id="{4CC23F4E-ECD2-44B9-960C-D47F89319F38}"/>
                </a:ext>
              </a:extLst>
            </p:cNvPr>
            <p:cNvSpPr/>
            <p:nvPr/>
          </p:nvSpPr>
          <p:spPr>
            <a:xfrm>
              <a:off x="400914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6" name="object 41">
              <a:extLst>
                <a:ext uri="{FF2B5EF4-FFF2-40B4-BE49-F238E27FC236}">
                  <a16:creationId xmlns:a16="http://schemas.microsoft.com/office/drawing/2014/main" id="{CABB980C-4023-4D65-83EA-03E370B6FD6F}"/>
                </a:ext>
              </a:extLst>
            </p:cNvPr>
            <p:cNvSpPr/>
            <p:nvPr/>
          </p:nvSpPr>
          <p:spPr>
            <a:xfrm>
              <a:off x="4061034"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7" name="object 42">
              <a:extLst>
                <a:ext uri="{FF2B5EF4-FFF2-40B4-BE49-F238E27FC236}">
                  <a16:creationId xmlns:a16="http://schemas.microsoft.com/office/drawing/2014/main" id="{E73703C8-09FB-4415-A9D2-75FE5587A661}"/>
                </a:ext>
              </a:extLst>
            </p:cNvPr>
            <p:cNvSpPr/>
            <p:nvPr/>
          </p:nvSpPr>
          <p:spPr>
            <a:xfrm>
              <a:off x="4112922"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8" name="object 43">
              <a:extLst>
                <a:ext uri="{FF2B5EF4-FFF2-40B4-BE49-F238E27FC236}">
                  <a16:creationId xmlns:a16="http://schemas.microsoft.com/office/drawing/2014/main" id="{BA161AA4-892D-4568-981E-DCD706AB6550}"/>
                </a:ext>
              </a:extLst>
            </p:cNvPr>
            <p:cNvSpPr/>
            <p:nvPr/>
          </p:nvSpPr>
          <p:spPr>
            <a:xfrm>
              <a:off x="3230833" y="102494"/>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99" name="object 44">
              <a:extLst>
                <a:ext uri="{FF2B5EF4-FFF2-40B4-BE49-F238E27FC236}">
                  <a16:creationId xmlns:a16="http://schemas.microsoft.com/office/drawing/2014/main" id="{8533FBF8-7CC9-4F97-8226-DFE99F1AAA5B}"/>
                </a:ext>
              </a:extLst>
            </p:cNvPr>
            <p:cNvSpPr/>
            <p:nvPr/>
          </p:nvSpPr>
          <p:spPr>
            <a:xfrm>
              <a:off x="3282721"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0" name="object 45">
              <a:extLst>
                <a:ext uri="{FF2B5EF4-FFF2-40B4-BE49-F238E27FC236}">
                  <a16:creationId xmlns:a16="http://schemas.microsoft.com/office/drawing/2014/main" id="{DE421829-EFAC-4A3F-BEA9-063FC71FE2FD}"/>
                </a:ext>
              </a:extLst>
            </p:cNvPr>
            <p:cNvSpPr/>
            <p:nvPr/>
          </p:nvSpPr>
          <p:spPr>
            <a:xfrm>
              <a:off x="3334608"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1" name="object 46">
              <a:extLst>
                <a:ext uri="{FF2B5EF4-FFF2-40B4-BE49-F238E27FC236}">
                  <a16:creationId xmlns:a16="http://schemas.microsoft.com/office/drawing/2014/main" id="{F36BD943-E50F-4A79-B94B-A93C3DC9FA7A}"/>
                </a:ext>
              </a:extLst>
            </p:cNvPr>
            <p:cNvSpPr/>
            <p:nvPr/>
          </p:nvSpPr>
          <p:spPr>
            <a:xfrm>
              <a:off x="338649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2" name="object 47">
              <a:extLst>
                <a:ext uri="{FF2B5EF4-FFF2-40B4-BE49-F238E27FC236}">
                  <a16:creationId xmlns:a16="http://schemas.microsoft.com/office/drawing/2014/main" id="{F64CAB58-CF20-49B2-9C1D-F653C5793F50}"/>
                </a:ext>
              </a:extLst>
            </p:cNvPr>
            <p:cNvSpPr/>
            <p:nvPr/>
          </p:nvSpPr>
          <p:spPr>
            <a:xfrm>
              <a:off x="3438383" y="102494"/>
              <a:ext cx="17780" cy="20320"/>
            </a:xfrm>
            <a:custGeom>
              <a:avLst/>
              <a:gdLst/>
              <a:ahLst/>
              <a:cxnLst/>
              <a:rect l="l" t="t" r="r" b="b"/>
              <a:pathLst>
                <a:path w="17779" h="20319">
                  <a:moveTo>
                    <a:pt x="11421" y="0"/>
                  </a:moveTo>
                  <a:lnTo>
                    <a:pt x="4521" y="0"/>
                  </a:lnTo>
                  <a:lnTo>
                    <a:pt x="0" y="4508"/>
                  </a:lnTo>
                  <a:lnTo>
                    <a:pt x="0" y="15659"/>
                  </a:lnTo>
                  <a:lnTo>
                    <a:pt x="4521" y="20167"/>
                  </a:lnTo>
                  <a:lnTo>
                    <a:pt x="15659" y="20167"/>
                  </a:lnTo>
                  <a:lnTo>
                    <a:pt x="17203" y="18627"/>
                  </a:lnTo>
                  <a:lnTo>
                    <a:pt x="11421" y="0"/>
                  </a:lnTo>
                  <a:close/>
                </a:path>
              </a:pathLst>
            </a:custGeom>
            <a:solidFill>
              <a:srgbClr val="FFFFFF"/>
            </a:solidFill>
          </p:spPr>
          <p:txBody>
            <a:bodyPr wrap="square" lIns="0" tIns="0" rIns="0" bIns="0" rtlCol="0"/>
            <a:lstStyle/>
            <a:p>
              <a:endParaRPr sz="324"/>
            </a:p>
          </p:txBody>
        </p:sp>
        <p:sp>
          <p:nvSpPr>
            <p:cNvPr id="203" name="object 48">
              <a:extLst>
                <a:ext uri="{FF2B5EF4-FFF2-40B4-BE49-F238E27FC236}">
                  <a16:creationId xmlns:a16="http://schemas.microsoft.com/office/drawing/2014/main" id="{ADA5A0FF-7165-466F-8115-53146B147824}"/>
                </a:ext>
              </a:extLst>
            </p:cNvPr>
            <p:cNvSpPr/>
            <p:nvPr/>
          </p:nvSpPr>
          <p:spPr>
            <a:xfrm>
              <a:off x="3908361" y="102494"/>
              <a:ext cx="17780" cy="20320"/>
            </a:xfrm>
            <a:custGeom>
              <a:avLst/>
              <a:gdLst/>
              <a:ahLst/>
              <a:cxnLst/>
              <a:rect l="l" t="t" r="r" b="b"/>
              <a:pathLst>
                <a:path w="17779" h="20319">
                  <a:moveTo>
                    <a:pt x="12669" y="0"/>
                  </a:moveTo>
                  <a:lnTo>
                    <a:pt x="5786" y="0"/>
                  </a:lnTo>
                  <a:lnTo>
                    <a:pt x="0" y="18640"/>
                  </a:lnTo>
                  <a:lnTo>
                    <a:pt x="1531" y="20167"/>
                  </a:lnTo>
                  <a:lnTo>
                    <a:pt x="12669" y="20167"/>
                  </a:lnTo>
                  <a:lnTo>
                    <a:pt x="17190" y="15659"/>
                  </a:lnTo>
                  <a:lnTo>
                    <a:pt x="17190" y="4508"/>
                  </a:lnTo>
                  <a:lnTo>
                    <a:pt x="12669" y="0"/>
                  </a:lnTo>
                  <a:close/>
                </a:path>
              </a:pathLst>
            </a:custGeom>
            <a:solidFill>
              <a:srgbClr val="FFFFFF"/>
            </a:solidFill>
          </p:spPr>
          <p:txBody>
            <a:bodyPr wrap="square" lIns="0" tIns="0" rIns="0" bIns="0" rtlCol="0"/>
            <a:lstStyle/>
            <a:p>
              <a:endParaRPr sz="324"/>
            </a:p>
          </p:txBody>
        </p:sp>
        <p:sp>
          <p:nvSpPr>
            <p:cNvPr id="204" name="object 49">
              <a:extLst>
                <a:ext uri="{FF2B5EF4-FFF2-40B4-BE49-F238E27FC236}">
                  <a16:creationId xmlns:a16="http://schemas.microsoft.com/office/drawing/2014/main" id="{F85E3CAC-3033-4F5D-8B0E-D2174588FCC9}"/>
                </a:ext>
              </a:extLst>
            </p:cNvPr>
            <p:cNvSpPr/>
            <p:nvPr/>
          </p:nvSpPr>
          <p:spPr>
            <a:xfrm>
              <a:off x="3957259"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5" name="object 50">
              <a:extLst>
                <a:ext uri="{FF2B5EF4-FFF2-40B4-BE49-F238E27FC236}">
                  <a16:creationId xmlns:a16="http://schemas.microsoft.com/office/drawing/2014/main" id="{E790185A-EB9D-4C54-8975-331574BB7132}"/>
                </a:ext>
              </a:extLst>
            </p:cNvPr>
            <p:cNvSpPr/>
            <p:nvPr/>
          </p:nvSpPr>
          <p:spPr>
            <a:xfrm>
              <a:off x="400914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6" name="object 51">
              <a:extLst>
                <a:ext uri="{FF2B5EF4-FFF2-40B4-BE49-F238E27FC236}">
                  <a16:creationId xmlns:a16="http://schemas.microsoft.com/office/drawing/2014/main" id="{5D6D6DF1-DF6F-40C2-8016-D8E3548F1929}"/>
                </a:ext>
              </a:extLst>
            </p:cNvPr>
            <p:cNvSpPr/>
            <p:nvPr/>
          </p:nvSpPr>
          <p:spPr>
            <a:xfrm>
              <a:off x="4061034"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7" name="object 52">
              <a:extLst>
                <a:ext uri="{FF2B5EF4-FFF2-40B4-BE49-F238E27FC236}">
                  <a16:creationId xmlns:a16="http://schemas.microsoft.com/office/drawing/2014/main" id="{D6DA3ECC-FEA8-4C15-AD3B-F3EFAA3A9D62}"/>
                </a:ext>
              </a:extLst>
            </p:cNvPr>
            <p:cNvSpPr/>
            <p:nvPr/>
          </p:nvSpPr>
          <p:spPr>
            <a:xfrm>
              <a:off x="4112922"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8" name="object 53">
              <a:extLst>
                <a:ext uri="{FF2B5EF4-FFF2-40B4-BE49-F238E27FC236}">
                  <a16:creationId xmlns:a16="http://schemas.microsoft.com/office/drawing/2014/main" id="{BE5CAA6C-A8FF-47B7-861B-B10F250B39B4}"/>
                </a:ext>
              </a:extLst>
            </p:cNvPr>
            <p:cNvSpPr/>
            <p:nvPr/>
          </p:nvSpPr>
          <p:spPr>
            <a:xfrm>
              <a:off x="3230833" y="150417"/>
              <a:ext cx="20320" cy="20320"/>
            </a:xfrm>
            <a:custGeom>
              <a:avLst/>
              <a:gdLst/>
              <a:ahLst/>
              <a:cxnLst/>
              <a:rect l="l" t="t" r="r" b="b"/>
              <a:pathLst>
                <a:path w="20319" h="20319">
                  <a:moveTo>
                    <a:pt x="15659" y="0"/>
                  </a:moveTo>
                  <a:lnTo>
                    <a:pt x="4521" y="0"/>
                  </a:lnTo>
                  <a:lnTo>
                    <a:pt x="0" y="4508"/>
                  </a:lnTo>
                  <a:lnTo>
                    <a:pt x="0" y="7851"/>
                  </a:lnTo>
                  <a:lnTo>
                    <a:pt x="2699" y="18351"/>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9" name="object 54">
              <a:extLst>
                <a:ext uri="{FF2B5EF4-FFF2-40B4-BE49-F238E27FC236}">
                  <a16:creationId xmlns:a16="http://schemas.microsoft.com/office/drawing/2014/main" id="{60108C06-C239-41D6-BF9D-9D22570B2F8F}"/>
                </a:ext>
              </a:extLst>
            </p:cNvPr>
            <p:cNvSpPr/>
            <p:nvPr/>
          </p:nvSpPr>
          <p:spPr>
            <a:xfrm>
              <a:off x="3282721"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0" name="object 55">
              <a:extLst>
                <a:ext uri="{FF2B5EF4-FFF2-40B4-BE49-F238E27FC236}">
                  <a16:creationId xmlns:a16="http://schemas.microsoft.com/office/drawing/2014/main" id="{6AA429B2-4494-4ADD-9C4E-9F9336522493}"/>
                </a:ext>
              </a:extLst>
            </p:cNvPr>
            <p:cNvSpPr/>
            <p:nvPr/>
          </p:nvSpPr>
          <p:spPr>
            <a:xfrm>
              <a:off x="3334608"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1" name="object 56">
              <a:extLst>
                <a:ext uri="{FF2B5EF4-FFF2-40B4-BE49-F238E27FC236}">
                  <a16:creationId xmlns:a16="http://schemas.microsoft.com/office/drawing/2014/main" id="{B225525D-D603-4EEE-A7DE-D51C165D81D8}"/>
                </a:ext>
              </a:extLst>
            </p:cNvPr>
            <p:cNvSpPr/>
            <p:nvPr/>
          </p:nvSpPr>
          <p:spPr>
            <a:xfrm>
              <a:off x="338649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2" name="object 57">
              <a:extLst>
                <a:ext uri="{FF2B5EF4-FFF2-40B4-BE49-F238E27FC236}">
                  <a16:creationId xmlns:a16="http://schemas.microsoft.com/office/drawing/2014/main" id="{D489A3A9-2158-4B62-9EF2-944B45D5269C}"/>
                </a:ext>
              </a:extLst>
            </p:cNvPr>
            <p:cNvSpPr/>
            <p:nvPr/>
          </p:nvSpPr>
          <p:spPr>
            <a:xfrm>
              <a:off x="3438383"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3" name="object 58">
              <a:extLst>
                <a:ext uri="{FF2B5EF4-FFF2-40B4-BE49-F238E27FC236}">
                  <a16:creationId xmlns:a16="http://schemas.microsoft.com/office/drawing/2014/main" id="{13C8E11B-C9B3-45E7-AE1F-D5E891666C70}"/>
                </a:ext>
              </a:extLst>
            </p:cNvPr>
            <p:cNvSpPr/>
            <p:nvPr/>
          </p:nvSpPr>
          <p:spPr>
            <a:xfrm>
              <a:off x="390537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4" name="object 59">
              <a:extLst>
                <a:ext uri="{FF2B5EF4-FFF2-40B4-BE49-F238E27FC236}">
                  <a16:creationId xmlns:a16="http://schemas.microsoft.com/office/drawing/2014/main" id="{DBEEFE1B-AFF0-4ECA-8F4B-1DA1B1BB1069}"/>
                </a:ext>
              </a:extLst>
            </p:cNvPr>
            <p:cNvSpPr/>
            <p:nvPr/>
          </p:nvSpPr>
          <p:spPr>
            <a:xfrm>
              <a:off x="3957259"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5" name="object 60">
              <a:extLst>
                <a:ext uri="{FF2B5EF4-FFF2-40B4-BE49-F238E27FC236}">
                  <a16:creationId xmlns:a16="http://schemas.microsoft.com/office/drawing/2014/main" id="{6F6CD759-6A9C-42D7-ABC4-3AA7A09C5D74}"/>
                </a:ext>
              </a:extLst>
            </p:cNvPr>
            <p:cNvSpPr/>
            <p:nvPr/>
          </p:nvSpPr>
          <p:spPr>
            <a:xfrm>
              <a:off x="400914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6" name="object 61">
              <a:extLst>
                <a:ext uri="{FF2B5EF4-FFF2-40B4-BE49-F238E27FC236}">
                  <a16:creationId xmlns:a16="http://schemas.microsoft.com/office/drawing/2014/main" id="{08B7CDE3-0C6E-4083-AA57-97C17E1D2260}"/>
                </a:ext>
              </a:extLst>
            </p:cNvPr>
            <p:cNvSpPr/>
            <p:nvPr/>
          </p:nvSpPr>
          <p:spPr>
            <a:xfrm>
              <a:off x="4061034"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17" name="object 62">
              <a:extLst>
                <a:ext uri="{FF2B5EF4-FFF2-40B4-BE49-F238E27FC236}">
                  <a16:creationId xmlns:a16="http://schemas.microsoft.com/office/drawing/2014/main" id="{91C79260-DCC2-4566-BFC5-9F97CE36B42B}"/>
                </a:ext>
              </a:extLst>
            </p:cNvPr>
            <p:cNvSpPr/>
            <p:nvPr/>
          </p:nvSpPr>
          <p:spPr>
            <a:xfrm>
              <a:off x="411292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17471" y="18359"/>
                  </a:lnTo>
                  <a:lnTo>
                    <a:pt x="20180" y="7826"/>
                  </a:lnTo>
                  <a:lnTo>
                    <a:pt x="20180" y="4508"/>
                  </a:lnTo>
                  <a:lnTo>
                    <a:pt x="15659" y="0"/>
                  </a:lnTo>
                  <a:close/>
                </a:path>
              </a:pathLst>
            </a:custGeom>
            <a:solidFill>
              <a:srgbClr val="FFFFFF"/>
            </a:solidFill>
          </p:spPr>
          <p:txBody>
            <a:bodyPr wrap="square" lIns="0" tIns="0" rIns="0" bIns="0" rtlCol="0"/>
            <a:lstStyle/>
            <a:p>
              <a:endParaRPr sz="324"/>
            </a:p>
          </p:txBody>
        </p:sp>
        <p:sp>
          <p:nvSpPr>
            <p:cNvPr id="218" name="object 63">
              <a:extLst>
                <a:ext uri="{FF2B5EF4-FFF2-40B4-BE49-F238E27FC236}">
                  <a16:creationId xmlns:a16="http://schemas.microsoft.com/office/drawing/2014/main" id="{799607A4-BE81-44B1-828E-365B9C1C0831}"/>
                </a:ext>
              </a:extLst>
            </p:cNvPr>
            <p:cNvSpPr/>
            <p:nvPr/>
          </p:nvSpPr>
          <p:spPr>
            <a:xfrm>
              <a:off x="3242994" y="198340"/>
              <a:ext cx="8255" cy="17780"/>
            </a:xfrm>
            <a:custGeom>
              <a:avLst/>
              <a:gdLst/>
              <a:ahLst/>
              <a:cxnLst/>
              <a:rect l="l" t="t" r="r" b="b"/>
              <a:pathLst>
                <a:path w="8254" h="17779">
                  <a:moveTo>
                    <a:pt x="3497" y="0"/>
                  </a:moveTo>
                  <a:lnTo>
                    <a:pt x="0" y="0"/>
                  </a:lnTo>
                  <a:lnTo>
                    <a:pt x="6343" y="17330"/>
                  </a:lnTo>
                  <a:lnTo>
                    <a:pt x="8019" y="15659"/>
                  </a:lnTo>
                  <a:lnTo>
                    <a:pt x="8019" y="4508"/>
                  </a:lnTo>
                  <a:lnTo>
                    <a:pt x="3497" y="0"/>
                  </a:lnTo>
                  <a:close/>
                </a:path>
              </a:pathLst>
            </a:custGeom>
            <a:solidFill>
              <a:srgbClr val="FFFFFF"/>
            </a:solidFill>
          </p:spPr>
          <p:txBody>
            <a:bodyPr wrap="square" lIns="0" tIns="0" rIns="0" bIns="0" rtlCol="0"/>
            <a:lstStyle/>
            <a:p>
              <a:endParaRPr sz="324"/>
            </a:p>
          </p:txBody>
        </p:sp>
        <p:sp>
          <p:nvSpPr>
            <p:cNvPr id="219" name="object 64">
              <a:extLst>
                <a:ext uri="{FF2B5EF4-FFF2-40B4-BE49-F238E27FC236}">
                  <a16:creationId xmlns:a16="http://schemas.microsoft.com/office/drawing/2014/main" id="{8E9FCEB8-7AA8-4398-B084-B7582950F178}"/>
                </a:ext>
              </a:extLst>
            </p:cNvPr>
            <p:cNvSpPr/>
            <p:nvPr/>
          </p:nvSpPr>
          <p:spPr>
            <a:xfrm>
              <a:off x="3282721"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0" name="object 65">
              <a:extLst>
                <a:ext uri="{FF2B5EF4-FFF2-40B4-BE49-F238E27FC236}">
                  <a16:creationId xmlns:a16="http://schemas.microsoft.com/office/drawing/2014/main" id="{8F5B4D47-B2DD-4ED2-9CE3-068408376318}"/>
                </a:ext>
              </a:extLst>
            </p:cNvPr>
            <p:cNvSpPr/>
            <p:nvPr/>
          </p:nvSpPr>
          <p:spPr>
            <a:xfrm>
              <a:off x="3334608"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1" name="object 66">
              <a:extLst>
                <a:ext uri="{FF2B5EF4-FFF2-40B4-BE49-F238E27FC236}">
                  <a16:creationId xmlns:a16="http://schemas.microsoft.com/office/drawing/2014/main" id="{19612715-ACD4-409C-BF4B-5101E311D481}"/>
                </a:ext>
              </a:extLst>
            </p:cNvPr>
            <p:cNvSpPr/>
            <p:nvPr/>
          </p:nvSpPr>
          <p:spPr>
            <a:xfrm>
              <a:off x="338649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2" name="object 67">
              <a:extLst>
                <a:ext uri="{FF2B5EF4-FFF2-40B4-BE49-F238E27FC236}">
                  <a16:creationId xmlns:a16="http://schemas.microsoft.com/office/drawing/2014/main" id="{A36025B0-E137-4137-82EE-3E9D796E8B13}"/>
                </a:ext>
              </a:extLst>
            </p:cNvPr>
            <p:cNvSpPr/>
            <p:nvPr/>
          </p:nvSpPr>
          <p:spPr>
            <a:xfrm>
              <a:off x="3438383"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3" name="object 68">
              <a:extLst>
                <a:ext uri="{FF2B5EF4-FFF2-40B4-BE49-F238E27FC236}">
                  <a16:creationId xmlns:a16="http://schemas.microsoft.com/office/drawing/2014/main" id="{854CB5CC-F68E-4CE8-BB22-B7B105FCDEDC}"/>
                </a:ext>
              </a:extLst>
            </p:cNvPr>
            <p:cNvSpPr/>
            <p:nvPr/>
          </p:nvSpPr>
          <p:spPr>
            <a:xfrm>
              <a:off x="3490271" y="198340"/>
              <a:ext cx="20320" cy="20320"/>
            </a:xfrm>
            <a:custGeom>
              <a:avLst/>
              <a:gdLst/>
              <a:ahLst/>
              <a:cxnLst/>
              <a:rect l="l" t="t" r="r" b="b"/>
              <a:pathLst>
                <a:path w="20320" h="20320">
                  <a:moveTo>
                    <a:pt x="9674" y="0"/>
                  </a:moveTo>
                  <a:lnTo>
                    <a:pt x="4521" y="0"/>
                  </a:lnTo>
                  <a:lnTo>
                    <a:pt x="0" y="4508"/>
                  </a:lnTo>
                  <a:lnTo>
                    <a:pt x="0" y="15659"/>
                  </a:lnTo>
                  <a:lnTo>
                    <a:pt x="4521" y="20167"/>
                  </a:lnTo>
                  <a:lnTo>
                    <a:pt x="15659" y="20167"/>
                  </a:lnTo>
                  <a:lnTo>
                    <a:pt x="20180" y="15659"/>
                  </a:lnTo>
                  <a:lnTo>
                    <a:pt x="20180" y="12733"/>
                  </a:lnTo>
                  <a:lnTo>
                    <a:pt x="9674" y="0"/>
                  </a:lnTo>
                  <a:close/>
                </a:path>
              </a:pathLst>
            </a:custGeom>
            <a:solidFill>
              <a:srgbClr val="FFFFFF"/>
            </a:solidFill>
          </p:spPr>
          <p:txBody>
            <a:bodyPr wrap="square" lIns="0" tIns="0" rIns="0" bIns="0" rtlCol="0"/>
            <a:lstStyle/>
            <a:p>
              <a:endParaRPr sz="324"/>
            </a:p>
          </p:txBody>
        </p:sp>
        <p:sp>
          <p:nvSpPr>
            <p:cNvPr id="224" name="object 69">
              <a:extLst>
                <a:ext uri="{FF2B5EF4-FFF2-40B4-BE49-F238E27FC236}">
                  <a16:creationId xmlns:a16="http://schemas.microsoft.com/office/drawing/2014/main" id="{1249E9AA-E592-4261-A420-85692AACB2DF}"/>
                </a:ext>
              </a:extLst>
            </p:cNvPr>
            <p:cNvSpPr/>
            <p:nvPr/>
          </p:nvSpPr>
          <p:spPr>
            <a:xfrm>
              <a:off x="3853484" y="198340"/>
              <a:ext cx="20320" cy="20320"/>
            </a:xfrm>
            <a:custGeom>
              <a:avLst/>
              <a:gdLst/>
              <a:ahLst/>
              <a:cxnLst/>
              <a:rect l="l" t="t" r="r" b="b"/>
              <a:pathLst>
                <a:path w="20320" h="20320">
                  <a:moveTo>
                    <a:pt x="15659" y="0"/>
                  </a:moveTo>
                  <a:lnTo>
                    <a:pt x="10518" y="0"/>
                  </a:lnTo>
                  <a:lnTo>
                    <a:pt x="0" y="1274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5" name="object 70">
              <a:extLst>
                <a:ext uri="{FF2B5EF4-FFF2-40B4-BE49-F238E27FC236}">
                  <a16:creationId xmlns:a16="http://schemas.microsoft.com/office/drawing/2014/main" id="{60E57261-8568-48CB-ABCA-E3439902FE2E}"/>
                </a:ext>
              </a:extLst>
            </p:cNvPr>
            <p:cNvSpPr/>
            <p:nvPr/>
          </p:nvSpPr>
          <p:spPr>
            <a:xfrm>
              <a:off x="3905372"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6" name="object 71">
              <a:extLst>
                <a:ext uri="{FF2B5EF4-FFF2-40B4-BE49-F238E27FC236}">
                  <a16:creationId xmlns:a16="http://schemas.microsoft.com/office/drawing/2014/main" id="{E4F28A9C-23CD-4F11-829E-65E72830AF69}"/>
                </a:ext>
              </a:extLst>
            </p:cNvPr>
            <p:cNvSpPr/>
            <p:nvPr/>
          </p:nvSpPr>
          <p:spPr>
            <a:xfrm>
              <a:off x="3957259"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7" name="object 72">
              <a:extLst>
                <a:ext uri="{FF2B5EF4-FFF2-40B4-BE49-F238E27FC236}">
                  <a16:creationId xmlns:a16="http://schemas.microsoft.com/office/drawing/2014/main" id="{94F7B97E-8C1D-40E0-BC4F-3D525BC427DC}"/>
                </a:ext>
              </a:extLst>
            </p:cNvPr>
            <p:cNvSpPr/>
            <p:nvPr/>
          </p:nvSpPr>
          <p:spPr>
            <a:xfrm>
              <a:off x="400914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8" name="object 73">
              <a:extLst>
                <a:ext uri="{FF2B5EF4-FFF2-40B4-BE49-F238E27FC236}">
                  <a16:creationId xmlns:a16="http://schemas.microsoft.com/office/drawing/2014/main" id="{3B3BF37C-AA70-4941-ADB7-0FD435B79E1B}"/>
                </a:ext>
              </a:extLst>
            </p:cNvPr>
            <p:cNvSpPr/>
            <p:nvPr/>
          </p:nvSpPr>
          <p:spPr>
            <a:xfrm>
              <a:off x="4061034"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29" name="object 74">
              <a:extLst>
                <a:ext uri="{FF2B5EF4-FFF2-40B4-BE49-F238E27FC236}">
                  <a16:creationId xmlns:a16="http://schemas.microsoft.com/office/drawing/2014/main" id="{D4227B11-76DD-4E9E-A817-35E31F5AB383}"/>
                </a:ext>
              </a:extLst>
            </p:cNvPr>
            <p:cNvSpPr/>
            <p:nvPr/>
          </p:nvSpPr>
          <p:spPr>
            <a:xfrm>
              <a:off x="4112922" y="198340"/>
              <a:ext cx="8255" cy="17780"/>
            </a:xfrm>
            <a:custGeom>
              <a:avLst/>
              <a:gdLst/>
              <a:ahLst/>
              <a:cxnLst/>
              <a:rect l="l" t="t" r="r" b="b"/>
              <a:pathLst>
                <a:path w="8254" h="17779">
                  <a:moveTo>
                    <a:pt x="8012" y="0"/>
                  </a:moveTo>
                  <a:lnTo>
                    <a:pt x="4521" y="0"/>
                  </a:lnTo>
                  <a:lnTo>
                    <a:pt x="0" y="4508"/>
                  </a:lnTo>
                  <a:lnTo>
                    <a:pt x="0" y="15659"/>
                  </a:lnTo>
                  <a:lnTo>
                    <a:pt x="1671" y="17325"/>
                  </a:lnTo>
                  <a:lnTo>
                    <a:pt x="8012" y="0"/>
                  </a:lnTo>
                  <a:close/>
                </a:path>
              </a:pathLst>
            </a:custGeom>
            <a:solidFill>
              <a:srgbClr val="FFFFFF"/>
            </a:solidFill>
          </p:spPr>
          <p:txBody>
            <a:bodyPr wrap="square" lIns="0" tIns="0" rIns="0" bIns="0" rtlCol="0"/>
            <a:lstStyle/>
            <a:p>
              <a:endParaRPr sz="324"/>
            </a:p>
          </p:txBody>
        </p:sp>
        <p:sp>
          <p:nvSpPr>
            <p:cNvPr id="230" name="object 75">
              <a:extLst>
                <a:ext uri="{FF2B5EF4-FFF2-40B4-BE49-F238E27FC236}">
                  <a16:creationId xmlns:a16="http://schemas.microsoft.com/office/drawing/2014/main" id="{A737DD4C-E431-459C-92EC-B247DCE1B35E}"/>
                </a:ext>
              </a:extLst>
            </p:cNvPr>
            <p:cNvSpPr/>
            <p:nvPr/>
          </p:nvSpPr>
          <p:spPr>
            <a:xfrm>
              <a:off x="328272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1" name="object 76">
              <a:extLst>
                <a:ext uri="{FF2B5EF4-FFF2-40B4-BE49-F238E27FC236}">
                  <a16:creationId xmlns:a16="http://schemas.microsoft.com/office/drawing/2014/main" id="{B2EE1DA8-09B8-468E-BCA0-5C66A9144DB1}"/>
                </a:ext>
              </a:extLst>
            </p:cNvPr>
            <p:cNvSpPr/>
            <p:nvPr/>
          </p:nvSpPr>
          <p:spPr>
            <a:xfrm>
              <a:off x="3334608"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2" name="object 77">
              <a:extLst>
                <a:ext uri="{FF2B5EF4-FFF2-40B4-BE49-F238E27FC236}">
                  <a16:creationId xmlns:a16="http://schemas.microsoft.com/office/drawing/2014/main" id="{4F8414AC-FF49-4E36-A9AD-471196EF414E}"/>
                </a:ext>
              </a:extLst>
            </p:cNvPr>
            <p:cNvSpPr/>
            <p:nvPr/>
          </p:nvSpPr>
          <p:spPr>
            <a:xfrm>
              <a:off x="338649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3" name="object 78">
              <a:extLst>
                <a:ext uri="{FF2B5EF4-FFF2-40B4-BE49-F238E27FC236}">
                  <a16:creationId xmlns:a16="http://schemas.microsoft.com/office/drawing/2014/main" id="{71DCF65D-0D92-421D-82EC-8395A1A66D83}"/>
                </a:ext>
              </a:extLst>
            </p:cNvPr>
            <p:cNvSpPr/>
            <p:nvPr/>
          </p:nvSpPr>
          <p:spPr>
            <a:xfrm>
              <a:off x="3438383"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4" name="object 79">
              <a:extLst>
                <a:ext uri="{FF2B5EF4-FFF2-40B4-BE49-F238E27FC236}">
                  <a16:creationId xmlns:a16="http://schemas.microsoft.com/office/drawing/2014/main" id="{237E6913-713C-4CF1-9952-096CE044E1C9}"/>
                </a:ext>
              </a:extLst>
            </p:cNvPr>
            <p:cNvSpPr/>
            <p:nvPr/>
          </p:nvSpPr>
          <p:spPr>
            <a:xfrm>
              <a:off x="349027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5" name="object 80">
              <a:extLst>
                <a:ext uri="{FF2B5EF4-FFF2-40B4-BE49-F238E27FC236}">
                  <a16:creationId xmlns:a16="http://schemas.microsoft.com/office/drawing/2014/main" id="{05419E5D-0E0D-436A-A983-64BDA1A9C57E}"/>
                </a:ext>
              </a:extLst>
            </p:cNvPr>
            <p:cNvSpPr/>
            <p:nvPr/>
          </p:nvSpPr>
          <p:spPr>
            <a:xfrm>
              <a:off x="3542159" y="246265"/>
              <a:ext cx="20320" cy="20320"/>
            </a:xfrm>
            <a:custGeom>
              <a:avLst/>
              <a:gdLst/>
              <a:ahLst/>
              <a:cxnLst/>
              <a:rect l="l" t="t" r="r" b="b"/>
              <a:pathLst>
                <a:path w="20320" h="20320">
                  <a:moveTo>
                    <a:pt x="12870" y="0"/>
                  </a:moveTo>
                  <a:lnTo>
                    <a:pt x="4521" y="0"/>
                  </a:lnTo>
                  <a:lnTo>
                    <a:pt x="0" y="4508"/>
                  </a:lnTo>
                  <a:lnTo>
                    <a:pt x="0" y="15659"/>
                  </a:lnTo>
                  <a:lnTo>
                    <a:pt x="4521" y="20167"/>
                  </a:lnTo>
                  <a:lnTo>
                    <a:pt x="15659" y="20167"/>
                  </a:lnTo>
                  <a:lnTo>
                    <a:pt x="20180" y="15659"/>
                  </a:lnTo>
                  <a:lnTo>
                    <a:pt x="20180" y="4508"/>
                  </a:lnTo>
                  <a:lnTo>
                    <a:pt x="18990" y="3322"/>
                  </a:lnTo>
                  <a:lnTo>
                    <a:pt x="12870" y="0"/>
                  </a:lnTo>
                  <a:close/>
                </a:path>
              </a:pathLst>
            </a:custGeom>
            <a:solidFill>
              <a:srgbClr val="FFFFFF"/>
            </a:solidFill>
          </p:spPr>
          <p:txBody>
            <a:bodyPr wrap="square" lIns="0" tIns="0" rIns="0" bIns="0" rtlCol="0"/>
            <a:lstStyle/>
            <a:p>
              <a:endParaRPr sz="324"/>
            </a:p>
          </p:txBody>
        </p:sp>
        <p:sp>
          <p:nvSpPr>
            <p:cNvPr id="236" name="object 81">
              <a:extLst>
                <a:ext uri="{FF2B5EF4-FFF2-40B4-BE49-F238E27FC236}">
                  <a16:creationId xmlns:a16="http://schemas.microsoft.com/office/drawing/2014/main" id="{B29AA640-03DA-4B90-95A0-864D548D0EF3}"/>
                </a:ext>
              </a:extLst>
            </p:cNvPr>
            <p:cNvSpPr/>
            <p:nvPr/>
          </p:nvSpPr>
          <p:spPr>
            <a:xfrm>
              <a:off x="3801596" y="246265"/>
              <a:ext cx="20320" cy="20320"/>
            </a:xfrm>
            <a:custGeom>
              <a:avLst/>
              <a:gdLst/>
              <a:ahLst/>
              <a:cxnLst/>
              <a:rect l="l" t="t" r="r" b="b"/>
              <a:pathLst>
                <a:path w="20320" h="20320">
                  <a:moveTo>
                    <a:pt x="15659" y="0"/>
                  </a:moveTo>
                  <a:lnTo>
                    <a:pt x="7319" y="0"/>
                  </a:lnTo>
                  <a:lnTo>
                    <a:pt x="1178" y="3333"/>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7" name="object 82">
              <a:extLst>
                <a:ext uri="{FF2B5EF4-FFF2-40B4-BE49-F238E27FC236}">
                  <a16:creationId xmlns:a16="http://schemas.microsoft.com/office/drawing/2014/main" id="{F3811173-ABF8-46BF-BAAE-A7A5105A000A}"/>
                </a:ext>
              </a:extLst>
            </p:cNvPr>
            <p:cNvSpPr/>
            <p:nvPr/>
          </p:nvSpPr>
          <p:spPr>
            <a:xfrm>
              <a:off x="385348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8" name="object 83">
              <a:extLst>
                <a:ext uri="{FF2B5EF4-FFF2-40B4-BE49-F238E27FC236}">
                  <a16:creationId xmlns:a16="http://schemas.microsoft.com/office/drawing/2014/main" id="{3F5084CA-0704-4404-A610-0B98B77ECA64}"/>
                </a:ext>
              </a:extLst>
            </p:cNvPr>
            <p:cNvSpPr/>
            <p:nvPr/>
          </p:nvSpPr>
          <p:spPr>
            <a:xfrm>
              <a:off x="3905372"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39" name="object 84">
              <a:extLst>
                <a:ext uri="{FF2B5EF4-FFF2-40B4-BE49-F238E27FC236}">
                  <a16:creationId xmlns:a16="http://schemas.microsoft.com/office/drawing/2014/main" id="{7FF4312A-1AAD-40CE-8B8B-C6504CBAC69D}"/>
                </a:ext>
              </a:extLst>
            </p:cNvPr>
            <p:cNvSpPr/>
            <p:nvPr/>
          </p:nvSpPr>
          <p:spPr>
            <a:xfrm>
              <a:off x="3957259"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0" name="object 85">
              <a:extLst>
                <a:ext uri="{FF2B5EF4-FFF2-40B4-BE49-F238E27FC236}">
                  <a16:creationId xmlns:a16="http://schemas.microsoft.com/office/drawing/2014/main" id="{BD998134-D7C4-425C-B59C-4752CB02E65B}"/>
                </a:ext>
              </a:extLst>
            </p:cNvPr>
            <p:cNvSpPr/>
            <p:nvPr/>
          </p:nvSpPr>
          <p:spPr>
            <a:xfrm>
              <a:off x="400914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1" name="object 86">
              <a:extLst>
                <a:ext uri="{FF2B5EF4-FFF2-40B4-BE49-F238E27FC236}">
                  <a16:creationId xmlns:a16="http://schemas.microsoft.com/office/drawing/2014/main" id="{1B5677AF-EBFD-409D-AA1D-7E8E916CA99C}"/>
                </a:ext>
              </a:extLst>
            </p:cNvPr>
            <p:cNvSpPr/>
            <p:nvPr/>
          </p:nvSpPr>
          <p:spPr>
            <a:xfrm>
              <a:off x="406103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2" name="object 87">
              <a:extLst>
                <a:ext uri="{FF2B5EF4-FFF2-40B4-BE49-F238E27FC236}">
                  <a16:creationId xmlns:a16="http://schemas.microsoft.com/office/drawing/2014/main" id="{B739C9A5-966D-4093-B832-1A60B82D3D25}"/>
                </a:ext>
              </a:extLst>
            </p:cNvPr>
            <p:cNvSpPr/>
            <p:nvPr/>
          </p:nvSpPr>
          <p:spPr>
            <a:xfrm>
              <a:off x="3289874" y="294189"/>
              <a:ext cx="13335" cy="17145"/>
            </a:xfrm>
            <a:custGeom>
              <a:avLst/>
              <a:gdLst/>
              <a:ahLst/>
              <a:cxnLst/>
              <a:rect l="l" t="t" r="r" b="b"/>
              <a:pathLst>
                <a:path w="13335" h="17145">
                  <a:moveTo>
                    <a:pt x="8506" y="0"/>
                  </a:moveTo>
                  <a:lnTo>
                    <a:pt x="0" y="0"/>
                  </a:lnTo>
                  <a:lnTo>
                    <a:pt x="5532" y="9107"/>
                  </a:lnTo>
                  <a:lnTo>
                    <a:pt x="11540" y="17141"/>
                  </a:lnTo>
                  <a:lnTo>
                    <a:pt x="13027" y="15659"/>
                  </a:lnTo>
                  <a:lnTo>
                    <a:pt x="13027" y="4508"/>
                  </a:lnTo>
                  <a:lnTo>
                    <a:pt x="8506" y="0"/>
                  </a:lnTo>
                  <a:close/>
                </a:path>
              </a:pathLst>
            </a:custGeom>
            <a:solidFill>
              <a:srgbClr val="FFFFFF"/>
            </a:solidFill>
          </p:spPr>
          <p:txBody>
            <a:bodyPr wrap="square" lIns="0" tIns="0" rIns="0" bIns="0" rtlCol="0"/>
            <a:lstStyle/>
            <a:p>
              <a:endParaRPr sz="324"/>
            </a:p>
          </p:txBody>
        </p:sp>
        <p:sp>
          <p:nvSpPr>
            <p:cNvPr id="243" name="object 88">
              <a:extLst>
                <a:ext uri="{FF2B5EF4-FFF2-40B4-BE49-F238E27FC236}">
                  <a16:creationId xmlns:a16="http://schemas.microsoft.com/office/drawing/2014/main" id="{16719953-E109-44EF-BB4A-CA4A1614F0B4}"/>
                </a:ext>
              </a:extLst>
            </p:cNvPr>
            <p:cNvSpPr/>
            <p:nvPr/>
          </p:nvSpPr>
          <p:spPr>
            <a:xfrm>
              <a:off x="3334608"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4" name="object 89">
              <a:extLst>
                <a:ext uri="{FF2B5EF4-FFF2-40B4-BE49-F238E27FC236}">
                  <a16:creationId xmlns:a16="http://schemas.microsoft.com/office/drawing/2014/main" id="{9CB65FB4-5E12-4951-83DC-613667EB28E7}"/>
                </a:ext>
              </a:extLst>
            </p:cNvPr>
            <p:cNvSpPr/>
            <p:nvPr/>
          </p:nvSpPr>
          <p:spPr>
            <a:xfrm>
              <a:off x="338649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5" name="object 90">
              <a:extLst>
                <a:ext uri="{FF2B5EF4-FFF2-40B4-BE49-F238E27FC236}">
                  <a16:creationId xmlns:a16="http://schemas.microsoft.com/office/drawing/2014/main" id="{3E625B92-AC4D-4CE4-92BA-68408CA8A5AB}"/>
                </a:ext>
              </a:extLst>
            </p:cNvPr>
            <p:cNvSpPr/>
            <p:nvPr/>
          </p:nvSpPr>
          <p:spPr>
            <a:xfrm>
              <a:off x="343838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6" name="object 91">
              <a:extLst>
                <a:ext uri="{FF2B5EF4-FFF2-40B4-BE49-F238E27FC236}">
                  <a16:creationId xmlns:a16="http://schemas.microsoft.com/office/drawing/2014/main" id="{0E534706-F3FF-4BFB-A3C7-484F32916258}"/>
                </a:ext>
              </a:extLst>
            </p:cNvPr>
            <p:cNvSpPr/>
            <p:nvPr/>
          </p:nvSpPr>
          <p:spPr>
            <a:xfrm>
              <a:off x="3490271"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7" name="object 92">
              <a:extLst>
                <a:ext uri="{FF2B5EF4-FFF2-40B4-BE49-F238E27FC236}">
                  <a16:creationId xmlns:a16="http://schemas.microsoft.com/office/drawing/2014/main" id="{4CACF6E9-7670-4694-B5E6-F01F7843683F}"/>
                </a:ext>
              </a:extLst>
            </p:cNvPr>
            <p:cNvSpPr/>
            <p:nvPr/>
          </p:nvSpPr>
          <p:spPr>
            <a:xfrm>
              <a:off x="35421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8" name="object 93">
              <a:extLst>
                <a:ext uri="{FF2B5EF4-FFF2-40B4-BE49-F238E27FC236}">
                  <a16:creationId xmlns:a16="http://schemas.microsoft.com/office/drawing/2014/main" id="{9A881B92-0DD0-4E34-AD82-A417B0FF2C40}"/>
                </a:ext>
              </a:extLst>
            </p:cNvPr>
            <p:cNvSpPr/>
            <p:nvPr/>
          </p:nvSpPr>
          <p:spPr>
            <a:xfrm>
              <a:off x="359404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49" name="object 94">
              <a:extLst>
                <a:ext uri="{FF2B5EF4-FFF2-40B4-BE49-F238E27FC236}">
                  <a16:creationId xmlns:a16="http://schemas.microsoft.com/office/drawing/2014/main" id="{6816833F-E35C-4276-87A7-0D39A5EF8EA1}"/>
                </a:ext>
              </a:extLst>
            </p:cNvPr>
            <p:cNvSpPr/>
            <p:nvPr/>
          </p:nvSpPr>
          <p:spPr>
            <a:xfrm>
              <a:off x="364593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0" name="object 95">
              <a:extLst>
                <a:ext uri="{FF2B5EF4-FFF2-40B4-BE49-F238E27FC236}">
                  <a16:creationId xmlns:a16="http://schemas.microsoft.com/office/drawing/2014/main" id="{C2C9AD0A-0119-4ED3-999D-8B4842FB0A47}"/>
                </a:ext>
              </a:extLst>
            </p:cNvPr>
            <p:cNvSpPr/>
            <p:nvPr/>
          </p:nvSpPr>
          <p:spPr>
            <a:xfrm>
              <a:off x="369782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1" name="object 96">
              <a:extLst>
                <a:ext uri="{FF2B5EF4-FFF2-40B4-BE49-F238E27FC236}">
                  <a16:creationId xmlns:a16="http://schemas.microsoft.com/office/drawing/2014/main" id="{B9F27870-B409-4733-804F-0835EF95C5A1}"/>
                </a:ext>
              </a:extLst>
            </p:cNvPr>
            <p:cNvSpPr/>
            <p:nvPr/>
          </p:nvSpPr>
          <p:spPr>
            <a:xfrm>
              <a:off x="374970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2" name="object 97">
              <a:extLst>
                <a:ext uri="{FF2B5EF4-FFF2-40B4-BE49-F238E27FC236}">
                  <a16:creationId xmlns:a16="http://schemas.microsoft.com/office/drawing/2014/main" id="{32D7CA9F-DB04-42C7-9639-12B20BFBDFE7}"/>
                </a:ext>
              </a:extLst>
            </p:cNvPr>
            <p:cNvSpPr/>
            <p:nvPr/>
          </p:nvSpPr>
          <p:spPr>
            <a:xfrm>
              <a:off x="380159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3" name="object 98">
              <a:extLst>
                <a:ext uri="{FF2B5EF4-FFF2-40B4-BE49-F238E27FC236}">
                  <a16:creationId xmlns:a16="http://schemas.microsoft.com/office/drawing/2014/main" id="{05528DF2-24E2-455D-BEC8-17C7EE0BC459}"/>
                </a:ext>
              </a:extLst>
            </p:cNvPr>
            <p:cNvSpPr/>
            <p:nvPr/>
          </p:nvSpPr>
          <p:spPr>
            <a:xfrm>
              <a:off x="3853484"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4" name="object 99">
              <a:extLst>
                <a:ext uri="{FF2B5EF4-FFF2-40B4-BE49-F238E27FC236}">
                  <a16:creationId xmlns:a16="http://schemas.microsoft.com/office/drawing/2014/main" id="{1686638F-922F-4690-9769-F2A6353122F0}"/>
                </a:ext>
              </a:extLst>
            </p:cNvPr>
            <p:cNvSpPr/>
            <p:nvPr/>
          </p:nvSpPr>
          <p:spPr>
            <a:xfrm>
              <a:off x="390537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5" name="object 100">
              <a:extLst>
                <a:ext uri="{FF2B5EF4-FFF2-40B4-BE49-F238E27FC236}">
                  <a16:creationId xmlns:a16="http://schemas.microsoft.com/office/drawing/2014/main" id="{5C543170-5DC2-4278-96FF-ADEC21855889}"/>
                </a:ext>
              </a:extLst>
            </p:cNvPr>
            <p:cNvSpPr/>
            <p:nvPr/>
          </p:nvSpPr>
          <p:spPr>
            <a:xfrm>
              <a:off x="39572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6" name="object 101">
              <a:extLst>
                <a:ext uri="{FF2B5EF4-FFF2-40B4-BE49-F238E27FC236}">
                  <a16:creationId xmlns:a16="http://schemas.microsoft.com/office/drawing/2014/main" id="{DBF79F5A-E961-4574-86B1-7DF08004CD1F}"/>
                </a:ext>
              </a:extLst>
            </p:cNvPr>
            <p:cNvSpPr/>
            <p:nvPr/>
          </p:nvSpPr>
          <p:spPr>
            <a:xfrm>
              <a:off x="400914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7" name="object 102">
              <a:extLst>
                <a:ext uri="{FF2B5EF4-FFF2-40B4-BE49-F238E27FC236}">
                  <a16:creationId xmlns:a16="http://schemas.microsoft.com/office/drawing/2014/main" id="{24689F3A-5BB8-4F49-A72A-F0B85CDAE1E6}"/>
                </a:ext>
              </a:extLst>
            </p:cNvPr>
            <p:cNvSpPr/>
            <p:nvPr/>
          </p:nvSpPr>
          <p:spPr>
            <a:xfrm>
              <a:off x="4061034" y="294189"/>
              <a:ext cx="13335" cy="17145"/>
            </a:xfrm>
            <a:custGeom>
              <a:avLst/>
              <a:gdLst/>
              <a:ahLst/>
              <a:cxnLst/>
              <a:rect l="l" t="t" r="r" b="b"/>
              <a:pathLst>
                <a:path w="13335" h="17145">
                  <a:moveTo>
                    <a:pt x="13021" y="0"/>
                  </a:moveTo>
                  <a:lnTo>
                    <a:pt x="4521" y="0"/>
                  </a:lnTo>
                  <a:lnTo>
                    <a:pt x="0" y="4508"/>
                  </a:lnTo>
                  <a:lnTo>
                    <a:pt x="0" y="15659"/>
                  </a:lnTo>
                  <a:lnTo>
                    <a:pt x="1483" y="17138"/>
                  </a:lnTo>
                  <a:lnTo>
                    <a:pt x="7488" y="9107"/>
                  </a:lnTo>
                  <a:lnTo>
                    <a:pt x="13021" y="0"/>
                  </a:lnTo>
                  <a:close/>
                </a:path>
              </a:pathLst>
            </a:custGeom>
            <a:solidFill>
              <a:srgbClr val="FFFFFF"/>
            </a:solidFill>
          </p:spPr>
          <p:txBody>
            <a:bodyPr wrap="square" lIns="0" tIns="0" rIns="0" bIns="0" rtlCol="0"/>
            <a:lstStyle/>
            <a:p>
              <a:endParaRPr sz="324"/>
            </a:p>
          </p:txBody>
        </p:sp>
        <p:sp>
          <p:nvSpPr>
            <p:cNvPr id="258" name="object 103">
              <a:extLst>
                <a:ext uri="{FF2B5EF4-FFF2-40B4-BE49-F238E27FC236}">
                  <a16:creationId xmlns:a16="http://schemas.microsoft.com/office/drawing/2014/main" id="{4B249B21-D8B8-4081-B3EC-14952014F8FE}"/>
                </a:ext>
              </a:extLst>
            </p:cNvPr>
            <p:cNvSpPr/>
            <p:nvPr/>
          </p:nvSpPr>
          <p:spPr>
            <a:xfrm>
              <a:off x="3334608" y="342113"/>
              <a:ext cx="20320" cy="20320"/>
            </a:xfrm>
            <a:custGeom>
              <a:avLst/>
              <a:gdLst/>
              <a:ahLst/>
              <a:cxnLst/>
              <a:rect l="l" t="t" r="r" b="b"/>
              <a:pathLst>
                <a:path w="20320" h="20320">
                  <a:moveTo>
                    <a:pt x="15659" y="0"/>
                  </a:moveTo>
                  <a:lnTo>
                    <a:pt x="4521" y="0"/>
                  </a:lnTo>
                  <a:lnTo>
                    <a:pt x="0" y="4508"/>
                  </a:lnTo>
                  <a:lnTo>
                    <a:pt x="0" y="10673"/>
                  </a:lnTo>
                  <a:lnTo>
                    <a:pt x="8629"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59" name="object 104">
              <a:extLst>
                <a:ext uri="{FF2B5EF4-FFF2-40B4-BE49-F238E27FC236}">
                  <a16:creationId xmlns:a16="http://schemas.microsoft.com/office/drawing/2014/main" id="{8417B82C-D12F-4D15-B9D6-776242C6C12D}"/>
                </a:ext>
              </a:extLst>
            </p:cNvPr>
            <p:cNvSpPr/>
            <p:nvPr/>
          </p:nvSpPr>
          <p:spPr>
            <a:xfrm>
              <a:off x="3386495"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0" name="object 105">
              <a:extLst>
                <a:ext uri="{FF2B5EF4-FFF2-40B4-BE49-F238E27FC236}">
                  <a16:creationId xmlns:a16="http://schemas.microsoft.com/office/drawing/2014/main" id="{3ADFE083-3736-4FC2-A9FB-4E39732EA273}"/>
                </a:ext>
              </a:extLst>
            </p:cNvPr>
            <p:cNvSpPr/>
            <p:nvPr/>
          </p:nvSpPr>
          <p:spPr>
            <a:xfrm>
              <a:off x="343838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1" name="object 106">
              <a:extLst>
                <a:ext uri="{FF2B5EF4-FFF2-40B4-BE49-F238E27FC236}">
                  <a16:creationId xmlns:a16="http://schemas.microsoft.com/office/drawing/2014/main" id="{C30FE6FD-B3B9-4879-B9EF-F4C5E81EE0C9}"/>
                </a:ext>
              </a:extLst>
            </p:cNvPr>
            <p:cNvSpPr/>
            <p:nvPr/>
          </p:nvSpPr>
          <p:spPr>
            <a:xfrm>
              <a:off x="3490271"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2" name="object 107">
              <a:extLst>
                <a:ext uri="{FF2B5EF4-FFF2-40B4-BE49-F238E27FC236}">
                  <a16:creationId xmlns:a16="http://schemas.microsoft.com/office/drawing/2014/main" id="{0E74262E-1040-4A2D-916C-4D6FF494030D}"/>
                </a:ext>
              </a:extLst>
            </p:cNvPr>
            <p:cNvSpPr/>
            <p:nvPr/>
          </p:nvSpPr>
          <p:spPr>
            <a:xfrm>
              <a:off x="35421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3" name="object 108">
              <a:extLst>
                <a:ext uri="{FF2B5EF4-FFF2-40B4-BE49-F238E27FC236}">
                  <a16:creationId xmlns:a16="http://schemas.microsoft.com/office/drawing/2014/main" id="{7A5E086C-ADF3-4D09-881E-F75DA3449307}"/>
                </a:ext>
              </a:extLst>
            </p:cNvPr>
            <p:cNvSpPr/>
            <p:nvPr/>
          </p:nvSpPr>
          <p:spPr>
            <a:xfrm>
              <a:off x="359404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4" name="object 109">
              <a:extLst>
                <a:ext uri="{FF2B5EF4-FFF2-40B4-BE49-F238E27FC236}">
                  <a16:creationId xmlns:a16="http://schemas.microsoft.com/office/drawing/2014/main" id="{86EE62DA-80CD-4750-AA81-7DB8DE07D2E3}"/>
                </a:ext>
              </a:extLst>
            </p:cNvPr>
            <p:cNvSpPr/>
            <p:nvPr/>
          </p:nvSpPr>
          <p:spPr>
            <a:xfrm>
              <a:off x="364593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5" name="object 110">
              <a:extLst>
                <a:ext uri="{FF2B5EF4-FFF2-40B4-BE49-F238E27FC236}">
                  <a16:creationId xmlns:a16="http://schemas.microsoft.com/office/drawing/2014/main" id="{C49397E4-C0BF-41E9-8FEA-01F0BF75C687}"/>
                </a:ext>
              </a:extLst>
            </p:cNvPr>
            <p:cNvSpPr/>
            <p:nvPr/>
          </p:nvSpPr>
          <p:spPr>
            <a:xfrm>
              <a:off x="369782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6" name="object 111">
              <a:extLst>
                <a:ext uri="{FF2B5EF4-FFF2-40B4-BE49-F238E27FC236}">
                  <a16:creationId xmlns:a16="http://schemas.microsoft.com/office/drawing/2014/main" id="{516C767B-5F86-48FF-B44A-BF9FEA21580F}"/>
                </a:ext>
              </a:extLst>
            </p:cNvPr>
            <p:cNvSpPr/>
            <p:nvPr/>
          </p:nvSpPr>
          <p:spPr>
            <a:xfrm>
              <a:off x="374970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7" name="object 112">
              <a:extLst>
                <a:ext uri="{FF2B5EF4-FFF2-40B4-BE49-F238E27FC236}">
                  <a16:creationId xmlns:a16="http://schemas.microsoft.com/office/drawing/2014/main" id="{7CEDE4DD-E44F-4768-BF2E-5150140989F1}"/>
                </a:ext>
              </a:extLst>
            </p:cNvPr>
            <p:cNvSpPr/>
            <p:nvPr/>
          </p:nvSpPr>
          <p:spPr>
            <a:xfrm>
              <a:off x="380159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8" name="object 113">
              <a:extLst>
                <a:ext uri="{FF2B5EF4-FFF2-40B4-BE49-F238E27FC236}">
                  <a16:creationId xmlns:a16="http://schemas.microsoft.com/office/drawing/2014/main" id="{0CB7EDB6-B4B8-4705-885D-8B359B98BD30}"/>
                </a:ext>
              </a:extLst>
            </p:cNvPr>
            <p:cNvSpPr/>
            <p:nvPr/>
          </p:nvSpPr>
          <p:spPr>
            <a:xfrm>
              <a:off x="3853484"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69" name="object 114">
              <a:extLst>
                <a:ext uri="{FF2B5EF4-FFF2-40B4-BE49-F238E27FC236}">
                  <a16:creationId xmlns:a16="http://schemas.microsoft.com/office/drawing/2014/main" id="{13E2A87F-53B9-47C1-8C9B-6C1B91570A04}"/>
                </a:ext>
              </a:extLst>
            </p:cNvPr>
            <p:cNvSpPr/>
            <p:nvPr/>
          </p:nvSpPr>
          <p:spPr>
            <a:xfrm>
              <a:off x="390537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0" name="object 115">
              <a:extLst>
                <a:ext uri="{FF2B5EF4-FFF2-40B4-BE49-F238E27FC236}">
                  <a16:creationId xmlns:a16="http://schemas.microsoft.com/office/drawing/2014/main" id="{A623657A-F486-4624-9227-4FB7D94574B3}"/>
                </a:ext>
              </a:extLst>
            </p:cNvPr>
            <p:cNvSpPr/>
            <p:nvPr/>
          </p:nvSpPr>
          <p:spPr>
            <a:xfrm>
              <a:off x="39572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1" name="object 116">
              <a:extLst>
                <a:ext uri="{FF2B5EF4-FFF2-40B4-BE49-F238E27FC236}">
                  <a16:creationId xmlns:a16="http://schemas.microsoft.com/office/drawing/2014/main" id="{62FE476F-462B-4A03-9B7E-F6C6546EFB7C}"/>
                </a:ext>
              </a:extLst>
            </p:cNvPr>
            <p:cNvSpPr/>
            <p:nvPr/>
          </p:nvSpPr>
          <p:spPr>
            <a:xfrm>
              <a:off x="4009145" y="342113"/>
              <a:ext cx="20320" cy="20320"/>
            </a:xfrm>
            <a:custGeom>
              <a:avLst/>
              <a:gdLst/>
              <a:ahLst/>
              <a:cxnLst/>
              <a:rect l="l" t="t" r="r" b="b"/>
              <a:pathLst>
                <a:path w="20320" h="20320">
                  <a:moveTo>
                    <a:pt x="15659" y="0"/>
                  </a:moveTo>
                  <a:lnTo>
                    <a:pt x="4521" y="0"/>
                  </a:lnTo>
                  <a:lnTo>
                    <a:pt x="0" y="4508"/>
                  </a:lnTo>
                  <a:lnTo>
                    <a:pt x="0" y="15659"/>
                  </a:lnTo>
                  <a:lnTo>
                    <a:pt x="4521" y="20167"/>
                  </a:lnTo>
                  <a:lnTo>
                    <a:pt x="11547" y="20167"/>
                  </a:lnTo>
                  <a:lnTo>
                    <a:pt x="20180" y="10669"/>
                  </a:lnTo>
                  <a:lnTo>
                    <a:pt x="20180" y="4508"/>
                  </a:lnTo>
                  <a:lnTo>
                    <a:pt x="15659" y="0"/>
                  </a:lnTo>
                  <a:close/>
                </a:path>
              </a:pathLst>
            </a:custGeom>
            <a:solidFill>
              <a:srgbClr val="FFFFFF"/>
            </a:solidFill>
          </p:spPr>
          <p:txBody>
            <a:bodyPr wrap="square" lIns="0" tIns="0" rIns="0" bIns="0" rtlCol="0"/>
            <a:lstStyle/>
            <a:p>
              <a:endParaRPr sz="324"/>
            </a:p>
          </p:txBody>
        </p:sp>
        <p:sp>
          <p:nvSpPr>
            <p:cNvPr id="272" name="object 117">
              <a:extLst>
                <a:ext uri="{FF2B5EF4-FFF2-40B4-BE49-F238E27FC236}">
                  <a16:creationId xmlns:a16="http://schemas.microsoft.com/office/drawing/2014/main" id="{91859DC4-DCFC-4FA2-A5C8-88AA2FDF4B47}"/>
                </a:ext>
              </a:extLst>
            </p:cNvPr>
            <p:cNvSpPr/>
            <p:nvPr/>
          </p:nvSpPr>
          <p:spPr>
            <a:xfrm>
              <a:off x="3386495" y="390037"/>
              <a:ext cx="20320" cy="20320"/>
            </a:xfrm>
            <a:custGeom>
              <a:avLst/>
              <a:gdLst/>
              <a:ahLst/>
              <a:cxnLst/>
              <a:rect l="l" t="t" r="r" b="b"/>
              <a:pathLst>
                <a:path w="20320" h="20320">
                  <a:moveTo>
                    <a:pt x="15659" y="0"/>
                  </a:moveTo>
                  <a:lnTo>
                    <a:pt x="4521" y="0"/>
                  </a:lnTo>
                  <a:lnTo>
                    <a:pt x="0" y="4508"/>
                  </a:lnTo>
                  <a:lnTo>
                    <a:pt x="0" y="13129"/>
                  </a:lnTo>
                  <a:lnTo>
                    <a:pt x="9412"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3" name="object 118">
              <a:extLst>
                <a:ext uri="{FF2B5EF4-FFF2-40B4-BE49-F238E27FC236}">
                  <a16:creationId xmlns:a16="http://schemas.microsoft.com/office/drawing/2014/main" id="{5E98C740-36D8-47C8-8BFB-E4130203296F}"/>
                </a:ext>
              </a:extLst>
            </p:cNvPr>
            <p:cNvSpPr/>
            <p:nvPr/>
          </p:nvSpPr>
          <p:spPr>
            <a:xfrm>
              <a:off x="343838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4" name="object 119">
              <a:extLst>
                <a:ext uri="{FF2B5EF4-FFF2-40B4-BE49-F238E27FC236}">
                  <a16:creationId xmlns:a16="http://schemas.microsoft.com/office/drawing/2014/main" id="{1F65273A-D25F-4A73-9D09-264C04237DCE}"/>
                </a:ext>
              </a:extLst>
            </p:cNvPr>
            <p:cNvSpPr/>
            <p:nvPr/>
          </p:nvSpPr>
          <p:spPr>
            <a:xfrm>
              <a:off x="3490271"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5" name="object 120">
              <a:extLst>
                <a:ext uri="{FF2B5EF4-FFF2-40B4-BE49-F238E27FC236}">
                  <a16:creationId xmlns:a16="http://schemas.microsoft.com/office/drawing/2014/main" id="{52400153-CAFB-4940-8464-C91A6C980502}"/>
                </a:ext>
              </a:extLst>
            </p:cNvPr>
            <p:cNvSpPr/>
            <p:nvPr/>
          </p:nvSpPr>
          <p:spPr>
            <a:xfrm>
              <a:off x="354215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6" name="object 121">
              <a:extLst>
                <a:ext uri="{FF2B5EF4-FFF2-40B4-BE49-F238E27FC236}">
                  <a16:creationId xmlns:a16="http://schemas.microsoft.com/office/drawing/2014/main" id="{192267D8-6BB3-4DE8-A0A8-83C9C7E60AFF}"/>
                </a:ext>
              </a:extLst>
            </p:cNvPr>
            <p:cNvSpPr/>
            <p:nvPr/>
          </p:nvSpPr>
          <p:spPr>
            <a:xfrm>
              <a:off x="359404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7" name="object 122">
              <a:extLst>
                <a:ext uri="{FF2B5EF4-FFF2-40B4-BE49-F238E27FC236}">
                  <a16:creationId xmlns:a16="http://schemas.microsoft.com/office/drawing/2014/main" id="{E5280981-2FC4-4A34-A32C-3C4A189B2391}"/>
                </a:ext>
              </a:extLst>
            </p:cNvPr>
            <p:cNvSpPr/>
            <p:nvPr/>
          </p:nvSpPr>
          <p:spPr>
            <a:xfrm>
              <a:off x="364593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8" name="object 123">
              <a:extLst>
                <a:ext uri="{FF2B5EF4-FFF2-40B4-BE49-F238E27FC236}">
                  <a16:creationId xmlns:a16="http://schemas.microsoft.com/office/drawing/2014/main" id="{EBBB47E5-C65A-4CE9-A413-936B4B5D25C5}"/>
                </a:ext>
              </a:extLst>
            </p:cNvPr>
            <p:cNvSpPr/>
            <p:nvPr/>
          </p:nvSpPr>
          <p:spPr>
            <a:xfrm>
              <a:off x="369782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9" name="object 124">
              <a:extLst>
                <a:ext uri="{FF2B5EF4-FFF2-40B4-BE49-F238E27FC236}">
                  <a16:creationId xmlns:a16="http://schemas.microsoft.com/office/drawing/2014/main" id="{F3BA046B-B236-404D-B0FD-0138C47724C9}"/>
                </a:ext>
              </a:extLst>
            </p:cNvPr>
            <p:cNvSpPr/>
            <p:nvPr/>
          </p:nvSpPr>
          <p:spPr>
            <a:xfrm>
              <a:off x="374970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0" name="object 125">
              <a:extLst>
                <a:ext uri="{FF2B5EF4-FFF2-40B4-BE49-F238E27FC236}">
                  <a16:creationId xmlns:a16="http://schemas.microsoft.com/office/drawing/2014/main" id="{98C7A876-9574-4355-95A1-BDDF095C1618}"/>
                </a:ext>
              </a:extLst>
            </p:cNvPr>
            <p:cNvSpPr/>
            <p:nvPr/>
          </p:nvSpPr>
          <p:spPr>
            <a:xfrm>
              <a:off x="380159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1" name="object 126">
              <a:extLst>
                <a:ext uri="{FF2B5EF4-FFF2-40B4-BE49-F238E27FC236}">
                  <a16:creationId xmlns:a16="http://schemas.microsoft.com/office/drawing/2014/main" id="{D234130A-9A90-4E41-806C-FDF9E74883B4}"/>
                </a:ext>
              </a:extLst>
            </p:cNvPr>
            <p:cNvSpPr/>
            <p:nvPr/>
          </p:nvSpPr>
          <p:spPr>
            <a:xfrm>
              <a:off x="3853484"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2" name="object 127">
              <a:extLst>
                <a:ext uri="{FF2B5EF4-FFF2-40B4-BE49-F238E27FC236}">
                  <a16:creationId xmlns:a16="http://schemas.microsoft.com/office/drawing/2014/main" id="{6CF857BF-3E64-4DAA-AB64-D0418B8F3BAC}"/>
                </a:ext>
              </a:extLst>
            </p:cNvPr>
            <p:cNvSpPr/>
            <p:nvPr/>
          </p:nvSpPr>
          <p:spPr>
            <a:xfrm>
              <a:off x="390537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3" name="object 128">
              <a:extLst>
                <a:ext uri="{FF2B5EF4-FFF2-40B4-BE49-F238E27FC236}">
                  <a16:creationId xmlns:a16="http://schemas.microsoft.com/office/drawing/2014/main" id="{442A5A3E-1BEB-4ECA-9968-CE8D2C91DE98}"/>
                </a:ext>
              </a:extLst>
            </p:cNvPr>
            <p:cNvSpPr/>
            <p:nvPr/>
          </p:nvSpPr>
          <p:spPr>
            <a:xfrm>
              <a:off x="3957259" y="390037"/>
              <a:ext cx="20320" cy="20320"/>
            </a:xfrm>
            <a:custGeom>
              <a:avLst/>
              <a:gdLst/>
              <a:ahLst/>
              <a:cxnLst/>
              <a:rect l="l" t="t" r="r" b="b"/>
              <a:pathLst>
                <a:path w="20320" h="20320">
                  <a:moveTo>
                    <a:pt x="15659" y="0"/>
                  </a:moveTo>
                  <a:lnTo>
                    <a:pt x="4521" y="0"/>
                  </a:lnTo>
                  <a:lnTo>
                    <a:pt x="0" y="4508"/>
                  </a:lnTo>
                  <a:lnTo>
                    <a:pt x="0" y="15659"/>
                  </a:lnTo>
                  <a:lnTo>
                    <a:pt x="4521" y="20167"/>
                  </a:lnTo>
                  <a:lnTo>
                    <a:pt x="10765" y="20167"/>
                  </a:lnTo>
                  <a:lnTo>
                    <a:pt x="20180" y="13127"/>
                  </a:lnTo>
                  <a:lnTo>
                    <a:pt x="20180" y="4508"/>
                  </a:lnTo>
                  <a:lnTo>
                    <a:pt x="15659" y="0"/>
                  </a:lnTo>
                  <a:close/>
                </a:path>
              </a:pathLst>
            </a:custGeom>
            <a:solidFill>
              <a:srgbClr val="FFFFFF"/>
            </a:solidFill>
          </p:spPr>
          <p:txBody>
            <a:bodyPr wrap="square" lIns="0" tIns="0" rIns="0" bIns="0" rtlCol="0"/>
            <a:lstStyle/>
            <a:p>
              <a:endParaRPr sz="324"/>
            </a:p>
          </p:txBody>
        </p:sp>
        <p:sp>
          <p:nvSpPr>
            <p:cNvPr id="284" name="object 129">
              <a:extLst>
                <a:ext uri="{FF2B5EF4-FFF2-40B4-BE49-F238E27FC236}">
                  <a16:creationId xmlns:a16="http://schemas.microsoft.com/office/drawing/2014/main" id="{90107F6D-0E3B-49C6-A652-C3FBB4A42384}"/>
                </a:ext>
              </a:extLst>
            </p:cNvPr>
            <p:cNvSpPr/>
            <p:nvPr/>
          </p:nvSpPr>
          <p:spPr>
            <a:xfrm>
              <a:off x="3440188" y="437960"/>
              <a:ext cx="18415" cy="13970"/>
            </a:xfrm>
            <a:custGeom>
              <a:avLst/>
              <a:gdLst/>
              <a:ahLst/>
              <a:cxnLst/>
              <a:rect l="l" t="t" r="r" b="b"/>
              <a:pathLst>
                <a:path w="18414" h="13970">
                  <a:moveTo>
                    <a:pt x="13855" y="0"/>
                  </a:moveTo>
                  <a:lnTo>
                    <a:pt x="2717" y="0"/>
                  </a:lnTo>
                  <a:lnTo>
                    <a:pt x="0" y="2709"/>
                  </a:lnTo>
                  <a:lnTo>
                    <a:pt x="18376" y="13873"/>
                  </a:lnTo>
                  <a:lnTo>
                    <a:pt x="18376" y="4508"/>
                  </a:lnTo>
                  <a:lnTo>
                    <a:pt x="13855" y="0"/>
                  </a:lnTo>
                  <a:close/>
                </a:path>
              </a:pathLst>
            </a:custGeom>
            <a:solidFill>
              <a:srgbClr val="FFFFFF"/>
            </a:solidFill>
          </p:spPr>
          <p:txBody>
            <a:bodyPr wrap="square" lIns="0" tIns="0" rIns="0" bIns="0" rtlCol="0"/>
            <a:lstStyle/>
            <a:p>
              <a:endParaRPr sz="324"/>
            </a:p>
          </p:txBody>
        </p:sp>
        <p:sp>
          <p:nvSpPr>
            <p:cNvPr id="285" name="object 130">
              <a:extLst>
                <a:ext uri="{FF2B5EF4-FFF2-40B4-BE49-F238E27FC236}">
                  <a16:creationId xmlns:a16="http://schemas.microsoft.com/office/drawing/2014/main" id="{900F56F0-8A6F-44FB-8405-82CA1B65DED5}"/>
                </a:ext>
              </a:extLst>
            </p:cNvPr>
            <p:cNvSpPr/>
            <p:nvPr/>
          </p:nvSpPr>
          <p:spPr>
            <a:xfrm>
              <a:off x="3490271"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6" name="object 131">
              <a:extLst>
                <a:ext uri="{FF2B5EF4-FFF2-40B4-BE49-F238E27FC236}">
                  <a16:creationId xmlns:a16="http://schemas.microsoft.com/office/drawing/2014/main" id="{12C62FE1-916E-4EFD-9B1A-DAB123ADE64C}"/>
                </a:ext>
              </a:extLst>
            </p:cNvPr>
            <p:cNvSpPr/>
            <p:nvPr/>
          </p:nvSpPr>
          <p:spPr>
            <a:xfrm>
              <a:off x="354215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7" name="object 132">
              <a:extLst>
                <a:ext uri="{FF2B5EF4-FFF2-40B4-BE49-F238E27FC236}">
                  <a16:creationId xmlns:a16="http://schemas.microsoft.com/office/drawing/2014/main" id="{5363DF88-3B1C-4D3F-8F90-0215965B167F}"/>
                </a:ext>
              </a:extLst>
            </p:cNvPr>
            <p:cNvSpPr/>
            <p:nvPr/>
          </p:nvSpPr>
          <p:spPr>
            <a:xfrm>
              <a:off x="359404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8" name="object 133">
              <a:extLst>
                <a:ext uri="{FF2B5EF4-FFF2-40B4-BE49-F238E27FC236}">
                  <a16:creationId xmlns:a16="http://schemas.microsoft.com/office/drawing/2014/main" id="{B9842818-CA3B-4123-AB24-DA2142FBDFE2}"/>
                </a:ext>
              </a:extLst>
            </p:cNvPr>
            <p:cNvSpPr/>
            <p:nvPr/>
          </p:nvSpPr>
          <p:spPr>
            <a:xfrm>
              <a:off x="3645933"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9" name="object 134">
              <a:extLst>
                <a:ext uri="{FF2B5EF4-FFF2-40B4-BE49-F238E27FC236}">
                  <a16:creationId xmlns:a16="http://schemas.microsoft.com/office/drawing/2014/main" id="{46931542-D8C0-4856-B136-F151F7950235}"/>
                </a:ext>
              </a:extLst>
            </p:cNvPr>
            <p:cNvSpPr/>
            <p:nvPr/>
          </p:nvSpPr>
          <p:spPr>
            <a:xfrm>
              <a:off x="3697822"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0" name="object 135">
              <a:extLst>
                <a:ext uri="{FF2B5EF4-FFF2-40B4-BE49-F238E27FC236}">
                  <a16:creationId xmlns:a16="http://schemas.microsoft.com/office/drawing/2014/main" id="{08170950-5ACB-4DAD-82B0-A06A66042382}"/>
                </a:ext>
              </a:extLst>
            </p:cNvPr>
            <p:cNvSpPr/>
            <p:nvPr/>
          </p:nvSpPr>
          <p:spPr>
            <a:xfrm>
              <a:off x="374970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1" name="object 136">
              <a:extLst>
                <a:ext uri="{FF2B5EF4-FFF2-40B4-BE49-F238E27FC236}">
                  <a16:creationId xmlns:a16="http://schemas.microsoft.com/office/drawing/2014/main" id="{C26A5F12-1E6B-4D6B-9302-46CD1A089717}"/>
                </a:ext>
              </a:extLst>
            </p:cNvPr>
            <p:cNvSpPr/>
            <p:nvPr/>
          </p:nvSpPr>
          <p:spPr>
            <a:xfrm>
              <a:off x="380159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2" name="object 137">
              <a:extLst>
                <a:ext uri="{FF2B5EF4-FFF2-40B4-BE49-F238E27FC236}">
                  <a16:creationId xmlns:a16="http://schemas.microsoft.com/office/drawing/2014/main" id="{26AC374B-B6C2-4E19-8F64-7148C1E615C8}"/>
                </a:ext>
              </a:extLst>
            </p:cNvPr>
            <p:cNvSpPr/>
            <p:nvPr/>
          </p:nvSpPr>
          <p:spPr>
            <a:xfrm>
              <a:off x="3853484"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3" name="object 138">
              <a:extLst>
                <a:ext uri="{FF2B5EF4-FFF2-40B4-BE49-F238E27FC236}">
                  <a16:creationId xmlns:a16="http://schemas.microsoft.com/office/drawing/2014/main" id="{430A5A94-F53C-446B-8815-480A4E29C7CE}"/>
                </a:ext>
              </a:extLst>
            </p:cNvPr>
            <p:cNvSpPr/>
            <p:nvPr/>
          </p:nvSpPr>
          <p:spPr>
            <a:xfrm>
              <a:off x="3905372" y="437960"/>
              <a:ext cx="18415" cy="13970"/>
            </a:xfrm>
            <a:custGeom>
              <a:avLst/>
              <a:gdLst/>
              <a:ahLst/>
              <a:cxnLst/>
              <a:rect l="l" t="t" r="r" b="b"/>
              <a:pathLst>
                <a:path w="18414" h="13970">
                  <a:moveTo>
                    <a:pt x="15659" y="0"/>
                  </a:moveTo>
                  <a:lnTo>
                    <a:pt x="4521" y="0"/>
                  </a:lnTo>
                  <a:lnTo>
                    <a:pt x="0" y="4508"/>
                  </a:lnTo>
                  <a:lnTo>
                    <a:pt x="0" y="13871"/>
                  </a:lnTo>
                  <a:lnTo>
                    <a:pt x="18375" y="2708"/>
                  </a:lnTo>
                  <a:lnTo>
                    <a:pt x="15659" y="0"/>
                  </a:lnTo>
                  <a:close/>
                </a:path>
              </a:pathLst>
            </a:custGeom>
            <a:solidFill>
              <a:srgbClr val="FFFFFF"/>
            </a:solidFill>
          </p:spPr>
          <p:txBody>
            <a:bodyPr wrap="square" lIns="0" tIns="0" rIns="0" bIns="0" rtlCol="0"/>
            <a:lstStyle/>
            <a:p>
              <a:endParaRPr sz="324"/>
            </a:p>
          </p:txBody>
        </p:sp>
        <p:sp>
          <p:nvSpPr>
            <p:cNvPr id="294" name="object 139">
              <a:extLst>
                <a:ext uri="{FF2B5EF4-FFF2-40B4-BE49-F238E27FC236}">
                  <a16:creationId xmlns:a16="http://schemas.microsoft.com/office/drawing/2014/main" id="{E163CDBB-15E6-459D-8561-9D999163C628}"/>
                </a:ext>
              </a:extLst>
            </p:cNvPr>
            <p:cNvSpPr/>
            <p:nvPr/>
          </p:nvSpPr>
          <p:spPr>
            <a:xfrm>
              <a:off x="3544416" y="485885"/>
              <a:ext cx="18415" cy="6985"/>
            </a:xfrm>
            <a:custGeom>
              <a:avLst/>
              <a:gdLst/>
              <a:ahLst/>
              <a:cxnLst/>
              <a:rect l="l" t="t" r="r" b="b"/>
              <a:pathLst>
                <a:path w="18414" h="6984">
                  <a:moveTo>
                    <a:pt x="13402" y="0"/>
                  </a:moveTo>
                  <a:lnTo>
                    <a:pt x="2264" y="0"/>
                  </a:lnTo>
                  <a:lnTo>
                    <a:pt x="0" y="2257"/>
                  </a:lnTo>
                  <a:lnTo>
                    <a:pt x="17923" y="6866"/>
                  </a:lnTo>
                  <a:lnTo>
                    <a:pt x="17923" y="4508"/>
                  </a:lnTo>
                  <a:lnTo>
                    <a:pt x="13402" y="0"/>
                  </a:lnTo>
                  <a:close/>
                </a:path>
              </a:pathLst>
            </a:custGeom>
            <a:solidFill>
              <a:srgbClr val="FFFFFF"/>
            </a:solidFill>
          </p:spPr>
          <p:txBody>
            <a:bodyPr wrap="square" lIns="0" tIns="0" rIns="0" bIns="0" rtlCol="0"/>
            <a:lstStyle/>
            <a:p>
              <a:endParaRPr sz="324"/>
            </a:p>
          </p:txBody>
        </p:sp>
        <p:sp>
          <p:nvSpPr>
            <p:cNvPr id="295" name="object 140">
              <a:extLst>
                <a:ext uri="{FF2B5EF4-FFF2-40B4-BE49-F238E27FC236}">
                  <a16:creationId xmlns:a16="http://schemas.microsoft.com/office/drawing/2014/main" id="{FFC694C9-A017-40C9-B6AF-60DD868E20C8}"/>
                </a:ext>
              </a:extLst>
            </p:cNvPr>
            <p:cNvSpPr/>
            <p:nvPr/>
          </p:nvSpPr>
          <p:spPr>
            <a:xfrm>
              <a:off x="3594046" y="485885"/>
              <a:ext cx="20320" cy="17780"/>
            </a:xfrm>
            <a:custGeom>
              <a:avLst/>
              <a:gdLst/>
              <a:ahLst/>
              <a:cxnLst/>
              <a:rect l="l" t="t" r="r" b="b"/>
              <a:pathLst>
                <a:path w="20320" h="17779">
                  <a:moveTo>
                    <a:pt x="15659" y="0"/>
                  </a:moveTo>
                  <a:lnTo>
                    <a:pt x="4521" y="0"/>
                  </a:lnTo>
                  <a:lnTo>
                    <a:pt x="0" y="4508"/>
                  </a:lnTo>
                  <a:lnTo>
                    <a:pt x="0" y="14388"/>
                  </a:lnTo>
                  <a:lnTo>
                    <a:pt x="18606" y="17228"/>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6" name="object 141">
              <a:extLst>
                <a:ext uri="{FF2B5EF4-FFF2-40B4-BE49-F238E27FC236}">
                  <a16:creationId xmlns:a16="http://schemas.microsoft.com/office/drawing/2014/main" id="{7A66DC09-E0C4-4D8A-AA57-37BC4F797644}"/>
                </a:ext>
              </a:extLst>
            </p:cNvPr>
            <p:cNvSpPr/>
            <p:nvPr/>
          </p:nvSpPr>
          <p:spPr>
            <a:xfrm>
              <a:off x="3645933"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7" name="object 142">
              <a:extLst>
                <a:ext uri="{FF2B5EF4-FFF2-40B4-BE49-F238E27FC236}">
                  <a16:creationId xmlns:a16="http://schemas.microsoft.com/office/drawing/2014/main" id="{B02BC211-7E2C-4DA4-8183-FC69C9568424}"/>
                </a:ext>
              </a:extLst>
            </p:cNvPr>
            <p:cNvSpPr/>
            <p:nvPr/>
          </p:nvSpPr>
          <p:spPr>
            <a:xfrm>
              <a:off x="3697822"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8" name="object 143">
              <a:extLst>
                <a:ext uri="{FF2B5EF4-FFF2-40B4-BE49-F238E27FC236}">
                  <a16:creationId xmlns:a16="http://schemas.microsoft.com/office/drawing/2014/main" id="{2B6A58BB-28FD-4EAE-9EEE-437C5DD463E1}"/>
                </a:ext>
              </a:extLst>
            </p:cNvPr>
            <p:cNvSpPr/>
            <p:nvPr/>
          </p:nvSpPr>
          <p:spPr>
            <a:xfrm>
              <a:off x="3749709" y="485885"/>
              <a:ext cx="20320" cy="17780"/>
            </a:xfrm>
            <a:custGeom>
              <a:avLst/>
              <a:gdLst/>
              <a:ahLst/>
              <a:cxnLst/>
              <a:rect l="l" t="t" r="r" b="b"/>
              <a:pathLst>
                <a:path w="20320" h="17779">
                  <a:moveTo>
                    <a:pt x="15659" y="0"/>
                  </a:moveTo>
                  <a:lnTo>
                    <a:pt x="4521" y="0"/>
                  </a:lnTo>
                  <a:lnTo>
                    <a:pt x="0" y="4508"/>
                  </a:lnTo>
                  <a:lnTo>
                    <a:pt x="0" y="15659"/>
                  </a:lnTo>
                  <a:lnTo>
                    <a:pt x="1574" y="17228"/>
                  </a:lnTo>
                  <a:lnTo>
                    <a:pt x="20180" y="14389"/>
                  </a:lnTo>
                  <a:lnTo>
                    <a:pt x="20180" y="4508"/>
                  </a:lnTo>
                  <a:lnTo>
                    <a:pt x="15659" y="0"/>
                  </a:lnTo>
                  <a:close/>
                </a:path>
              </a:pathLst>
            </a:custGeom>
            <a:solidFill>
              <a:srgbClr val="FFFFFF"/>
            </a:solidFill>
          </p:spPr>
          <p:txBody>
            <a:bodyPr wrap="square" lIns="0" tIns="0" rIns="0" bIns="0" rtlCol="0"/>
            <a:lstStyle/>
            <a:p>
              <a:endParaRPr sz="324"/>
            </a:p>
          </p:txBody>
        </p:sp>
        <p:sp>
          <p:nvSpPr>
            <p:cNvPr id="299" name="object 144">
              <a:extLst>
                <a:ext uri="{FF2B5EF4-FFF2-40B4-BE49-F238E27FC236}">
                  <a16:creationId xmlns:a16="http://schemas.microsoft.com/office/drawing/2014/main" id="{733F1B52-7E3B-4C65-A04C-924C6DD0D18A}"/>
                </a:ext>
              </a:extLst>
            </p:cNvPr>
            <p:cNvSpPr/>
            <p:nvPr/>
          </p:nvSpPr>
          <p:spPr>
            <a:xfrm>
              <a:off x="3801596" y="485885"/>
              <a:ext cx="18415" cy="6985"/>
            </a:xfrm>
            <a:custGeom>
              <a:avLst/>
              <a:gdLst/>
              <a:ahLst/>
              <a:cxnLst/>
              <a:rect l="l" t="t" r="r" b="b"/>
              <a:pathLst>
                <a:path w="18414" h="6984">
                  <a:moveTo>
                    <a:pt x="15659" y="0"/>
                  </a:moveTo>
                  <a:lnTo>
                    <a:pt x="4521" y="0"/>
                  </a:lnTo>
                  <a:lnTo>
                    <a:pt x="0" y="4508"/>
                  </a:lnTo>
                  <a:lnTo>
                    <a:pt x="0" y="6866"/>
                  </a:lnTo>
                  <a:lnTo>
                    <a:pt x="17923" y="2258"/>
                  </a:lnTo>
                  <a:lnTo>
                    <a:pt x="15659" y="0"/>
                  </a:lnTo>
                  <a:close/>
                </a:path>
              </a:pathLst>
            </a:custGeom>
            <a:solidFill>
              <a:srgbClr val="FFFFFF"/>
            </a:solidFill>
          </p:spPr>
          <p:txBody>
            <a:bodyPr wrap="square" lIns="0" tIns="0" rIns="0" bIns="0" rtlCol="0"/>
            <a:lstStyle/>
            <a:p>
              <a:endParaRPr sz="324"/>
            </a:p>
          </p:txBody>
        </p:sp>
      </p:grpSp>
      <p:sp>
        <p:nvSpPr>
          <p:cNvPr id="300" name="object 9">
            <a:extLst>
              <a:ext uri="{FF2B5EF4-FFF2-40B4-BE49-F238E27FC236}">
                <a16:creationId xmlns:a16="http://schemas.microsoft.com/office/drawing/2014/main" id="{B6588A17-398E-4217-A3E3-340C99313FB2}"/>
              </a:ext>
            </a:extLst>
          </p:cNvPr>
          <p:cNvSpPr/>
          <p:nvPr userDrawn="1"/>
        </p:nvSpPr>
        <p:spPr>
          <a:xfrm>
            <a:off x="163713" y="4781460"/>
            <a:ext cx="468208" cy="947142"/>
          </a:xfrm>
          <a:custGeom>
            <a:avLst/>
            <a:gdLst/>
            <a:ahLst/>
            <a:cxnLst/>
            <a:rect l="l" t="t" r="r" b="b"/>
            <a:pathLst>
              <a:path w="466725" h="932814">
                <a:moveTo>
                  <a:pt x="0" y="0"/>
                </a:moveTo>
                <a:lnTo>
                  <a:pt x="0" y="225590"/>
                </a:lnTo>
                <a:lnTo>
                  <a:pt x="48488" y="230477"/>
                </a:lnTo>
                <a:lnTo>
                  <a:pt x="93648" y="244495"/>
                </a:lnTo>
                <a:lnTo>
                  <a:pt x="134514" y="266675"/>
                </a:lnTo>
                <a:lnTo>
                  <a:pt x="170118" y="296051"/>
                </a:lnTo>
                <a:lnTo>
                  <a:pt x="199493" y="331654"/>
                </a:lnTo>
                <a:lnTo>
                  <a:pt x="221672" y="372517"/>
                </a:lnTo>
                <a:lnTo>
                  <a:pt x="235689" y="417672"/>
                </a:lnTo>
                <a:lnTo>
                  <a:pt x="240576" y="466153"/>
                </a:lnTo>
                <a:lnTo>
                  <a:pt x="235689" y="514642"/>
                </a:lnTo>
                <a:lnTo>
                  <a:pt x="221672" y="559804"/>
                </a:lnTo>
                <a:lnTo>
                  <a:pt x="199493" y="600671"/>
                </a:lnTo>
                <a:lnTo>
                  <a:pt x="170118" y="636277"/>
                </a:lnTo>
                <a:lnTo>
                  <a:pt x="134514" y="665655"/>
                </a:lnTo>
                <a:lnTo>
                  <a:pt x="93648" y="687836"/>
                </a:lnTo>
                <a:lnTo>
                  <a:pt x="48488" y="701854"/>
                </a:lnTo>
                <a:lnTo>
                  <a:pt x="0" y="706742"/>
                </a:lnTo>
                <a:lnTo>
                  <a:pt x="0" y="932332"/>
                </a:lnTo>
                <a:lnTo>
                  <a:pt x="47662" y="929925"/>
                </a:lnTo>
                <a:lnTo>
                  <a:pt x="93948" y="922861"/>
                </a:lnTo>
                <a:lnTo>
                  <a:pt x="138622" y="911375"/>
                </a:lnTo>
                <a:lnTo>
                  <a:pt x="181452" y="895700"/>
                </a:lnTo>
                <a:lnTo>
                  <a:pt x="222201" y="876070"/>
                </a:lnTo>
                <a:lnTo>
                  <a:pt x="260637" y="852720"/>
                </a:lnTo>
                <a:lnTo>
                  <a:pt x="296524" y="825885"/>
                </a:lnTo>
                <a:lnTo>
                  <a:pt x="329628" y="795797"/>
                </a:lnTo>
                <a:lnTo>
                  <a:pt x="359715" y="762693"/>
                </a:lnTo>
                <a:lnTo>
                  <a:pt x="386551" y="726805"/>
                </a:lnTo>
                <a:lnTo>
                  <a:pt x="409902" y="688369"/>
                </a:lnTo>
                <a:lnTo>
                  <a:pt x="429532" y="647618"/>
                </a:lnTo>
                <a:lnTo>
                  <a:pt x="445208" y="604786"/>
                </a:lnTo>
                <a:lnTo>
                  <a:pt x="456695" y="560109"/>
                </a:lnTo>
                <a:lnTo>
                  <a:pt x="463759" y="513820"/>
                </a:lnTo>
                <a:lnTo>
                  <a:pt x="466166" y="466153"/>
                </a:lnTo>
                <a:lnTo>
                  <a:pt x="463759" y="418493"/>
                </a:lnTo>
                <a:lnTo>
                  <a:pt x="456695" y="372209"/>
                </a:lnTo>
                <a:lnTo>
                  <a:pt x="445208" y="327536"/>
                </a:lnTo>
                <a:lnTo>
                  <a:pt x="429532" y="284708"/>
                </a:lnTo>
                <a:lnTo>
                  <a:pt x="409902" y="243960"/>
                </a:lnTo>
                <a:lnTo>
                  <a:pt x="386551" y="205526"/>
                </a:lnTo>
                <a:lnTo>
                  <a:pt x="359715" y="169639"/>
                </a:lnTo>
                <a:lnTo>
                  <a:pt x="329628" y="136536"/>
                </a:lnTo>
                <a:lnTo>
                  <a:pt x="296524" y="106449"/>
                </a:lnTo>
                <a:lnTo>
                  <a:pt x="260637" y="79613"/>
                </a:lnTo>
                <a:lnTo>
                  <a:pt x="222201" y="56263"/>
                </a:lnTo>
                <a:lnTo>
                  <a:pt x="181452" y="36633"/>
                </a:lnTo>
                <a:lnTo>
                  <a:pt x="138622" y="20958"/>
                </a:lnTo>
                <a:lnTo>
                  <a:pt x="93948" y="9470"/>
                </a:lnTo>
                <a:lnTo>
                  <a:pt x="47662" y="2406"/>
                </a:lnTo>
                <a:lnTo>
                  <a:pt x="0" y="0"/>
                </a:lnTo>
                <a:close/>
              </a:path>
            </a:pathLst>
          </a:custGeom>
          <a:solidFill>
            <a:schemeClr val="accent3"/>
          </a:solidFill>
        </p:spPr>
        <p:txBody>
          <a:bodyPr wrap="square" lIns="0" tIns="0" rIns="0" bIns="0" rtlCol="0"/>
          <a:lstStyle/>
          <a:p>
            <a:endParaRPr sz="324"/>
          </a:p>
        </p:txBody>
      </p:sp>
      <p:sp>
        <p:nvSpPr>
          <p:cNvPr id="301" name="Text Placeholder 9">
            <a:extLst>
              <a:ext uri="{FF2B5EF4-FFF2-40B4-BE49-F238E27FC236}">
                <a16:creationId xmlns:a16="http://schemas.microsoft.com/office/drawing/2014/main" id="{CD827380-06F0-492D-B363-36043BC839C3}"/>
              </a:ext>
            </a:extLst>
          </p:cNvPr>
          <p:cNvSpPr>
            <a:spLocks noGrp="1"/>
          </p:cNvSpPr>
          <p:nvPr>
            <p:ph type="body" sz="quarter" idx="14"/>
          </p:nvPr>
        </p:nvSpPr>
        <p:spPr>
          <a:xfrm>
            <a:off x="473746" y="1498277"/>
            <a:ext cx="3730255" cy="1717665"/>
          </a:xfrm>
        </p:spPr>
        <p:txBody>
          <a:bodyPr wrap="square" anchor="b">
            <a:spAutoFit/>
          </a:bodyPr>
          <a:lstStyle>
            <a:lvl1pPr marL="0" indent="0">
              <a:lnSpc>
                <a:spcPct val="100000"/>
              </a:lnSpc>
              <a:buNone/>
              <a:defRPr sz="2600" b="1" cap="all" baseline="0">
                <a:solidFill>
                  <a:schemeClr val="bg1"/>
                </a:solidFill>
                <a:latin typeface="+mj-lt"/>
                <a:cs typeface="Arial" panose="020B0604020202020204" pitchFamily="34" charset="0"/>
              </a:defRPr>
            </a:lvl1pPr>
            <a:lvl2pPr marL="342878" indent="0">
              <a:buNone/>
              <a:defRPr/>
            </a:lvl2pPr>
          </a:lstStyle>
          <a:p>
            <a:pPr lvl="0"/>
            <a:r>
              <a:rPr lang="fr-FR"/>
              <a:t>Cliquez pour modifier les styles du texte du masque</a:t>
            </a:r>
          </a:p>
        </p:txBody>
      </p:sp>
      <p:sp>
        <p:nvSpPr>
          <p:cNvPr id="302" name="Text Placeholder 15">
            <a:extLst>
              <a:ext uri="{FF2B5EF4-FFF2-40B4-BE49-F238E27FC236}">
                <a16:creationId xmlns:a16="http://schemas.microsoft.com/office/drawing/2014/main" id="{AFE83D49-BD7A-4D42-BE23-D9C762DADBBC}"/>
              </a:ext>
            </a:extLst>
          </p:cNvPr>
          <p:cNvSpPr>
            <a:spLocks noGrp="1"/>
          </p:cNvSpPr>
          <p:nvPr>
            <p:ph type="body" sz="quarter" idx="15"/>
          </p:nvPr>
        </p:nvSpPr>
        <p:spPr>
          <a:xfrm>
            <a:off x="473746" y="3191048"/>
            <a:ext cx="3730255" cy="674031"/>
          </a:xfrm>
        </p:spPr>
        <p:txBody>
          <a:bodyPr wrap="square">
            <a:spAutoFit/>
          </a:bodyPr>
          <a:lstStyle>
            <a:lvl1pPr marL="0" indent="0">
              <a:buNone/>
              <a:defRPr sz="2100">
                <a:solidFill>
                  <a:schemeClr val="bg1"/>
                </a:solidFill>
                <a:latin typeface="Arial" panose="020B0604020202020204" pitchFamily="34" charset="0"/>
                <a:cs typeface="Arial" panose="020B0604020202020204" pitchFamily="34" charset="0"/>
              </a:defRPr>
            </a:lvl1pPr>
          </a:lstStyle>
          <a:p>
            <a:pPr lvl="0"/>
            <a:r>
              <a:rPr lang="fr-FR"/>
              <a:t>Cliquez pour modifier les styles du texte du masque</a:t>
            </a:r>
          </a:p>
        </p:txBody>
      </p:sp>
      <p:cxnSp>
        <p:nvCxnSpPr>
          <p:cNvPr id="304" name="Straight Connector 303">
            <a:extLst>
              <a:ext uri="{FF2B5EF4-FFF2-40B4-BE49-F238E27FC236}">
                <a16:creationId xmlns:a16="http://schemas.microsoft.com/office/drawing/2014/main" id="{EF60DA6A-DCEB-4913-BE48-796A9A0B844B}"/>
              </a:ext>
            </a:extLst>
          </p:cNvPr>
          <p:cNvCxnSpPr>
            <a:cxnSpLocks/>
          </p:cNvCxnSpPr>
          <p:nvPr userDrawn="1"/>
        </p:nvCxnSpPr>
        <p:spPr>
          <a:xfrm>
            <a:off x="795400" y="3895859"/>
            <a:ext cx="89116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05" name="Text Placeholder 37">
            <a:extLst>
              <a:ext uri="{FF2B5EF4-FFF2-40B4-BE49-F238E27FC236}">
                <a16:creationId xmlns:a16="http://schemas.microsoft.com/office/drawing/2014/main" id="{AF7B28B0-575B-4F92-BC55-7F5A112BD666}"/>
              </a:ext>
            </a:extLst>
          </p:cNvPr>
          <p:cNvSpPr>
            <a:spLocks noGrp="1"/>
          </p:cNvSpPr>
          <p:nvPr>
            <p:ph type="body" sz="quarter" idx="16"/>
          </p:nvPr>
        </p:nvSpPr>
        <p:spPr>
          <a:xfrm>
            <a:off x="471781" y="4157795"/>
            <a:ext cx="3702855" cy="480131"/>
          </a:xfrm>
        </p:spPr>
        <p:txBody>
          <a:bodyPr wrap="square">
            <a:spAutoFit/>
          </a:bodyPr>
          <a:lstStyle>
            <a:lvl1pPr marL="0" indent="0">
              <a:buNone/>
              <a:defRPr sz="1400" i="1">
                <a:solidFill>
                  <a:schemeClr val="bg1"/>
                </a:solidFill>
                <a:latin typeface="Arial" panose="020B0604020202020204" pitchFamily="34" charset="0"/>
                <a:cs typeface="Arial" panose="020B0604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53D4A2F3-202E-4CAC-8965-DFAE48E1A0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634" y="257979"/>
            <a:ext cx="2258225" cy="1133288"/>
          </a:xfrm>
          <a:prstGeom prst="rect">
            <a:avLst/>
          </a:prstGeom>
        </p:spPr>
      </p:pic>
      <p:pic>
        <p:nvPicPr>
          <p:cNvPr id="141" name="Image 140">
            <a:extLst>
              <a:ext uri="{FF2B5EF4-FFF2-40B4-BE49-F238E27FC236}">
                <a16:creationId xmlns:a16="http://schemas.microsoft.com/office/drawing/2014/main" id="{18127CAF-7EAD-420B-BEE3-2F2C31D9A7BC}"/>
              </a:ext>
            </a:extLst>
          </p:cNvPr>
          <p:cNvPicPr>
            <a:picLocks noChangeAspect="1"/>
          </p:cNvPicPr>
          <p:nvPr userDrawn="1"/>
        </p:nvPicPr>
        <p:blipFill>
          <a:blip r:embed="rId3"/>
          <a:stretch>
            <a:fillRect/>
          </a:stretch>
        </p:blipFill>
        <p:spPr>
          <a:xfrm>
            <a:off x="662647" y="5446573"/>
            <a:ext cx="869920" cy="880569"/>
          </a:xfrm>
          <a:prstGeom prst="rect">
            <a:avLst/>
          </a:prstGeom>
        </p:spPr>
      </p:pic>
      <p:pic>
        <p:nvPicPr>
          <p:cNvPr id="142" name="Image 141">
            <a:extLst>
              <a:ext uri="{FF2B5EF4-FFF2-40B4-BE49-F238E27FC236}">
                <a16:creationId xmlns:a16="http://schemas.microsoft.com/office/drawing/2014/main" id="{D7B1EB4F-F4D5-409A-942E-598EC7F8DC4F}"/>
              </a:ext>
            </a:extLst>
          </p:cNvPr>
          <p:cNvPicPr>
            <a:picLocks noChangeAspect="1"/>
          </p:cNvPicPr>
          <p:nvPr userDrawn="1"/>
        </p:nvPicPr>
        <p:blipFill rotWithShape="1">
          <a:blip r:embed="rId4"/>
          <a:srcRect b="15876"/>
          <a:stretch/>
        </p:blipFill>
        <p:spPr>
          <a:xfrm>
            <a:off x="1660275" y="6243676"/>
            <a:ext cx="840038" cy="366797"/>
          </a:xfrm>
          <a:prstGeom prst="rect">
            <a:avLst/>
          </a:prstGeom>
        </p:spPr>
      </p:pic>
      <p:pic>
        <p:nvPicPr>
          <p:cNvPr id="148" name="Image 147">
            <a:extLst>
              <a:ext uri="{FF2B5EF4-FFF2-40B4-BE49-F238E27FC236}">
                <a16:creationId xmlns:a16="http://schemas.microsoft.com/office/drawing/2014/main" id="{DAC5B31F-919D-40B9-B6EF-4C5027CD8BFD}"/>
              </a:ext>
            </a:extLst>
          </p:cNvPr>
          <p:cNvPicPr>
            <a:picLocks noChangeAspect="1"/>
          </p:cNvPicPr>
          <p:nvPr userDrawn="1"/>
        </p:nvPicPr>
        <p:blipFill>
          <a:blip r:embed="rId5"/>
          <a:stretch>
            <a:fillRect/>
          </a:stretch>
        </p:blipFill>
        <p:spPr>
          <a:xfrm>
            <a:off x="1757258" y="5560235"/>
            <a:ext cx="1732185" cy="662692"/>
          </a:xfrm>
          <a:prstGeom prst="rect">
            <a:avLst/>
          </a:prstGeom>
        </p:spPr>
      </p:pic>
      <p:pic>
        <p:nvPicPr>
          <p:cNvPr id="149" name="Image 148">
            <a:extLst>
              <a:ext uri="{FF2B5EF4-FFF2-40B4-BE49-F238E27FC236}">
                <a16:creationId xmlns:a16="http://schemas.microsoft.com/office/drawing/2014/main" id="{C9D61C0C-9F56-48C6-9178-BE7854B19655}"/>
              </a:ext>
            </a:extLst>
          </p:cNvPr>
          <p:cNvPicPr>
            <a:picLocks noChangeAspect="1"/>
          </p:cNvPicPr>
          <p:nvPr userDrawn="1"/>
        </p:nvPicPr>
        <p:blipFill>
          <a:blip r:embed="rId6"/>
          <a:stretch>
            <a:fillRect/>
          </a:stretch>
        </p:blipFill>
        <p:spPr>
          <a:xfrm>
            <a:off x="2571717" y="6306923"/>
            <a:ext cx="873435" cy="360350"/>
          </a:xfrm>
          <a:prstGeom prst="rect">
            <a:avLst/>
          </a:prstGeom>
        </p:spPr>
      </p:pic>
      <p:sp>
        <p:nvSpPr>
          <p:cNvPr id="143" name="ZoneTexte 142">
            <a:extLst>
              <a:ext uri="{FF2B5EF4-FFF2-40B4-BE49-F238E27FC236}">
                <a16:creationId xmlns:a16="http://schemas.microsoft.com/office/drawing/2014/main" id="{99545EAE-8F47-438D-B99D-4AE2261B7C17}"/>
              </a:ext>
            </a:extLst>
          </p:cNvPr>
          <p:cNvSpPr txBox="1"/>
          <p:nvPr userDrawn="1"/>
        </p:nvSpPr>
        <p:spPr>
          <a:xfrm>
            <a:off x="692273" y="6308432"/>
            <a:ext cx="779381" cy="215444"/>
          </a:xfrm>
          <a:prstGeom prst="rect">
            <a:avLst/>
          </a:prstGeom>
          <a:noFill/>
        </p:spPr>
        <p:txBody>
          <a:bodyPr wrap="none" rtlCol="0">
            <a:spAutoFit/>
          </a:bodyPr>
          <a:lstStyle/>
          <a:p>
            <a:pPr algn="l"/>
            <a:r>
              <a:rPr lang="fr-FR" sz="800" dirty="0">
                <a:solidFill>
                  <a:schemeClr val="bg1"/>
                </a:solidFill>
                <a:latin typeface="Arial"/>
                <a:cs typeface="Arial"/>
              </a:rPr>
              <a:t>INGENIERIE</a:t>
            </a:r>
          </a:p>
        </p:txBody>
      </p:sp>
      <p:sp>
        <p:nvSpPr>
          <p:cNvPr id="145" name="ZoneTexte 144">
            <a:extLst>
              <a:ext uri="{FF2B5EF4-FFF2-40B4-BE49-F238E27FC236}">
                <a16:creationId xmlns:a16="http://schemas.microsoft.com/office/drawing/2014/main" id="{841DCBB7-F225-4281-821F-92C24FFD89C7}"/>
              </a:ext>
            </a:extLst>
          </p:cNvPr>
          <p:cNvSpPr txBox="1"/>
          <p:nvPr userDrawn="1"/>
        </p:nvSpPr>
        <p:spPr>
          <a:xfrm>
            <a:off x="589180" y="6456984"/>
            <a:ext cx="937186" cy="276999"/>
          </a:xfrm>
          <a:prstGeom prst="rect">
            <a:avLst/>
          </a:prstGeom>
          <a:noFill/>
        </p:spPr>
        <p:txBody>
          <a:bodyPr wrap="square" rtlCol="0">
            <a:spAutoFit/>
          </a:bodyPr>
          <a:lstStyle/>
          <a:p>
            <a:pPr algn="ctr"/>
            <a:r>
              <a:rPr lang="fr-FR" sz="600" dirty="0">
                <a:solidFill>
                  <a:schemeClr val="bg1"/>
                </a:solidFill>
                <a:latin typeface="Arial"/>
                <a:cs typeface="Arial"/>
              </a:rPr>
              <a:t>SCIENCES INFORMATIQUES</a:t>
            </a:r>
          </a:p>
        </p:txBody>
      </p:sp>
    </p:spTree>
    <p:extLst>
      <p:ext uri="{BB962C8B-B14F-4D97-AF65-F5344CB8AC3E}">
        <p14:creationId xmlns:p14="http://schemas.microsoft.com/office/powerpoint/2010/main" val="2980134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0_Contenu">
    <p:bg>
      <p:bgPr>
        <a:solidFill>
          <a:schemeClr val="bg1"/>
        </a:solidFill>
        <a:effectLst/>
      </p:bgPr>
    </p:bg>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5039137" y="6383574"/>
            <a:ext cx="5991122"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sp>
        <p:nvSpPr>
          <p:cNvPr id="23" name="Slide Number Placeholder 5">
            <a:extLst>
              <a:ext uri="{FF2B5EF4-FFF2-40B4-BE49-F238E27FC236}">
                <a16:creationId xmlns:a16="http://schemas.microsoft.com/office/drawing/2014/main" id="{3252315C-5F2D-4461-8B3E-D924E9D00DE0}"/>
              </a:ext>
            </a:extLst>
          </p:cNvPr>
          <p:cNvSpPr>
            <a:spLocks noGrp="1"/>
          </p:cNvSpPr>
          <p:nvPr>
            <p:ph type="sldNum" sz="quarter" idx="4"/>
          </p:nvPr>
        </p:nvSpPr>
        <p:spPr>
          <a:xfrm>
            <a:off x="11391491" y="6306043"/>
            <a:ext cx="500778"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a:off x="556577" y="6190841"/>
            <a:ext cx="11318928"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26" name="Freeform: Shape 18">
            <a:extLst>
              <a:ext uri="{FF2B5EF4-FFF2-40B4-BE49-F238E27FC236}">
                <a16:creationId xmlns:a16="http://schemas.microsoft.com/office/drawing/2014/main" id="{884ADAEE-1597-8E47-82BC-53458D14DC8E}"/>
              </a:ext>
            </a:extLst>
          </p:cNvPr>
          <p:cNvSpPr/>
          <p:nvPr userDrawn="1"/>
        </p:nvSpPr>
        <p:spPr>
          <a:xfrm rot="5400000">
            <a:off x="306717" y="5657186"/>
            <a:ext cx="408820" cy="422784"/>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rgbClr val="00ABA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pic>
        <p:nvPicPr>
          <p:cNvPr id="3" name="Image 2">
            <a:extLst>
              <a:ext uri="{FF2B5EF4-FFF2-40B4-BE49-F238E27FC236}">
                <a16:creationId xmlns:a16="http://schemas.microsoft.com/office/drawing/2014/main" id="{7E8C8D51-53D9-4678-A88B-69372822CB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054691" y="8314"/>
            <a:ext cx="2147994" cy="2114042"/>
          </a:xfrm>
          <a:prstGeom prst="rect">
            <a:avLst/>
          </a:prstGeom>
        </p:spPr>
      </p:pic>
      <p:sp>
        <p:nvSpPr>
          <p:cNvPr id="11" name="Text Placeholder 6">
            <a:extLst>
              <a:ext uri="{FF2B5EF4-FFF2-40B4-BE49-F238E27FC236}">
                <a16:creationId xmlns:a16="http://schemas.microsoft.com/office/drawing/2014/main" id="{A4FE70AC-018A-480E-B72E-70EFFED043F0}"/>
              </a:ext>
            </a:extLst>
          </p:cNvPr>
          <p:cNvSpPr>
            <a:spLocks noGrp="1"/>
          </p:cNvSpPr>
          <p:nvPr>
            <p:ph type="body" sz="quarter" idx="24"/>
          </p:nvPr>
        </p:nvSpPr>
        <p:spPr>
          <a:xfrm>
            <a:off x="642892" y="949993"/>
            <a:ext cx="8889911"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sp>
        <p:nvSpPr>
          <p:cNvPr id="12" name="Text Placeholder 2">
            <a:extLst>
              <a:ext uri="{FF2B5EF4-FFF2-40B4-BE49-F238E27FC236}">
                <a16:creationId xmlns:a16="http://schemas.microsoft.com/office/drawing/2014/main" id="{E6800B0C-2FC3-44B4-8458-E260C38A65FA}"/>
              </a:ext>
            </a:extLst>
          </p:cNvPr>
          <p:cNvSpPr>
            <a:spLocks noGrp="1"/>
          </p:cNvSpPr>
          <p:nvPr>
            <p:ph type="body" sz="quarter" idx="25"/>
          </p:nvPr>
        </p:nvSpPr>
        <p:spPr>
          <a:xfrm>
            <a:off x="642892" y="493174"/>
            <a:ext cx="8889911" cy="310341"/>
          </a:xfrm>
          <a:noFill/>
        </p:spPr>
        <p:txBody>
          <a:bodyPr wrap="square" anchor="b" anchorCtr="0">
            <a:spAutoFit/>
          </a:bodyPr>
          <a:lstStyle>
            <a:lvl1pPr marL="0" indent="0">
              <a:lnSpc>
                <a:spcPts val="1674"/>
              </a:lnSpc>
              <a:buNone/>
              <a:defRPr sz="1800" b="1" cap="all" baseline="0">
                <a:solidFill>
                  <a:schemeClr val="tx2"/>
                </a:solidFill>
                <a:latin typeface="+mj-lt"/>
              </a:defRPr>
            </a:lvl1pPr>
          </a:lstStyle>
          <a:p>
            <a:pPr lvl="0"/>
            <a:r>
              <a:rPr lang="fr-FR"/>
              <a:t>Cliquez pour modifier les styles du texte du masque</a:t>
            </a:r>
          </a:p>
        </p:txBody>
      </p:sp>
      <p:pic>
        <p:nvPicPr>
          <p:cNvPr id="2" name="Image 1">
            <a:extLst>
              <a:ext uri="{FF2B5EF4-FFF2-40B4-BE49-F238E27FC236}">
                <a16:creationId xmlns:a16="http://schemas.microsoft.com/office/drawing/2014/main" id="{ACCC0405-01DD-2D76-0F19-D672387DB80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56577" y="6306043"/>
            <a:ext cx="897640" cy="348563"/>
          </a:xfrm>
          <a:prstGeom prst="rect">
            <a:avLst/>
          </a:prstGeom>
        </p:spPr>
      </p:pic>
    </p:spTree>
    <p:extLst>
      <p:ext uri="{BB962C8B-B14F-4D97-AF65-F5344CB8AC3E}">
        <p14:creationId xmlns:p14="http://schemas.microsoft.com/office/powerpoint/2010/main" val="2469551455"/>
      </p:ext>
    </p:extLst>
  </p:cSld>
  <p:clrMapOvr>
    <a:masterClrMapping/>
  </p:clrMapOvr>
  <p:extLst>
    <p:ext uri="{DCECCB84-F9BA-43D5-87BE-67443E8EF086}">
      <p15:sldGuideLst xmlns:p15="http://schemas.microsoft.com/office/powerpoint/2012/main">
        <p15:guide id="1" pos="198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Introduction">
    <p:bg>
      <p:bgPr>
        <a:solidFill>
          <a:schemeClr val="bg1">
            <a:alpha val="0"/>
          </a:schemeClr>
        </a:solidFill>
        <a:effectLst/>
      </p:bgPr>
    </p:bg>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DD93E8E7-6850-41DE-A74A-F056AA8F482C}"/>
              </a:ext>
            </a:extLst>
          </p:cNvPr>
          <p:cNvSpPr>
            <a:spLocks noGrp="1"/>
          </p:cNvSpPr>
          <p:nvPr>
            <p:ph type="body" sz="quarter" idx="13"/>
          </p:nvPr>
        </p:nvSpPr>
        <p:spPr>
          <a:xfrm>
            <a:off x="1564641" y="2003662"/>
            <a:ext cx="3917969" cy="528350"/>
          </a:xfrm>
        </p:spPr>
        <p:txBody>
          <a:bodyPr wrap="square" anchor="b" anchorCtr="0">
            <a:spAutoFit/>
          </a:bodyPr>
          <a:lstStyle>
            <a:lvl1pPr marL="0" indent="0">
              <a:lnSpc>
                <a:spcPts val="1674"/>
              </a:lnSpc>
              <a:buNone/>
              <a:defRPr sz="1800" b="1" cap="all" baseline="0">
                <a:solidFill>
                  <a:schemeClr val="tx2"/>
                </a:solidFill>
                <a:latin typeface="+mj-lt"/>
              </a:defRPr>
            </a:lvl1pPr>
          </a:lstStyle>
          <a:p>
            <a:pPr lvl="0"/>
            <a:r>
              <a:rPr lang="fr-FR"/>
              <a:t>Cliquez pour modifier les styles du texte du masque</a:t>
            </a:r>
          </a:p>
        </p:txBody>
      </p:sp>
      <p:sp>
        <p:nvSpPr>
          <p:cNvPr id="14" name="Text Placeholder 4">
            <a:extLst>
              <a:ext uri="{FF2B5EF4-FFF2-40B4-BE49-F238E27FC236}">
                <a16:creationId xmlns:a16="http://schemas.microsoft.com/office/drawing/2014/main" id="{F04FF4EB-34C8-4B33-8B54-30E132FE9728}"/>
              </a:ext>
            </a:extLst>
          </p:cNvPr>
          <p:cNvSpPr>
            <a:spLocks noGrp="1"/>
          </p:cNvSpPr>
          <p:nvPr>
            <p:ph type="body" sz="quarter" idx="14"/>
          </p:nvPr>
        </p:nvSpPr>
        <p:spPr>
          <a:xfrm>
            <a:off x="1564641" y="2637449"/>
            <a:ext cx="3917969" cy="380040"/>
          </a:xfrm>
        </p:spPr>
        <p:txBody>
          <a:bodyPr wrap="square">
            <a:spAutoFit/>
          </a:bodyPr>
          <a:lstStyle>
            <a:lvl1pPr marL="0" indent="0">
              <a:lnSpc>
                <a:spcPts val="1134"/>
              </a:lnSpc>
              <a:buNone/>
              <a:defRPr sz="1300" cap="all" baseline="0">
                <a:solidFill>
                  <a:schemeClr val="tx2"/>
                </a:solidFill>
              </a:defRPr>
            </a:lvl1pPr>
          </a:lstStyle>
          <a:p>
            <a:pPr lvl="0"/>
            <a:r>
              <a:rPr lang="fr-FR"/>
              <a:t>Cliquez pour modifier les styles du texte du masque</a:t>
            </a:r>
          </a:p>
        </p:txBody>
      </p:sp>
      <p:sp>
        <p:nvSpPr>
          <p:cNvPr id="18" name="Picture Placeholder 14">
            <a:extLst>
              <a:ext uri="{FF2B5EF4-FFF2-40B4-BE49-F238E27FC236}">
                <a16:creationId xmlns:a16="http://schemas.microsoft.com/office/drawing/2014/main" id="{D3A31740-3324-490C-A887-2899A5AC4692}"/>
              </a:ext>
            </a:extLst>
          </p:cNvPr>
          <p:cNvSpPr>
            <a:spLocks noGrp="1"/>
          </p:cNvSpPr>
          <p:nvPr>
            <p:ph type="pic" sz="quarter" idx="10"/>
          </p:nvPr>
        </p:nvSpPr>
        <p:spPr>
          <a:xfrm>
            <a:off x="8075825" y="287253"/>
            <a:ext cx="3816445" cy="5559624"/>
          </a:xfrm>
          <a:solidFill>
            <a:schemeClr val="bg1">
              <a:lumMod val="95000"/>
            </a:schemeClr>
          </a:solidFill>
        </p:spPr>
        <p:txBody>
          <a:bodyPr anchor="ctr">
            <a:normAutofit/>
          </a:bodyPr>
          <a:lstStyle>
            <a:lvl1pPr marL="0" indent="0" algn="ctr">
              <a:buNone/>
              <a:defRPr lang="en-US" sz="1080" kern="1200" dirty="0">
                <a:solidFill>
                  <a:schemeClr val="tx1"/>
                </a:solidFill>
                <a:latin typeface="Arial" panose="020B0604020202020204" pitchFamily="34" charset="0"/>
                <a:ea typeface="+mn-ea"/>
                <a:cs typeface="Arial" panose="020B0604020202020204" pitchFamily="34" charset="0"/>
              </a:defRPr>
            </a:lvl1pPr>
          </a:lstStyle>
          <a:p>
            <a:r>
              <a:rPr lang="fr-FR"/>
              <a:t>Cliquez sur l'icône pour ajouter une image</a:t>
            </a:r>
            <a:endParaRPr lang="en-US" dirty="0"/>
          </a:p>
        </p:txBody>
      </p:sp>
      <p:sp>
        <p:nvSpPr>
          <p:cNvPr id="19" name="Freeform: Shape 18">
            <a:extLst>
              <a:ext uri="{FF2B5EF4-FFF2-40B4-BE49-F238E27FC236}">
                <a16:creationId xmlns:a16="http://schemas.microsoft.com/office/drawing/2014/main" id="{68FBBCED-D569-4465-A3E0-7830ADE714A5}"/>
              </a:ext>
            </a:extLst>
          </p:cNvPr>
          <p:cNvSpPr/>
          <p:nvPr userDrawn="1"/>
        </p:nvSpPr>
        <p:spPr>
          <a:xfrm>
            <a:off x="6122142" y="310200"/>
            <a:ext cx="428117"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sp>
        <p:nvSpPr>
          <p:cNvPr id="16" name="Footer Placeholder 4">
            <a:extLst>
              <a:ext uri="{FF2B5EF4-FFF2-40B4-BE49-F238E27FC236}">
                <a16:creationId xmlns:a16="http://schemas.microsoft.com/office/drawing/2014/main" id="{E9ABB687-F85E-47C9-B9CB-36D97F2C9993}"/>
              </a:ext>
            </a:extLst>
          </p:cNvPr>
          <p:cNvSpPr>
            <a:spLocks noGrp="1"/>
          </p:cNvSpPr>
          <p:nvPr>
            <p:ph type="ftr" sz="quarter" idx="3"/>
          </p:nvPr>
        </p:nvSpPr>
        <p:spPr>
          <a:xfrm>
            <a:off x="4964151" y="6383574"/>
            <a:ext cx="6066107"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cxnSp>
        <p:nvCxnSpPr>
          <p:cNvPr id="26" name="Straight Connector 25">
            <a:extLst>
              <a:ext uri="{FF2B5EF4-FFF2-40B4-BE49-F238E27FC236}">
                <a16:creationId xmlns:a16="http://schemas.microsoft.com/office/drawing/2014/main" id="{DFB56546-3DB7-4930-ACB1-278A8025E808}"/>
              </a:ext>
            </a:extLst>
          </p:cNvPr>
          <p:cNvCxnSpPr>
            <a:cxnSpLocks/>
          </p:cNvCxnSpPr>
          <p:nvPr userDrawn="1"/>
        </p:nvCxnSpPr>
        <p:spPr>
          <a:xfrm>
            <a:off x="592662" y="6190841"/>
            <a:ext cx="11282843"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1318B756-AF91-4787-A678-53944781A771}"/>
              </a:ext>
            </a:extLst>
          </p:cNvPr>
          <p:cNvSpPr>
            <a:spLocks noGrp="1"/>
          </p:cNvSpPr>
          <p:nvPr>
            <p:ph type="body" sz="quarter" idx="24"/>
          </p:nvPr>
        </p:nvSpPr>
        <p:spPr>
          <a:xfrm>
            <a:off x="1564641" y="3226928"/>
            <a:ext cx="3917969"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sp>
        <p:nvSpPr>
          <p:cNvPr id="12" name="Slide Number Placeholder 5">
            <a:extLst>
              <a:ext uri="{FF2B5EF4-FFF2-40B4-BE49-F238E27FC236}">
                <a16:creationId xmlns:a16="http://schemas.microsoft.com/office/drawing/2014/main" id="{2BFBDDDD-A8FE-47C8-A0E7-12E0CD18CF63}"/>
              </a:ext>
            </a:extLst>
          </p:cNvPr>
          <p:cNvSpPr>
            <a:spLocks noGrp="1"/>
          </p:cNvSpPr>
          <p:nvPr>
            <p:ph type="sldNum" sz="quarter" idx="4"/>
          </p:nvPr>
        </p:nvSpPr>
        <p:spPr>
          <a:xfrm>
            <a:off x="11385223" y="6306043"/>
            <a:ext cx="507046"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pic>
        <p:nvPicPr>
          <p:cNvPr id="2" name="Image 1">
            <a:extLst>
              <a:ext uri="{FF2B5EF4-FFF2-40B4-BE49-F238E27FC236}">
                <a16:creationId xmlns:a16="http://schemas.microsoft.com/office/drawing/2014/main" id="{FE022893-B075-68CA-E2BA-0327675639E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2662" y="6306043"/>
            <a:ext cx="897640" cy="348563"/>
          </a:xfrm>
          <a:prstGeom prst="rect">
            <a:avLst/>
          </a:prstGeom>
        </p:spPr>
      </p:pic>
    </p:spTree>
    <p:extLst>
      <p:ext uri="{BB962C8B-B14F-4D97-AF65-F5344CB8AC3E}">
        <p14:creationId xmlns:p14="http://schemas.microsoft.com/office/powerpoint/2010/main" val="1152573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u">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E8FBC8EF-24EC-41A3-A1B0-0BE26B8FFFC3}"/>
              </a:ext>
            </a:extLst>
          </p:cNvPr>
          <p:cNvSpPr/>
          <p:nvPr userDrawn="1"/>
        </p:nvSpPr>
        <p:spPr>
          <a:xfrm rot="16200000">
            <a:off x="9511228" y="-254014"/>
            <a:ext cx="469259" cy="977289"/>
          </a:xfrm>
          <a:custGeom>
            <a:avLst/>
            <a:gdLst>
              <a:gd name="connsiteX0" fmla="*/ 1944161 w 1955353"/>
              <a:gd name="connsiteY0" fmla="*/ 0 h 3888324"/>
              <a:gd name="connsiteX1" fmla="*/ 1955353 w 1955353"/>
              <a:gd name="connsiteY1" fmla="*/ 565 h 3888324"/>
              <a:gd name="connsiteX2" fmla="*/ 1955353 w 1955353"/>
              <a:gd name="connsiteY2" fmla="*/ 920897 h 3888324"/>
              <a:gd name="connsiteX3" fmla="*/ 1859379 w 1955353"/>
              <a:gd name="connsiteY3" fmla="*/ 925743 h 3888324"/>
              <a:gd name="connsiteX4" fmla="*/ 940343 w 1955353"/>
              <a:gd name="connsiteY4" fmla="*/ 1944162 h 3888324"/>
              <a:gd name="connsiteX5" fmla="*/ 1859379 w 1955353"/>
              <a:gd name="connsiteY5" fmla="*/ 2962581 h 3888324"/>
              <a:gd name="connsiteX6" fmla="*/ 1955353 w 1955353"/>
              <a:gd name="connsiteY6" fmla="*/ 2967427 h 3888324"/>
              <a:gd name="connsiteX7" fmla="*/ 1955353 w 1955353"/>
              <a:gd name="connsiteY7" fmla="*/ 3887759 h 3888324"/>
              <a:gd name="connsiteX8" fmla="*/ 1944161 w 1955353"/>
              <a:gd name="connsiteY8" fmla="*/ 3888324 h 3888324"/>
              <a:gd name="connsiteX9" fmla="*/ 0 w 1955353"/>
              <a:gd name="connsiteY9" fmla="*/ 1944162 h 3888324"/>
              <a:gd name="connsiteX10" fmla="*/ 1944161 w 1955353"/>
              <a:gd name="connsiteY10" fmla="*/ 0 h 388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55353" h="3888324">
                <a:moveTo>
                  <a:pt x="1944161" y="0"/>
                </a:moveTo>
                <a:lnTo>
                  <a:pt x="1955353" y="565"/>
                </a:lnTo>
                <a:lnTo>
                  <a:pt x="1955353" y="920897"/>
                </a:lnTo>
                <a:lnTo>
                  <a:pt x="1859379" y="925743"/>
                </a:lnTo>
                <a:cubicBezTo>
                  <a:pt x="1343171" y="978167"/>
                  <a:pt x="940343" y="1414122"/>
                  <a:pt x="940343" y="1944162"/>
                </a:cubicBezTo>
                <a:cubicBezTo>
                  <a:pt x="940343" y="2474202"/>
                  <a:pt x="1343171" y="2910157"/>
                  <a:pt x="1859379" y="2962581"/>
                </a:cubicBezTo>
                <a:lnTo>
                  <a:pt x="1955353" y="2967427"/>
                </a:lnTo>
                <a:lnTo>
                  <a:pt x="1955353" y="3887759"/>
                </a:lnTo>
                <a:lnTo>
                  <a:pt x="1944161" y="3888324"/>
                </a:lnTo>
                <a:cubicBezTo>
                  <a:pt x="870431" y="3888324"/>
                  <a:pt x="0" y="3017893"/>
                  <a:pt x="0" y="1944162"/>
                </a:cubicBezTo>
                <a:cubicBezTo>
                  <a:pt x="0" y="870431"/>
                  <a:pt x="870431" y="0"/>
                  <a:pt x="194416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fr-FR" sz="324" dirty="0"/>
              <a:t>  </a:t>
            </a:r>
            <a:endParaRPr lang="en-US" sz="324" dirty="0"/>
          </a:p>
        </p:txBody>
      </p:sp>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4964151" y="6383574"/>
            <a:ext cx="6066107"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a:off x="642892" y="6190841"/>
            <a:ext cx="11232613"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25" name="object 9">
            <a:extLst>
              <a:ext uri="{FF2B5EF4-FFF2-40B4-BE49-F238E27FC236}">
                <a16:creationId xmlns:a16="http://schemas.microsoft.com/office/drawing/2014/main" id="{1B0E0B70-59CE-BD4A-A7CA-4A18F82E718A}"/>
              </a:ext>
            </a:extLst>
          </p:cNvPr>
          <p:cNvSpPr/>
          <p:nvPr userDrawn="1"/>
        </p:nvSpPr>
        <p:spPr>
          <a:xfrm>
            <a:off x="0" y="159306"/>
            <a:ext cx="496311" cy="947142"/>
          </a:xfrm>
          <a:custGeom>
            <a:avLst/>
            <a:gdLst/>
            <a:ahLst/>
            <a:cxnLst/>
            <a:rect l="l" t="t" r="r" b="b"/>
            <a:pathLst>
              <a:path w="466725" h="932814">
                <a:moveTo>
                  <a:pt x="0" y="0"/>
                </a:moveTo>
                <a:lnTo>
                  <a:pt x="0" y="225590"/>
                </a:lnTo>
                <a:lnTo>
                  <a:pt x="48488" y="230477"/>
                </a:lnTo>
                <a:lnTo>
                  <a:pt x="93648" y="244495"/>
                </a:lnTo>
                <a:lnTo>
                  <a:pt x="134514" y="266675"/>
                </a:lnTo>
                <a:lnTo>
                  <a:pt x="170118" y="296051"/>
                </a:lnTo>
                <a:lnTo>
                  <a:pt x="199493" y="331654"/>
                </a:lnTo>
                <a:lnTo>
                  <a:pt x="221672" y="372517"/>
                </a:lnTo>
                <a:lnTo>
                  <a:pt x="235689" y="417672"/>
                </a:lnTo>
                <a:lnTo>
                  <a:pt x="240576" y="466153"/>
                </a:lnTo>
                <a:lnTo>
                  <a:pt x="235689" y="514642"/>
                </a:lnTo>
                <a:lnTo>
                  <a:pt x="221672" y="559804"/>
                </a:lnTo>
                <a:lnTo>
                  <a:pt x="199493" y="600671"/>
                </a:lnTo>
                <a:lnTo>
                  <a:pt x="170118" y="636277"/>
                </a:lnTo>
                <a:lnTo>
                  <a:pt x="134514" y="665655"/>
                </a:lnTo>
                <a:lnTo>
                  <a:pt x="93648" y="687836"/>
                </a:lnTo>
                <a:lnTo>
                  <a:pt x="48488" y="701854"/>
                </a:lnTo>
                <a:lnTo>
                  <a:pt x="0" y="706742"/>
                </a:lnTo>
                <a:lnTo>
                  <a:pt x="0" y="932332"/>
                </a:lnTo>
                <a:lnTo>
                  <a:pt x="47662" y="929925"/>
                </a:lnTo>
                <a:lnTo>
                  <a:pt x="93948" y="922861"/>
                </a:lnTo>
                <a:lnTo>
                  <a:pt x="138622" y="911375"/>
                </a:lnTo>
                <a:lnTo>
                  <a:pt x="181452" y="895700"/>
                </a:lnTo>
                <a:lnTo>
                  <a:pt x="222201" y="876070"/>
                </a:lnTo>
                <a:lnTo>
                  <a:pt x="260637" y="852720"/>
                </a:lnTo>
                <a:lnTo>
                  <a:pt x="296524" y="825885"/>
                </a:lnTo>
                <a:lnTo>
                  <a:pt x="329628" y="795797"/>
                </a:lnTo>
                <a:lnTo>
                  <a:pt x="359715" y="762693"/>
                </a:lnTo>
                <a:lnTo>
                  <a:pt x="386551" y="726805"/>
                </a:lnTo>
                <a:lnTo>
                  <a:pt x="409902" y="688369"/>
                </a:lnTo>
                <a:lnTo>
                  <a:pt x="429532" y="647618"/>
                </a:lnTo>
                <a:lnTo>
                  <a:pt x="445208" y="604786"/>
                </a:lnTo>
                <a:lnTo>
                  <a:pt x="456695" y="560109"/>
                </a:lnTo>
                <a:lnTo>
                  <a:pt x="463759" y="513820"/>
                </a:lnTo>
                <a:lnTo>
                  <a:pt x="466166" y="466153"/>
                </a:lnTo>
                <a:lnTo>
                  <a:pt x="463759" y="418493"/>
                </a:lnTo>
                <a:lnTo>
                  <a:pt x="456695" y="372209"/>
                </a:lnTo>
                <a:lnTo>
                  <a:pt x="445208" y="327536"/>
                </a:lnTo>
                <a:lnTo>
                  <a:pt x="429532" y="284708"/>
                </a:lnTo>
                <a:lnTo>
                  <a:pt x="409902" y="243960"/>
                </a:lnTo>
                <a:lnTo>
                  <a:pt x="386551" y="205526"/>
                </a:lnTo>
                <a:lnTo>
                  <a:pt x="359715" y="169639"/>
                </a:lnTo>
                <a:lnTo>
                  <a:pt x="329628" y="136536"/>
                </a:lnTo>
                <a:lnTo>
                  <a:pt x="296524" y="106449"/>
                </a:lnTo>
                <a:lnTo>
                  <a:pt x="260637" y="79613"/>
                </a:lnTo>
                <a:lnTo>
                  <a:pt x="222201" y="56263"/>
                </a:lnTo>
                <a:lnTo>
                  <a:pt x="181452" y="36633"/>
                </a:lnTo>
                <a:lnTo>
                  <a:pt x="138622" y="20958"/>
                </a:lnTo>
                <a:lnTo>
                  <a:pt x="93948" y="9470"/>
                </a:lnTo>
                <a:lnTo>
                  <a:pt x="47662" y="2406"/>
                </a:lnTo>
                <a:lnTo>
                  <a:pt x="0" y="0"/>
                </a:lnTo>
                <a:close/>
              </a:path>
            </a:pathLst>
          </a:custGeom>
          <a:solidFill>
            <a:schemeClr val="accent3"/>
          </a:solidFill>
        </p:spPr>
        <p:txBody>
          <a:bodyPr wrap="square" lIns="0" tIns="0" rIns="0" bIns="0" rtlCol="0"/>
          <a:lstStyle/>
          <a:p>
            <a:endParaRPr sz="324"/>
          </a:p>
        </p:txBody>
      </p:sp>
      <p:sp>
        <p:nvSpPr>
          <p:cNvPr id="26" name="Freeform: Shape 18">
            <a:extLst>
              <a:ext uri="{FF2B5EF4-FFF2-40B4-BE49-F238E27FC236}">
                <a16:creationId xmlns:a16="http://schemas.microsoft.com/office/drawing/2014/main" id="{884ADAEE-1597-8E47-82BC-53458D14DC8E}"/>
              </a:ext>
            </a:extLst>
          </p:cNvPr>
          <p:cNvSpPr/>
          <p:nvPr userDrawn="1"/>
        </p:nvSpPr>
        <p:spPr>
          <a:xfrm>
            <a:off x="11464152" y="5520073"/>
            <a:ext cx="428117"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sp>
        <p:nvSpPr>
          <p:cNvPr id="13" name="Slide Number Placeholder 5">
            <a:extLst>
              <a:ext uri="{FF2B5EF4-FFF2-40B4-BE49-F238E27FC236}">
                <a16:creationId xmlns:a16="http://schemas.microsoft.com/office/drawing/2014/main" id="{63E59DB7-19F2-4138-817C-7218E090F621}"/>
              </a:ext>
            </a:extLst>
          </p:cNvPr>
          <p:cNvSpPr>
            <a:spLocks noGrp="1"/>
          </p:cNvSpPr>
          <p:nvPr>
            <p:ph type="sldNum" sz="quarter" idx="4"/>
          </p:nvPr>
        </p:nvSpPr>
        <p:spPr>
          <a:xfrm>
            <a:off x="11385223" y="6306043"/>
            <a:ext cx="507046"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sp>
        <p:nvSpPr>
          <p:cNvPr id="12" name="Text Placeholder 6">
            <a:extLst>
              <a:ext uri="{FF2B5EF4-FFF2-40B4-BE49-F238E27FC236}">
                <a16:creationId xmlns:a16="http://schemas.microsoft.com/office/drawing/2014/main" id="{82A8725F-ED17-4D80-B8D0-EAD48AA39683}"/>
              </a:ext>
            </a:extLst>
          </p:cNvPr>
          <p:cNvSpPr>
            <a:spLocks noGrp="1"/>
          </p:cNvSpPr>
          <p:nvPr>
            <p:ph type="body" sz="quarter" idx="24"/>
          </p:nvPr>
        </p:nvSpPr>
        <p:spPr>
          <a:xfrm>
            <a:off x="642892" y="949993"/>
            <a:ext cx="8889911"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sp>
        <p:nvSpPr>
          <p:cNvPr id="14" name="Text Placeholder 2">
            <a:extLst>
              <a:ext uri="{FF2B5EF4-FFF2-40B4-BE49-F238E27FC236}">
                <a16:creationId xmlns:a16="http://schemas.microsoft.com/office/drawing/2014/main" id="{55AD56DD-1D2C-4529-A8BD-57E186A2A864}"/>
              </a:ext>
            </a:extLst>
          </p:cNvPr>
          <p:cNvSpPr>
            <a:spLocks noGrp="1"/>
          </p:cNvSpPr>
          <p:nvPr>
            <p:ph type="body" sz="quarter" idx="25"/>
          </p:nvPr>
        </p:nvSpPr>
        <p:spPr>
          <a:xfrm>
            <a:off x="642892" y="493174"/>
            <a:ext cx="8889911" cy="310341"/>
          </a:xfrm>
          <a:noFill/>
        </p:spPr>
        <p:txBody>
          <a:bodyPr wrap="square" anchor="b" anchorCtr="0">
            <a:spAutoFit/>
          </a:bodyPr>
          <a:lstStyle>
            <a:lvl1pPr marL="0" indent="0">
              <a:lnSpc>
                <a:spcPts val="1674"/>
              </a:lnSpc>
              <a:buNone/>
              <a:defRPr sz="1422" b="1" cap="all" baseline="0">
                <a:solidFill>
                  <a:schemeClr val="tx2"/>
                </a:solidFill>
                <a:latin typeface="+mj-lt"/>
              </a:defRPr>
            </a:lvl1pPr>
          </a:lstStyle>
          <a:p>
            <a:pPr lvl="0"/>
            <a:r>
              <a:rPr lang="fr-FR"/>
              <a:t>Cliquez pour modifier les styles du texte du masque</a:t>
            </a:r>
          </a:p>
        </p:txBody>
      </p:sp>
      <p:pic>
        <p:nvPicPr>
          <p:cNvPr id="2" name="Image 1">
            <a:extLst>
              <a:ext uri="{FF2B5EF4-FFF2-40B4-BE49-F238E27FC236}">
                <a16:creationId xmlns:a16="http://schemas.microsoft.com/office/drawing/2014/main" id="{0A1B01E2-C15A-3CF7-F6D9-DDE643243C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8348" y="6333131"/>
            <a:ext cx="897640" cy="348563"/>
          </a:xfrm>
          <a:prstGeom prst="rect">
            <a:avLst/>
          </a:prstGeom>
        </p:spPr>
      </p:pic>
    </p:spTree>
    <p:extLst>
      <p:ext uri="{BB962C8B-B14F-4D97-AF65-F5344CB8AC3E}">
        <p14:creationId xmlns:p14="http://schemas.microsoft.com/office/powerpoint/2010/main" val="3556859514"/>
      </p:ext>
    </p:extLst>
  </p:cSld>
  <p:clrMapOvr>
    <a:masterClrMapping/>
  </p:clrMapOvr>
  <p:extLst>
    <p:ext uri="{DCECCB84-F9BA-43D5-87BE-67443E8EF086}">
      <p15:sldGuideLst xmlns:p15="http://schemas.microsoft.com/office/powerpoint/2012/main">
        <p15:guide id="1" pos="198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u">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4964151" y="6383574"/>
            <a:ext cx="6066107"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a:off x="548299" y="6190841"/>
            <a:ext cx="11327206" cy="0"/>
          </a:xfrm>
          <a:prstGeom prst="line">
            <a:avLst/>
          </a:prstGeom>
          <a:ln w="6350">
            <a:solidFill>
              <a:srgbClr val="00ABA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F6C3ADF-F096-4438-BE66-66AAE4E43ED2}"/>
              </a:ext>
            </a:extLst>
          </p:cNvPr>
          <p:cNvSpPr>
            <a:spLocks noGrp="1"/>
          </p:cNvSpPr>
          <p:nvPr>
            <p:ph type="body" sz="quarter" idx="24"/>
          </p:nvPr>
        </p:nvSpPr>
        <p:spPr>
          <a:xfrm>
            <a:off x="642892" y="949993"/>
            <a:ext cx="8889911"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pic>
        <p:nvPicPr>
          <p:cNvPr id="3" name="Image 2">
            <a:extLst>
              <a:ext uri="{FF2B5EF4-FFF2-40B4-BE49-F238E27FC236}">
                <a16:creationId xmlns:a16="http://schemas.microsoft.com/office/drawing/2014/main" id="{E197916C-570E-4CAE-9929-2316C6CD88F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flipH="1">
            <a:off x="8563535" y="2341334"/>
            <a:ext cx="3960290" cy="3849511"/>
          </a:xfrm>
          <a:prstGeom prst="rect">
            <a:avLst/>
          </a:prstGeom>
        </p:spPr>
      </p:pic>
      <p:sp>
        <p:nvSpPr>
          <p:cNvPr id="13" name="Text Placeholder 2">
            <a:extLst>
              <a:ext uri="{FF2B5EF4-FFF2-40B4-BE49-F238E27FC236}">
                <a16:creationId xmlns:a16="http://schemas.microsoft.com/office/drawing/2014/main" id="{3F242AEB-66E5-4C18-80F8-A920E60078BE}"/>
              </a:ext>
            </a:extLst>
          </p:cNvPr>
          <p:cNvSpPr>
            <a:spLocks noGrp="1"/>
          </p:cNvSpPr>
          <p:nvPr>
            <p:ph type="body" sz="quarter" idx="25"/>
          </p:nvPr>
        </p:nvSpPr>
        <p:spPr>
          <a:xfrm>
            <a:off x="642892" y="493174"/>
            <a:ext cx="8889911" cy="310341"/>
          </a:xfrm>
          <a:noFill/>
        </p:spPr>
        <p:txBody>
          <a:bodyPr wrap="square" anchor="b" anchorCtr="0">
            <a:spAutoFit/>
          </a:bodyPr>
          <a:lstStyle>
            <a:lvl1pPr marL="0" indent="0">
              <a:lnSpc>
                <a:spcPts val="1674"/>
              </a:lnSpc>
              <a:buNone/>
              <a:defRPr sz="1422" b="1" cap="all" baseline="0">
                <a:solidFill>
                  <a:schemeClr val="tx2"/>
                </a:solidFill>
                <a:latin typeface="+mj-lt"/>
              </a:defRPr>
            </a:lvl1pPr>
          </a:lstStyle>
          <a:p>
            <a:pPr lvl="0"/>
            <a:r>
              <a:rPr lang="fr-FR"/>
              <a:t>Cliquez pour modifier les styles du texte du masque</a:t>
            </a:r>
          </a:p>
        </p:txBody>
      </p:sp>
      <p:sp>
        <p:nvSpPr>
          <p:cNvPr id="9" name="Slide Number Placeholder 5">
            <a:extLst>
              <a:ext uri="{FF2B5EF4-FFF2-40B4-BE49-F238E27FC236}">
                <a16:creationId xmlns:a16="http://schemas.microsoft.com/office/drawing/2014/main" id="{C3A7C692-5AA8-4414-AB31-B6A28EFD7C4B}"/>
              </a:ext>
            </a:extLst>
          </p:cNvPr>
          <p:cNvSpPr>
            <a:spLocks noGrp="1"/>
          </p:cNvSpPr>
          <p:nvPr>
            <p:ph type="sldNum" sz="quarter" idx="4"/>
          </p:nvPr>
        </p:nvSpPr>
        <p:spPr>
          <a:xfrm>
            <a:off x="11385223" y="6306043"/>
            <a:ext cx="507046"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pic>
        <p:nvPicPr>
          <p:cNvPr id="2" name="Image 1">
            <a:extLst>
              <a:ext uri="{FF2B5EF4-FFF2-40B4-BE49-F238E27FC236}">
                <a16:creationId xmlns:a16="http://schemas.microsoft.com/office/drawing/2014/main" id="{AB3136A2-7E64-16A2-22C6-65A47011A6F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48299" y="6314321"/>
            <a:ext cx="897640" cy="348563"/>
          </a:xfrm>
          <a:prstGeom prst="rect">
            <a:avLst/>
          </a:prstGeom>
        </p:spPr>
      </p:pic>
    </p:spTree>
    <p:extLst>
      <p:ext uri="{BB962C8B-B14F-4D97-AF65-F5344CB8AC3E}">
        <p14:creationId xmlns:p14="http://schemas.microsoft.com/office/powerpoint/2010/main" val="4153035872"/>
      </p:ext>
    </p:extLst>
  </p:cSld>
  <p:clrMapOvr>
    <a:masterClrMapping/>
  </p:clrMapOvr>
  <p:extLst>
    <p:ext uri="{DCECCB84-F9BA-43D5-87BE-67443E8EF086}">
      <p15:sldGuideLst xmlns:p15="http://schemas.microsoft.com/office/powerpoint/2012/main">
        <p15:guide id="1" pos="198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u">
    <p:bg>
      <p:bgPr>
        <a:solidFill>
          <a:schemeClr val="accent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E8FBC8EF-24EC-41A3-A1B0-0BE26B8FFFC3}"/>
              </a:ext>
            </a:extLst>
          </p:cNvPr>
          <p:cNvSpPr/>
          <p:nvPr userDrawn="1"/>
        </p:nvSpPr>
        <p:spPr>
          <a:xfrm rot="16200000">
            <a:off x="9511374" y="-253868"/>
            <a:ext cx="469259" cy="976998"/>
          </a:xfrm>
          <a:custGeom>
            <a:avLst/>
            <a:gdLst>
              <a:gd name="connsiteX0" fmla="*/ 1944161 w 1955353"/>
              <a:gd name="connsiteY0" fmla="*/ 0 h 3888324"/>
              <a:gd name="connsiteX1" fmla="*/ 1955353 w 1955353"/>
              <a:gd name="connsiteY1" fmla="*/ 565 h 3888324"/>
              <a:gd name="connsiteX2" fmla="*/ 1955353 w 1955353"/>
              <a:gd name="connsiteY2" fmla="*/ 920897 h 3888324"/>
              <a:gd name="connsiteX3" fmla="*/ 1859379 w 1955353"/>
              <a:gd name="connsiteY3" fmla="*/ 925743 h 3888324"/>
              <a:gd name="connsiteX4" fmla="*/ 940343 w 1955353"/>
              <a:gd name="connsiteY4" fmla="*/ 1944162 h 3888324"/>
              <a:gd name="connsiteX5" fmla="*/ 1859379 w 1955353"/>
              <a:gd name="connsiteY5" fmla="*/ 2962581 h 3888324"/>
              <a:gd name="connsiteX6" fmla="*/ 1955353 w 1955353"/>
              <a:gd name="connsiteY6" fmla="*/ 2967427 h 3888324"/>
              <a:gd name="connsiteX7" fmla="*/ 1955353 w 1955353"/>
              <a:gd name="connsiteY7" fmla="*/ 3887759 h 3888324"/>
              <a:gd name="connsiteX8" fmla="*/ 1944161 w 1955353"/>
              <a:gd name="connsiteY8" fmla="*/ 3888324 h 3888324"/>
              <a:gd name="connsiteX9" fmla="*/ 0 w 1955353"/>
              <a:gd name="connsiteY9" fmla="*/ 1944162 h 3888324"/>
              <a:gd name="connsiteX10" fmla="*/ 1944161 w 1955353"/>
              <a:gd name="connsiteY10" fmla="*/ 0 h 388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55353" h="3888324">
                <a:moveTo>
                  <a:pt x="1944161" y="0"/>
                </a:moveTo>
                <a:lnTo>
                  <a:pt x="1955353" y="565"/>
                </a:lnTo>
                <a:lnTo>
                  <a:pt x="1955353" y="920897"/>
                </a:lnTo>
                <a:lnTo>
                  <a:pt x="1859379" y="925743"/>
                </a:lnTo>
                <a:cubicBezTo>
                  <a:pt x="1343171" y="978167"/>
                  <a:pt x="940343" y="1414122"/>
                  <a:pt x="940343" y="1944162"/>
                </a:cubicBezTo>
                <a:cubicBezTo>
                  <a:pt x="940343" y="2474202"/>
                  <a:pt x="1343171" y="2910157"/>
                  <a:pt x="1859379" y="2962581"/>
                </a:cubicBezTo>
                <a:lnTo>
                  <a:pt x="1955353" y="2967427"/>
                </a:lnTo>
                <a:lnTo>
                  <a:pt x="1955353" y="3887759"/>
                </a:lnTo>
                <a:lnTo>
                  <a:pt x="1944161" y="3888324"/>
                </a:lnTo>
                <a:cubicBezTo>
                  <a:pt x="870431" y="3888324"/>
                  <a:pt x="0" y="3017893"/>
                  <a:pt x="0" y="1944162"/>
                </a:cubicBezTo>
                <a:cubicBezTo>
                  <a:pt x="0" y="870431"/>
                  <a:pt x="870431" y="0"/>
                  <a:pt x="194416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fr-FR" sz="324" dirty="0"/>
              <a:t>  </a:t>
            </a:r>
            <a:endParaRPr lang="en-US" sz="324" dirty="0"/>
          </a:p>
        </p:txBody>
      </p:sp>
      <p:sp>
        <p:nvSpPr>
          <p:cNvPr id="22" name="Footer Placeholder 4">
            <a:extLst>
              <a:ext uri="{FF2B5EF4-FFF2-40B4-BE49-F238E27FC236}">
                <a16:creationId xmlns:a16="http://schemas.microsoft.com/office/drawing/2014/main" id="{41D546E7-FED9-45FC-A609-037815F8450A}"/>
              </a:ext>
            </a:extLst>
          </p:cNvPr>
          <p:cNvSpPr>
            <a:spLocks noGrp="1"/>
          </p:cNvSpPr>
          <p:nvPr>
            <p:ph type="ftr" sz="quarter" idx="3"/>
          </p:nvPr>
        </p:nvSpPr>
        <p:spPr>
          <a:xfrm>
            <a:off x="4965955" y="6383574"/>
            <a:ext cx="6064304" cy="210058"/>
          </a:xfrm>
          <a:prstGeom prst="rect">
            <a:avLst/>
          </a:prstGeom>
        </p:spPr>
        <p:txBody>
          <a:bodyPr vert="horz" wrap="square" lIns="91440" tIns="45720" rIns="91440" bIns="45720" rtlCol="0" anchor="ctr">
            <a:spAutoFit/>
          </a:bodyPr>
          <a:lstStyle>
            <a:lvl1pPr algn="r">
              <a:defRPr sz="765">
                <a:solidFill>
                  <a:schemeClr val="tx1"/>
                </a:solidFill>
                <a:latin typeface="Arial" panose="020B0604020202020204" pitchFamily="34" charset="0"/>
                <a:cs typeface="Arial" panose="020B0604020202020204" pitchFamily="34" charset="0"/>
              </a:defRPr>
            </a:lvl1pPr>
          </a:lstStyle>
          <a:p>
            <a:r>
              <a:rPr lang="fr-FR" dirty="0"/>
              <a:t>Motif de la présentation | Lieu | Date</a:t>
            </a:r>
            <a:endParaRPr lang="en-US" dirty="0"/>
          </a:p>
        </p:txBody>
      </p:sp>
      <p:sp>
        <p:nvSpPr>
          <p:cNvPr id="23" name="Slide Number Placeholder 5">
            <a:extLst>
              <a:ext uri="{FF2B5EF4-FFF2-40B4-BE49-F238E27FC236}">
                <a16:creationId xmlns:a16="http://schemas.microsoft.com/office/drawing/2014/main" id="{3252315C-5F2D-4461-8B3E-D924E9D00DE0}"/>
              </a:ext>
            </a:extLst>
          </p:cNvPr>
          <p:cNvSpPr>
            <a:spLocks noGrp="1"/>
          </p:cNvSpPr>
          <p:nvPr>
            <p:ph type="sldNum" sz="quarter" idx="4"/>
          </p:nvPr>
        </p:nvSpPr>
        <p:spPr>
          <a:xfrm>
            <a:off x="11385373" y="6306043"/>
            <a:ext cx="506895" cy="365125"/>
          </a:xfrm>
          <a:prstGeom prst="rect">
            <a:avLst/>
          </a:prstGeom>
        </p:spPr>
        <p:txBody>
          <a:bodyPr vert="horz" lIns="91440" tIns="45720" rIns="0" bIns="45720" rtlCol="0" anchor="ctr"/>
          <a:lstStyle>
            <a:lvl1pPr algn="r">
              <a:defRPr sz="900" b="1">
                <a:solidFill>
                  <a:schemeClr val="tx1"/>
                </a:solidFill>
                <a:latin typeface="Arial" panose="020B0604020202020204" pitchFamily="34" charset="0"/>
                <a:cs typeface="Arial" panose="020B0604020202020204" pitchFamily="34" charset="0"/>
              </a:defRPr>
            </a:lvl1pPr>
          </a:lstStyle>
          <a:p>
            <a:fld id="{C3614A4D-4352-4428-A1E5-77B191896878}" type="slidenum">
              <a:rPr lang="en-US" smtClean="0"/>
              <a:pPr/>
              <a:t>‹N°›</a:t>
            </a:fld>
            <a:endParaRPr lang="en-US" dirty="0"/>
          </a:p>
        </p:txBody>
      </p:sp>
      <p:cxnSp>
        <p:nvCxnSpPr>
          <p:cNvPr id="31" name="Straight Connector 30">
            <a:extLst>
              <a:ext uri="{FF2B5EF4-FFF2-40B4-BE49-F238E27FC236}">
                <a16:creationId xmlns:a16="http://schemas.microsoft.com/office/drawing/2014/main" id="{20E03D9D-BEE9-4545-A905-4B5230C433A8}"/>
              </a:ext>
            </a:extLst>
          </p:cNvPr>
          <p:cNvCxnSpPr>
            <a:cxnSpLocks/>
          </p:cNvCxnSpPr>
          <p:nvPr userDrawn="1"/>
        </p:nvCxnSpPr>
        <p:spPr>
          <a:xfrm flipV="1">
            <a:off x="556577" y="6190841"/>
            <a:ext cx="11318928"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Freeform: Shape 18">
            <a:extLst>
              <a:ext uri="{FF2B5EF4-FFF2-40B4-BE49-F238E27FC236}">
                <a16:creationId xmlns:a16="http://schemas.microsoft.com/office/drawing/2014/main" id="{884ADAEE-1597-8E47-82BC-53458D14DC8E}"/>
              </a:ext>
            </a:extLst>
          </p:cNvPr>
          <p:cNvSpPr/>
          <p:nvPr userDrawn="1"/>
        </p:nvSpPr>
        <p:spPr>
          <a:xfrm>
            <a:off x="11464279" y="5479840"/>
            <a:ext cx="427990" cy="408780"/>
          </a:xfrm>
          <a:custGeom>
            <a:avLst/>
            <a:gdLst>
              <a:gd name="connsiteX0" fmla="*/ 845436 w 1703344"/>
              <a:gd name="connsiteY0" fmla="*/ 0 h 1703343"/>
              <a:gd name="connsiteX1" fmla="*/ 1703344 w 1703344"/>
              <a:gd name="connsiteY1" fmla="*/ 0 h 1703343"/>
              <a:gd name="connsiteX2" fmla="*/ 1703344 w 1703344"/>
              <a:gd name="connsiteY2" fmla="*/ 861219 h 1703343"/>
              <a:gd name="connsiteX3" fmla="*/ 1703344 w 1703344"/>
              <a:gd name="connsiteY3" fmla="*/ 1703343 h 1703343"/>
              <a:gd name="connsiteX4" fmla="*/ 1703344 w 1703344"/>
              <a:gd name="connsiteY4" fmla="*/ 1703343 h 1703343"/>
              <a:gd name="connsiteX5" fmla="*/ 845436 w 1703344"/>
              <a:gd name="connsiteY5" fmla="*/ 1703343 h 1703343"/>
              <a:gd name="connsiteX6" fmla="*/ 845436 w 1703344"/>
              <a:gd name="connsiteY6" fmla="*/ 1703343 h 1703343"/>
              <a:gd name="connsiteX7" fmla="*/ 0 w 1703344"/>
              <a:gd name="connsiteY7" fmla="*/ 1703343 h 1703343"/>
              <a:gd name="connsiteX8" fmla="*/ 0 w 1703344"/>
              <a:gd name="connsiteY8" fmla="*/ 861219 h 1703343"/>
              <a:gd name="connsiteX9" fmla="*/ 845436 w 1703344"/>
              <a:gd name="connsiteY9" fmla="*/ 861219 h 170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3344" h="1703343">
                <a:moveTo>
                  <a:pt x="845436" y="0"/>
                </a:moveTo>
                <a:lnTo>
                  <a:pt x="1703344" y="0"/>
                </a:lnTo>
                <a:lnTo>
                  <a:pt x="1703344" y="861219"/>
                </a:lnTo>
                <a:lnTo>
                  <a:pt x="1703344" y="1703343"/>
                </a:lnTo>
                <a:lnTo>
                  <a:pt x="1703344" y="1703343"/>
                </a:lnTo>
                <a:lnTo>
                  <a:pt x="845436" y="1703343"/>
                </a:lnTo>
                <a:lnTo>
                  <a:pt x="845436" y="1703343"/>
                </a:lnTo>
                <a:lnTo>
                  <a:pt x="0" y="1703343"/>
                </a:lnTo>
                <a:lnTo>
                  <a:pt x="0" y="861219"/>
                </a:lnTo>
                <a:lnTo>
                  <a:pt x="845436" y="8612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4"/>
          </a:p>
        </p:txBody>
      </p:sp>
      <p:pic>
        <p:nvPicPr>
          <p:cNvPr id="12" name="Image 11">
            <a:extLst>
              <a:ext uri="{FF2B5EF4-FFF2-40B4-BE49-F238E27FC236}">
                <a16:creationId xmlns:a16="http://schemas.microsoft.com/office/drawing/2014/main" id="{62378792-3ADD-6940-8BD9-7A7B5A09220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b="-22847"/>
          <a:stretch/>
        </p:blipFill>
        <p:spPr>
          <a:xfrm>
            <a:off x="556577" y="6305879"/>
            <a:ext cx="940011" cy="426986"/>
          </a:xfrm>
          <a:prstGeom prst="rect">
            <a:avLst/>
          </a:prstGeom>
        </p:spPr>
      </p:pic>
      <p:pic>
        <p:nvPicPr>
          <p:cNvPr id="10" name="Image 9">
            <a:extLst>
              <a:ext uri="{FF2B5EF4-FFF2-40B4-BE49-F238E27FC236}">
                <a16:creationId xmlns:a16="http://schemas.microsoft.com/office/drawing/2014/main" id="{80C119EC-EEE9-4156-BEF6-AA1E3C6B423C}"/>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rot="5400000">
            <a:off x="9050176" y="3049017"/>
            <a:ext cx="3250096" cy="3033553"/>
          </a:xfrm>
          <a:prstGeom prst="rect">
            <a:avLst/>
          </a:prstGeom>
          <a:ln>
            <a:noFill/>
          </a:ln>
        </p:spPr>
      </p:pic>
      <p:sp>
        <p:nvSpPr>
          <p:cNvPr id="11" name="Text Placeholder 2">
            <a:extLst>
              <a:ext uri="{FF2B5EF4-FFF2-40B4-BE49-F238E27FC236}">
                <a16:creationId xmlns:a16="http://schemas.microsoft.com/office/drawing/2014/main" id="{3A181DB1-3D99-4D77-A534-98FD7F71DF84}"/>
              </a:ext>
            </a:extLst>
          </p:cNvPr>
          <p:cNvSpPr>
            <a:spLocks noGrp="1"/>
          </p:cNvSpPr>
          <p:nvPr>
            <p:ph type="body" sz="quarter" idx="25"/>
          </p:nvPr>
        </p:nvSpPr>
        <p:spPr>
          <a:xfrm>
            <a:off x="670474" y="461141"/>
            <a:ext cx="8887268" cy="310341"/>
          </a:xfrm>
          <a:noFill/>
        </p:spPr>
        <p:txBody>
          <a:bodyPr wrap="square" anchor="b" anchorCtr="0">
            <a:spAutoFit/>
          </a:bodyPr>
          <a:lstStyle>
            <a:lvl1pPr marL="0" indent="0">
              <a:lnSpc>
                <a:spcPts val="1674"/>
              </a:lnSpc>
              <a:buNone/>
              <a:defRPr sz="1800" b="1" cap="all" baseline="0">
                <a:solidFill>
                  <a:schemeClr val="tx1"/>
                </a:solidFill>
                <a:latin typeface="+mj-lt"/>
              </a:defRPr>
            </a:lvl1pPr>
          </a:lstStyle>
          <a:p>
            <a:pPr lvl="0"/>
            <a:r>
              <a:rPr lang="fr-FR"/>
              <a:t>Cliquez pour modifier les styles du texte du masque</a:t>
            </a:r>
          </a:p>
        </p:txBody>
      </p:sp>
      <p:sp>
        <p:nvSpPr>
          <p:cNvPr id="13" name="Text Placeholder 6">
            <a:extLst>
              <a:ext uri="{FF2B5EF4-FFF2-40B4-BE49-F238E27FC236}">
                <a16:creationId xmlns:a16="http://schemas.microsoft.com/office/drawing/2014/main" id="{017D1AAA-3758-498E-9B38-6E4D8881D481}"/>
              </a:ext>
            </a:extLst>
          </p:cNvPr>
          <p:cNvSpPr>
            <a:spLocks noGrp="1"/>
          </p:cNvSpPr>
          <p:nvPr>
            <p:ph type="body" sz="quarter" idx="24"/>
          </p:nvPr>
        </p:nvSpPr>
        <p:spPr>
          <a:xfrm>
            <a:off x="670474" y="1200532"/>
            <a:ext cx="8887268" cy="420628"/>
          </a:xfrm>
        </p:spPr>
        <p:txBody>
          <a:bodyPr wrap="square">
            <a:spAutoFit/>
          </a:bodyPr>
          <a:lstStyle>
            <a:lvl1pPr marL="0" indent="0">
              <a:buNone/>
              <a:defRPr sz="1000"/>
            </a:lvl1pPr>
            <a:lvl2pPr marL="0" indent="-107997">
              <a:defRPr sz="1000"/>
            </a:lvl2pPr>
          </a:lstStyle>
          <a:p>
            <a:pPr lvl="0"/>
            <a:r>
              <a:rPr lang="fr-FR"/>
              <a:t>Cliquez pour modifier les styles du texte du masque</a:t>
            </a:r>
          </a:p>
          <a:p>
            <a:pPr lvl="1"/>
            <a:r>
              <a:rPr lang="fr-FR"/>
              <a:t>Deuxième niveau</a:t>
            </a:r>
          </a:p>
        </p:txBody>
      </p:sp>
      <p:grpSp>
        <p:nvGrpSpPr>
          <p:cNvPr id="14" name="Groupe 156">
            <a:extLst>
              <a:ext uri="{FF2B5EF4-FFF2-40B4-BE49-F238E27FC236}">
                <a16:creationId xmlns:a16="http://schemas.microsoft.com/office/drawing/2014/main" id="{09C152B0-7B14-4FA9-81F2-6B3C1510C2FA}"/>
              </a:ext>
            </a:extLst>
          </p:cNvPr>
          <p:cNvGrpSpPr/>
          <p:nvPr userDrawn="1"/>
        </p:nvGrpSpPr>
        <p:grpSpPr>
          <a:xfrm rot="16200000">
            <a:off x="-167773" y="5058296"/>
            <a:ext cx="899813" cy="521431"/>
            <a:chOff x="3230833" y="6645"/>
            <a:chExt cx="902409" cy="499560"/>
          </a:xfrm>
        </p:grpSpPr>
        <p:sp>
          <p:nvSpPr>
            <p:cNvPr id="15" name="object 23">
              <a:extLst>
                <a:ext uri="{FF2B5EF4-FFF2-40B4-BE49-F238E27FC236}">
                  <a16:creationId xmlns:a16="http://schemas.microsoft.com/office/drawing/2014/main" id="{545F1CEB-C1E1-460E-952D-D9F40530EAD9}"/>
                </a:ext>
              </a:extLst>
            </p:cNvPr>
            <p:cNvSpPr/>
            <p:nvPr/>
          </p:nvSpPr>
          <p:spPr>
            <a:xfrm>
              <a:off x="3230833" y="6645"/>
              <a:ext cx="20320" cy="20320"/>
            </a:xfrm>
            <a:custGeom>
              <a:avLst/>
              <a:gdLst/>
              <a:ahLst/>
              <a:cxnLst/>
              <a:rect l="l" t="t" r="r" b="b"/>
              <a:pathLst>
                <a:path w="20319"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6" name="object 24">
              <a:extLst>
                <a:ext uri="{FF2B5EF4-FFF2-40B4-BE49-F238E27FC236}">
                  <a16:creationId xmlns:a16="http://schemas.microsoft.com/office/drawing/2014/main" id="{988AA709-5281-406A-8D8E-C29D46512673}"/>
                </a:ext>
              </a:extLst>
            </p:cNvPr>
            <p:cNvSpPr/>
            <p:nvPr/>
          </p:nvSpPr>
          <p:spPr>
            <a:xfrm>
              <a:off x="3282721"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7" name="object 25">
              <a:extLst>
                <a:ext uri="{FF2B5EF4-FFF2-40B4-BE49-F238E27FC236}">
                  <a16:creationId xmlns:a16="http://schemas.microsoft.com/office/drawing/2014/main" id="{CFC72AEF-4E23-4EB2-B404-2B7FF6292570}"/>
                </a:ext>
              </a:extLst>
            </p:cNvPr>
            <p:cNvSpPr/>
            <p:nvPr/>
          </p:nvSpPr>
          <p:spPr>
            <a:xfrm>
              <a:off x="3334608"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8" name="object 26">
              <a:extLst>
                <a:ext uri="{FF2B5EF4-FFF2-40B4-BE49-F238E27FC236}">
                  <a16:creationId xmlns:a16="http://schemas.microsoft.com/office/drawing/2014/main" id="{0BFF7F20-EC01-4E1A-BE0B-C398B8951F66}"/>
                </a:ext>
              </a:extLst>
            </p:cNvPr>
            <p:cNvSpPr/>
            <p:nvPr/>
          </p:nvSpPr>
          <p:spPr>
            <a:xfrm>
              <a:off x="338649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0" name="object 27">
              <a:extLst>
                <a:ext uri="{FF2B5EF4-FFF2-40B4-BE49-F238E27FC236}">
                  <a16:creationId xmlns:a16="http://schemas.microsoft.com/office/drawing/2014/main" id="{5918D399-A461-4B17-9FD1-F8133B669CAC}"/>
                </a:ext>
              </a:extLst>
            </p:cNvPr>
            <p:cNvSpPr/>
            <p:nvPr/>
          </p:nvSpPr>
          <p:spPr>
            <a:xfrm>
              <a:off x="3438383" y="6645"/>
              <a:ext cx="6350" cy="19685"/>
            </a:xfrm>
            <a:custGeom>
              <a:avLst/>
              <a:gdLst/>
              <a:ahLst/>
              <a:cxnLst/>
              <a:rect l="l" t="t" r="r" b="b"/>
              <a:pathLst>
                <a:path w="6350" h="19684">
                  <a:moveTo>
                    <a:pt x="5740" y="0"/>
                  </a:moveTo>
                  <a:lnTo>
                    <a:pt x="4521" y="0"/>
                  </a:lnTo>
                  <a:lnTo>
                    <a:pt x="0" y="4508"/>
                  </a:lnTo>
                  <a:lnTo>
                    <a:pt x="0" y="15659"/>
                  </a:lnTo>
                  <a:lnTo>
                    <a:pt x="3639" y="19288"/>
                  </a:lnTo>
                  <a:lnTo>
                    <a:pt x="3963" y="14412"/>
                  </a:lnTo>
                  <a:lnTo>
                    <a:pt x="5143" y="3810"/>
                  </a:lnTo>
                  <a:lnTo>
                    <a:pt x="5740" y="0"/>
                  </a:lnTo>
                  <a:close/>
                </a:path>
              </a:pathLst>
            </a:custGeom>
            <a:solidFill>
              <a:srgbClr val="FFFFFF"/>
            </a:solidFill>
          </p:spPr>
          <p:txBody>
            <a:bodyPr wrap="square" lIns="0" tIns="0" rIns="0" bIns="0" rtlCol="0"/>
            <a:lstStyle/>
            <a:p>
              <a:endParaRPr sz="324"/>
            </a:p>
          </p:txBody>
        </p:sp>
        <p:sp>
          <p:nvSpPr>
            <p:cNvPr id="21" name="object 28">
              <a:extLst>
                <a:ext uri="{FF2B5EF4-FFF2-40B4-BE49-F238E27FC236}">
                  <a16:creationId xmlns:a16="http://schemas.microsoft.com/office/drawing/2014/main" id="{3E5A5C7B-B409-4C66-8035-E486CEABCBD4}"/>
                </a:ext>
              </a:extLst>
            </p:cNvPr>
            <p:cNvSpPr/>
            <p:nvPr/>
          </p:nvSpPr>
          <p:spPr>
            <a:xfrm>
              <a:off x="3919823" y="6645"/>
              <a:ext cx="6350" cy="19685"/>
            </a:xfrm>
            <a:custGeom>
              <a:avLst/>
              <a:gdLst/>
              <a:ahLst/>
              <a:cxnLst/>
              <a:rect l="l" t="t" r="r" b="b"/>
              <a:pathLst>
                <a:path w="6350" h="19684">
                  <a:moveTo>
                    <a:pt x="1207" y="0"/>
                  </a:moveTo>
                  <a:lnTo>
                    <a:pt x="0" y="0"/>
                  </a:lnTo>
                  <a:lnTo>
                    <a:pt x="611" y="3923"/>
                  </a:lnTo>
                  <a:lnTo>
                    <a:pt x="1789" y="14559"/>
                  </a:lnTo>
                  <a:lnTo>
                    <a:pt x="2101" y="19276"/>
                  </a:lnTo>
                  <a:lnTo>
                    <a:pt x="5728" y="15659"/>
                  </a:lnTo>
                  <a:lnTo>
                    <a:pt x="5728" y="4508"/>
                  </a:lnTo>
                  <a:lnTo>
                    <a:pt x="1207" y="0"/>
                  </a:lnTo>
                  <a:close/>
                </a:path>
              </a:pathLst>
            </a:custGeom>
            <a:solidFill>
              <a:srgbClr val="FFFFFF"/>
            </a:solidFill>
          </p:spPr>
          <p:txBody>
            <a:bodyPr wrap="square" lIns="0" tIns="0" rIns="0" bIns="0" rtlCol="0"/>
            <a:lstStyle/>
            <a:p>
              <a:endParaRPr sz="324"/>
            </a:p>
          </p:txBody>
        </p:sp>
        <p:sp>
          <p:nvSpPr>
            <p:cNvPr id="24" name="object 29">
              <a:extLst>
                <a:ext uri="{FF2B5EF4-FFF2-40B4-BE49-F238E27FC236}">
                  <a16:creationId xmlns:a16="http://schemas.microsoft.com/office/drawing/2014/main" id="{5473999C-BB70-4A4C-8AFE-3FBA9BA55317}"/>
                </a:ext>
              </a:extLst>
            </p:cNvPr>
            <p:cNvSpPr/>
            <p:nvPr/>
          </p:nvSpPr>
          <p:spPr>
            <a:xfrm>
              <a:off x="3957259"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7" name="object 30">
              <a:extLst>
                <a:ext uri="{FF2B5EF4-FFF2-40B4-BE49-F238E27FC236}">
                  <a16:creationId xmlns:a16="http://schemas.microsoft.com/office/drawing/2014/main" id="{FD8DA6FE-2BF5-477C-BA06-F40B2D2E2CC9}"/>
                </a:ext>
              </a:extLst>
            </p:cNvPr>
            <p:cNvSpPr/>
            <p:nvPr/>
          </p:nvSpPr>
          <p:spPr>
            <a:xfrm>
              <a:off x="4009145"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8" name="object 31">
              <a:extLst>
                <a:ext uri="{FF2B5EF4-FFF2-40B4-BE49-F238E27FC236}">
                  <a16:creationId xmlns:a16="http://schemas.microsoft.com/office/drawing/2014/main" id="{DA371106-1FFD-4972-BA86-FF43CEA28E82}"/>
                </a:ext>
              </a:extLst>
            </p:cNvPr>
            <p:cNvSpPr/>
            <p:nvPr/>
          </p:nvSpPr>
          <p:spPr>
            <a:xfrm>
              <a:off x="4061034"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29" name="object 32">
              <a:extLst>
                <a:ext uri="{FF2B5EF4-FFF2-40B4-BE49-F238E27FC236}">
                  <a16:creationId xmlns:a16="http://schemas.microsoft.com/office/drawing/2014/main" id="{CD428232-CC88-4441-88B0-22DC8A345813}"/>
                </a:ext>
              </a:extLst>
            </p:cNvPr>
            <p:cNvSpPr/>
            <p:nvPr/>
          </p:nvSpPr>
          <p:spPr>
            <a:xfrm>
              <a:off x="4112922" y="664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0" name="object 33">
              <a:extLst>
                <a:ext uri="{FF2B5EF4-FFF2-40B4-BE49-F238E27FC236}">
                  <a16:creationId xmlns:a16="http://schemas.microsoft.com/office/drawing/2014/main" id="{01957A87-08D1-454C-9BED-7D127B9B6E06}"/>
                </a:ext>
              </a:extLst>
            </p:cNvPr>
            <p:cNvSpPr/>
            <p:nvPr/>
          </p:nvSpPr>
          <p:spPr>
            <a:xfrm>
              <a:off x="3230833" y="54569"/>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2" name="object 34">
              <a:extLst>
                <a:ext uri="{FF2B5EF4-FFF2-40B4-BE49-F238E27FC236}">
                  <a16:creationId xmlns:a16="http://schemas.microsoft.com/office/drawing/2014/main" id="{F7EAA056-0E59-4904-94C8-4E72544DDA32}"/>
                </a:ext>
              </a:extLst>
            </p:cNvPr>
            <p:cNvSpPr/>
            <p:nvPr/>
          </p:nvSpPr>
          <p:spPr>
            <a:xfrm>
              <a:off x="3282721"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3" name="object 35">
              <a:extLst>
                <a:ext uri="{FF2B5EF4-FFF2-40B4-BE49-F238E27FC236}">
                  <a16:creationId xmlns:a16="http://schemas.microsoft.com/office/drawing/2014/main" id="{1C14294E-2EEB-4148-A5A5-1ECA6ABFECB4}"/>
                </a:ext>
              </a:extLst>
            </p:cNvPr>
            <p:cNvSpPr/>
            <p:nvPr/>
          </p:nvSpPr>
          <p:spPr>
            <a:xfrm>
              <a:off x="3334608"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4" name="object 36">
              <a:extLst>
                <a:ext uri="{FF2B5EF4-FFF2-40B4-BE49-F238E27FC236}">
                  <a16:creationId xmlns:a16="http://schemas.microsoft.com/office/drawing/2014/main" id="{B0EFF8CD-E370-4FB7-99FE-CD609DAF9086}"/>
                </a:ext>
              </a:extLst>
            </p:cNvPr>
            <p:cNvSpPr/>
            <p:nvPr/>
          </p:nvSpPr>
          <p:spPr>
            <a:xfrm>
              <a:off x="338649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5" name="object 37">
              <a:extLst>
                <a:ext uri="{FF2B5EF4-FFF2-40B4-BE49-F238E27FC236}">
                  <a16:creationId xmlns:a16="http://schemas.microsoft.com/office/drawing/2014/main" id="{6C7185E4-1342-4E79-A067-748CE40102BD}"/>
                </a:ext>
              </a:extLst>
            </p:cNvPr>
            <p:cNvSpPr/>
            <p:nvPr/>
          </p:nvSpPr>
          <p:spPr>
            <a:xfrm>
              <a:off x="3438383" y="54849"/>
              <a:ext cx="6350" cy="20320"/>
            </a:xfrm>
            <a:custGeom>
              <a:avLst/>
              <a:gdLst/>
              <a:ahLst/>
              <a:cxnLst/>
              <a:rect l="l" t="t" r="r" b="b"/>
              <a:pathLst>
                <a:path w="6350" h="20319">
                  <a:moveTo>
                    <a:pt x="4239" y="0"/>
                  </a:moveTo>
                  <a:lnTo>
                    <a:pt x="0" y="4228"/>
                  </a:lnTo>
                  <a:lnTo>
                    <a:pt x="0" y="15378"/>
                  </a:lnTo>
                  <a:lnTo>
                    <a:pt x="4521" y="19887"/>
                  </a:lnTo>
                  <a:lnTo>
                    <a:pt x="6244" y="19887"/>
                  </a:lnTo>
                  <a:lnTo>
                    <a:pt x="4239" y="0"/>
                  </a:lnTo>
                  <a:close/>
                </a:path>
              </a:pathLst>
            </a:custGeom>
            <a:solidFill>
              <a:srgbClr val="FFFFFF"/>
            </a:solidFill>
          </p:spPr>
          <p:txBody>
            <a:bodyPr wrap="square" lIns="0" tIns="0" rIns="0" bIns="0" rtlCol="0"/>
            <a:lstStyle/>
            <a:p>
              <a:endParaRPr sz="324"/>
            </a:p>
          </p:txBody>
        </p:sp>
        <p:sp>
          <p:nvSpPr>
            <p:cNvPr id="36" name="object 38">
              <a:extLst>
                <a:ext uri="{FF2B5EF4-FFF2-40B4-BE49-F238E27FC236}">
                  <a16:creationId xmlns:a16="http://schemas.microsoft.com/office/drawing/2014/main" id="{04BBF8D5-BA01-4D6E-BFD8-97E8A8DE2E04}"/>
                </a:ext>
              </a:extLst>
            </p:cNvPr>
            <p:cNvSpPr/>
            <p:nvPr/>
          </p:nvSpPr>
          <p:spPr>
            <a:xfrm>
              <a:off x="3919325" y="54866"/>
              <a:ext cx="6350" cy="20320"/>
            </a:xfrm>
            <a:custGeom>
              <a:avLst/>
              <a:gdLst/>
              <a:ahLst/>
              <a:cxnLst/>
              <a:rect l="l" t="t" r="r" b="b"/>
              <a:pathLst>
                <a:path w="6350" h="20319">
                  <a:moveTo>
                    <a:pt x="2003" y="0"/>
                  </a:moveTo>
                  <a:lnTo>
                    <a:pt x="0" y="19870"/>
                  </a:lnTo>
                  <a:lnTo>
                    <a:pt x="1704" y="19870"/>
                  </a:lnTo>
                  <a:lnTo>
                    <a:pt x="6226" y="15361"/>
                  </a:lnTo>
                  <a:lnTo>
                    <a:pt x="6226" y="4211"/>
                  </a:lnTo>
                  <a:lnTo>
                    <a:pt x="2003" y="0"/>
                  </a:lnTo>
                  <a:close/>
                </a:path>
              </a:pathLst>
            </a:custGeom>
            <a:solidFill>
              <a:srgbClr val="FFFFFF"/>
            </a:solidFill>
          </p:spPr>
          <p:txBody>
            <a:bodyPr wrap="square" lIns="0" tIns="0" rIns="0" bIns="0" rtlCol="0"/>
            <a:lstStyle/>
            <a:p>
              <a:endParaRPr sz="324"/>
            </a:p>
          </p:txBody>
        </p:sp>
        <p:sp>
          <p:nvSpPr>
            <p:cNvPr id="37" name="object 39">
              <a:extLst>
                <a:ext uri="{FF2B5EF4-FFF2-40B4-BE49-F238E27FC236}">
                  <a16:creationId xmlns:a16="http://schemas.microsoft.com/office/drawing/2014/main" id="{DADCC5B8-BD21-46C0-B488-3566C46A8D93}"/>
                </a:ext>
              </a:extLst>
            </p:cNvPr>
            <p:cNvSpPr/>
            <p:nvPr/>
          </p:nvSpPr>
          <p:spPr>
            <a:xfrm>
              <a:off x="3957259"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8" name="object 40">
              <a:extLst>
                <a:ext uri="{FF2B5EF4-FFF2-40B4-BE49-F238E27FC236}">
                  <a16:creationId xmlns:a16="http://schemas.microsoft.com/office/drawing/2014/main" id="{C3ACCA9D-FE0D-4F92-A2A2-4D030772F75B}"/>
                </a:ext>
              </a:extLst>
            </p:cNvPr>
            <p:cNvSpPr/>
            <p:nvPr/>
          </p:nvSpPr>
          <p:spPr>
            <a:xfrm>
              <a:off x="4009145"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39" name="object 41">
              <a:extLst>
                <a:ext uri="{FF2B5EF4-FFF2-40B4-BE49-F238E27FC236}">
                  <a16:creationId xmlns:a16="http://schemas.microsoft.com/office/drawing/2014/main" id="{1B22648B-6A42-4949-B373-1B43567BC8A1}"/>
                </a:ext>
              </a:extLst>
            </p:cNvPr>
            <p:cNvSpPr/>
            <p:nvPr/>
          </p:nvSpPr>
          <p:spPr>
            <a:xfrm>
              <a:off x="4061034"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0" name="object 42">
              <a:extLst>
                <a:ext uri="{FF2B5EF4-FFF2-40B4-BE49-F238E27FC236}">
                  <a16:creationId xmlns:a16="http://schemas.microsoft.com/office/drawing/2014/main" id="{7D6F0AB2-0F2F-48FE-9B69-8CB5E571A1AF}"/>
                </a:ext>
              </a:extLst>
            </p:cNvPr>
            <p:cNvSpPr/>
            <p:nvPr/>
          </p:nvSpPr>
          <p:spPr>
            <a:xfrm>
              <a:off x="4112922" y="54569"/>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1" name="object 43">
              <a:extLst>
                <a:ext uri="{FF2B5EF4-FFF2-40B4-BE49-F238E27FC236}">
                  <a16:creationId xmlns:a16="http://schemas.microsoft.com/office/drawing/2014/main" id="{D24D43F4-872C-4D03-A0BA-5E9DB0AB7CA6}"/>
                </a:ext>
              </a:extLst>
            </p:cNvPr>
            <p:cNvSpPr/>
            <p:nvPr/>
          </p:nvSpPr>
          <p:spPr>
            <a:xfrm>
              <a:off x="3230833" y="102494"/>
              <a:ext cx="20320" cy="20320"/>
            </a:xfrm>
            <a:custGeom>
              <a:avLst/>
              <a:gdLst/>
              <a:ahLst/>
              <a:cxnLst/>
              <a:rect l="l" t="t" r="r" b="b"/>
              <a:pathLst>
                <a:path w="20319"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2" name="object 44">
              <a:extLst>
                <a:ext uri="{FF2B5EF4-FFF2-40B4-BE49-F238E27FC236}">
                  <a16:creationId xmlns:a16="http://schemas.microsoft.com/office/drawing/2014/main" id="{E1EC918D-41C0-41EE-BFAC-9F3FD4F6E6A4}"/>
                </a:ext>
              </a:extLst>
            </p:cNvPr>
            <p:cNvSpPr/>
            <p:nvPr/>
          </p:nvSpPr>
          <p:spPr>
            <a:xfrm>
              <a:off x="3282721"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3" name="object 45">
              <a:extLst>
                <a:ext uri="{FF2B5EF4-FFF2-40B4-BE49-F238E27FC236}">
                  <a16:creationId xmlns:a16="http://schemas.microsoft.com/office/drawing/2014/main" id="{0E2B2519-840E-4240-A6CA-25871131A2A9}"/>
                </a:ext>
              </a:extLst>
            </p:cNvPr>
            <p:cNvSpPr/>
            <p:nvPr/>
          </p:nvSpPr>
          <p:spPr>
            <a:xfrm>
              <a:off x="3334608"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4" name="object 46">
              <a:extLst>
                <a:ext uri="{FF2B5EF4-FFF2-40B4-BE49-F238E27FC236}">
                  <a16:creationId xmlns:a16="http://schemas.microsoft.com/office/drawing/2014/main" id="{0C444211-365D-4C28-B15F-010FCEEA7F98}"/>
                </a:ext>
              </a:extLst>
            </p:cNvPr>
            <p:cNvSpPr/>
            <p:nvPr/>
          </p:nvSpPr>
          <p:spPr>
            <a:xfrm>
              <a:off x="338649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5" name="object 47">
              <a:extLst>
                <a:ext uri="{FF2B5EF4-FFF2-40B4-BE49-F238E27FC236}">
                  <a16:creationId xmlns:a16="http://schemas.microsoft.com/office/drawing/2014/main" id="{1A42C1A2-ECDF-463F-914E-AD54C3A37417}"/>
                </a:ext>
              </a:extLst>
            </p:cNvPr>
            <p:cNvSpPr/>
            <p:nvPr/>
          </p:nvSpPr>
          <p:spPr>
            <a:xfrm>
              <a:off x="3438383" y="102494"/>
              <a:ext cx="17780" cy="20320"/>
            </a:xfrm>
            <a:custGeom>
              <a:avLst/>
              <a:gdLst/>
              <a:ahLst/>
              <a:cxnLst/>
              <a:rect l="l" t="t" r="r" b="b"/>
              <a:pathLst>
                <a:path w="17779" h="20319">
                  <a:moveTo>
                    <a:pt x="11421" y="0"/>
                  </a:moveTo>
                  <a:lnTo>
                    <a:pt x="4521" y="0"/>
                  </a:lnTo>
                  <a:lnTo>
                    <a:pt x="0" y="4508"/>
                  </a:lnTo>
                  <a:lnTo>
                    <a:pt x="0" y="15659"/>
                  </a:lnTo>
                  <a:lnTo>
                    <a:pt x="4521" y="20167"/>
                  </a:lnTo>
                  <a:lnTo>
                    <a:pt x="15659" y="20167"/>
                  </a:lnTo>
                  <a:lnTo>
                    <a:pt x="17203" y="18627"/>
                  </a:lnTo>
                  <a:lnTo>
                    <a:pt x="11421" y="0"/>
                  </a:lnTo>
                  <a:close/>
                </a:path>
              </a:pathLst>
            </a:custGeom>
            <a:solidFill>
              <a:srgbClr val="FFFFFF"/>
            </a:solidFill>
          </p:spPr>
          <p:txBody>
            <a:bodyPr wrap="square" lIns="0" tIns="0" rIns="0" bIns="0" rtlCol="0"/>
            <a:lstStyle/>
            <a:p>
              <a:endParaRPr sz="324"/>
            </a:p>
          </p:txBody>
        </p:sp>
        <p:sp>
          <p:nvSpPr>
            <p:cNvPr id="46" name="object 48">
              <a:extLst>
                <a:ext uri="{FF2B5EF4-FFF2-40B4-BE49-F238E27FC236}">
                  <a16:creationId xmlns:a16="http://schemas.microsoft.com/office/drawing/2014/main" id="{18F21ECE-3685-4C69-AE91-A526A14769EF}"/>
                </a:ext>
              </a:extLst>
            </p:cNvPr>
            <p:cNvSpPr/>
            <p:nvPr/>
          </p:nvSpPr>
          <p:spPr>
            <a:xfrm>
              <a:off x="3908361" y="102494"/>
              <a:ext cx="17780" cy="20320"/>
            </a:xfrm>
            <a:custGeom>
              <a:avLst/>
              <a:gdLst/>
              <a:ahLst/>
              <a:cxnLst/>
              <a:rect l="l" t="t" r="r" b="b"/>
              <a:pathLst>
                <a:path w="17779" h="20319">
                  <a:moveTo>
                    <a:pt x="12669" y="0"/>
                  </a:moveTo>
                  <a:lnTo>
                    <a:pt x="5786" y="0"/>
                  </a:lnTo>
                  <a:lnTo>
                    <a:pt x="0" y="18640"/>
                  </a:lnTo>
                  <a:lnTo>
                    <a:pt x="1531" y="20167"/>
                  </a:lnTo>
                  <a:lnTo>
                    <a:pt x="12669" y="20167"/>
                  </a:lnTo>
                  <a:lnTo>
                    <a:pt x="17190" y="15659"/>
                  </a:lnTo>
                  <a:lnTo>
                    <a:pt x="17190" y="4508"/>
                  </a:lnTo>
                  <a:lnTo>
                    <a:pt x="12669" y="0"/>
                  </a:lnTo>
                  <a:close/>
                </a:path>
              </a:pathLst>
            </a:custGeom>
            <a:solidFill>
              <a:srgbClr val="FFFFFF"/>
            </a:solidFill>
          </p:spPr>
          <p:txBody>
            <a:bodyPr wrap="square" lIns="0" tIns="0" rIns="0" bIns="0" rtlCol="0"/>
            <a:lstStyle/>
            <a:p>
              <a:endParaRPr sz="324"/>
            </a:p>
          </p:txBody>
        </p:sp>
        <p:sp>
          <p:nvSpPr>
            <p:cNvPr id="47" name="object 49">
              <a:extLst>
                <a:ext uri="{FF2B5EF4-FFF2-40B4-BE49-F238E27FC236}">
                  <a16:creationId xmlns:a16="http://schemas.microsoft.com/office/drawing/2014/main" id="{138D4B13-85F7-41D4-AAD3-082EE78C36B3}"/>
                </a:ext>
              </a:extLst>
            </p:cNvPr>
            <p:cNvSpPr/>
            <p:nvPr/>
          </p:nvSpPr>
          <p:spPr>
            <a:xfrm>
              <a:off x="3957259"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8" name="object 50">
              <a:extLst>
                <a:ext uri="{FF2B5EF4-FFF2-40B4-BE49-F238E27FC236}">
                  <a16:creationId xmlns:a16="http://schemas.microsoft.com/office/drawing/2014/main" id="{1C3401A8-80C4-4320-8DCD-3CCBEC69231B}"/>
                </a:ext>
              </a:extLst>
            </p:cNvPr>
            <p:cNvSpPr/>
            <p:nvPr/>
          </p:nvSpPr>
          <p:spPr>
            <a:xfrm>
              <a:off x="4009145"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49" name="object 51">
              <a:extLst>
                <a:ext uri="{FF2B5EF4-FFF2-40B4-BE49-F238E27FC236}">
                  <a16:creationId xmlns:a16="http://schemas.microsoft.com/office/drawing/2014/main" id="{FEA0D3DD-502F-41F7-B4B0-A068B54A1341}"/>
                </a:ext>
              </a:extLst>
            </p:cNvPr>
            <p:cNvSpPr/>
            <p:nvPr/>
          </p:nvSpPr>
          <p:spPr>
            <a:xfrm>
              <a:off x="4061034"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0" name="object 52">
              <a:extLst>
                <a:ext uri="{FF2B5EF4-FFF2-40B4-BE49-F238E27FC236}">
                  <a16:creationId xmlns:a16="http://schemas.microsoft.com/office/drawing/2014/main" id="{8A184818-F1BB-4BE1-9D1E-7B6F713DF76C}"/>
                </a:ext>
              </a:extLst>
            </p:cNvPr>
            <p:cNvSpPr/>
            <p:nvPr/>
          </p:nvSpPr>
          <p:spPr>
            <a:xfrm>
              <a:off x="4112922" y="102494"/>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1" name="object 53">
              <a:extLst>
                <a:ext uri="{FF2B5EF4-FFF2-40B4-BE49-F238E27FC236}">
                  <a16:creationId xmlns:a16="http://schemas.microsoft.com/office/drawing/2014/main" id="{E0AA3085-5FD8-4D04-8AF9-E028AB424DA4}"/>
                </a:ext>
              </a:extLst>
            </p:cNvPr>
            <p:cNvSpPr/>
            <p:nvPr/>
          </p:nvSpPr>
          <p:spPr>
            <a:xfrm>
              <a:off x="3230833" y="150417"/>
              <a:ext cx="20320" cy="20320"/>
            </a:xfrm>
            <a:custGeom>
              <a:avLst/>
              <a:gdLst/>
              <a:ahLst/>
              <a:cxnLst/>
              <a:rect l="l" t="t" r="r" b="b"/>
              <a:pathLst>
                <a:path w="20319" h="20319">
                  <a:moveTo>
                    <a:pt x="15659" y="0"/>
                  </a:moveTo>
                  <a:lnTo>
                    <a:pt x="4521" y="0"/>
                  </a:lnTo>
                  <a:lnTo>
                    <a:pt x="0" y="4508"/>
                  </a:lnTo>
                  <a:lnTo>
                    <a:pt x="0" y="7851"/>
                  </a:lnTo>
                  <a:lnTo>
                    <a:pt x="2699" y="18351"/>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2" name="object 54">
              <a:extLst>
                <a:ext uri="{FF2B5EF4-FFF2-40B4-BE49-F238E27FC236}">
                  <a16:creationId xmlns:a16="http://schemas.microsoft.com/office/drawing/2014/main" id="{36F58D49-5BE9-4C9A-ADA8-CB6912FB82C7}"/>
                </a:ext>
              </a:extLst>
            </p:cNvPr>
            <p:cNvSpPr/>
            <p:nvPr/>
          </p:nvSpPr>
          <p:spPr>
            <a:xfrm>
              <a:off x="3282721"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3" name="object 55">
              <a:extLst>
                <a:ext uri="{FF2B5EF4-FFF2-40B4-BE49-F238E27FC236}">
                  <a16:creationId xmlns:a16="http://schemas.microsoft.com/office/drawing/2014/main" id="{10FCC51D-3441-4914-BFEF-1453D61FB3FF}"/>
                </a:ext>
              </a:extLst>
            </p:cNvPr>
            <p:cNvSpPr/>
            <p:nvPr/>
          </p:nvSpPr>
          <p:spPr>
            <a:xfrm>
              <a:off x="3334608"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4" name="object 56">
              <a:extLst>
                <a:ext uri="{FF2B5EF4-FFF2-40B4-BE49-F238E27FC236}">
                  <a16:creationId xmlns:a16="http://schemas.microsoft.com/office/drawing/2014/main" id="{DCD2350A-A12C-4954-A04E-720C62D9307D}"/>
                </a:ext>
              </a:extLst>
            </p:cNvPr>
            <p:cNvSpPr/>
            <p:nvPr/>
          </p:nvSpPr>
          <p:spPr>
            <a:xfrm>
              <a:off x="338649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5" name="object 57">
              <a:extLst>
                <a:ext uri="{FF2B5EF4-FFF2-40B4-BE49-F238E27FC236}">
                  <a16:creationId xmlns:a16="http://schemas.microsoft.com/office/drawing/2014/main" id="{A2E2188E-B10C-4FEA-B1B4-E55302F3EF8D}"/>
                </a:ext>
              </a:extLst>
            </p:cNvPr>
            <p:cNvSpPr/>
            <p:nvPr/>
          </p:nvSpPr>
          <p:spPr>
            <a:xfrm>
              <a:off x="3438383"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6" name="object 58">
              <a:extLst>
                <a:ext uri="{FF2B5EF4-FFF2-40B4-BE49-F238E27FC236}">
                  <a16:creationId xmlns:a16="http://schemas.microsoft.com/office/drawing/2014/main" id="{1EBB6DB4-D9D6-42C8-8006-C30EF3A7AE2C}"/>
                </a:ext>
              </a:extLst>
            </p:cNvPr>
            <p:cNvSpPr/>
            <p:nvPr/>
          </p:nvSpPr>
          <p:spPr>
            <a:xfrm>
              <a:off x="390537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7" name="object 59">
              <a:extLst>
                <a:ext uri="{FF2B5EF4-FFF2-40B4-BE49-F238E27FC236}">
                  <a16:creationId xmlns:a16="http://schemas.microsoft.com/office/drawing/2014/main" id="{4BE72FD5-2F71-44C0-B05C-5A87AAC47021}"/>
                </a:ext>
              </a:extLst>
            </p:cNvPr>
            <p:cNvSpPr/>
            <p:nvPr/>
          </p:nvSpPr>
          <p:spPr>
            <a:xfrm>
              <a:off x="3957259"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8" name="object 60">
              <a:extLst>
                <a:ext uri="{FF2B5EF4-FFF2-40B4-BE49-F238E27FC236}">
                  <a16:creationId xmlns:a16="http://schemas.microsoft.com/office/drawing/2014/main" id="{7D2FD35F-AB58-4742-994E-2874D1FDAB02}"/>
                </a:ext>
              </a:extLst>
            </p:cNvPr>
            <p:cNvSpPr/>
            <p:nvPr/>
          </p:nvSpPr>
          <p:spPr>
            <a:xfrm>
              <a:off x="4009145"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59" name="object 61">
              <a:extLst>
                <a:ext uri="{FF2B5EF4-FFF2-40B4-BE49-F238E27FC236}">
                  <a16:creationId xmlns:a16="http://schemas.microsoft.com/office/drawing/2014/main" id="{FA0DC785-9E9D-4C83-B40F-A9050B326E95}"/>
                </a:ext>
              </a:extLst>
            </p:cNvPr>
            <p:cNvSpPr/>
            <p:nvPr/>
          </p:nvSpPr>
          <p:spPr>
            <a:xfrm>
              <a:off x="4061034"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0" name="object 62">
              <a:extLst>
                <a:ext uri="{FF2B5EF4-FFF2-40B4-BE49-F238E27FC236}">
                  <a16:creationId xmlns:a16="http://schemas.microsoft.com/office/drawing/2014/main" id="{2B2777D0-BA4E-4D56-9B2C-CDC2B839DA95}"/>
                </a:ext>
              </a:extLst>
            </p:cNvPr>
            <p:cNvSpPr/>
            <p:nvPr/>
          </p:nvSpPr>
          <p:spPr>
            <a:xfrm>
              <a:off x="4112922" y="150417"/>
              <a:ext cx="20320" cy="20320"/>
            </a:xfrm>
            <a:custGeom>
              <a:avLst/>
              <a:gdLst/>
              <a:ahLst/>
              <a:cxnLst/>
              <a:rect l="l" t="t" r="r" b="b"/>
              <a:pathLst>
                <a:path w="20320" h="20319">
                  <a:moveTo>
                    <a:pt x="15659" y="0"/>
                  </a:moveTo>
                  <a:lnTo>
                    <a:pt x="4521" y="0"/>
                  </a:lnTo>
                  <a:lnTo>
                    <a:pt x="0" y="4508"/>
                  </a:lnTo>
                  <a:lnTo>
                    <a:pt x="0" y="15659"/>
                  </a:lnTo>
                  <a:lnTo>
                    <a:pt x="4521" y="20167"/>
                  </a:lnTo>
                  <a:lnTo>
                    <a:pt x="15659" y="20167"/>
                  </a:lnTo>
                  <a:lnTo>
                    <a:pt x="17471" y="18359"/>
                  </a:lnTo>
                  <a:lnTo>
                    <a:pt x="20180" y="7826"/>
                  </a:lnTo>
                  <a:lnTo>
                    <a:pt x="20180" y="4508"/>
                  </a:lnTo>
                  <a:lnTo>
                    <a:pt x="15659" y="0"/>
                  </a:lnTo>
                  <a:close/>
                </a:path>
              </a:pathLst>
            </a:custGeom>
            <a:solidFill>
              <a:srgbClr val="FFFFFF"/>
            </a:solidFill>
          </p:spPr>
          <p:txBody>
            <a:bodyPr wrap="square" lIns="0" tIns="0" rIns="0" bIns="0" rtlCol="0"/>
            <a:lstStyle/>
            <a:p>
              <a:endParaRPr sz="324"/>
            </a:p>
          </p:txBody>
        </p:sp>
        <p:sp>
          <p:nvSpPr>
            <p:cNvPr id="61" name="object 63">
              <a:extLst>
                <a:ext uri="{FF2B5EF4-FFF2-40B4-BE49-F238E27FC236}">
                  <a16:creationId xmlns:a16="http://schemas.microsoft.com/office/drawing/2014/main" id="{CED04687-9F1C-4A99-991C-FB3D42A1443F}"/>
                </a:ext>
              </a:extLst>
            </p:cNvPr>
            <p:cNvSpPr/>
            <p:nvPr/>
          </p:nvSpPr>
          <p:spPr>
            <a:xfrm>
              <a:off x="3242994" y="198340"/>
              <a:ext cx="8255" cy="17780"/>
            </a:xfrm>
            <a:custGeom>
              <a:avLst/>
              <a:gdLst/>
              <a:ahLst/>
              <a:cxnLst/>
              <a:rect l="l" t="t" r="r" b="b"/>
              <a:pathLst>
                <a:path w="8254" h="17779">
                  <a:moveTo>
                    <a:pt x="3497" y="0"/>
                  </a:moveTo>
                  <a:lnTo>
                    <a:pt x="0" y="0"/>
                  </a:lnTo>
                  <a:lnTo>
                    <a:pt x="6343" y="17330"/>
                  </a:lnTo>
                  <a:lnTo>
                    <a:pt x="8019" y="15659"/>
                  </a:lnTo>
                  <a:lnTo>
                    <a:pt x="8019" y="4508"/>
                  </a:lnTo>
                  <a:lnTo>
                    <a:pt x="3497" y="0"/>
                  </a:lnTo>
                  <a:close/>
                </a:path>
              </a:pathLst>
            </a:custGeom>
            <a:solidFill>
              <a:srgbClr val="FFFFFF"/>
            </a:solidFill>
          </p:spPr>
          <p:txBody>
            <a:bodyPr wrap="square" lIns="0" tIns="0" rIns="0" bIns="0" rtlCol="0"/>
            <a:lstStyle/>
            <a:p>
              <a:endParaRPr sz="324"/>
            </a:p>
          </p:txBody>
        </p:sp>
        <p:sp>
          <p:nvSpPr>
            <p:cNvPr id="62" name="object 64">
              <a:extLst>
                <a:ext uri="{FF2B5EF4-FFF2-40B4-BE49-F238E27FC236}">
                  <a16:creationId xmlns:a16="http://schemas.microsoft.com/office/drawing/2014/main" id="{1C2E0E8E-FB1D-4AD1-AB24-22A801A2338E}"/>
                </a:ext>
              </a:extLst>
            </p:cNvPr>
            <p:cNvSpPr/>
            <p:nvPr/>
          </p:nvSpPr>
          <p:spPr>
            <a:xfrm>
              <a:off x="3282721"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3" name="object 65">
              <a:extLst>
                <a:ext uri="{FF2B5EF4-FFF2-40B4-BE49-F238E27FC236}">
                  <a16:creationId xmlns:a16="http://schemas.microsoft.com/office/drawing/2014/main" id="{0BECF6B8-A058-4EC3-8450-93CEBEF5A175}"/>
                </a:ext>
              </a:extLst>
            </p:cNvPr>
            <p:cNvSpPr/>
            <p:nvPr/>
          </p:nvSpPr>
          <p:spPr>
            <a:xfrm>
              <a:off x="3334608"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4" name="object 66">
              <a:extLst>
                <a:ext uri="{FF2B5EF4-FFF2-40B4-BE49-F238E27FC236}">
                  <a16:creationId xmlns:a16="http://schemas.microsoft.com/office/drawing/2014/main" id="{CBA33DFA-FEF0-424D-A635-AF4C2A3F3E53}"/>
                </a:ext>
              </a:extLst>
            </p:cNvPr>
            <p:cNvSpPr/>
            <p:nvPr/>
          </p:nvSpPr>
          <p:spPr>
            <a:xfrm>
              <a:off x="338649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5" name="object 67">
              <a:extLst>
                <a:ext uri="{FF2B5EF4-FFF2-40B4-BE49-F238E27FC236}">
                  <a16:creationId xmlns:a16="http://schemas.microsoft.com/office/drawing/2014/main" id="{05B41054-B603-4290-AA3C-08EBAA8A629D}"/>
                </a:ext>
              </a:extLst>
            </p:cNvPr>
            <p:cNvSpPr/>
            <p:nvPr/>
          </p:nvSpPr>
          <p:spPr>
            <a:xfrm>
              <a:off x="3438383"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6" name="object 68">
              <a:extLst>
                <a:ext uri="{FF2B5EF4-FFF2-40B4-BE49-F238E27FC236}">
                  <a16:creationId xmlns:a16="http://schemas.microsoft.com/office/drawing/2014/main" id="{F82064FA-B042-4BD5-A348-4051DCD1D03C}"/>
                </a:ext>
              </a:extLst>
            </p:cNvPr>
            <p:cNvSpPr/>
            <p:nvPr/>
          </p:nvSpPr>
          <p:spPr>
            <a:xfrm>
              <a:off x="3490271" y="198340"/>
              <a:ext cx="20320" cy="20320"/>
            </a:xfrm>
            <a:custGeom>
              <a:avLst/>
              <a:gdLst/>
              <a:ahLst/>
              <a:cxnLst/>
              <a:rect l="l" t="t" r="r" b="b"/>
              <a:pathLst>
                <a:path w="20320" h="20320">
                  <a:moveTo>
                    <a:pt x="9674" y="0"/>
                  </a:moveTo>
                  <a:lnTo>
                    <a:pt x="4521" y="0"/>
                  </a:lnTo>
                  <a:lnTo>
                    <a:pt x="0" y="4508"/>
                  </a:lnTo>
                  <a:lnTo>
                    <a:pt x="0" y="15659"/>
                  </a:lnTo>
                  <a:lnTo>
                    <a:pt x="4521" y="20167"/>
                  </a:lnTo>
                  <a:lnTo>
                    <a:pt x="15659" y="20167"/>
                  </a:lnTo>
                  <a:lnTo>
                    <a:pt x="20180" y="15659"/>
                  </a:lnTo>
                  <a:lnTo>
                    <a:pt x="20180" y="12733"/>
                  </a:lnTo>
                  <a:lnTo>
                    <a:pt x="9674" y="0"/>
                  </a:lnTo>
                  <a:close/>
                </a:path>
              </a:pathLst>
            </a:custGeom>
            <a:solidFill>
              <a:srgbClr val="FFFFFF"/>
            </a:solidFill>
          </p:spPr>
          <p:txBody>
            <a:bodyPr wrap="square" lIns="0" tIns="0" rIns="0" bIns="0" rtlCol="0"/>
            <a:lstStyle/>
            <a:p>
              <a:endParaRPr sz="324"/>
            </a:p>
          </p:txBody>
        </p:sp>
        <p:sp>
          <p:nvSpPr>
            <p:cNvPr id="67" name="object 69">
              <a:extLst>
                <a:ext uri="{FF2B5EF4-FFF2-40B4-BE49-F238E27FC236}">
                  <a16:creationId xmlns:a16="http://schemas.microsoft.com/office/drawing/2014/main" id="{D18EC0D5-553A-4AFE-84F6-C998D24CAA05}"/>
                </a:ext>
              </a:extLst>
            </p:cNvPr>
            <p:cNvSpPr/>
            <p:nvPr/>
          </p:nvSpPr>
          <p:spPr>
            <a:xfrm>
              <a:off x="3853484" y="198340"/>
              <a:ext cx="20320" cy="20320"/>
            </a:xfrm>
            <a:custGeom>
              <a:avLst/>
              <a:gdLst/>
              <a:ahLst/>
              <a:cxnLst/>
              <a:rect l="l" t="t" r="r" b="b"/>
              <a:pathLst>
                <a:path w="20320" h="20320">
                  <a:moveTo>
                    <a:pt x="15659" y="0"/>
                  </a:moveTo>
                  <a:lnTo>
                    <a:pt x="10518" y="0"/>
                  </a:lnTo>
                  <a:lnTo>
                    <a:pt x="0" y="1274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8" name="object 70">
              <a:extLst>
                <a:ext uri="{FF2B5EF4-FFF2-40B4-BE49-F238E27FC236}">
                  <a16:creationId xmlns:a16="http://schemas.microsoft.com/office/drawing/2014/main" id="{CD172667-541E-4FE1-BAC3-9248C9A9A030}"/>
                </a:ext>
              </a:extLst>
            </p:cNvPr>
            <p:cNvSpPr/>
            <p:nvPr/>
          </p:nvSpPr>
          <p:spPr>
            <a:xfrm>
              <a:off x="3905372"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69" name="object 71">
              <a:extLst>
                <a:ext uri="{FF2B5EF4-FFF2-40B4-BE49-F238E27FC236}">
                  <a16:creationId xmlns:a16="http://schemas.microsoft.com/office/drawing/2014/main" id="{8D7B2D85-1B2D-4A66-9A22-C0D87B890522}"/>
                </a:ext>
              </a:extLst>
            </p:cNvPr>
            <p:cNvSpPr/>
            <p:nvPr/>
          </p:nvSpPr>
          <p:spPr>
            <a:xfrm>
              <a:off x="3957259"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0" name="object 72">
              <a:extLst>
                <a:ext uri="{FF2B5EF4-FFF2-40B4-BE49-F238E27FC236}">
                  <a16:creationId xmlns:a16="http://schemas.microsoft.com/office/drawing/2014/main" id="{ED7A0035-BA18-4246-9272-42852E417608}"/>
                </a:ext>
              </a:extLst>
            </p:cNvPr>
            <p:cNvSpPr/>
            <p:nvPr/>
          </p:nvSpPr>
          <p:spPr>
            <a:xfrm>
              <a:off x="4009145"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1" name="object 73">
              <a:extLst>
                <a:ext uri="{FF2B5EF4-FFF2-40B4-BE49-F238E27FC236}">
                  <a16:creationId xmlns:a16="http://schemas.microsoft.com/office/drawing/2014/main" id="{34A90529-C034-43CA-8A63-7FC7A8AB4B72}"/>
                </a:ext>
              </a:extLst>
            </p:cNvPr>
            <p:cNvSpPr/>
            <p:nvPr/>
          </p:nvSpPr>
          <p:spPr>
            <a:xfrm>
              <a:off x="4061034" y="19834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2" name="object 74">
              <a:extLst>
                <a:ext uri="{FF2B5EF4-FFF2-40B4-BE49-F238E27FC236}">
                  <a16:creationId xmlns:a16="http://schemas.microsoft.com/office/drawing/2014/main" id="{5CFBFAA2-F411-4DFF-96C2-3ED015E628E7}"/>
                </a:ext>
              </a:extLst>
            </p:cNvPr>
            <p:cNvSpPr/>
            <p:nvPr/>
          </p:nvSpPr>
          <p:spPr>
            <a:xfrm>
              <a:off x="4112922" y="198340"/>
              <a:ext cx="8255" cy="17780"/>
            </a:xfrm>
            <a:custGeom>
              <a:avLst/>
              <a:gdLst/>
              <a:ahLst/>
              <a:cxnLst/>
              <a:rect l="l" t="t" r="r" b="b"/>
              <a:pathLst>
                <a:path w="8254" h="17779">
                  <a:moveTo>
                    <a:pt x="8012" y="0"/>
                  </a:moveTo>
                  <a:lnTo>
                    <a:pt x="4521" y="0"/>
                  </a:lnTo>
                  <a:lnTo>
                    <a:pt x="0" y="4508"/>
                  </a:lnTo>
                  <a:lnTo>
                    <a:pt x="0" y="15659"/>
                  </a:lnTo>
                  <a:lnTo>
                    <a:pt x="1671" y="17325"/>
                  </a:lnTo>
                  <a:lnTo>
                    <a:pt x="8012" y="0"/>
                  </a:lnTo>
                  <a:close/>
                </a:path>
              </a:pathLst>
            </a:custGeom>
            <a:solidFill>
              <a:srgbClr val="FFFFFF"/>
            </a:solidFill>
          </p:spPr>
          <p:txBody>
            <a:bodyPr wrap="square" lIns="0" tIns="0" rIns="0" bIns="0" rtlCol="0"/>
            <a:lstStyle/>
            <a:p>
              <a:endParaRPr sz="324"/>
            </a:p>
          </p:txBody>
        </p:sp>
        <p:sp>
          <p:nvSpPr>
            <p:cNvPr id="73" name="object 75">
              <a:extLst>
                <a:ext uri="{FF2B5EF4-FFF2-40B4-BE49-F238E27FC236}">
                  <a16:creationId xmlns:a16="http://schemas.microsoft.com/office/drawing/2014/main" id="{E136BF65-E985-44D1-BDA6-879635EEE791}"/>
                </a:ext>
              </a:extLst>
            </p:cNvPr>
            <p:cNvSpPr/>
            <p:nvPr/>
          </p:nvSpPr>
          <p:spPr>
            <a:xfrm>
              <a:off x="328272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4" name="object 76">
              <a:extLst>
                <a:ext uri="{FF2B5EF4-FFF2-40B4-BE49-F238E27FC236}">
                  <a16:creationId xmlns:a16="http://schemas.microsoft.com/office/drawing/2014/main" id="{3A5FDCFC-06EA-4820-8253-7BEFF11CCF08}"/>
                </a:ext>
              </a:extLst>
            </p:cNvPr>
            <p:cNvSpPr/>
            <p:nvPr/>
          </p:nvSpPr>
          <p:spPr>
            <a:xfrm>
              <a:off x="3334608"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5" name="object 77">
              <a:extLst>
                <a:ext uri="{FF2B5EF4-FFF2-40B4-BE49-F238E27FC236}">
                  <a16:creationId xmlns:a16="http://schemas.microsoft.com/office/drawing/2014/main" id="{09C1C76D-7CB0-4B4C-87E3-42FF9B3F0717}"/>
                </a:ext>
              </a:extLst>
            </p:cNvPr>
            <p:cNvSpPr/>
            <p:nvPr/>
          </p:nvSpPr>
          <p:spPr>
            <a:xfrm>
              <a:off x="338649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6" name="object 78">
              <a:extLst>
                <a:ext uri="{FF2B5EF4-FFF2-40B4-BE49-F238E27FC236}">
                  <a16:creationId xmlns:a16="http://schemas.microsoft.com/office/drawing/2014/main" id="{CEEED1C3-6329-4B05-B6E1-2920EDA6F0B9}"/>
                </a:ext>
              </a:extLst>
            </p:cNvPr>
            <p:cNvSpPr/>
            <p:nvPr/>
          </p:nvSpPr>
          <p:spPr>
            <a:xfrm>
              <a:off x="3438383"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7" name="object 79">
              <a:extLst>
                <a:ext uri="{FF2B5EF4-FFF2-40B4-BE49-F238E27FC236}">
                  <a16:creationId xmlns:a16="http://schemas.microsoft.com/office/drawing/2014/main" id="{055F38DE-9A68-4DBC-B1A2-9FD2F144FC7D}"/>
                </a:ext>
              </a:extLst>
            </p:cNvPr>
            <p:cNvSpPr/>
            <p:nvPr/>
          </p:nvSpPr>
          <p:spPr>
            <a:xfrm>
              <a:off x="3490271"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78" name="object 80">
              <a:extLst>
                <a:ext uri="{FF2B5EF4-FFF2-40B4-BE49-F238E27FC236}">
                  <a16:creationId xmlns:a16="http://schemas.microsoft.com/office/drawing/2014/main" id="{705D28B6-2FB6-4315-97CB-166E2B00214A}"/>
                </a:ext>
              </a:extLst>
            </p:cNvPr>
            <p:cNvSpPr/>
            <p:nvPr/>
          </p:nvSpPr>
          <p:spPr>
            <a:xfrm>
              <a:off x="3542159" y="246265"/>
              <a:ext cx="20320" cy="20320"/>
            </a:xfrm>
            <a:custGeom>
              <a:avLst/>
              <a:gdLst/>
              <a:ahLst/>
              <a:cxnLst/>
              <a:rect l="l" t="t" r="r" b="b"/>
              <a:pathLst>
                <a:path w="20320" h="20320">
                  <a:moveTo>
                    <a:pt x="12870" y="0"/>
                  </a:moveTo>
                  <a:lnTo>
                    <a:pt x="4521" y="0"/>
                  </a:lnTo>
                  <a:lnTo>
                    <a:pt x="0" y="4508"/>
                  </a:lnTo>
                  <a:lnTo>
                    <a:pt x="0" y="15659"/>
                  </a:lnTo>
                  <a:lnTo>
                    <a:pt x="4521" y="20167"/>
                  </a:lnTo>
                  <a:lnTo>
                    <a:pt x="15659" y="20167"/>
                  </a:lnTo>
                  <a:lnTo>
                    <a:pt x="20180" y="15659"/>
                  </a:lnTo>
                  <a:lnTo>
                    <a:pt x="20180" y="4508"/>
                  </a:lnTo>
                  <a:lnTo>
                    <a:pt x="18990" y="3322"/>
                  </a:lnTo>
                  <a:lnTo>
                    <a:pt x="12870" y="0"/>
                  </a:lnTo>
                  <a:close/>
                </a:path>
              </a:pathLst>
            </a:custGeom>
            <a:solidFill>
              <a:srgbClr val="FFFFFF"/>
            </a:solidFill>
          </p:spPr>
          <p:txBody>
            <a:bodyPr wrap="square" lIns="0" tIns="0" rIns="0" bIns="0" rtlCol="0"/>
            <a:lstStyle/>
            <a:p>
              <a:endParaRPr sz="324"/>
            </a:p>
          </p:txBody>
        </p:sp>
        <p:sp>
          <p:nvSpPr>
            <p:cNvPr id="79" name="object 81">
              <a:extLst>
                <a:ext uri="{FF2B5EF4-FFF2-40B4-BE49-F238E27FC236}">
                  <a16:creationId xmlns:a16="http://schemas.microsoft.com/office/drawing/2014/main" id="{4F5F9C27-61AC-46D0-BBF9-909B115E975F}"/>
                </a:ext>
              </a:extLst>
            </p:cNvPr>
            <p:cNvSpPr/>
            <p:nvPr/>
          </p:nvSpPr>
          <p:spPr>
            <a:xfrm>
              <a:off x="3801596" y="246265"/>
              <a:ext cx="20320" cy="20320"/>
            </a:xfrm>
            <a:custGeom>
              <a:avLst/>
              <a:gdLst/>
              <a:ahLst/>
              <a:cxnLst/>
              <a:rect l="l" t="t" r="r" b="b"/>
              <a:pathLst>
                <a:path w="20320" h="20320">
                  <a:moveTo>
                    <a:pt x="15659" y="0"/>
                  </a:moveTo>
                  <a:lnTo>
                    <a:pt x="7319" y="0"/>
                  </a:lnTo>
                  <a:lnTo>
                    <a:pt x="1178" y="3333"/>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0" name="object 82">
              <a:extLst>
                <a:ext uri="{FF2B5EF4-FFF2-40B4-BE49-F238E27FC236}">
                  <a16:creationId xmlns:a16="http://schemas.microsoft.com/office/drawing/2014/main" id="{2CB4FD65-E27B-4B99-B86B-D148B45639D6}"/>
                </a:ext>
              </a:extLst>
            </p:cNvPr>
            <p:cNvSpPr/>
            <p:nvPr/>
          </p:nvSpPr>
          <p:spPr>
            <a:xfrm>
              <a:off x="385348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1" name="object 83">
              <a:extLst>
                <a:ext uri="{FF2B5EF4-FFF2-40B4-BE49-F238E27FC236}">
                  <a16:creationId xmlns:a16="http://schemas.microsoft.com/office/drawing/2014/main" id="{4E3E60BD-DCDB-4C34-910B-71DD231F085D}"/>
                </a:ext>
              </a:extLst>
            </p:cNvPr>
            <p:cNvSpPr/>
            <p:nvPr/>
          </p:nvSpPr>
          <p:spPr>
            <a:xfrm>
              <a:off x="3905372"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2" name="object 84">
              <a:extLst>
                <a:ext uri="{FF2B5EF4-FFF2-40B4-BE49-F238E27FC236}">
                  <a16:creationId xmlns:a16="http://schemas.microsoft.com/office/drawing/2014/main" id="{18A243AE-C30B-4C35-9F79-37C73020BD87}"/>
                </a:ext>
              </a:extLst>
            </p:cNvPr>
            <p:cNvSpPr/>
            <p:nvPr/>
          </p:nvSpPr>
          <p:spPr>
            <a:xfrm>
              <a:off x="3957259"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3" name="object 85">
              <a:extLst>
                <a:ext uri="{FF2B5EF4-FFF2-40B4-BE49-F238E27FC236}">
                  <a16:creationId xmlns:a16="http://schemas.microsoft.com/office/drawing/2014/main" id="{CC02A971-9752-4F40-991C-3A3F85C19607}"/>
                </a:ext>
              </a:extLst>
            </p:cNvPr>
            <p:cNvSpPr/>
            <p:nvPr/>
          </p:nvSpPr>
          <p:spPr>
            <a:xfrm>
              <a:off x="4009145"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4" name="object 86">
              <a:extLst>
                <a:ext uri="{FF2B5EF4-FFF2-40B4-BE49-F238E27FC236}">
                  <a16:creationId xmlns:a16="http://schemas.microsoft.com/office/drawing/2014/main" id="{7EC06208-70CF-4DBE-8127-266FF3AFA52F}"/>
                </a:ext>
              </a:extLst>
            </p:cNvPr>
            <p:cNvSpPr/>
            <p:nvPr/>
          </p:nvSpPr>
          <p:spPr>
            <a:xfrm>
              <a:off x="4061034" y="24626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5" name="object 87">
              <a:extLst>
                <a:ext uri="{FF2B5EF4-FFF2-40B4-BE49-F238E27FC236}">
                  <a16:creationId xmlns:a16="http://schemas.microsoft.com/office/drawing/2014/main" id="{C3445D13-AD50-439F-93E5-166194D1A961}"/>
                </a:ext>
              </a:extLst>
            </p:cNvPr>
            <p:cNvSpPr/>
            <p:nvPr/>
          </p:nvSpPr>
          <p:spPr>
            <a:xfrm>
              <a:off x="3289874" y="294189"/>
              <a:ext cx="13335" cy="17145"/>
            </a:xfrm>
            <a:custGeom>
              <a:avLst/>
              <a:gdLst/>
              <a:ahLst/>
              <a:cxnLst/>
              <a:rect l="l" t="t" r="r" b="b"/>
              <a:pathLst>
                <a:path w="13335" h="17145">
                  <a:moveTo>
                    <a:pt x="8506" y="0"/>
                  </a:moveTo>
                  <a:lnTo>
                    <a:pt x="0" y="0"/>
                  </a:lnTo>
                  <a:lnTo>
                    <a:pt x="5532" y="9107"/>
                  </a:lnTo>
                  <a:lnTo>
                    <a:pt x="11540" y="17141"/>
                  </a:lnTo>
                  <a:lnTo>
                    <a:pt x="13027" y="15659"/>
                  </a:lnTo>
                  <a:lnTo>
                    <a:pt x="13027" y="4508"/>
                  </a:lnTo>
                  <a:lnTo>
                    <a:pt x="8506" y="0"/>
                  </a:lnTo>
                  <a:close/>
                </a:path>
              </a:pathLst>
            </a:custGeom>
            <a:solidFill>
              <a:srgbClr val="FFFFFF"/>
            </a:solidFill>
          </p:spPr>
          <p:txBody>
            <a:bodyPr wrap="square" lIns="0" tIns="0" rIns="0" bIns="0" rtlCol="0"/>
            <a:lstStyle/>
            <a:p>
              <a:endParaRPr sz="324"/>
            </a:p>
          </p:txBody>
        </p:sp>
        <p:sp>
          <p:nvSpPr>
            <p:cNvPr id="86" name="object 88">
              <a:extLst>
                <a:ext uri="{FF2B5EF4-FFF2-40B4-BE49-F238E27FC236}">
                  <a16:creationId xmlns:a16="http://schemas.microsoft.com/office/drawing/2014/main" id="{7C062D63-D0AE-47AF-8642-F31F608DA00D}"/>
                </a:ext>
              </a:extLst>
            </p:cNvPr>
            <p:cNvSpPr/>
            <p:nvPr/>
          </p:nvSpPr>
          <p:spPr>
            <a:xfrm>
              <a:off x="3334608"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7" name="object 89">
              <a:extLst>
                <a:ext uri="{FF2B5EF4-FFF2-40B4-BE49-F238E27FC236}">
                  <a16:creationId xmlns:a16="http://schemas.microsoft.com/office/drawing/2014/main" id="{9F5946C8-EF47-4CB5-82F1-DCB28CA59013}"/>
                </a:ext>
              </a:extLst>
            </p:cNvPr>
            <p:cNvSpPr/>
            <p:nvPr/>
          </p:nvSpPr>
          <p:spPr>
            <a:xfrm>
              <a:off x="338649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8" name="object 90">
              <a:extLst>
                <a:ext uri="{FF2B5EF4-FFF2-40B4-BE49-F238E27FC236}">
                  <a16:creationId xmlns:a16="http://schemas.microsoft.com/office/drawing/2014/main" id="{C359B038-4D3A-45EE-96A7-5A1B4DA8C0F6}"/>
                </a:ext>
              </a:extLst>
            </p:cNvPr>
            <p:cNvSpPr/>
            <p:nvPr/>
          </p:nvSpPr>
          <p:spPr>
            <a:xfrm>
              <a:off x="343838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89" name="object 91">
              <a:extLst>
                <a:ext uri="{FF2B5EF4-FFF2-40B4-BE49-F238E27FC236}">
                  <a16:creationId xmlns:a16="http://schemas.microsoft.com/office/drawing/2014/main" id="{C6F167D6-5038-464B-AA83-44FA543FF857}"/>
                </a:ext>
              </a:extLst>
            </p:cNvPr>
            <p:cNvSpPr/>
            <p:nvPr/>
          </p:nvSpPr>
          <p:spPr>
            <a:xfrm>
              <a:off x="3490271"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0" name="object 92">
              <a:extLst>
                <a:ext uri="{FF2B5EF4-FFF2-40B4-BE49-F238E27FC236}">
                  <a16:creationId xmlns:a16="http://schemas.microsoft.com/office/drawing/2014/main" id="{01B4F473-B2FD-4973-94D4-7FBF75863003}"/>
                </a:ext>
              </a:extLst>
            </p:cNvPr>
            <p:cNvSpPr/>
            <p:nvPr/>
          </p:nvSpPr>
          <p:spPr>
            <a:xfrm>
              <a:off x="35421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1" name="object 93">
              <a:extLst>
                <a:ext uri="{FF2B5EF4-FFF2-40B4-BE49-F238E27FC236}">
                  <a16:creationId xmlns:a16="http://schemas.microsoft.com/office/drawing/2014/main" id="{4AE17FD3-4350-4E9B-92F3-9C57628DC17B}"/>
                </a:ext>
              </a:extLst>
            </p:cNvPr>
            <p:cNvSpPr/>
            <p:nvPr/>
          </p:nvSpPr>
          <p:spPr>
            <a:xfrm>
              <a:off x="359404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2" name="object 94">
              <a:extLst>
                <a:ext uri="{FF2B5EF4-FFF2-40B4-BE49-F238E27FC236}">
                  <a16:creationId xmlns:a16="http://schemas.microsoft.com/office/drawing/2014/main" id="{85CF062C-345D-4502-8421-40BC64FFE547}"/>
                </a:ext>
              </a:extLst>
            </p:cNvPr>
            <p:cNvSpPr/>
            <p:nvPr/>
          </p:nvSpPr>
          <p:spPr>
            <a:xfrm>
              <a:off x="3645933"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3" name="object 95">
              <a:extLst>
                <a:ext uri="{FF2B5EF4-FFF2-40B4-BE49-F238E27FC236}">
                  <a16:creationId xmlns:a16="http://schemas.microsoft.com/office/drawing/2014/main" id="{1D7A914D-067A-4349-B116-ED40FA1CECCB}"/>
                </a:ext>
              </a:extLst>
            </p:cNvPr>
            <p:cNvSpPr/>
            <p:nvPr/>
          </p:nvSpPr>
          <p:spPr>
            <a:xfrm>
              <a:off x="369782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4" name="object 96">
              <a:extLst>
                <a:ext uri="{FF2B5EF4-FFF2-40B4-BE49-F238E27FC236}">
                  <a16:creationId xmlns:a16="http://schemas.microsoft.com/office/drawing/2014/main" id="{685D2F31-3E9B-4917-8A15-2315A546DB22}"/>
                </a:ext>
              </a:extLst>
            </p:cNvPr>
            <p:cNvSpPr/>
            <p:nvPr/>
          </p:nvSpPr>
          <p:spPr>
            <a:xfrm>
              <a:off x="374970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5" name="object 97">
              <a:extLst>
                <a:ext uri="{FF2B5EF4-FFF2-40B4-BE49-F238E27FC236}">
                  <a16:creationId xmlns:a16="http://schemas.microsoft.com/office/drawing/2014/main" id="{AFC7620E-52F3-4CD2-A87C-6973996B5777}"/>
                </a:ext>
              </a:extLst>
            </p:cNvPr>
            <p:cNvSpPr/>
            <p:nvPr/>
          </p:nvSpPr>
          <p:spPr>
            <a:xfrm>
              <a:off x="3801596"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6" name="object 98">
              <a:extLst>
                <a:ext uri="{FF2B5EF4-FFF2-40B4-BE49-F238E27FC236}">
                  <a16:creationId xmlns:a16="http://schemas.microsoft.com/office/drawing/2014/main" id="{FE345FDE-2FD7-4D36-8E8E-D40B1085E0AD}"/>
                </a:ext>
              </a:extLst>
            </p:cNvPr>
            <p:cNvSpPr/>
            <p:nvPr/>
          </p:nvSpPr>
          <p:spPr>
            <a:xfrm>
              <a:off x="3853484"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7" name="object 99">
              <a:extLst>
                <a:ext uri="{FF2B5EF4-FFF2-40B4-BE49-F238E27FC236}">
                  <a16:creationId xmlns:a16="http://schemas.microsoft.com/office/drawing/2014/main" id="{A8E74173-72AC-4846-8FCB-C526D7395EC0}"/>
                </a:ext>
              </a:extLst>
            </p:cNvPr>
            <p:cNvSpPr/>
            <p:nvPr/>
          </p:nvSpPr>
          <p:spPr>
            <a:xfrm>
              <a:off x="3905372"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8" name="object 100">
              <a:extLst>
                <a:ext uri="{FF2B5EF4-FFF2-40B4-BE49-F238E27FC236}">
                  <a16:creationId xmlns:a16="http://schemas.microsoft.com/office/drawing/2014/main" id="{FFC357A4-36BF-4C72-B0A7-76BC374BE18C}"/>
                </a:ext>
              </a:extLst>
            </p:cNvPr>
            <p:cNvSpPr/>
            <p:nvPr/>
          </p:nvSpPr>
          <p:spPr>
            <a:xfrm>
              <a:off x="3957259"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99" name="object 101">
              <a:extLst>
                <a:ext uri="{FF2B5EF4-FFF2-40B4-BE49-F238E27FC236}">
                  <a16:creationId xmlns:a16="http://schemas.microsoft.com/office/drawing/2014/main" id="{2A6E715D-11D0-4B9F-BE91-E4DE59DB0A74}"/>
                </a:ext>
              </a:extLst>
            </p:cNvPr>
            <p:cNvSpPr/>
            <p:nvPr/>
          </p:nvSpPr>
          <p:spPr>
            <a:xfrm>
              <a:off x="4009145" y="294189"/>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0" name="object 102">
              <a:extLst>
                <a:ext uri="{FF2B5EF4-FFF2-40B4-BE49-F238E27FC236}">
                  <a16:creationId xmlns:a16="http://schemas.microsoft.com/office/drawing/2014/main" id="{7418D147-529C-47F1-8EA3-923BE198D802}"/>
                </a:ext>
              </a:extLst>
            </p:cNvPr>
            <p:cNvSpPr/>
            <p:nvPr/>
          </p:nvSpPr>
          <p:spPr>
            <a:xfrm>
              <a:off x="4061034" y="294189"/>
              <a:ext cx="13335" cy="17145"/>
            </a:xfrm>
            <a:custGeom>
              <a:avLst/>
              <a:gdLst/>
              <a:ahLst/>
              <a:cxnLst/>
              <a:rect l="l" t="t" r="r" b="b"/>
              <a:pathLst>
                <a:path w="13335" h="17145">
                  <a:moveTo>
                    <a:pt x="13021" y="0"/>
                  </a:moveTo>
                  <a:lnTo>
                    <a:pt x="4521" y="0"/>
                  </a:lnTo>
                  <a:lnTo>
                    <a:pt x="0" y="4508"/>
                  </a:lnTo>
                  <a:lnTo>
                    <a:pt x="0" y="15659"/>
                  </a:lnTo>
                  <a:lnTo>
                    <a:pt x="1483" y="17138"/>
                  </a:lnTo>
                  <a:lnTo>
                    <a:pt x="7488" y="9107"/>
                  </a:lnTo>
                  <a:lnTo>
                    <a:pt x="13021" y="0"/>
                  </a:lnTo>
                  <a:close/>
                </a:path>
              </a:pathLst>
            </a:custGeom>
            <a:solidFill>
              <a:srgbClr val="FFFFFF"/>
            </a:solidFill>
          </p:spPr>
          <p:txBody>
            <a:bodyPr wrap="square" lIns="0" tIns="0" rIns="0" bIns="0" rtlCol="0"/>
            <a:lstStyle/>
            <a:p>
              <a:endParaRPr sz="324"/>
            </a:p>
          </p:txBody>
        </p:sp>
        <p:sp>
          <p:nvSpPr>
            <p:cNvPr id="101" name="object 103">
              <a:extLst>
                <a:ext uri="{FF2B5EF4-FFF2-40B4-BE49-F238E27FC236}">
                  <a16:creationId xmlns:a16="http://schemas.microsoft.com/office/drawing/2014/main" id="{55450F6C-6F6C-4F60-8D6A-2AA6B9DAEBC0}"/>
                </a:ext>
              </a:extLst>
            </p:cNvPr>
            <p:cNvSpPr/>
            <p:nvPr/>
          </p:nvSpPr>
          <p:spPr>
            <a:xfrm>
              <a:off x="3334608" y="342113"/>
              <a:ext cx="20320" cy="20320"/>
            </a:xfrm>
            <a:custGeom>
              <a:avLst/>
              <a:gdLst/>
              <a:ahLst/>
              <a:cxnLst/>
              <a:rect l="l" t="t" r="r" b="b"/>
              <a:pathLst>
                <a:path w="20320" h="20320">
                  <a:moveTo>
                    <a:pt x="15659" y="0"/>
                  </a:moveTo>
                  <a:lnTo>
                    <a:pt x="4521" y="0"/>
                  </a:lnTo>
                  <a:lnTo>
                    <a:pt x="0" y="4508"/>
                  </a:lnTo>
                  <a:lnTo>
                    <a:pt x="0" y="10673"/>
                  </a:lnTo>
                  <a:lnTo>
                    <a:pt x="8629"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2" name="object 104">
              <a:extLst>
                <a:ext uri="{FF2B5EF4-FFF2-40B4-BE49-F238E27FC236}">
                  <a16:creationId xmlns:a16="http://schemas.microsoft.com/office/drawing/2014/main" id="{1F2E2249-69A4-4AC2-AC82-B7C5EFA9F6D5}"/>
                </a:ext>
              </a:extLst>
            </p:cNvPr>
            <p:cNvSpPr/>
            <p:nvPr/>
          </p:nvSpPr>
          <p:spPr>
            <a:xfrm>
              <a:off x="3386495"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3" name="object 105">
              <a:extLst>
                <a:ext uri="{FF2B5EF4-FFF2-40B4-BE49-F238E27FC236}">
                  <a16:creationId xmlns:a16="http://schemas.microsoft.com/office/drawing/2014/main" id="{EDC31699-510C-4E4A-81C6-19587B2BE1F4}"/>
                </a:ext>
              </a:extLst>
            </p:cNvPr>
            <p:cNvSpPr/>
            <p:nvPr/>
          </p:nvSpPr>
          <p:spPr>
            <a:xfrm>
              <a:off x="343838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4" name="object 106">
              <a:extLst>
                <a:ext uri="{FF2B5EF4-FFF2-40B4-BE49-F238E27FC236}">
                  <a16:creationId xmlns:a16="http://schemas.microsoft.com/office/drawing/2014/main" id="{C001143A-AB7A-4373-A495-67F789B74243}"/>
                </a:ext>
              </a:extLst>
            </p:cNvPr>
            <p:cNvSpPr/>
            <p:nvPr/>
          </p:nvSpPr>
          <p:spPr>
            <a:xfrm>
              <a:off x="3490271"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5" name="object 107">
              <a:extLst>
                <a:ext uri="{FF2B5EF4-FFF2-40B4-BE49-F238E27FC236}">
                  <a16:creationId xmlns:a16="http://schemas.microsoft.com/office/drawing/2014/main" id="{A714BAEE-97C5-4F60-A864-4685B2508676}"/>
                </a:ext>
              </a:extLst>
            </p:cNvPr>
            <p:cNvSpPr/>
            <p:nvPr/>
          </p:nvSpPr>
          <p:spPr>
            <a:xfrm>
              <a:off x="35421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6" name="object 108">
              <a:extLst>
                <a:ext uri="{FF2B5EF4-FFF2-40B4-BE49-F238E27FC236}">
                  <a16:creationId xmlns:a16="http://schemas.microsoft.com/office/drawing/2014/main" id="{B1C50934-20CB-4DC8-85EF-F99D9C020E7B}"/>
                </a:ext>
              </a:extLst>
            </p:cNvPr>
            <p:cNvSpPr/>
            <p:nvPr/>
          </p:nvSpPr>
          <p:spPr>
            <a:xfrm>
              <a:off x="359404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7" name="object 109">
              <a:extLst>
                <a:ext uri="{FF2B5EF4-FFF2-40B4-BE49-F238E27FC236}">
                  <a16:creationId xmlns:a16="http://schemas.microsoft.com/office/drawing/2014/main" id="{F4C51669-12FB-4E8B-AE8A-DA6232F7A2CF}"/>
                </a:ext>
              </a:extLst>
            </p:cNvPr>
            <p:cNvSpPr/>
            <p:nvPr/>
          </p:nvSpPr>
          <p:spPr>
            <a:xfrm>
              <a:off x="3645933"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8" name="object 110">
              <a:extLst>
                <a:ext uri="{FF2B5EF4-FFF2-40B4-BE49-F238E27FC236}">
                  <a16:creationId xmlns:a16="http://schemas.microsoft.com/office/drawing/2014/main" id="{F4C12360-D8A9-423D-A0A1-D2FB33B0DFDF}"/>
                </a:ext>
              </a:extLst>
            </p:cNvPr>
            <p:cNvSpPr/>
            <p:nvPr/>
          </p:nvSpPr>
          <p:spPr>
            <a:xfrm>
              <a:off x="369782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09" name="object 111">
              <a:extLst>
                <a:ext uri="{FF2B5EF4-FFF2-40B4-BE49-F238E27FC236}">
                  <a16:creationId xmlns:a16="http://schemas.microsoft.com/office/drawing/2014/main" id="{F5DE92FF-94F3-4A87-AC94-D41581F9BEC7}"/>
                </a:ext>
              </a:extLst>
            </p:cNvPr>
            <p:cNvSpPr/>
            <p:nvPr/>
          </p:nvSpPr>
          <p:spPr>
            <a:xfrm>
              <a:off x="374970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0" name="object 112">
              <a:extLst>
                <a:ext uri="{FF2B5EF4-FFF2-40B4-BE49-F238E27FC236}">
                  <a16:creationId xmlns:a16="http://schemas.microsoft.com/office/drawing/2014/main" id="{F59F5811-958A-4730-BAC9-E61D227A09B1}"/>
                </a:ext>
              </a:extLst>
            </p:cNvPr>
            <p:cNvSpPr/>
            <p:nvPr/>
          </p:nvSpPr>
          <p:spPr>
            <a:xfrm>
              <a:off x="3801596"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1" name="object 113">
              <a:extLst>
                <a:ext uri="{FF2B5EF4-FFF2-40B4-BE49-F238E27FC236}">
                  <a16:creationId xmlns:a16="http://schemas.microsoft.com/office/drawing/2014/main" id="{7F03121D-205E-4D3C-86A4-68EEF9F60A68}"/>
                </a:ext>
              </a:extLst>
            </p:cNvPr>
            <p:cNvSpPr/>
            <p:nvPr/>
          </p:nvSpPr>
          <p:spPr>
            <a:xfrm>
              <a:off x="3853484"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2" name="object 114">
              <a:extLst>
                <a:ext uri="{FF2B5EF4-FFF2-40B4-BE49-F238E27FC236}">
                  <a16:creationId xmlns:a16="http://schemas.microsoft.com/office/drawing/2014/main" id="{B3781D5D-DE6F-4F6F-9760-475C7A52ABF9}"/>
                </a:ext>
              </a:extLst>
            </p:cNvPr>
            <p:cNvSpPr/>
            <p:nvPr/>
          </p:nvSpPr>
          <p:spPr>
            <a:xfrm>
              <a:off x="3905372"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3" name="object 115">
              <a:extLst>
                <a:ext uri="{FF2B5EF4-FFF2-40B4-BE49-F238E27FC236}">
                  <a16:creationId xmlns:a16="http://schemas.microsoft.com/office/drawing/2014/main" id="{784513F7-3F90-4CC9-85D9-4BE354CCDA44}"/>
                </a:ext>
              </a:extLst>
            </p:cNvPr>
            <p:cNvSpPr/>
            <p:nvPr/>
          </p:nvSpPr>
          <p:spPr>
            <a:xfrm>
              <a:off x="3957259" y="342113"/>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4" name="object 116">
              <a:extLst>
                <a:ext uri="{FF2B5EF4-FFF2-40B4-BE49-F238E27FC236}">
                  <a16:creationId xmlns:a16="http://schemas.microsoft.com/office/drawing/2014/main" id="{655083AB-5464-4367-BEA8-A678B7543763}"/>
                </a:ext>
              </a:extLst>
            </p:cNvPr>
            <p:cNvSpPr/>
            <p:nvPr/>
          </p:nvSpPr>
          <p:spPr>
            <a:xfrm>
              <a:off x="4009145" y="342113"/>
              <a:ext cx="20320" cy="20320"/>
            </a:xfrm>
            <a:custGeom>
              <a:avLst/>
              <a:gdLst/>
              <a:ahLst/>
              <a:cxnLst/>
              <a:rect l="l" t="t" r="r" b="b"/>
              <a:pathLst>
                <a:path w="20320" h="20320">
                  <a:moveTo>
                    <a:pt x="15659" y="0"/>
                  </a:moveTo>
                  <a:lnTo>
                    <a:pt x="4521" y="0"/>
                  </a:lnTo>
                  <a:lnTo>
                    <a:pt x="0" y="4508"/>
                  </a:lnTo>
                  <a:lnTo>
                    <a:pt x="0" y="15659"/>
                  </a:lnTo>
                  <a:lnTo>
                    <a:pt x="4521" y="20167"/>
                  </a:lnTo>
                  <a:lnTo>
                    <a:pt x="11547" y="20167"/>
                  </a:lnTo>
                  <a:lnTo>
                    <a:pt x="20180" y="10669"/>
                  </a:lnTo>
                  <a:lnTo>
                    <a:pt x="20180" y="4508"/>
                  </a:lnTo>
                  <a:lnTo>
                    <a:pt x="15659" y="0"/>
                  </a:lnTo>
                  <a:close/>
                </a:path>
              </a:pathLst>
            </a:custGeom>
            <a:solidFill>
              <a:srgbClr val="FFFFFF"/>
            </a:solidFill>
          </p:spPr>
          <p:txBody>
            <a:bodyPr wrap="square" lIns="0" tIns="0" rIns="0" bIns="0" rtlCol="0"/>
            <a:lstStyle/>
            <a:p>
              <a:endParaRPr sz="324"/>
            </a:p>
          </p:txBody>
        </p:sp>
        <p:sp>
          <p:nvSpPr>
            <p:cNvPr id="115" name="object 117">
              <a:extLst>
                <a:ext uri="{FF2B5EF4-FFF2-40B4-BE49-F238E27FC236}">
                  <a16:creationId xmlns:a16="http://schemas.microsoft.com/office/drawing/2014/main" id="{77B178B2-BBE2-4491-A057-5CC351A8FD33}"/>
                </a:ext>
              </a:extLst>
            </p:cNvPr>
            <p:cNvSpPr/>
            <p:nvPr/>
          </p:nvSpPr>
          <p:spPr>
            <a:xfrm>
              <a:off x="3386495" y="390037"/>
              <a:ext cx="20320" cy="20320"/>
            </a:xfrm>
            <a:custGeom>
              <a:avLst/>
              <a:gdLst/>
              <a:ahLst/>
              <a:cxnLst/>
              <a:rect l="l" t="t" r="r" b="b"/>
              <a:pathLst>
                <a:path w="20320" h="20320">
                  <a:moveTo>
                    <a:pt x="15659" y="0"/>
                  </a:moveTo>
                  <a:lnTo>
                    <a:pt x="4521" y="0"/>
                  </a:lnTo>
                  <a:lnTo>
                    <a:pt x="0" y="4508"/>
                  </a:lnTo>
                  <a:lnTo>
                    <a:pt x="0" y="13129"/>
                  </a:lnTo>
                  <a:lnTo>
                    <a:pt x="9412"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6" name="object 118">
              <a:extLst>
                <a:ext uri="{FF2B5EF4-FFF2-40B4-BE49-F238E27FC236}">
                  <a16:creationId xmlns:a16="http://schemas.microsoft.com/office/drawing/2014/main" id="{FCDE97E0-F475-45E5-BF06-7CD513C0069D}"/>
                </a:ext>
              </a:extLst>
            </p:cNvPr>
            <p:cNvSpPr/>
            <p:nvPr/>
          </p:nvSpPr>
          <p:spPr>
            <a:xfrm>
              <a:off x="343838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7" name="object 119">
              <a:extLst>
                <a:ext uri="{FF2B5EF4-FFF2-40B4-BE49-F238E27FC236}">
                  <a16:creationId xmlns:a16="http://schemas.microsoft.com/office/drawing/2014/main" id="{21984B9E-920D-44BB-A41F-1152C1BD342B}"/>
                </a:ext>
              </a:extLst>
            </p:cNvPr>
            <p:cNvSpPr/>
            <p:nvPr/>
          </p:nvSpPr>
          <p:spPr>
            <a:xfrm>
              <a:off x="3490271"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8" name="object 120">
              <a:extLst>
                <a:ext uri="{FF2B5EF4-FFF2-40B4-BE49-F238E27FC236}">
                  <a16:creationId xmlns:a16="http://schemas.microsoft.com/office/drawing/2014/main" id="{86D9D9EC-9733-470B-9415-B818EEEA925F}"/>
                </a:ext>
              </a:extLst>
            </p:cNvPr>
            <p:cNvSpPr/>
            <p:nvPr/>
          </p:nvSpPr>
          <p:spPr>
            <a:xfrm>
              <a:off x="354215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19" name="object 121">
              <a:extLst>
                <a:ext uri="{FF2B5EF4-FFF2-40B4-BE49-F238E27FC236}">
                  <a16:creationId xmlns:a16="http://schemas.microsoft.com/office/drawing/2014/main" id="{D99C97D9-7A2B-4525-9336-151A7C96A5CE}"/>
                </a:ext>
              </a:extLst>
            </p:cNvPr>
            <p:cNvSpPr/>
            <p:nvPr/>
          </p:nvSpPr>
          <p:spPr>
            <a:xfrm>
              <a:off x="359404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0" name="object 122">
              <a:extLst>
                <a:ext uri="{FF2B5EF4-FFF2-40B4-BE49-F238E27FC236}">
                  <a16:creationId xmlns:a16="http://schemas.microsoft.com/office/drawing/2014/main" id="{D0925AAB-D273-4EC7-BDE4-7041F860AEB0}"/>
                </a:ext>
              </a:extLst>
            </p:cNvPr>
            <p:cNvSpPr/>
            <p:nvPr/>
          </p:nvSpPr>
          <p:spPr>
            <a:xfrm>
              <a:off x="3645933"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1" name="object 123">
              <a:extLst>
                <a:ext uri="{FF2B5EF4-FFF2-40B4-BE49-F238E27FC236}">
                  <a16:creationId xmlns:a16="http://schemas.microsoft.com/office/drawing/2014/main" id="{EEE0698D-CFCA-4ED8-907A-0495DB217211}"/>
                </a:ext>
              </a:extLst>
            </p:cNvPr>
            <p:cNvSpPr/>
            <p:nvPr/>
          </p:nvSpPr>
          <p:spPr>
            <a:xfrm>
              <a:off x="369782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2" name="object 124">
              <a:extLst>
                <a:ext uri="{FF2B5EF4-FFF2-40B4-BE49-F238E27FC236}">
                  <a16:creationId xmlns:a16="http://schemas.microsoft.com/office/drawing/2014/main" id="{C7C90B32-8F40-4ED1-A1DE-DAF124EE0AAB}"/>
                </a:ext>
              </a:extLst>
            </p:cNvPr>
            <p:cNvSpPr/>
            <p:nvPr/>
          </p:nvSpPr>
          <p:spPr>
            <a:xfrm>
              <a:off x="3749709"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3" name="object 125">
              <a:extLst>
                <a:ext uri="{FF2B5EF4-FFF2-40B4-BE49-F238E27FC236}">
                  <a16:creationId xmlns:a16="http://schemas.microsoft.com/office/drawing/2014/main" id="{9665CB65-1943-43E8-9450-0C5C2EC294D9}"/>
                </a:ext>
              </a:extLst>
            </p:cNvPr>
            <p:cNvSpPr/>
            <p:nvPr/>
          </p:nvSpPr>
          <p:spPr>
            <a:xfrm>
              <a:off x="3801596"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4" name="object 126">
              <a:extLst>
                <a:ext uri="{FF2B5EF4-FFF2-40B4-BE49-F238E27FC236}">
                  <a16:creationId xmlns:a16="http://schemas.microsoft.com/office/drawing/2014/main" id="{FA76E20C-CA86-4B5C-94F8-F6EFFE80CBD5}"/>
                </a:ext>
              </a:extLst>
            </p:cNvPr>
            <p:cNvSpPr/>
            <p:nvPr/>
          </p:nvSpPr>
          <p:spPr>
            <a:xfrm>
              <a:off x="3853484"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5" name="object 127">
              <a:extLst>
                <a:ext uri="{FF2B5EF4-FFF2-40B4-BE49-F238E27FC236}">
                  <a16:creationId xmlns:a16="http://schemas.microsoft.com/office/drawing/2014/main" id="{1A84F4B2-9A0C-4898-9DAD-4509838B6BE1}"/>
                </a:ext>
              </a:extLst>
            </p:cNvPr>
            <p:cNvSpPr/>
            <p:nvPr/>
          </p:nvSpPr>
          <p:spPr>
            <a:xfrm>
              <a:off x="3905372" y="390037"/>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6" name="object 128">
              <a:extLst>
                <a:ext uri="{FF2B5EF4-FFF2-40B4-BE49-F238E27FC236}">
                  <a16:creationId xmlns:a16="http://schemas.microsoft.com/office/drawing/2014/main" id="{8B663F50-1B52-4822-8537-9412D7F30DCF}"/>
                </a:ext>
              </a:extLst>
            </p:cNvPr>
            <p:cNvSpPr/>
            <p:nvPr/>
          </p:nvSpPr>
          <p:spPr>
            <a:xfrm>
              <a:off x="3957259" y="390037"/>
              <a:ext cx="20320" cy="20320"/>
            </a:xfrm>
            <a:custGeom>
              <a:avLst/>
              <a:gdLst/>
              <a:ahLst/>
              <a:cxnLst/>
              <a:rect l="l" t="t" r="r" b="b"/>
              <a:pathLst>
                <a:path w="20320" h="20320">
                  <a:moveTo>
                    <a:pt x="15659" y="0"/>
                  </a:moveTo>
                  <a:lnTo>
                    <a:pt x="4521" y="0"/>
                  </a:lnTo>
                  <a:lnTo>
                    <a:pt x="0" y="4508"/>
                  </a:lnTo>
                  <a:lnTo>
                    <a:pt x="0" y="15659"/>
                  </a:lnTo>
                  <a:lnTo>
                    <a:pt x="4521" y="20167"/>
                  </a:lnTo>
                  <a:lnTo>
                    <a:pt x="10765" y="20167"/>
                  </a:lnTo>
                  <a:lnTo>
                    <a:pt x="20180" y="13127"/>
                  </a:lnTo>
                  <a:lnTo>
                    <a:pt x="20180" y="4508"/>
                  </a:lnTo>
                  <a:lnTo>
                    <a:pt x="15659" y="0"/>
                  </a:lnTo>
                  <a:close/>
                </a:path>
              </a:pathLst>
            </a:custGeom>
            <a:solidFill>
              <a:srgbClr val="FFFFFF"/>
            </a:solidFill>
          </p:spPr>
          <p:txBody>
            <a:bodyPr wrap="square" lIns="0" tIns="0" rIns="0" bIns="0" rtlCol="0"/>
            <a:lstStyle/>
            <a:p>
              <a:endParaRPr sz="324"/>
            </a:p>
          </p:txBody>
        </p:sp>
        <p:sp>
          <p:nvSpPr>
            <p:cNvPr id="127" name="object 129">
              <a:extLst>
                <a:ext uri="{FF2B5EF4-FFF2-40B4-BE49-F238E27FC236}">
                  <a16:creationId xmlns:a16="http://schemas.microsoft.com/office/drawing/2014/main" id="{3B37469B-DB13-40B6-B19C-4F1CBC529AB1}"/>
                </a:ext>
              </a:extLst>
            </p:cNvPr>
            <p:cNvSpPr/>
            <p:nvPr/>
          </p:nvSpPr>
          <p:spPr>
            <a:xfrm>
              <a:off x="3440188" y="437960"/>
              <a:ext cx="18415" cy="13970"/>
            </a:xfrm>
            <a:custGeom>
              <a:avLst/>
              <a:gdLst/>
              <a:ahLst/>
              <a:cxnLst/>
              <a:rect l="l" t="t" r="r" b="b"/>
              <a:pathLst>
                <a:path w="18414" h="13970">
                  <a:moveTo>
                    <a:pt x="13855" y="0"/>
                  </a:moveTo>
                  <a:lnTo>
                    <a:pt x="2717" y="0"/>
                  </a:lnTo>
                  <a:lnTo>
                    <a:pt x="0" y="2709"/>
                  </a:lnTo>
                  <a:lnTo>
                    <a:pt x="18376" y="13873"/>
                  </a:lnTo>
                  <a:lnTo>
                    <a:pt x="18376" y="4508"/>
                  </a:lnTo>
                  <a:lnTo>
                    <a:pt x="13855" y="0"/>
                  </a:lnTo>
                  <a:close/>
                </a:path>
              </a:pathLst>
            </a:custGeom>
            <a:solidFill>
              <a:srgbClr val="FFFFFF"/>
            </a:solidFill>
          </p:spPr>
          <p:txBody>
            <a:bodyPr wrap="square" lIns="0" tIns="0" rIns="0" bIns="0" rtlCol="0"/>
            <a:lstStyle/>
            <a:p>
              <a:endParaRPr sz="324"/>
            </a:p>
          </p:txBody>
        </p:sp>
        <p:sp>
          <p:nvSpPr>
            <p:cNvPr id="128" name="object 130">
              <a:extLst>
                <a:ext uri="{FF2B5EF4-FFF2-40B4-BE49-F238E27FC236}">
                  <a16:creationId xmlns:a16="http://schemas.microsoft.com/office/drawing/2014/main" id="{EAFF8150-F3DD-437A-9E64-B35089189C5E}"/>
                </a:ext>
              </a:extLst>
            </p:cNvPr>
            <p:cNvSpPr/>
            <p:nvPr/>
          </p:nvSpPr>
          <p:spPr>
            <a:xfrm>
              <a:off x="3490271"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29" name="object 131">
              <a:extLst>
                <a:ext uri="{FF2B5EF4-FFF2-40B4-BE49-F238E27FC236}">
                  <a16:creationId xmlns:a16="http://schemas.microsoft.com/office/drawing/2014/main" id="{386E302A-7D87-4724-A395-048FE6111E21}"/>
                </a:ext>
              </a:extLst>
            </p:cNvPr>
            <p:cNvSpPr/>
            <p:nvPr/>
          </p:nvSpPr>
          <p:spPr>
            <a:xfrm>
              <a:off x="354215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0" name="object 132">
              <a:extLst>
                <a:ext uri="{FF2B5EF4-FFF2-40B4-BE49-F238E27FC236}">
                  <a16:creationId xmlns:a16="http://schemas.microsoft.com/office/drawing/2014/main" id="{D73152AB-7C75-4767-85AE-D806B5911679}"/>
                </a:ext>
              </a:extLst>
            </p:cNvPr>
            <p:cNvSpPr/>
            <p:nvPr/>
          </p:nvSpPr>
          <p:spPr>
            <a:xfrm>
              <a:off x="359404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1" name="object 133">
              <a:extLst>
                <a:ext uri="{FF2B5EF4-FFF2-40B4-BE49-F238E27FC236}">
                  <a16:creationId xmlns:a16="http://schemas.microsoft.com/office/drawing/2014/main" id="{E1923D3F-F460-4B83-A7C6-43427E941957}"/>
                </a:ext>
              </a:extLst>
            </p:cNvPr>
            <p:cNvSpPr/>
            <p:nvPr/>
          </p:nvSpPr>
          <p:spPr>
            <a:xfrm>
              <a:off x="3645933"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2" name="object 134">
              <a:extLst>
                <a:ext uri="{FF2B5EF4-FFF2-40B4-BE49-F238E27FC236}">
                  <a16:creationId xmlns:a16="http://schemas.microsoft.com/office/drawing/2014/main" id="{737684BF-6F30-478E-B032-61BCE038F131}"/>
                </a:ext>
              </a:extLst>
            </p:cNvPr>
            <p:cNvSpPr/>
            <p:nvPr/>
          </p:nvSpPr>
          <p:spPr>
            <a:xfrm>
              <a:off x="3697822"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3" name="object 135">
              <a:extLst>
                <a:ext uri="{FF2B5EF4-FFF2-40B4-BE49-F238E27FC236}">
                  <a16:creationId xmlns:a16="http://schemas.microsoft.com/office/drawing/2014/main" id="{CCE06E04-2C8E-4789-8061-D995200B9CE3}"/>
                </a:ext>
              </a:extLst>
            </p:cNvPr>
            <p:cNvSpPr/>
            <p:nvPr/>
          </p:nvSpPr>
          <p:spPr>
            <a:xfrm>
              <a:off x="3749709"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4" name="object 136">
              <a:extLst>
                <a:ext uri="{FF2B5EF4-FFF2-40B4-BE49-F238E27FC236}">
                  <a16:creationId xmlns:a16="http://schemas.microsoft.com/office/drawing/2014/main" id="{B46667B3-3541-4CD7-B5AA-E8891BD999C4}"/>
                </a:ext>
              </a:extLst>
            </p:cNvPr>
            <p:cNvSpPr/>
            <p:nvPr/>
          </p:nvSpPr>
          <p:spPr>
            <a:xfrm>
              <a:off x="3801596"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5" name="object 137">
              <a:extLst>
                <a:ext uri="{FF2B5EF4-FFF2-40B4-BE49-F238E27FC236}">
                  <a16:creationId xmlns:a16="http://schemas.microsoft.com/office/drawing/2014/main" id="{47D26476-F3E4-42A5-9562-E2D578A45BA0}"/>
                </a:ext>
              </a:extLst>
            </p:cNvPr>
            <p:cNvSpPr/>
            <p:nvPr/>
          </p:nvSpPr>
          <p:spPr>
            <a:xfrm>
              <a:off x="3853484" y="437960"/>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6" name="object 138">
              <a:extLst>
                <a:ext uri="{FF2B5EF4-FFF2-40B4-BE49-F238E27FC236}">
                  <a16:creationId xmlns:a16="http://schemas.microsoft.com/office/drawing/2014/main" id="{7840DE50-C22E-49E8-9E09-D524CEB9B605}"/>
                </a:ext>
              </a:extLst>
            </p:cNvPr>
            <p:cNvSpPr/>
            <p:nvPr/>
          </p:nvSpPr>
          <p:spPr>
            <a:xfrm>
              <a:off x="3905372" y="437960"/>
              <a:ext cx="18415" cy="13970"/>
            </a:xfrm>
            <a:custGeom>
              <a:avLst/>
              <a:gdLst/>
              <a:ahLst/>
              <a:cxnLst/>
              <a:rect l="l" t="t" r="r" b="b"/>
              <a:pathLst>
                <a:path w="18414" h="13970">
                  <a:moveTo>
                    <a:pt x="15659" y="0"/>
                  </a:moveTo>
                  <a:lnTo>
                    <a:pt x="4521" y="0"/>
                  </a:lnTo>
                  <a:lnTo>
                    <a:pt x="0" y="4508"/>
                  </a:lnTo>
                  <a:lnTo>
                    <a:pt x="0" y="13871"/>
                  </a:lnTo>
                  <a:lnTo>
                    <a:pt x="18375" y="2708"/>
                  </a:lnTo>
                  <a:lnTo>
                    <a:pt x="15659" y="0"/>
                  </a:lnTo>
                  <a:close/>
                </a:path>
              </a:pathLst>
            </a:custGeom>
            <a:solidFill>
              <a:srgbClr val="FFFFFF"/>
            </a:solidFill>
          </p:spPr>
          <p:txBody>
            <a:bodyPr wrap="square" lIns="0" tIns="0" rIns="0" bIns="0" rtlCol="0"/>
            <a:lstStyle/>
            <a:p>
              <a:endParaRPr sz="324"/>
            </a:p>
          </p:txBody>
        </p:sp>
        <p:sp>
          <p:nvSpPr>
            <p:cNvPr id="137" name="object 139">
              <a:extLst>
                <a:ext uri="{FF2B5EF4-FFF2-40B4-BE49-F238E27FC236}">
                  <a16:creationId xmlns:a16="http://schemas.microsoft.com/office/drawing/2014/main" id="{2E615000-69CE-473C-8BD5-F44B593F1F1B}"/>
                </a:ext>
              </a:extLst>
            </p:cNvPr>
            <p:cNvSpPr/>
            <p:nvPr/>
          </p:nvSpPr>
          <p:spPr>
            <a:xfrm>
              <a:off x="3544416" y="485885"/>
              <a:ext cx="18415" cy="6985"/>
            </a:xfrm>
            <a:custGeom>
              <a:avLst/>
              <a:gdLst/>
              <a:ahLst/>
              <a:cxnLst/>
              <a:rect l="l" t="t" r="r" b="b"/>
              <a:pathLst>
                <a:path w="18414" h="6984">
                  <a:moveTo>
                    <a:pt x="13402" y="0"/>
                  </a:moveTo>
                  <a:lnTo>
                    <a:pt x="2264" y="0"/>
                  </a:lnTo>
                  <a:lnTo>
                    <a:pt x="0" y="2257"/>
                  </a:lnTo>
                  <a:lnTo>
                    <a:pt x="17923" y="6866"/>
                  </a:lnTo>
                  <a:lnTo>
                    <a:pt x="17923" y="4508"/>
                  </a:lnTo>
                  <a:lnTo>
                    <a:pt x="13402" y="0"/>
                  </a:lnTo>
                  <a:close/>
                </a:path>
              </a:pathLst>
            </a:custGeom>
            <a:solidFill>
              <a:srgbClr val="FFFFFF"/>
            </a:solidFill>
          </p:spPr>
          <p:txBody>
            <a:bodyPr wrap="square" lIns="0" tIns="0" rIns="0" bIns="0" rtlCol="0"/>
            <a:lstStyle/>
            <a:p>
              <a:endParaRPr sz="324"/>
            </a:p>
          </p:txBody>
        </p:sp>
        <p:sp>
          <p:nvSpPr>
            <p:cNvPr id="138" name="object 140">
              <a:extLst>
                <a:ext uri="{FF2B5EF4-FFF2-40B4-BE49-F238E27FC236}">
                  <a16:creationId xmlns:a16="http://schemas.microsoft.com/office/drawing/2014/main" id="{83F898E8-9578-4FA7-A25C-C32A9CE5E036}"/>
                </a:ext>
              </a:extLst>
            </p:cNvPr>
            <p:cNvSpPr/>
            <p:nvPr/>
          </p:nvSpPr>
          <p:spPr>
            <a:xfrm>
              <a:off x="3594046" y="485885"/>
              <a:ext cx="20320" cy="17780"/>
            </a:xfrm>
            <a:custGeom>
              <a:avLst/>
              <a:gdLst/>
              <a:ahLst/>
              <a:cxnLst/>
              <a:rect l="l" t="t" r="r" b="b"/>
              <a:pathLst>
                <a:path w="20320" h="17779">
                  <a:moveTo>
                    <a:pt x="15659" y="0"/>
                  </a:moveTo>
                  <a:lnTo>
                    <a:pt x="4521" y="0"/>
                  </a:lnTo>
                  <a:lnTo>
                    <a:pt x="0" y="4508"/>
                  </a:lnTo>
                  <a:lnTo>
                    <a:pt x="0" y="14388"/>
                  </a:lnTo>
                  <a:lnTo>
                    <a:pt x="18606" y="17228"/>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39" name="object 141">
              <a:extLst>
                <a:ext uri="{FF2B5EF4-FFF2-40B4-BE49-F238E27FC236}">
                  <a16:creationId xmlns:a16="http://schemas.microsoft.com/office/drawing/2014/main" id="{1BDDC80E-B4C2-4BE9-9FC1-77C4A1E64626}"/>
                </a:ext>
              </a:extLst>
            </p:cNvPr>
            <p:cNvSpPr/>
            <p:nvPr/>
          </p:nvSpPr>
          <p:spPr>
            <a:xfrm>
              <a:off x="3645933"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40" name="object 142">
              <a:extLst>
                <a:ext uri="{FF2B5EF4-FFF2-40B4-BE49-F238E27FC236}">
                  <a16:creationId xmlns:a16="http://schemas.microsoft.com/office/drawing/2014/main" id="{A6B0B6E5-2E06-4EC5-AE88-2D4A2402E6F2}"/>
                </a:ext>
              </a:extLst>
            </p:cNvPr>
            <p:cNvSpPr/>
            <p:nvPr/>
          </p:nvSpPr>
          <p:spPr>
            <a:xfrm>
              <a:off x="3697822" y="485885"/>
              <a:ext cx="20320" cy="20320"/>
            </a:xfrm>
            <a:custGeom>
              <a:avLst/>
              <a:gdLst/>
              <a:ahLst/>
              <a:cxnLst/>
              <a:rect l="l" t="t" r="r" b="b"/>
              <a:pathLst>
                <a:path w="20320" h="20320">
                  <a:moveTo>
                    <a:pt x="15659" y="0"/>
                  </a:moveTo>
                  <a:lnTo>
                    <a:pt x="4521" y="0"/>
                  </a:lnTo>
                  <a:lnTo>
                    <a:pt x="0" y="4508"/>
                  </a:lnTo>
                  <a:lnTo>
                    <a:pt x="0" y="15659"/>
                  </a:lnTo>
                  <a:lnTo>
                    <a:pt x="4521" y="20167"/>
                  </a:lnTo>
                  <a:lnTo>
                    <a:pt x="15659" y="20167"/>
                  </a:lnTo>
                  <a:lnTo>
                    <a:pt x="20180" y="15659"/>
                  </a:lnTo>
                  <a:lnTo>
                    <a:pt x="20180" y="4508"/>
                  </a:lnTo>
                  <a:lnTo>
                    <a:pt x="15659" y="0"/>
                  </a:lnTo>
                  <a:close/>
                </a:path>
              </a:pathLst>
            </a:custGeom>
            <a:solidFill>
              <a:srgbClr val="FFFFFF"/>
            </a:solidFill>
          </p:spPr>
          <p:txBody>
            <a:bodyPr wrap="square" lIns="0" tIns="0" rIns="0" bIns="0" rtlCol="0"/>
            <a:lstStyle/>
            <a:p>
              <a:endParaRPr sz="324"/>
            </a:p>
          </p:txBody>
        </p:sp>
        <p:sp>
          <p:nvSpPr>
            <p:cNvPr id="141" name="object 143">
              <a:extLst>
                <a:ext uri="{FF2B5EF4-FFF2-40B4-BE49-F238E27FC236}">
                  <a16:creationId xmlns:a16="http://schemas.microsoft.com/office/drawing/2014/main" id="{DC8BB7B0-23EA-45E9-BF81-815CB7E861E7}"/>
                </a:ext>
              </a:extLst>
            </p:cNvPr>
            <p:cNvSpPr/>
            <p:nvPr/>
          </p:nvSpPr>
          <p:spPr>
            <a:xfrm>
              <a:off x="3749709" y="485885"/>
              <a:ext cx="20320" cy="17780"/>
            </a:xfrm>
            <a:custGeom>
              <a:avLst/>
              <a:gdLst/>
              <a:ahLst/>
              <a:cxnLst/>
              <a:rect l="l" t="t" r="r" b="b"/>
              <a:pathLst>
                <a:path w="20320" h="17779">
                  <a:moveTo>
                    <a:pt x="15659" y="0"/>
                  </a:moveTo>
                  <a:lnTo>
                    <a:pt x="4521" y="0"/>
                  </a:lnTo>
                  <a:lnTo>
                    <a:pt x="0" y="4508"/>
                  </a:lnTo>
                  <a:lnTo>
                    <a:pt x="0" y="15659"/>
                  </a:lnTo>
                  <a:lnTo>
                    <a:pt x="1574" y="17228"/>
                  </a:lnTo>
                  <a:lnTo>
                    <a:pt x="20180" y="14389"/>
                  </a:lnTo>
                  <a:lnTo>
                    <a:pt x="20180" y="4508"/>
                  </a:lnTo>
                  <a:lnTo>
                    <a:pt x="15659" y="0"/>
                  </a:lnTo>
                  <a:close/>
                </a:path>
              </a:pathLst>
            </a:custGeom>
            <a:solidFill>
              <a:srgbClr val="FFFFFF"/>
            </a:solidFill>
          </p:spPr>
          <p:txBody>
            <a:bodyPr wrap="square" lIns="0" tIns="0" rIns="0" bIns="0" rtlCol="0"/>
            <a:lstStyle/>
            <a:p>
              <a:endParaRPr sz="324"/>
            </a:p>
          </p:txBody>
        </p:sp>
        <p:sp>
          <p:nvSpPr>
            <p:cNvPr id="142" name="object 144">
              <a:extLst>
                <a:ext uri="{FF2B5EF4-FFF2-40B4-BE49-F238E27FC236}">
                  <a16:creationId xmlns:a16="http://schemas.microsoft.com/office/drawing/2014/main" id="{712779C2-07A1-489D-916A-5B62FE6D1E2E}"/>
                </a:ext>
              </a:extLst>
            </p:cNvPr>
            <p:cNvSpPr/>
            <p:nvPr/>
          </p:nvSpPr>
          <p:spPr>
            <a:xfrm>
              <a:off x="3801596" y="485885"/>
              <a:ext cx="18415" cy="6985"/>
            </a:xfrm>
            <a:custGeom>
              <a:avLst/>
              <a:gdLst/>
              <a:ahLst/>
              <a:cxnLst/>
              <a:rect l="l" t="t" r="r" b="b"/>
              <a:pathLst>
                <a:path w="18414" h="6984">
                  <a:moveTo>
                    <a:pt x="15659" y="0"/>
                  </a:moveTo>
                  <a:lnTo>
                    <a:pt x="4521" y="0"/>
                  </a:lnTo>
                  <a:lnTo>
                    <a:pt x="0" y="4508"/>
                  </a:lnTo>
                  <a:lnTo>
                    <a:pt x="0" y="6866"/>
                  </a:lnTo>
                  <a:lnTo>
                    <a:pt x="17923" y="2258"/>
                  </a:lnTo>
                  <a:lnTo>
                    <a:pt x="15659" y="0"/>
                  </a:lnTo>
                  <a:close/>
                </a:path>
              </a:pathLst>
            </a:custGeom>
            <a:solidFill>
              <a:srgbClr val="FFFFFF"/>
            </a:solidFill>
          </p:spPr>
          <p:txBody>
            <a:bodyPr wrap="square" lIns="0" tIns="0" rIns="0" bIns="0" rtlCol="0"/>
            <a:lstStyle/>
            <a:p>
              <a:endParaRPr sz="324"/>
            </a:p>
          </p:txBody>
        </p:sp>
      </p:grpSp>
    </p:spTree>
    <p:extLst>
      <p:ext uri="{BB962C8B-B14F-4D97-AF65-F5344CB8AC3E}">
        <p14:creationId xmlns:p14="http://schemas.microsoft.com/office/powerpoint/2010/main" val="1415604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83"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9"/>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1" y="6356357"/>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1" y="6356357"/>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fr-FR"/>
              <a:t>Motif de la présentation | Lieu | Date</a:t>
            </a:r>
            <a:endParaRPr lang="en-US"/>
          </a:p>
        </p:txBody>
      </p:sp>
      <p:sp>
        <p:nvSpPr>
          <p:cNvPr id="6" name="Slide Number Placeholder 5"/>
          <p:cNvSpPr>
            <a:spLocks noGrp="1"/>
          </p:cNvSpPr>
          <p:nvPr>
            <p:ph type="sldNum" sz="quarter" idx="4"/>
          </p:nvPr>
        </p:nvSpPr>
        <p:spPr>
          <a:xfrm>
            <a:off x="8610601" y="6356357"/>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614A4D-4352-4428-A1E5-77B191896878}" type="slidenum">
              <a:rPr lang="en-US" smtClean="0"/>
              <a:t>‹N°›</a:t>
            </a:fld>
            <a:endParaRPr lang="en-US"/>
          </a:p>
        </p:txBody>
      </p:sp>
    </p:spTree>
    <p:extLst>
      <p:ext uri="{BB962C8B-B14F-4D97-AF65-F5344CB8AC3E}">
        <p14:creationId xmlns:p14="http://schemas.microsoft.com/office/powerpoint/2010/main" val="510307940"/>
      </p:ext>
    </p:extLst>
  </p:cSld>
  <p:clrMap bg1="lt1" tx1="dk1" bg2="lt2" tx2="dk2" accent1="accent1" accent2="accent2" accent3="accent3" accent4="accent4" accent5="accent5" accent6="accent6" hlink="hlink" folHlink="folHlink"/>
  <p:sldLayoutIdLst>
    <p:sldLayoutId id="2147483651" r:id="rId1"/>
    <p:sldLayoutId id="2147483654" r:id="rId2"/>
    <p:sldLayoutId id="2147483659" r:id="rId3"/>
    <p:sldLayoutId id="2147483660" r:id="rId4"/>
    <p:sldLayoutId id="2147483661" r:id="rId5"/>
    <p:sldLayoutId id="2147483662" r:id="rId6"/>
  </p:sldLayoutIdLst>
  <p:hf hdr="0" dt="0"/>
  <p:txStyles>
    <p:titleStyle>
      <a:lvl1pPr algn="l" defTabSz="685756"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9" indent="-171439" algn="l" defTabSz="685756"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17" indent="-171439" algn="l" defTabSz="685756"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95" indent="-171439" algn="l" defTabSz="685756"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72"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50"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27"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05"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83"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60" indent="-171439" algn="l" defTabSz="68575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56" rtl="0" eaLnBrk="1" latinLnBrk="0" hangingPunct="1">
        <a:defRPr sz="1350" kern="1200">
          <a:solidFill>
            <a:schemeClr val="tx1"/>
          </a:solidFill>
          <a:latin typeface="+mn-lt"/>
          <a:ea typeface="+mn-ea"/>
          <a:cs typeface="+mn-cs"/>
        </a:defRPr>
      </a:lvl1pPr>
      <a:lvl2pPr marL="342878" algn="l" defTabSz="685756" rtl="0" eaLnBrk="1" latinLnBrk="0" hangingPunct="1">
        <a:defRPr sz="1350" kern="1200">
          <a:solidFill>
            <a:schemeClr val="tx1"/>
          </a:solidFill>
          <a:latin typeface="+mn-lt"/>
          <a:ea typeface="+mn-ea"/>
          <a:cs typeface="+mn-cs"/>
        </a:defRPr>
      </a:lvl2pPr>
      <a:lvl3pPr marL="685756" algn="l" defTabSz="685756" rtl="0" eaLnBrk="1" latinLnBrk="0" hangingPunct="1">
        <a:defRPr sz="1350" kern="1200">
          <a:solidFill>
            <a:schemeClr val="tx1"/>
          </a:solidFill>
          <a:latin typeface="+mn-lt"/>
          <a:ea typeface="+mn-ea"/>
          <a:cs typeface="+mn-cs"/>
        </a:defRPr>
      </a:lvl3pPr>
      <a:lvl4pPr marL="1028633" algn="l" defTabSz="685756" rtl="0" eaLnBrk="1" latinLnBrk="0" hangingPunct="1">
        <a:defRPr sz="1350" kern="1200">
          <a:solidFill>
            <a:schemeClr val="tx1"/>
          </a:solidFill>
          <a:latin typeface="+mn-lt"/>
          <a:ea typeface="+mn-ea"/>
          <a:cs typeface="+mn-cs"/>
        </a:defRPr>
      </a:lvl4pPr>
      <a:lvl5pPr marL="1371511" algn="l" defTabSz="685756" rtl="0" eaLnBrk="1" latinLnBrk="0" hangingPunct="1">
        <a:defRPr sz="1350" kern="1200">
          <a:solidFill>
            <a:schemeClr val="tx1"/>
          </a:solidFill>
          <a:latin typeface="+mn-lt"/>
          <a:ea typeface="+mn-ea"/>
          <a:cs typeface="+mn-cs"/>
        </a:defRPr>
      </a:lvl5pPr>
      <a:lvl6pPr marL="1714389" algn="l" defTabSz="685756" rtl="0" eaLnBrk="1" latinLnBrk="0" hangingPunct="1">
        <a:defRPr sz="1350" kern="1200">
          <a:solidFill>
            <a:schemeClr val="tx1"/>
          </a:solidFill>
          <a:latin typeface="+mn-lt"/>
          <a:ea typeface="+mn-ea"/>
          <a:cs typeface="+mn-cs"/>
        </a:defRPr>
      </a:lvl6pPr>
      <a:lvl7pPr marL="2057267" algn="l" defTabSz="685756" rtl="0" eaLnBrk="1" latinLnBrk="0" hangingPunct="1">
        <a:defRPr sz="1350" kern="1200">
          <a:solidFill>
            <a:schemeClr val="tx1"/>
          </a:solidFill>
          <a:latin typeface="+mn-lt"/>
          <a:ea typeface="+mn-ea"/>
          <a:cs typeface="+mn-cs"/>
        </a:defRPr>
      </a:lvl7pPr>
      <a:lvl8pPr marL="2400144" algn="l" defTabSz="685756" rtl="0" eaLnBrk="1" latinLnBrk="0" hangingPunct="1">
        <a:defRPr sz="1350" kern="1200">
          <a:solidFill>
            <a:schemeClr val="tx1"/>
          </a:solidFill>
          <a:latin typeface="+mn-lt"/>
          <a:ea typeface="+mn-ea"/>
          <a:cs typeface="+mn-cs"/>
        </a:defRPr>
      </a:lvl8pPr>
      <a:lvl9pPr marL="2743022" algn="l" defTabSz="68575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 Id="rId3" Type="http://schemas.openxmlformats.org/officeDocument/2006/relationships/image" Target="../media/image15.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Intelligence artificielle</a:t>
            </a:r>
          </a:p>
        </p:txBody>
      </p:sp>
      <p:sp>
        <p:nvSpPr>
          <p:cNvPr id="4" name="Text Placeholder 3"/>
          <p:cNvSpPr>
            <a:spLocks noGrp="1"/>
          </p:cNvSpPr>
          <p:nvPr>
            <p:ph type="body" idx="15" sz="quarter"/>
          </p:nvPr>
        </p:nvSpPr>
        <p:spPr/>
        <p:txBody>
          <a:bodyPr/>
          <a:lstStyle/>
          <a:p>
            <a:r>
              <a:t>Partie 2 : les notions du semestre</a:t>
            </a:r>
          </a:p>
        </p:txBody>
      </p:sp>
      <p:sp>
        <p:nvSpPr>
          <p:cNvPr id="5" name="Text Placeholder 4"/>
          <p:cNvSpPr>
            <a:spLocks noGrp="1"/>
          </p:cNvSpPr>
          <p:nvPr>
            <p:ph type="body" idx="16" sz="quarter"/>
          </p:nvPr>
        </p:nvSpPr>
        <p:spPr/>
        <p:txBody>
          <a:bodyPr/>
          <a:lstStyle/>
          <a:p>
            <a:r>
              <a:t>IA prédictive et IA générative</a:t>
            </a:r>
          </a:p>
          <a:p>
            <a:r>
              <a:t>David Laiymani et Claude</a:t>
            </a:r>
          </a:p>
        </p:txBody>
      </p:sp>
      <p:pic>
        <p:nvPicPr>
          <p:cNvPr id="6" name="Picture 5" descr="cover_CM2.png"/>
          <p:cNvPicPr>
            <a:picLocks noChangeAspect="1"/>
          </p:cNvPicPr>
          <p:nvPr/>
        </p:nvPicPr>
        <p:blipFill>
          <a:blip r:embed="rId2"/>
          <a:stretch>
            <a:fillRect/>
          </a:stretch>
        </p:blipFill>
        <p:spPr>
          <a:xfrm>
            <a:off x="7678265" y="371587"/>
            <a:ext cx="4039989" cy="614442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Introduction</a:t>
            </a:r>
          </a:p>
        </p:txBody>
      </p:sp>
      <p:sp>
        <p:nvSpPr>
          <p:cNvPr id="3" name="Text Placeholder 2"/>
          <p:cNvSpPr>
            <a:spLocks noGrp="1"/>
          </p:cNvSpPr>
          <p:nvPr>
            <p:ph type="body" idx="25" sz="quarter"/>
          </p:nvPr>
        </p:nvSpPr>
        <p:spPr/>
        <p:txBody>
          <a:bodyPr/>
          <a:lstStyle/>
          <a:p>
            <a:r>
              <a:t>Deux grandes familles d'IA au programme</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2</a:t>
            </a:fld>
          </a:p>
        </p:txBody>
      </p:sp>
      <p:sp>
        <p:nvSpPr>
          <p:cNvPr id="6" name="Rectangle 5"/>
          <p:cNvSpPr/>
          <p:nvPr/>
        </p:nvSpPr>
        <p:spPr>
          <a:xfrm>
            <a:off x="640080" y="1481328"/>
            <a:ext cx="5172027" cy="452079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5172027"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3064" y="1669694"/>
            <a:ext cx="788953" cy="941832"/>
          </a:xfrm>
          <a:prstGeom prst="rect">
            <a:avLst/>
          </a:prstGeom>
          <a:noFill/>
        </p:spPr>
        <p:txBody>
          <a:bodyPr wrap="square" lIns="0" rIns="0" tIns="0" bIns="0" anchor="ctr">
            <a:spAutoFit/>
          </a:bodyPr>
          <a:lstStyle/>
          <a:p>
            <a:pPr algn="l">
              <a:spcAft>
                <a:spcPts val="0"/>
              </a:spcAft>
            </a:pPr>
            <a:r>
              <a:rPr sz="4860" b="1" i="0">
                <a:solidFill>
                  <a:srgbClr val="00877A"/>
                </a:solidFill>
                <a:latin typeface="Arial"/>
              </a:rPr>
              <a:t>A</a:t>
            </a:r>
          </a:p>
        </p:txBody>
      </p:sp>
      <p:sp>
        <p:nvSpPr>
          <p:cNvPr id="9" name="Oval 8"/>
          <p:cNvSpPr/>
          <p:nvPr/>
        </p:nvSpPr>
        <p:spPr>
          <a:xfrm>
            <a:off x="4804000" y="1791594"/>
            <a:ext cx="745122" cy="74512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aChartLine.png"/>
          <p:cNvPicPr>
            <a:picLocks noChangeAspect="1"/>
          </p:cNvPicPr>
          <p:nvPr/>
        </p:nvPicPr>
        <p:blipFill>
          <a:blip r:embed="rId2"/>
          <a:stretch>
            <a:fillRect/>
          </a:stretch>
        </p:blipFill>
        <p:spPr>
          <a:xfrm>
            <a:off x="4997732" y="1985326"/>
            <a:ext cx="357658" cy="357658"/>
          </a:xfrm>
          <a:prstGeom prst="rect">
            <a:avLst/>
          </a:prstGeom>
        </p:spPr>
      </p:pic>
      <p:sp>
        <p:nvSpPr>
          <p:cNvPr id="11" name="TextBox 10"/>
          <p:cNvSpPr txBox="1"/>
          <p:nvPr/>
        </p:nvSpPr>
        <p:spPr>
          <a:xfrm>
            <a:off x="1692017" y="1669694"/>
            <a:ext cx="2980490" cy="941832"/>
          </a:xfrm>
          <a:prstGeom prst="rect">
            <a:avLst/>
          </a:prstGeom>
          <a:noFill/>
        </p:spPr>
        <p:txBody>
          <a:bodyPr wrap="square" lIns="0" rIns="0" tIns="0" bIns="0" anchor="ctr">
            <a:spAutoFit/>
          </a:bodyPr>
          <a:lstStyle/>
          <a:p>
            <a:pPr algn="l">
              <a:spcAft>
                <a:spcPts val="0"/>
              </a:spcAft>
            </a:pPr>
            <a:r>
              <a:rPr sz="2160" b="1" i="0">
                <a:solidFill>
                  <a:srgbClr val="1A2E2B"/>
                </a:solidFill>
                <a:latin typeface="Arial"/>
              </a:rPr>
              <a:t>IA prédictive</a:t>
            </a:r>
          </a:p>
        </p:txBody>
      </p:sp>
      <p:sp>
        <p:nvSpPr>
          <p:cNvPr id="12" name="TextBox 11"/>
          <p:cNvSpPr txBox="1"/>
          <p:nvPr/>
        </p:nvSpPr>
        <p:spPr>
          <a:xfrm>
            <a:off x="903064" y="2799892"/>
            <a:ext cx="4646058" cy="847648"/>
          </a:xfrm>
          <a:prstGeom prst="rect">
            <a:avLst/>
          </a:prstGeom>
          <a:noFill/>
        </p:spPr>
        <p:txBody>
          <a:bodyPr wrap="square" lIns="0" rIns="0" tIns="0" bIns="0" anchor="t">
            <a:spAutoFit/>
          </a:bodyPr>
          <a:lstStyle/>
          <a:p>
            <a:pPr algn="l">
              <a:spcAft>
                <a:spcPts val="0"/>
              </a:spcAft>
            </a:pPr>
            <a:r>
              <a:rPr sz="1350" b="0" i="1">
                <a:solidFill>
                  <a:srgbClr val="2B3A38"/>
                </a:solidFill>
                <a:latin typeface="Arial"/>
              </a:rPr>
              <a:t>Apprendre à partir de données pour regrouper, classer, estimer ou prévoir.</a:t>
            </a:r>
          </a:p>
        </p:txBody>
      </p:sp>
      <p:sp>
        <p:nvSpPr>
          <p:cNvPr id="13" name="TextBox 12"/>
          <p:cNvSpPr txBox="1"/>
          <p:nvPr/>
        </p:nvSpPr>
        <p:spPr>
          <a:xfrm>
            <a:off x="903064" y="3741724"/>
            <a:ext cx="4646058" cy="2072030"/>
          </a:xfrm>
          <a:prstGeom prst="rect">
            <a:avLst/>
          </a:prstGeom>
          <a:noFill/>
        </p:spPr>
        <p:txBody>
          <a:bodyPr wrap="square" lIns="0" rIns="0" tIns="0" bIns="0" anchor="t">
            <a:spAutoFit/>
          </a:bodyPr>
          <a:lstStyle/>
          <a:p>
            <a:pPr algn="l">
              <a:spcAft>
                <a:spcPts val="800"/>
              </a:spcAft>
            </a:pPr>
            <a:r>
              <a:rPr sz="1260" b="0" i="0">
                <a:solidFill>
                  <a:srgbClr val="2B3A38"/>
                </a:solidFill>
                <a:latin typeface="Arial"/>
              </a:rPr>
              <a:t>•  Clustering, classification, régression, séries temporelles</a:t>
            </a:r>
          </a:p>
          <a:p>
            <a:pPr algn="l">
              <a:spcAft>
                <a:spcPts val="800"/>
              </a:spcAft>
            </a:pPr>
            <a:r>
              <a:rPr sz="1260" b="0" i="0">
                <a:solidFill>
                  <a:srgbClr val="2B3A38"/>
                </a:solidFill>
                <a:latin typeface="Arial"/>
              </a:rPr>
              <a:t>•  Données en tableau : clients, capteurs, ventes…</a:t>
            </a:r>
          </a:p>
          <a:p>
            <a:pPr algn="l">
              <a:spcAft>
                <a:spcPts val="800"/>
              </a:spcAft>
            </a:pPr>
            <a:r>
              <a:rPr sz="1260" b="0" i="0">
                <a:solidFill>
                  <a:srgbClr val="2B3A38"/>
                </a:solidFill>
                <a:latin typeface="Arial"/>
              </a:rPr>
              <a:t>•  Pratiquée en TP avec Python, pandas, scikit-learn et XGBoost</a:t>
            </a:r>
          </a:p>
        </p:txBody>
      </p:sp>
      <p:sp>
        <p:nvSpPr>
          <p:cNvPr id="14" name="Rectangle 13"/>
          <p:cNvSpPr/>
          <p:nvPr/>
        </p:nvSpPr>
        <p:spPr>
          <a:xfrm>
            <a:off x="6075092" y="1481328"/>
            <a:ext cx="5172027" cy="452079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75092" y="1481328"/>
            <a:ext cx="517202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8076" y="1669694"/>
            <a:ext cx="788953" cy="941832"/>
          </a:xfrm>
          <a:prstGeom prst="rect">
            <a:avLst/>
          </a:prstGeom>
          <a:noFill/>
        </p:spPr>
        <p:txBody>
          <a:bodyPr wrap="square" lIns="0" rIns="0" tIns="0" bIns="0" anchor="ctr">
            <a:spAutoFit/>
          </a:bodyPr>
          <a:lstStyle/>
          <a:p>
            <a:pPr algn="l">
              <a:spcAft>
                <a:spcPts val="0"/>
              </a:spcAft>
            </a:pPr>
            <a:r>
              <a:rPr sz="4860" b="1" i="0">
                <a:solidFill>
                  <a:srgbClr val="712180"/>
                </a:solidFill>
                <a:latin typeface="Arial"/>
              </a:rPr>
              <a:t>B</a:t>
            </a:r>
          </a:p>
        </p:txBody>
      </p:sp>
      <p:sp>
        <p:nvSpPr>
          <p:cNvPr id="17" name="Oval 16"/>
          <p:cNvSpPr/>
          <p:nvPr/>
        </p:nvSpPr>
        <p:spPr>
          <a:xfrm>
            <a:off x="10239012" y="1791594"/>
            <a:ext cx="745122" cy="745122"/>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Magic.png"/>
          <p:cNvPicPr>
            <a:picLocks noChangeAspect="1"/>
          </p:cNvPicPr>
          <p:nvPr/>
        </p:nvPicPr>
        <p:blipFill>
          <a:blip r:embed="rId3"/>
          <a:stretch>
            <a:fillRect/>
          </a:stretch>
        </p:blipFill>
        <p:spPr>
          <a:xfrm>
            <a:off x="10432744" y="1985326"/>
            <a:ext cx="357658" cy="357658"/>
          </a:xfrm>
          <a:prstGeom prst="rect">
            <a:avLst/>
          </a:prstGeom>
        </p:spPr>
      </p:pic>
      <p:sp>
        <p:nvSpPr>
          <p:cNvPr id="19" name="TextBox 18"/>
          <p:cNvSpPr txBox="1"/>
          <p:nvPr/>
        </p:nvSpPr>
        <p:spPr>
          <a:xfrm>
            <a:off x="7127030" y="1669694"/>
            <a:ext cx="2980490" cy="941832"/>
          </a:xfrm>
          <a:prstGeom prst="rect">
            <a:avLst/>
          </a:prstGeom>
          <a:noFill/>
        </p:spPr>
        <p:txBody>
          <a:bodyPr wrap="square" lIns="0" rIns="0" tIns="0" bIns="0" anchor="ctr">
            <a:spAutoFit/>
          </a:bodyPr>
          <a:lstStyle/>
          <a:p>
            <a:pPr algn="l">
              <a:spcAft>
                <a:spcPts val="0"/>
              </a:spcAft>
            </a:pPr>
            <a:r>
              <a:rPr sz="2160" b="1" i="0">
                <a:solidFill>
                  <a:srgbClr val="1A2E2B"/>
                </a:solidFill>
                <a:latin typeface="Arial"/>
              </a:rPr>
              <a:t>IA générative</a:t>
            </a:r>
          </a:p>
        </p:txBody>
      </p:sp>
      <p:sp>
        <p:nvSpPr>
          <p:cNvPr id="20" name="TextBox 19"/>
          <p:cNvSpPr txBox="1"/>
          <p:nvPr/>
        </p:nvSpPr>
        <p:spPr>
          <a:xfrm>
            <a:off x="6338076" y="2799892"/>
            <a:ext cx="4646058" cy="847648"/>
          </a:xfrm>
          <a:prstGeom prst="rect">
            <a:avLst/>
          </a:prstGeom>
          <a:noFill/>
        </p:spPr>
        <p:txBody>
          <a:bodyPr wrap="square" lIns="0" rIns="0" tIns="0" bIns="0" anchor="t">
            <a:spAutoFit/>
          </a:bodyPr>
          <a:lstStyle/>
          <a:p>
            <a:pPr algn="l">
              <a:spcAft>
                <a:spcPts val="0"/>
              </a:spcAft>
            </a:pPr>
            <a:r>
              <a:rPr sz="1350" b="0" i="1">
                <a:solidFill>
                  <a:srgbClr val="2B3A38"/>
                </a:solidFill>
                <a:latin typeface="Arial"/>
              </a:rPr>
              <a:t>Des modèles qui produisent du contenu : texte, images, code.</a:t>
            </a:r>
          </a:p>
        </p:txBody>
      </p:sp>
      <p:sp>
        <p:nvSpPr>
          <p:cNvPr id="21" name="TextBox 20"/>
          <p:cNvSpPr txBox="1"/>
          <p:nvPr/>
        </p:nvSpPr>
        <p:spPr>
          <a:xfrm>
            <a:off x="6338076" y="3741724"/>
            <a:ext cx="4646058" cy="2072030"/>
          </a:xfrm>
          <a:prstGeom prst="rect">
            <a:avLst/>
          </a:prstGeom>
          <a:noFill/>
        </p:spPr>
        <p:txBody>
          <a:bodyPr wrap="square" lIns="0" rIns="0" tIns="0" bIns="0" anchor="t">
            <a:spAutoFit/>
          </a:bodyPr>
          <a:lstStyle/>
          <a:p>
            <a:pPr algn="l">
              <a:spcAft>
                <a:spcPts val="800"/>
              </a:spcAft>
            </a:pPr>
            <a:r>
              <a:rPr sz="1260" b="0" i="0">
                <a:solidFill>
                  <a:srgbClr val="2B3A38"/>
                </a:solidFill>
                <a:latin typeface="Arial"/>
              </a:rPr>
              <a:t>•  Piloter un grand modèle de langage (LLM) depuis du code</a:t>
            </a:r>
          </a:p>
          <a:p>
            <a:pPr algn="l">
              <a:spcAft>
                <a:spcPts val="800"/>
              </a:spcAft>
            </a:pPr>
            <a:r>
              <a:rPr sz="1260" b="0" i="0">
                <a:solidFill>
                  <a:srgbClr val="2B3A38"/>
                </a:solidFill>
                <a:latin typeface="Arial"/>
              </a:rPr>
              <a:t>•  Le connecter à des documents (RAG) et à des outils (agents)</a:t>
            </a:r>
          </a:p>
          <a:p>
            <a:pPr algn="l">
              <a:spcAft>
                <a:spcPts val="800"/>
              </a:spcAft>
            </a:pPr>
            <a:r>
              <a:rPr sz="1260" b="0" i="0">
                <a:solidFill>
                  <a:srgbClr val="2B3A38"/>
                </a:solidFill>
                <a:latin typeface="Arial"/>
              </a:rPr>
              <a:t>•  Maîtriser ses limites : hallucinations, sécurité, coût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2 : les notions du semestre</a:t>
            </a:r>
          </a:p>
        </p:txBody>
      </p:sp>
      <p:sp>
        <p:nvSpPr>
          <p:cNvPr id="3" name="Slide Number Placeholder 2"/>
          <p:cNvSpPr>
            <a:spLocks noGrp="1"/>
          </p:cNvSpPr>
          <p:nvPr>
            <p:ph type="sldNum" idx="4" sz="quarter"/>
          </p:nvPr>
        </p:nvSpPr>
        <p:spPr/>
        <p:txBody>
          <a:bodyPr/>
          <a:p>
            <a:fld id="{B6F15528-21DE-4FAA-801E-634DDDAF4B2B}" type="slidenum">
              <a:rPr lang="fr-FR"/>
              <a:t>3</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A</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Ce que nous verrons en TP</a:t>
            </a:r>
          </a:p>
        </p:txBody>
      </p:sp>
      <p:sp>
        <p:nvSpPr>
          <p:cNvPr id="6" name="TextBox 5"/>
          <p:cNvSpPr txBox="1"/>
          <p:nvPr/>
        </p:nvSpPr>
        <p:spPr>
          <a:xfrm>
            <a:off x="731520" y="2743200"/>
            <a:ext cx="7680960" cy="82296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IA PRÉDICTIVE</a:t>
            </a:r>
          </a:p>
        </p:txBody>
      </p:sp>
      <p:sp>
        <p:nvSpPr>
          <p:cNvPr id="7" name="TextBox 6"/>
          <p:cNvSpPr txBox="1"/>
          <p:nvPr/>
        </p:nvSpPr>
        <p:spPr>
          <a:xfrm>
            <a:off x="731520" y="370332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Regrouper, classer, estimer, prévoir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A · IA prédictive</a:t>
            </a:r>
          </a:p>
        </p:txBody>
      </p:sp>
      <p:sp>
        <p:nvSpPr>
          <p:cNvPr id="3" name="Text Placeholder 2"/>
          <p:cNvSpPr>
            <a:spLocks noGrp="1"/>
          </p:cNvSpPr>
          <p:nvPr>
            <p:ph type="body" idx="25" sz="quarter"/>
          </p:nvPr>
        </p:nvSpPr>
        <p:spPr/>
        <p:txBody>
          <a:bodyPr/>
          <a:lstStyle/>
          <a:p>
            <a:r>
              <a:t>Quatre familles de problèmes</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4</a:t>
            </a:fld>
          </a:p>
        </p:txBody>
      </p:sp>
      <p:sp>
        <p:nvSpPr>
          <p:cNvPr id="6" name="Rectangle 5"/>
          <p:cNvSpPr/>
          <p:nvPr/>
        </p:nvSpPr>
        <p:spPr>
          <a:xfrm>
            <a:off x="640080" y="1481328"/>
            <a:ext cx="2454521" cy="334350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2454521"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233" y="1739611"/>
            <a:ext cx="613630" cy="613630"/>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ObjectGroup.png"/>
          <p:cNvPicPr>
            <a:picLocks noChangeAspect="1"/>
          </p:cNvPicPr>
          <p:nvPr/>
        </p:nvPicPr>
        <p:blipFill>
          <a:blip r:embed="rId2"/>
          <a:stretch>
            <a:fillRect/>
          </a:stretch>
        </p:blipFill>
        <p:spPr>
          <a:xfrm>
            <a:off x="1018777" y="1899155"/>
            <a:ext cx="294542" cy="294542"/>
          </a:xfrm>
          <a:prstGeom prst="rect">
            <a:avLst/>
          </a:prstGeom>
        </p:spPr>
      </p:pic>
      <p:sp>
        <p:nvSpPr>
          <p:cNvPr id="10" name="TextBox 9"/>
          <p:cNvSpPr txBox="1"/>
          <p:nvPr/>
        </p:nvSpPr>
        <p:spPr>
          <a:xfrm>
            <a:off x="1604356" y="1716786"/>
            <a:ext cx="1314922" cy="659282"/>
          </a:xfrm>
          <a:prstGeom prst="rect">
            <a:avLst/>
          </a:prstGeom>
          <a:noFill/>
        </p:spPr>
        <p:txBody>
          <a:bodyPr wrap="square" lIns="0" rIns="0" tIns="0" bIns="0" anchor="ctr">
            <a:spAutoFit/>
          </a:bodyPr>
          <a:lstStyle/>
          <a:p>
            <a:pPr algn="r">
              <a:spcAft>
                <a:spcPts val="0"/>
              </a:spcAft>
            </a:pPr>
            <a:r>
              <a:rPr sz="1170" b="1" i="0">
                <a:solidFill>
                  <a:srgbClr val="00877A"/>
                </a:solidFill>
                <a:latin typeface="Arial"/>
              </a:rPr>
              <a:t>TP1</a:t>
            </a:r>
          </a:p>
        </p:txBody>
      </p:sp>
      <p:sp>
        <p:nvSpPr>
          <p:cNvPr id="11" name="TextBox 10"/>
          <p:cNvSpPr txBox="1"/>
          <p:nvPr/>
        </p:nvSpPr>
        <p:spPr>
          <a:xfrm>
            <a:off x="859233" y="2517343"/>
            <a:ext cx="2103875" cy="423824"/>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Clustering</a:t>
            </a:r>
          </a:p>
        </p:txBody>
      </p:sp>
      <p:sp>
        <p:nvSpPr>
          <p:cNvPr id="12" name="TextBox 11"/>
          <p:cNvSpPr txBox="1"/>
          <p:nvPr/>
        </p:nvSpPr>
        <p:spPr>
          <a:xfrm>
            <a:off x="859233" y="2941167"/>
            <a:ext cx="2103875" cy="470916"/>
          </a:xfrm>
          <a:prstGeom prst="rect">
            <a:avLst/>
          </a:prstGeom>
          <a:noFill/>
        </p:spPr>
        <p:txBody>
          <a:bodyPr wrap="square" lIns="0" rIns="0" tIns="0" bIns="0" anchor="t">
            <a:spAutoFit/>
          </a:bodyPr>
          <a:lstStyle/>
          <a:p>
            <a:pPr algn="l">
              <a:spcAft>
                <a:spcPts val="0"/>
              </a:spcAft>
            </a:pPr>
            <a:r>
              <a:rPr sz="1710" b="1" i="1">
                <a:solidFill>
                  <a:srgbClr val="00877A"/>
                </a:solidFill>
                <a:latin typeface="Arial"/>
              </a:rPr>
              <a:t>Quels groupes ?</a:t>
            </a:r>
          </a:p>
        </p:txBody>
      </p:sp>
      <p:sp>
        <p:nvSpPr>
          <p:cNvPr id="13" name="TextBox 12"/>
          <p:cNvSpPr txBox="1"/>
          <p:nvPr/>
        </p:nvSpPr>
        <p:spPr>
          <a:xfrm>
            <a:off x="859233" y="3459175"/>
            <a:ext cx="2060044" cy="89474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Aucune réponse connue : on cherche des groupes cachés.</a:t>
            </a:r>
          </a:p>
        </p:txBody>
      </p:sp>
      <p:sp>
        <p:nvSpPr>
          <p:cNvPr id="14" name="Rounded Rectangle 13"/>
          <p:cNvSpPr/>
          <p:nvPr/>
        </p:nvSpPr>
        <p:spPr>
          <a:xfrm>
            <a:off x="859233" y="4353915"/>
            <a:ext cx="1490245" cy="320222"/>
          </a:xfrm>
          <a:prstGeom prst="roundRect">
            <a:avLst>
              <a:gd name="adj" fmla="val 18000"/>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233" y="4353915"/>
            <a:ext cx="1490245" cy="320222"/>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Non supervisé</a:t>
            </a:r>
          </a:p>
        </p:txBody>
      </p:sp>
      <p:sp>
        <p:nvSpPr>
          <p:cNvPr id="16" name="Rectangle 15"/>
          <p:cNvSpPr/>
          <p:nvPr/>
        </p:nvSpPr>
        <p:spPr>
          <a:xfrm>
            <a:off x="3357586" y="1481328"/>
            <a:ext cx="2454521" cy="334350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57586" y="1481328"/>
            <a:ext cx="2454521"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76739" y="1739611"/>
            <a:ext cx="613630" cy="613630"/>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Tags.png"/>
          <p:cNvPicPr>
            <a:picLocks noChangeAspect="1"/>
          </p:cNvPicPr>
          <p:nvPr/>
        </p:nvPicPr>
        <p:blipFill>
          <a:blip r:embed="rId3"/>
          <a:stretch>
            <a:fillRect/>
          </a:stretch>
        </p:blipFill>
        <p:spPr>
          <a:xfrm>
            <a:off x="3736283" y="1899155"/>
            <a:ext cx="294542" cy="294542"/>
          </a:xfrm>
          <a:prstGeom prst="rect">
            <a:avLst/>
          </a:prstGeom>
        </p:spPr>
      </p:pic>
      <p:sp>
        <p:nvSpPr>
          <p:cNvPr id="20" name="TextBox 19"/>
          <p:cNvSpPr txBox="1"/>
          <p:nvPr/>
        </p:nvSpPr>
        <p:spPr>
          <a:xfrm>
            <a:off x="4321862" y="1716786"/>
            <a:ext cx="1314922" cy="659282"/>
          </a:xfrm>
          <a:prstGeom prst="rect">
            <a:avLst/>
          </a:prstGeom>
          <a:noFill/>
        </p:spPr>
        <p:txBody>
          <a:bodyPr wrap="square" lIns="0" rIns="0" tIns="0" bIns="0" anchor="ctr">
            <a:spAutoFit/>
          </a:bodyPr>
          <a:lstStyle/>
          <a:p>
            <a:pPr algn="r">
              <a:spcAft>
                <a:spcPts val="0"/>
              </a:spcAft>
            </a:pPr>
            <a:r>
              <a:rPr sz="1170" b="1" i="0">
                <a:solidFill>
                  <a:srgbClr val="D1452B"/>
                </a:solidFill>
                <a:latin typeface="Arial"/>
              </a:rPr>
              <a:t>TP2 et TP3</a:t>
            </a:r>
          </a:p>
        </p:txBody>
      </p:sp>
      <p:sp>
        <p:nvSpPr>
          <p:cNvPr id="21" name="TextBox 20"/>
          <p:cNvSpPr txBox="1"/>
          <p:nvPr/>
        </p:nvSpPr>
        <p:spPr>
          <a:xfrm>
            <a:off x="3576739" y="2517343"/>
            <a:ext cx="2103875" cy="423824"/>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Classification</a:t>
            </a:r>
          </a:p>
        </p:txBody>
      </p:sp>
      <p:sp>
        <p:nvSpPr>
          <p:cNvPr id="22" name="TextBox 21"/>
          <p:cNvSpPr txBox="1"/>
          <p:nvPr/>
        </p:nvSpPr>
        <p:spPr>
          <a:xfrm>
            <a:off x="3576739" y="2941167"/>
            <a:ext cx="2103875" cy="470916"/>
          </a:xfrm>
          <a:prstGeom prst="rect">
            <a:avLst/>
          </a:prstGeom>
          <a:noFill/>
        </p:spPr>
        <p:txBody>
          <a:bodyPr wrap="square" lIns="0" rIns="0" tIns="0" bIns="0" anchor="t">
            <a:spAutoFit/>
          </a:bodyPr>
          <a:lstStyle/>
          <a:p>
            <a:pPr algn="l">
              <a:spcAft>
                <a:spcPts val="0"/>
              </a:spcAft>
            </a:pPr>
            <a:r>
              <a:rPr sz="1710" b="1" i="1">
                <a:solidFill>
                  <a:srgbClr val="D1452B"/>
                </a:solidFill>
                <a:latin typeface="Arial"/>
              </a:rPr>
              <a:t>Quelle catégorie ?</a:t>
            </a:r>
          </a:p>
        </p:txBody>
      </p:sp>
      <p:sp>
        <p:nvSpPr>
          <p:cNvPr id="23" name="TextBox 22"/>
          <p:cNvSpPr txBox="1"/>
          <p:nvPr/>
        </p:nvSpPr>
        <p:spPr>
          <a:xfrm>
            <a:off x="3576739" y="3459175"/>
            <a:ext cx="2060044" cy="89474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La réponse est une catégorie : spam ou non, malade ou sain.</a:t>
            </a:r>
          </a:p>
        </p:txBody>
      </p:sp>
      <p:sp>
        <p:nvSpPr>
          <p:cNvPr id="24" name="Rounded Rectangle 23"/>
          <p:cNvSpPr/>
          <p:nvPr/>
        </p:nvSpPr>
        <p:spPr>
          <a:xfrm>
            <a:off x="3576739" y="4353915"/>
            <a:ext cx="1490245" cy="320222"/>
          </a:xfrm>
          <a:prstGeom prst="roundRect">
            <a:avLst>
              <a:gd name="adj" fmla="val 18000"/>
            </a:avLst>
          </a:prstGeom>
          <a:solidFill>
            <a:srgbClr val="D1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6739" y="4353915"/>
            <a:ext cx="1490245" cy="320222"/>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Supervisé</a:t>
            </a:r>
          </a:p>
        </p:txBody>
      </p:sp>
      <p:sp>
        <p:nvSpPr>
          <p:cNvPr id="26" name="Rectangle 25"/>
          <p:cNvSpPr/>
          <p:nvPr/>
        </p:nvSpPr>
        <p:spPr>
          <a:xfrm>
            <a:off x="6075092" y="1481328"/>
            <a:ext cx="2454521" cy="334350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75092" y="1481328"/>
            <a:ext cx="2454521"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94245" y="1739611"/>
            <a:ext cx="613630" cy="613630"/>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aChartLine.png"/>
          <p:cNvPicPr>
            <a:picLocks noChangeAspect="1"/>
          </p:cNvPicPr>
          <p:nvPr/>
        </p:nvPicPr>
        <p:blipFill>
          <a:blip r:embed="rId4"/>
          <a:stretch>
            <a:fillRect/>
          </a:stretch>
        </p:blipFill>
        <p:spPr>
          <a:xfrm>
            <a:off x="6453789" y="1899155"/>
            <a:ext cx="294542" cy="294542"/>
          </a:xfrm>
          <a:prstGeom prst="rect">
            <a:avLst/>
          </a:prstGeom>
        </p:spPr>
      </p:pic>
      <p:sp>
        <p:nvSpPr>
          <p:cNvPr id="30" name="TextBox 29"/>
          <p:cNvSpPr txBox="1"/>
          <p:nvPr/>
        </p:nvSpPr>
        <p:spPr>
          <a:xfrm>
            <a:off x="7039368" y="1716786"/>
            <a:ext cx="1314922" cy="659282"/>
          </a:xfrm>
          <a:prstGeom prst="rect">
            <a:avLst/>
          </a:prstGeom>
          <a:noFill/>
        </p:spPr>
        <p:txBody>
          <a:bodyPr wrap="square" lIns="0" rIns="0" tIns="0" bIns="0" anchor="ctr">
            <a:spAutoFit/>
          </a:bodyPr>
          <a:lstStyle/>
          <a:p>
            <a:pPr algn="r">
              <a:spcAft>
                <a:spcPts val="0"/>
              </a:spcAft>
            </a:pPr>
            <a:r>
              <a:rPr sz="1170" b="1" i="0">
                <a:solidFill>
                  <a:srgbClr val="712180"/>
                </a:solidFill>
                <a:latin typeface="Arial"/>
              </a:rPr>
              <a:t>TP4</a:t>
            </a:r>
          </a:p>
        </p:txBody>
      </p:sp>
      <p:sp>
        <p:nvSpPr>
          <p:cNvPr id="31" name="TextBox 30"/>
          <p:cNvSpPr txBox="1"/>
          <p:nvPr/>
        </p:nvSpPr>
        <p:spPr>
          <a:xfrm>
            <a:off x="6294245" y="2517343"/>
            <a:ext cx="2103875" cy="423824"/>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Régression</a:t>
            </a:r>
          </a:p>
        </p:txBody>
      </p:sp>
      <p:sp>
        <p:nvSpPr>
          <p:cNvPr id="32" name="TextBox 31"/>
          <p:cNvSpPr txBox="1"/>
          <p:nvPr/>
        </p:nvSpPr>
        <p:spPr>
          <a:xfrm>
            <a:off x="6294245" y="2941167"/>
            <a:ext cx="2103875" cy="470916"/>
          </a:xfrm>
          <a:prstGeom prst="rect">
            <a:avLst/>
          </a:prstGeom>
          <a:noFill/>
        </p:spPr>
        <p:txBody>
          <a:bodyPr wrap="square" lIns="0" rIns="0" tIns="0" bIns="0" anchor="t">
            <a:spAutoFit/>
          </a:bodyPr>
          <a:lstStyle/>
          <a:p>
            <a:pPr algn="l">
              <a:spcAft>
                <a:spcPts val="0"/>
              </a:spcAft>
            </a:pPr>
            <a:r>
              <a:rPr sz="1710" b="1" i="1">
                <a:solidFill>
                  <a:srgbClr val="712180"/>
                </a:solidFill>
                <a:latin typeface="Arial"/>
              </a:rPr>
              <a:t>Combien ?</a:t>
            </a:r>
          </a:p>
        </p:txBody>
      </p:sp>
      <p:sp>
        <p:nvSpPr>
          <p:cNvPr id="33" name="TextBox 32"/>
          <p:cNvSpPr txBox="1"/>
          <p:nvPr/>
        </p:nvSpPr>
        <p:spPr>
          <a:xfrm>
            <a:off x="6294245" y="3459175"/>
            <a:ext cx="2060044" cy="89474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La réponse est un nombre : un prix, une durée, une quantité.</a:t>
            </a:r>
          </a:p>
        </p:txBody>
      </p:sp>
      <p:sp>
        <p:nvSpPr>
          <p:cNvPr id="34" name="Rounded Rectangle 33"/>
          <p:cNvSpPr/>
          <p:nvPr/>
        </p:nvSpPr>
        <p:spPr>
          <a:xfrm>
            <a:off x="6294245" y="4353915"/>
            <a:ext cx="1490245" cy="320222"/>
          </a:xfrm>
          <a:prstGeom prst="roundRect">
            <a:avLst>
              <a:gd name="adj" fmla="val 18000"/>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4245" y="4353915"/>
            <a:ext cx="1490245" cy="320222"/>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Supervisé</a:t>
            </a:r>
          </a:p>
        </p:txBody>
      </p:sp>
      <p:sp>
        <p:nvSpPr>
          <p:cNvPr id="36" name="Rectangle 35"/>
          <p:cNvSpPr/>
          <p:nvPr/>
        </p:nvSpPr>
        <p:spPr>
          <a:xfrm>
            <a:off x="8792598" y="1481328"/>
            <a:ext cx="2454521" cy="3343503"/>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792598" y="1481328"/>
            <a:ext cx="2454521"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011752" y="1739611"/>
            <a:ext cx="613630" cy="613630"/>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aCalendarAlt_dark.png"/>
          <p:cNvPicPr>
            <a:picLocks noChangeAspect="1"/>
          </p:cNvPicPr>
          <p:nvPr/>
        </p:nvPicPr>
        <p:blipFill>
          <a:blip r:embed="rId5"/>
          <a:stretch>
            <a:fillRect/>
          </a:stretch>
        </p:blipFill>
        <p:spPr>
          <a:xfrm>
            <a:off x="9171295" y="1899155"/>
            <a:ext cx="294542" cy="294542"/>
          </a:xfrm>
          <a:prstGeom prst="rect">
            <a:avLst/>
          </a:prstGeom>
        </p:spPr>
      </p:pic>
      <p:sp>
        <p:nvSpPr>
          <p:cNvPr id="40" name="TextBox 39"/>
          <p:cNvSpPr txBox="1"/>
          <p:nvPr/>
        </p:nvSpPr>
        <p:spPr>
          <a:xfrm>
            <a:off x="9756874" y="1716786"/>
            <a:ext cx="1314922" cy="659282"/>
          </a:xfrm>
          <a:prstGeom prst="rect">
            <a:avLst/>
          </a:prstGeom>
          <a:noFill/>
        </p:spPr>
        <p:txBody>
          <a:bodyPr wrap="square" lIns="0" rIns="0" tIns="0" bIns="0" anchor="ctr">
            <a:spAutoFit/>
          </a:bodyPr>
          <a:lstStyle/>
          <a:p>
            <a:pPr algn="r">
              <a:spcAft>
                <a:spcPts val="0"/>
              </a:spcAft>
            </a:pPr>
            <a:r>
              <a:rPr sz="1170" b="1" i="0">
                <a:solidFill>
                  <a:srgbClr val="5F7C17"/>
                </a:solidFill>
                <a:latin typeface="Arial"/>
              </a:rPr>
              <a:t>TP5</a:t>
            </a:r>
          </a:p>
        </p:txBody>
      </p:sp>
      <p:sp>
        <p:nvSpPr>
          <p:cNvPr id="41" name="TextBox 40"/>
          <p:cNvSpPr txBox="1"/>
          <p:nvPr/>
        </p:nvSpPr>
        <p:spPr>
          <a:xfrm>
            <a:off x="9011752" y="2517343"/>
            <a:ext cx="2103875" cy="423824"/>
          </a:xfrm>
          <a:prstGeom prst="rect">
            <a:avLst/>
          </a:prstGeom>
          <a:noFill/>
        </p:spPr>
        <p:txBody>
          <a:bodyPr wrap="square" lIns="0" rIns="0" tIns="0" bIns="0" anchor="t">
            <a:spAutoFit/>
          </a:bodyPr>
          <a:lstStyle/>
          <a:p>
            <a:pPr algn="l">
              <a:spcAft>
                <a:spcPts val="0"/>
              </a:spcAft>
            </a:pPr>
            <a:r>
              <a:rPr sz="1530" b="1" i="0">
                <a:solidFill>
                  <a:srgbClr val="1A2E2B"/>
                </a:solidFill>
                <a:latin typeface="Arial"/>
              </a:rPr>
              <a:t>Séries temporelles</a:t>
            </a:r>
          </a:p>
        </p:txBody>
      </p:sp>
      <p:sp>
        <p:nvSpPr>
          <p:cNvPr id="42" name="TextBox 41"/>
          <p:cNvSpPr txBox="1"/>
          <p:nvPr/>
        </p:nvSpPr>
        <p:spPr>
          <a:xfrm>
            <a:off x="9011752" y="2941167"/>
            <a:ext cx="2103875" cy="470916"/>
          </a:xfrm>
          <a:prstGeom prst="rect">
            <a:avLst/>
          </a:prstGeom>
          <a:noFill/>
        </p:spPr>
        <p:txBody>
          <a:bodyPr wrap="square" lIns="0" rIns="0" tIns="0" bIns="0" anchor="t">
            <a:spAutoFit/>
          </a:bodyPr>
          <a:lstStyle/>
          <a:p>
            <a:pPr algn="l">
              <a:spcAft>
                <a:spcPts val="0"/>
              </a:spcAft>
            </a:pPr>
            <a:r>
              <a:rPr sz="1710" b="1" i="1">
                <a:solidFill>
                  <a:srgbClr val="5F7C17"/>
                </a:solidFill>
                <a:latin typeface="Arial"/>
              </a:rPr>
              <a:t>Combien demain ?</a:t>
            </a:r>
          </a:p>
        </p:txBody>
      </p:sp>
      <p:sp>
        <p:nvSpPr>
          <p:cNvPr id="43" name="TextBox 42"/>
          <p:cNvSpPr txBox="1"/>
          <p:nvPr/>
        </p:nvSpPr>
        <p:spPr>
          <a:xfrm>
            <a:off x="9011752" y="3459175"/>
            <a:ext cx="2060044" cy="894740"/>
          </a:xfrm>
          <a:prstGeom prst="rect">
            <a:avLst/>
          </a:prstGeom>
          <a:noFill/>
        </p:spPr>
        <p:txBody>
          <a:bodyPr wrap="square" lIns="0" rIns="0" tIns="0" bIns="0" anchor="t">
            <a:spAutoFit/>
          </a:bodyPr>
          <a:lstStyle/>
          <a:p>
            <a:pPr algn="l">
              <a:spcAft>
                <a:spcPts val="0"/>
              </a:spcAft>
            </a:pPr>
            <a:r>
              <a:rPr sz="1125" b="0" i="0">
                <a:solidFill>
                  <a:srgbClr val="2B3A38"/>
                </a:solidFill>
                <a:latin typeface="Arial"/>
              </a:rPr>
              <a:t>Un nombre à prévoir dans le futur, à partir de son passé.</a:t>
            </a:r>
          </a:p>
        </p:txBody>
      </p:sp>
      <p:sp>
        <p:nvSpPr>
          <p:cNvPr id="44" name="Rounded Rectangle 43"/>
          <p:cNvSpPr/>
          <p:nvPr/>
        </p:nvSpPr>
        <p:spPr>
          <a:xfrm>
            <a:off x="9011752" y="4353915"/>
            <a:ext cx="1490245" cy="320222"/>
          </a:xfrm>
          <a:prstGeom prst="roundRect">
            <a:avLst>
              <a:gd name="adj" fmla="val 18000"/>
            </a:avLst>
          </a:prstGeom>
          <a:solidFill>
            <a:srgbClr val="5F7C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11752" y="4353915"/>
            <a:ext cx="1490245" cy="320222"/>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Supervisé</a:t>
            </a:r>
          </a:p>
        </p:txBody>
      </p:sp>
      <p:sp>
        <p:nvSpPr>
          <p:cNvPr id="46" name="Rectangle 45"/>
          <p:cNvSpPr/>
          <p:nvPr/>
        </p:nvSpPr>
        <p:spPr>
          <a:xfrm>
            <a:off x="640080" y="5107381"/>
            <a:ext cx="10607040" cy="89474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9233" y="5107381"/>
            <a:ext cx="10256394" cy="894740"/>
          </a:xfrm>
          <a:prstGeom prst="rect">
            <a:avLst/>
          </a:prstGeom>
          <a:noFill/>
        </p:spPr>
        <p:txBody>
          <a:bodyPr wrap="square" lIns="0" rIns="0" tIns="0" bIns="0" anchor="ctr">
            <a:spAutoFit/>
          </a:bodyPr>
          <a:lstStyle/>
          <a:p>
            <a:pPr algn="l">
              <a:spcAft>
                <a:spcPts val="0"/>
              </a:spcAft>
            </a:pPr>
            <a:r>
              <a:rPr sz="1260" b="1" i="0">
                <a:solidFill>
                  <a:srgbClr val="00877A"/>
                </a:solidFill>
                <a:latin typeface="Arial"/>
              </a:rPr>
              <a:t>Supervisé ou non ? </a:t>
            </a:r>
            <a:r>
              <a:rPr sz="1260" b="0" i="0">
                <a:solidFill>
                  <a:srgbClr val="2B3A38"/>
                </a:solidFill>
                <a:latin typeface="Arial"/>
              </a:rPr>
              <a:t>en apprentissage supervisé, on dispose d'exemples accompagnés de la bonne réponse (l'étiquette) et le modèle apprend à la prédire. En non supervisé, il n'y a pas de réponse : on cherche une structure dans les données.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A · IA prédictive · Clustering</a:t>
            </a:r>
          </a:p>
        </p:txBody>
      </p:sp>
      <p:sp>
        <p:nvSpPr>
          <p:cNvPr id="3" name="Text Placeholder 2"/>
          <p:cNvSpPr>
            <a:spLocks noGrp="1"/>
          </p:cNvSpPr>
          <p:nvPr>
            <p:ph type="body" idx="25" sz="quarter"/>
          </p:nvPr>
        </p:nvSpPr>
        <p:spPr/>
        <p:txBody>
          <a:bodyPr/>
          <a:lstStyle/>
          <a:p>
            <a:r>
              <a:t>Clustering : trouver des groupes cachés</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5</a:t>
            </a:fld>
          </a:p>
        </p:txBody>
      </p:sp>
      <p:sp>
        <p:nvSpPr>
          <p:cNvPr id="6" name="TextBox 5"/>
          <p:cNvSpPr txBox="1"/>
          <p:nvPr/>
        </p:nvSpPr>
        <p:spPr>
          <a:xfrm>
            <a:off x="640080" y="1481328"/>
            <a:ext cx="4909043" cy="376732"/>
          </a:xfrm>
          <a:prstGeom prst="rect">
            <a:avLst/>
          </a:prstGeom>
          <a:noFill/>
        </p:spPr>
        <p:txBody>
          <a:bodyPr wrap="square" lIns="0" rIns="0" tIns="0" bIns="0" anchor="t">
            <a:spAutoFit/>
          </a:bodyPr>
          <a:lstStyle/>
          <a:p>
            <a:pPr algn="l">
              <a:spcAft>
                <a:spcPts val="0"/>
              </a:spcAft>
            </a:pPr>
            <a:r>
              <a:rPr sz="1530" b="1" i="0">
                <a:solidFill>
                  <a:srgbClr val="00877A"/>
                </a:solidFill>
                <a:latin typeface="Arial"/>
              </a:rPr>
              <a:t>Le problème</a:t>
            </a:r>
          </a:p>
        </p:txBody>
      </p:sp>
      <p:sp>
        <p:nvSpPr>
          <p:cNvPr id="7" name="TextBox 6"/>
          <p:cNvSpPr txBox="1"/>
          <p:nvPr/>
        </p:nvSpPr>
        <p:spPr>
          <a:xfrm>
            <a:off x="640080" y="1905152"/>
            <a:ext cx="4909043" cy="1224381"/>
          </a:xfrm>
          <a:prstGeom prst="rect">
            <a:avLst/>
          </a:prstGeom>
          <a:noFill/>
        </p:spPr>
        <p:txBody>
          <a:bodyPr wrap="square" lIns="0" rIns="0" tIns="0" bIns="0" anchor="t">
            <a:spAutoFit/>
          </a:bodyPr>
          <a:lstStyle/>
          <a:p>
            <a:pPr algn="l">
              <a:spcAft>
                <a:spcPts val="0"/>
              </a:spcAft>
            </a:pPr>
            <a:r>
              <a:rPr sz="1260" b="0" i="0">
                <a:solidFill>
                  <a:srgbClr val="2B3A38"/>
                </a:solidFill>
                <a:latin typeface="Arial"/>
              </a:rPr>
              <a:t>Un centre commercial connaît l'âge, le revenu et le niveau de dépenses de ses clients fidèles. Il veut les répartir en segments pour adapter ses offres… mais personne ne sait combien de segments existent, ni lesquels.</a:t>
            </a:r>
          </a:p>
        </p:txBody>
      </p:sp>
      <p:sp>
        <p:nvSpPr>
          <p:cNvPr id="8" name="Rectangle 7"/>
          <p:cNvSpPr/>
          <p:nvPr/>
        </p:nvSpPr>
        <p:spPr>
          <a:xfrm>
            <a:off x="640080" y="3223717"/>
            <a:ext cx="701291" cy="376732"/>
          </a:xfrm>
          <a:prstGeom prst="rect">
            <a:avLst/>
          </a:prstGeom>
          <a:solidFill>
            <a:srgbClr val="00877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3910" y="3223717"/>
            <a:ext cx="613630" cy="376732"/>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Client</a:t>
            </a:r>
          </a:p>
        </p:txBody>
      </p:sp>
      <p:sp>
        <p:nvSpPr>
          <p:cNvPr id="10" name="Rectangle 9"/>
          <p:cNvSpPr/>
          <p:nvPr/>
        </p:nvSpPr>
        <p:spPr>
          <a:xfrm>
            <a:off x="1341371" y="3223717"/>
            <a:ext cx="788953" cy="376732"/>
          </a:xfrm>
          <a:prstGeom prst="rect">
            <a:avLst/>
          </a:prstGeom>
          <a:solidFill>
            <a:srgbClr val="00877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85202" y="3223717"/>
            <a:ext cx="701291" cy="376732"/>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Âge</a:t>
            </a:r>
          </a:p>
        </p:txBody>
      </p:sp>
      <p:sp>
        <p:nvSpPr>
          <p:cNvPr id="12" name="Rectangle 11"/>
          <p:cNvSpPr/>
          <p:nvPr/>
        </p:nvSpPr>
        <p:spPr>
          <a:xfrm>
            <a:off x="2130325" y="3223717"/>
            <a:ext cx="1183430" cy="376732"/>
          </a:xfrm>
          <a:prstGeom prst="rect">
            <a:avLst/>
          </a:prstGeom>
          <a:solidFill>
            <a:srgbClr val="00877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74156" y="3223717"/>
            <a:ext cx="1095768" cy="376732"/>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Revenu (k€)</a:t>
            </a:r>
          </a:p>
        </p:txBody>
      </p:sp>
      <p:sp>
        <p:nvSpPr>
          <p:cNvPr id="14" name="Rectangle 13"/>
          <p:cNvSpPr/>
          <p:nvPr/>
        </p:nvSpPr>
        <p:spPr>
          <a:xfrm>
            <a:off x="3313755" y="3223717"/>
            <a:ext cx="1095768" cy="376732"/>
          </a:xfrm>
          <a:prstGeom prst="rect">
            <a:avLst/>
          </a:prstGeom>
          <a:solidFill>
            <a:srgbClr val="00877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57586" y="3223717"/>
            <a:ext cx="1008107" cy="376732"/>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Dépenses</a:t>
            </a:r>
          </a:p>
        </p:txBody>
      </p:sp>
      <p:sp>
        <p:nvSpPr>
          <p:cNvPr id="16" name="Rectangle 15"/>
          <p:cNvSpPr/>
          <p:nvPr/>
        </p:nvSpPr>
        <p:spPr>
          <a:xfrm>
            <a:off x="4409523" y="3223717"/>
            <a:ext cx="1139599" cy="376732"/>
          </a:xfrm>
          <a:prstGeom prst="rect">
            <a:avLst/>
          </a:prstGeom>
          <a:solidFill>
            <a:srgbClr val="00877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53354" y="3223717"/>
            <a:ext cx="1051937" cy="376732"/>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Segment</a:t>
            </a:r>
          </a:p>
        </p:txBody>
      </p:sp>
      <p:sp>
        <p:nvSpPr>
          <p:cNvPr id="18" name="Rectangle 17"/>
          <p:cNvSpPr/>
          <p:nvPr/>
        </p:nvSpPr>
        <p:spPr>
          <a:xfrm>
            <a:off x="640080" y="3600450"/>
            <a:ext cx="701291"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910" y="3600450"/>
            <a:ext cx="613630"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a:t>
            </a:r>
          </a:p>
        </p:txBody>
      </p:sp>
      <p:sp>
        <p:nvSpPr>
          <p:cNvPr id="20" name="Rectangle 19"/>
          <p:cNvSpPr/>
          <p:nvPr/>
        </p:nvSpPr>
        <p:spPr>
          <a:xfrm>
            <a:off x="1341371" y="3600450"/>
            <a:ext cx="788953"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5202" y="3600450"/>
            <a:ext cx="701291"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19</a:t>
            </a:r>
          </a:p>
        </p:txBody>
      </p:sp>
      <p:sp>
        <p:nvSpPr>
          <p:cNvPr id="22" name="Rectangle 21"/>
          <p:cNvSpPr/>
          <p:nvPr/>
        </p:nvSpPr>
        <p:spPr>
          <a:xfrm>
            <a:off x="2130325" y="3600450"/>
            <a:ext cx="1183430"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74156" y="3600450"/>
            <a:ext cx="1095768"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15</a:t>
            </a:r>
          </a:p>
        </p:txBody>
      </p:sp>
      <p:sp>
        <p:nvSpPr>
          <p:cNvPr id="24" name="Rectangle 23"/>
          <p:cNvSpPr/>
          <p:nvPr/>
        </p:nvSpPr>
        <p:spPr>
          <a:xfrm>
            <a:off x="3313755" y="3600450"/>
            <a:ext cx="1095768"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7586" y="3600450"/>
            <a:ext cx="1008107"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39 / 100</a:t>
            </a:r>
          </a:p>
        </p:txBody>
      </p:sp>
      <p:sp>
        <p:nvSpPr>
          <p:cNvPr id="26" name="Rectangle 25"/>
          <p:cNvSpPr/>
          <p:nvPr/>
        </p:nvSpPr>
        <p:spPr>
          <a:xfrm>
            <a:off x="4409523" y="3600450"/>
            <a:ext cx="1139599"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53354" y="3600450"/>
            <a:ext cx="1051937" cy="376732"/>
          </a:xfrm>
          <a:prstGeom prst="rect">
            <a:avLst/>
          </a:prstGeom>
          <a:noFill/>
        </p:spPr>
        <p:txBody>
          <a:bodyPr wrap="square" lIns="0" rIns="0" tIns="0" bIns="0" anchor="ctr">
            <a:spAutoFit/>
          </a:bodyPr>
          <a:lstStyle/>
          <a:p>
            <a:pPr algn="ctr">
              <a:spcAft>
                <a:spcPts val="0"/>
              </a:spcAft>
            </a:pPr>
            <a:r>
              <a:rPr sz="1035" b="1" i="0">
                <a:solidFill>
                  <a:srgbClr val="ED5D42"/>
                </a:solidFill>
                <a:latin typeface="Arial"/>
              </a:rPr>
              <a:t>?</a:t>
            </a:r>
          </a:p>
        </p:txBody>
      </p:sp>
      <p:sp>
        <p:nvSpPr>
          <p:cNvPr id="28" name="Rectangle 27"/>
          <p:cNvSpPr/>
          <p:nvPr/>
        </p:nvSpPr>
        <p:spPr>
          <a:xfrm>
            <a:off x="640080" y="3977182"/>
            <a:ext cx="701291"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3910" y="3977182"/>
            <a:ext cx="613630"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2</a:t>
            </a:r>
          </a:p>
        </p:txBody>
      </p:sp>
      <p:sp>
        <p:nvSpPr>
          <p:cNvPr id="30" name="Rectangle 29"/>
          <p:cNvSpPr/>
          <p:nvPr/>
        </p:nvSpPr>
        <p:spPr>
          <a:xfrm>
            <a:off x="1341371" y="3977182"/>
            <a:ext cx="788953"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85202" y="3977182"/>
            <a:ext cx="701291"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21</a:t>
            </a:r>
          </a:p>
        </p:txBody>
      </p:sp>
      <p:sp>
        <p:nvSpPr>
          <p:cNvPr id="32" name="Rectangle 31"/>
          <p:cNvSpPr/>
          <p:nvPr/>
        </p:nvSpPr>
        <p:spPr>
          <a:xfrm>
            <a:off x="2130325" y="3977182"/>
            <a:ext cx="1183430"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74156" y="3977182"/>
            <a:ext cx="1095768"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15</a:t>
            </a:r>
          </a:p>
        </p:txBody>
      </p:sp>
      <p:sp>
        <p:nvSpPr>
          <p:cNvPr id="34" name="Rectangle 33"/>
          <p:cNvSpPr/>
          <p:nvPr/>
        </p:nvSpPr>
        <p:spPr>
          <a:xfrm>
            <a:off x="3313755" y="3977182"/>
            <a:ext cx="1095768"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57586" y="3977182"/>
            <a:ext cx="1008107"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81 / 100</a:t>
            </a:r>
          </a:p>
        </p:txBody>
      </p:sp>
      <p:sp>
        <p:nvSpPr>
          <p:cNvPr id="36" name="Rectangle 35"/>
          <p:cNvSpPr/>
          <p:nvPr/>
        </p:nvSpPr>
        <p:spPr>
          <a:xfrm>
            <a:off x="4409523" y="3977182"/>
            <a:ext cx="1139599"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53354" y="3977182"/>
            <a:ext cx="1051937" cy="376732"/>
          </a:xfrm>
          <a:prstGeom prst="rect">
            <a:avLst/>
          </a:prstGeom>
          <a:noFill/>
        </p:spPr>
        <p:txBody>
          <a:bodyPr wrap="square" lIns="0" rIns="0" tIns="0" bIns="0" anchor="ctr">
            <a:spAutoFit/>
          </a:bodyPr>
          <a:lstStyle/>
          <a:p>
            <a:pPr algn="ctr">
              <a:spcAft>
                <a:spcPts val="0"/>
              </a:spcAft>
            </a:pPr>
            <a:r>
              <a:rPr sz="1035" b="1" i="0">
                <a:solidFill>
                  <a:srgbClr val="ED5D42"/>
                </a:solidFill>
                <a:latin typeface="Arial"/>
              </a:rPr>
              <a:t>?</a:t>
            </a:r>
          </a:p>
        </p:txBody>
      </p:sp>
      <p:sp>
        <p:nvSpPr>
          <p:cNvPr id="38" name="Rectangle 37"/>
          <p:cNvSpPr/>
          <p:nvPr/>
        </p:nvSpPr>
        <p:spPr>
          <a:xfrm>
            <a:off x="640080" y="4353915"/>
            <a:ext cx="701291"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3910" y="4353915"/>
            <a:ext cx="613630"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3</a:t>
            </a:r>
          </a:p>
        </p:txBody>
      </p:sp>
      <p:sp>
        <p:nvSpPr>
          <p:cNvPr id="40" name="Rectangle 39"/>
          <p:cNvSpPr/>
          <p:nvPr/>
        </p:nvSpPr>
        <p:spPr>
          <a:xfrm>
            <a:off x="1341371" y="4353915"/>
            <a:ext cx="788953"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85202" y="4353915"/>
            <a:ext cx="701291"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35</a:t>
            </a:r>
          </a:p>
        </p:txBody>
      </p:sp>
      <p:sp>
        <p:nvSpPr>
          <p:cNvPr id="42" name="Rectangle 41"/>
          <p:cNvSpPr/>
          <p:nvPr/>
        </p:nvSpPr>
        <p:spPr>
          <a:xfrm>
            <a:off x="2130325" y="4353915"/>
            <a:ext cx="1183430"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74156" y="4353915"/>
            <a:ext cx="1095768"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120</a:t>
            </a:r>
          </a:p>
        </p:txBody>
      </p:sp>
      <p:sp>
        <p:nvSpPr>
          <p:cNvPr id="44" name="Rectangle 43"/>
          <p:cNvSpPr/>
          <p:nvPr/>
        </p:nvSpPr>
        <p:spPr>
          <a:xfrm>
            <a:off x="3313755" y="4353915"/>
            <a:ext cx="1095768"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57586" y="4353915"/>
            <a:ext cx="1008107"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12 / 100</a:t>
            </a:r>
          </a:p>
        </p:txBody>
      </p:sp>
      <p:sp>
        <p:nvSpPr>
          <p:cNvPr id="46" name="Rectangle 45"/>
          <p:cNvSpPr/>
          <p:nvPr/>
        </p:nvSpPr>
        <p:spPr>
          <a:xfrm>
            <a:off x="4409523" y="4353915"/>
            <a:ext cx="1139599"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53354" y="4353915"/>
            <a:ext cx="1051937" cy="376732"/>
          </a:xfrm>
          <a:prstGeom prst="rect">
            <a:avLst/>
          </a:prstGeom>
          <a:noFill/>
        </p:spPr>
        <p:txBody>
          <a:bodyPr wrap="square" lIns="0" rIns="0" tIns="0" bIns="0" anchor="ctr">
            <a:spAutoFit/>
          </a:bodyPr>
          <a:lstStyle/>
          <a:p>
            <a:pPr algn="ctr">
              <a:spcAft>
                <a:spcPts val="0"/>
              </a:spcAft>
            </a:pPr>
            <a:r>
              <a:rPr sz="1035" b="1" i="0">
                <a:solidFill>
                  <a:srgbClr val="ED5D42"/>
                </a:solidFill>
                <a:latin typeface="Arial"/>
              </a:rPr>
              <a:t>?</a:t>
            </a:r>
          </a:p>
        </p:txBody>
      </p:sp>
      <p:sp>
        <p:nvSpPr>
          <p:cNvPr id="48" name="Rectangle 47"/>
          <p:cNvSpPr/>
          <p:nvPr/>
        </p:nvSpPr>
        <p:spPr>
          <a:xfrm>
            <a:off x="640080" y="4730648"/>
            <a:ext cx="701291"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3910" y="4730648"/>
            <a:ext cx="613630"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a:t>
            </a:r>
          </a:p>
        </p:txBody>
      </p:sp>
      <p:sp>
        <p:nvSpPr>
          <p:cNvPr id="50" name="Rectangle 49"/>
          <p:cNvSpPr/>
          <p:nvPr/>
        </p:nvSpPr>
        <p:spPr>
          <a:xfrm>
            <a:off x="1341371" y="4730648"/>
            <a:ext cx="788953"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85202" y="4730648"/>
            <a:ext cx="701291"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a:t>
            </a:r>
          </a:p>
        </p:txBody>
      </p:sp>
      <p:sp>
        <p:nvSpPr>
          <p:cNvPr id="52" name="Rectangle 51"/>
          <p:cNvSpPr/>
          <p:nvPr/>
        </p:nvSpPr>
        <p:spPr>
          <a:xfrm>
            <a:off x="2130325" y="4730648"/>
            <a:ext cx="1183430"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74156" y="4730648"/>
            <a:ext cx="1095768"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a:t>
            </a:r>
          </a:p>
        </p:txBody>
      </p:sp>
      <p:sp>
        <p:nvSpPr>
          <p:cNvPr id="54" name="Rectangle 53"/>
          <p:cNvSpPr/>
          <p:nvPr/>
        </p:nvSpPr>
        <p:spPr>
          <a:xfrm>
            <a:off x="3313755" y="4730648"/>
            <a:ext cx="1095768"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57586" y="4730648"/>
            <a:ext cx="1008107" cy="376732"/>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a:t>
            </a:r>
          </a:p>
        </p:txBody>
      </p:sp>
      <p:sp>
        <p:nvSpPr>
          <p:cNvPr id="56" name="Rectangle 55"/>
          <p:cNvSpPr/>
          <p:nvPr/>
        </p:nvSpPr>
        <p:spPr>
          <a:xfrm>
            <a:off x="4409523" y="4730648"/>
            <a:ext cx="1139599"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53354" y="4730648"/>
            <a:ext cx="1051937" cy="376732"/>
          </a:xfrm>
          <a:prstGeom prst="rect">
            <a:avLst/>
          </a:prstGeom>
          <a:noFill/>
        </p:spPr>
        <p:txBody>
          <a:bodyPr wrap="square" lIns="0" rIns="0" tIns="0" bIns="0" anchor="ctr">
            <a:spAutoFit/>
          </a:bodyPr>
          <a:lstStyle/>
          <a:p>
            <a:pPr algn="ctr">
              <a:spcAft>
                <a:spcPts val="0"/>
              </a:spcAft>
            </a:pPr>
            <a:r>
              <a:rPr sz="1035" b="1" i="0">
                <a:solidFill>
                  <a:srgbClr val="ED5D42"/>
                </a:solidFill>
                <a:latin typeface="Arial"/>
              </a:rPr>
              <a:t>…</a:t>
            </a:r>
          </a:p>
        </p:txBody>
      </p:sp>
      <p:sp>
        <p:nvSpPr>
          <p:cNvPr id="58" name="TextBox 57"/>
          <p:cNvSpPr txBox="1"/>
          <p:nvPr/>
        </p:nvSpPr>
        <p:spPr>
          <a:xfrm>
            <a:off x="640080" y="5154472"/>
            <a:ext cx="4909043" cy="329641"/>
          </a:xfrm>
          <a:prstGeom prst="rect">
            <a:avLst/>
          </a:prstGeom>
          <a:noFill/>
        </p:spPr>
        <p:txBody>
          <a:bodyPr wrap="square" lIns="0" rIns="0" tIns="0" bIns="0" anchor="t">
            <a:spAutoFit/>
          </a:bodyPr>
          <a:lstStyle/>
          <a:p>
            <a:pPr algn="l">
              <a:spcAft>
                <a:spcPts val="0"/>
              </a:spcAft>
            </a:pPr>
            <a:r>
              <a:rPr sz="1080" b="0" i="1">
                <a:solidFill>
                  <a:srgbClr val="5A6B68"/>
                </a:solidFill>
                <a:latin typeface="Arial"/>
              </a:rPr>
              <a:t>Pas de colonne « réponse » : c'est de l'apprentissage non supervisé.</a:t>
            </a:r>
          </a:p>
        </p:txBody>
      </p:sp>
      <p:sp>
        <p:nvSpPr>
          <p:cNvPr id="59" name="TextBox 58"/>
          <p:cNvSpPr txBox="1"/>
          <p:nvPr/>
        </p:nvSpPr>
        <p:spPr>
          <a:xfrm>
            <a:off x="5987430" y="1481328"/>
            <a:ext cx="2366860" cy="329641"/>
          </a:xfrm>
          <a:prstGeom prst="rect">
            <a:avLst/>
          </a:prstGeom>
          <a:noFill/>
        </p:spPr>
        <p:txBody>
          <a:bodyPr wrap="square" lIns="0" rIns="0" tIns="0" bIns="0" anchor="t">
            <a:spAutoFit/>
          </a:bodyPr>
          <a:lstStyle/>
          <a:p>
            <a:pPr algn="ctr">
              <a:spcAft>
                <a:spcPts val="0"/>
              </a:spcAft>
            </a:pPr>
            <a:r>
              <a:rPr sz="1170" b="1" i="0">
                <a:solidFill>
                  <a:srgbClr val="1A2E2B"/>
                </a:solidFill>
                <a:latin typeface="Arial"/>
              </a:rPr>
              <a:t>Les données brutes</a:t>
            </a:r>
          </a:p>
        </p:txBody>
      </p:sp>
      <p:sp>
        <p:nvSpPr>
          <p:cNvPr id="60" name="Rectangle 59"/>
          <p:cNvSpPr/>
          <p:nvPr/>
        </p:nvSpPr>
        <p:spPr>
          <a:xfrm>
            <a:off x="5987430" y="1858060"/>
            <a:ext cx="2366860" cy="1930755"/>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391970" y="2320465"/>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435473" y="2336954"/>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597590" y="2171156"/>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467675" y="2317322"/>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400558" y="2361249"/>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509022" y="266822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546062" y="2374171"/>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6615508" y="2250729"/>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435258" y="2440579"/>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498390" y="2466846"/>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770728" y="2361134"/>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485515" y="2414261"/>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707280" y="255236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7499396" y="2268612"/>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7735251" y="2478297"/>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836851" y="2538626"/>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636124" y="2389493"/>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964086" y="2387765"/>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901454" y="3156049"/>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044682" y="3071456"/>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197477" y="3136253"/>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045130" y="3342341"/>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018111" y="2978528"/>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910157" y="3065977"/>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159625" y="3229544"/>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218585" y="3348235"/>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290342" y="320765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748767" y="1481328"/>
            <a:ext cx="2366860" cy="329641"/>
          </a:xfrm>
          <a:prstGeom prst="rect">
            <a:avLst/>
          </a:prstGeom>
          <a:noFill/>
        </p:spPr>
        <p:txBody>
          <a:bodyPr wrap="square" lIns="0" rIns="0" tIns="0" bIns="0" anchor="t">
            <a:spAutoFit/>
          </a:bodyPr>
          <a:lstStyle/>
          <a:p>
            <a:pPr algn="ctr">
              <a:spcAft>
                <a:spcPts val="0"/>
              </a:spcAft>
            </a:pPr>
            <a:r>
              <a:rPr sz="1170" b="1" i="0">
                <a:solidFill>
                  <a:srgbClr val="1A2E2B"/>
                </a:solidFill>
                <a:latin typeface="Arial"/>
              </a:rPr>
              <a:t>Après clustering</a:t>
            </a:r>
          </a:p>
        </p:txBody>
      </p:sp>
      <p:sp>
        <p:nvSpPr>
          <p:cNvPr id="89" name="Rectangle 88"/>
          <p:cNvSpPr/>
          <p:nvPr/>
        </p:nvSpPr>
        <p:spPr>
          <a:xfrm>
            <a:off x="8748767" y="1858060"/>
            <a:ext cx="2366860" cy="1930755"/>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9153307" y="2320465"/>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196809" y="2336954"/>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358927" y="2171156"/>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229012" y="2317322"/>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161895" y="2361249"/>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270359" y="2668220"/>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307398" y="2374171"/>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9376845" y="2250729"/>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96595" y="2440579"/>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259727" y="2466846"/>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0532065" y="2361134"/>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246852" y="2414261"/>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0468617" y="255236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0260733" y="2268612"/>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496588" y="2478297"/>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598188" y="2538626"/>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0397461" y="2389493"/>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0725423" y="238776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662790" y="315604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806019" y="3071456"/>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958814" y="3136253"/>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806467" y="3342341"/>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9779448" y="2978528"/>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671494" y="3065977"/>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920962" y="3229544"/>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979922" y="3348235"/>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0051679" y="3207650"/>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7" name="Connector 116"/>
          <p:cNvCxnSpPr/>
          <p:nvPr/>
        </p:nvCxnSpPr>
        <p:spPr>
          <a:xfrm>
            <a:off x="8380589" y="2818729"/>
            <a:ext cx="350646" cy="0"/>
          </a:xfrm>
          <a:prstGeom prst="line">
            <a:avLst/>
          </a:prstGeom>
          <a:ln w="28575">
            <a:solidFill>
              <a:srgbClr val="008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5987430" y="3882999"/>
            <a:ext cx="5128197" cy="376732"/>
          </a:xfrm>
          <a:prstGeom prst="rect">
            <a:avLst/>
          </a:prstGeom>
          <a:noFill/>
        </p:spPr>
        <p:txBody>
          <a:bodyPr wrap="square" lIns="0" rIns="0" tIns="0" bIns="0" anchor="t">
            <a:spAutoFit/>
          </a:bodyPr>
          <a:lstStyle/>
          <a:p>
            <a:pPr algn="ctr">
              <a:spcAft>
                <a:spcPts val="0"/>
              </a:spcAft>
            </a:pPr>
            <a:r>
              <a:rPr sz="1125" b="0" i="1">
                <a:solidFill>
                  <a:srgbClr val="5A6B68"/>
                </a:solidFill>
                <a:latin typeface="Arial"/>
              </a:rPr>
              <a:t>L'algorithme découvre seul 3 groupes de clients qui se ressemblent.</a:t>
            </a:r>
          </a:p>
        </p:txBody>
      </p:sp>
      <p:sp>
        <p:nvSpPr>
          <p:cNvPr id="119" name="Rectangle 118"/>
          <p:cNvSpPr/>
          <p:nvPr/>
        </p:nvSpPr>
        <p:spPr>
          <a:xfrm>
            <a:off x="640080" y="5531205"/>
            <a:ext cx="10607040" cy="47091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15402" y="5531205"/>
            <a:ext cx="10344055" cy="470916"/>
          </a:xfrm>
          <a:prstGeom prst="rect">
            <a:avLst/>
          </a:prstGeom>
          <a:noFill/>
        </p:spPr>
        <p:txBody>
          <a:bodyPr wrap="square" lIns="0" rIns="0" tIns="0" bIns="0" anchor="ctr">
            <a:spAutoFit/>
          </a:bodyPr>
          <a:lstStyle/>
          <a:p>
            <a:pPr algn="l">
              <a:spcAft>
                <a:spcPts val="0"/>
              </a:spcAft>
            </a:pPr>
            <a:r>
              <a:rPr sz="1125" b="1" i="0">
                <a:solidFill>
                  <a:srgbClr val="00877A"/>
                </a:solidFill>
                <a:latin typeface="Arial"/>
              </a:rPr>
              <a:t>D'autres usages : </a:t>
            </a:r>
            <a:r>
              <a:rPr sz="1125" b="0" i="0">
                <a:solidFill>
                  <a:srgbClr val="2B3A38"/>
                </a:solidFill>
                <a:latin typeface="Arial"/>
              </a:rPr>
              <a:t>regrouper des gènes au comportement similaire, des articles de presse par thème, repérer des connexions réseau anormales, réduire le nombre de couleurs d'une image.</a:t>
            </a:r>
          </a:p>
        </p:txBody>
      </p:sp>
      <p:sp>
        <p:nvSpPr>
          <p:cNvPr id="121" name="TextBox 120"/>
          <p:cNvSpPr txBox="1"/>
          <p:nvPr/>
        </p:nvSpPr>
        <p:spPr>
          <a:xfrm>
            <a:off x="5987430" y="4401007"/>
            <a:ext cx="5128197" cy="941832"/>
          </a:xfrm>
          <a:prstGeom prst="rect">
            <a:avLst/>
          </a:prstGeom>
          <a:noFill/>
        </p:spPr>
        <p:txBody>
          <a:bodyPr wrap="square" lIns="0" rIns="0" tIns="0" bIns="0" anchor="t">
            <a:spAutoFit/>
          </a:bodyPr>
          <a:lstStyle/>
          <a:p>
            <a:pPr algn="l">
              <a:spcAft>
                <a:spcPts val="0"/>
              </a:spcAft>
            </a:pPr>
            <a:r>
              <a:rPr sz="1170" b="0" i="0">
                <a:solidFill>
                  <a:srgbClr val="2B3A38"/>
                </a:solidFill>
                <a:latin typeface="Arial"/>
              </a:rPr>
              <a:t>Les segments trouvés doivent ensuite être </a:t>
            </a:r>
            <a:r>
              <a:rPr sz="1170" b="1" i="0">
                <a:solidFill>
                  <a:srgbClr val="00877A"/>
                </a:solidFill>
                <a:latin typeface="Arial"/>
              </a:rPr>
              <a:t>interprétés</a:t>
            </a:r>
            <a:r>
              <a:rPr sz="1170" b="0" i="0">
                <a:solidFill>
                  <a:srgbClr val="2B3A38"/>
                </a:solidFill>
                <a:latin typeface="Arial"/>
              </a:rPr>
              <a:t> : « jeunes gros dépensiers », « aisés mais économes »… C'est ce qui les rend utiles au métier.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A · IA prédictive · Clustering</a:t>
            </a:r>
          </a:p>
        </p:txBody>
      </p:sp>
      <p:sp>
        <p:nvSpPr>
          <p:cNvPr id="3" name="Text Placeholder 2"/>
          <p:cNvSpPr>
            <a:spLocks noGrp="1"/>
          </p:cNvSpPr>
          <p:nvPr>
            <p:ph type="body" idx="25" sz="quarter"/>
          </p:nvPr>
        </p:nvSpPr>
        <p:spPr/>
        <p:txBody>
          <a:bodyPr/>
          <a:lstStyle/>
          <a:p>
            <a:r>
              <a:t>K-Means, pas à pas</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6</a:t>
            </a:fld>
          </a:p>
        </p:txBody>
      </p:sp>
      <p:sp>
        <p:nvSpPr>
          <p:cNvPr id="6" name="Oval 5"/>
          <p:cNvSpPr/>
          <p:nvPr/>
        </p:nvSpPr>
        <p:spPr>
          <a:xfrm>
            <a:off x="640080" y="1495023"/>
            <a:ext cx="368178" cy="368178"/>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81328"/>
            <a:ext cx="368178" cy="395569"/>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1</a:t>
            </a:r>
          </a:p>
        </p:txBody>
      </p:sp>
      <p:sp>
        <p:nvSpPr>
          <p:cNvPr id="8" name="TextBox 7"/>
          <p:cNvSpPr txBox="1"/>
          <p:nvPr/>
        </p:nvSpPr>
        <p:spPr>
          <a:xfrm>
            <a:off x="1095919" y="1462491"/>
            <a:ext cx="1884721" cy="433242"/>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Placer k centres au hasard</a:t>
            </a:r>
          </a:p>
        </p:txBody>
      </p:sp>
      <p:sp>
        <p:nvSpPr>
          <p:cNvPr id="9" name="Rectangle 8"/>
          <p:cNvSpPr/>
          <p:nvPr/>
        </p:nvSpPr>
        <p:spPr>
          <a:xfrm>
            <a:off x="640080" y="1999335"/>
            <a:ext cx="2366860" cy="183657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16134" y="2438563"/>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58332" y="2454228"/>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15585" y="229672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89568" y="2435578"/>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465" y="2477308"/>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29675" y="276893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65603" y="2489584"/>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232966" y="2372314"/>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58124" y="2552672"/>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089361" y="2577625"/>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353529" y="2477199"/>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076873" y="252767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291985" y="2658863"/>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090337" y="2389303"/>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319117" y="2588504"/>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17669" y="2645817"/>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222964" y="250414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541087" y="2502498"/>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510333" y="3232368"/>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649265" y="3152005"/>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797476" y="3213562"/>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649699" y="3409346"/>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623491" y="3063723"/>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518776" y="314680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760760" y="3302189"/>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817951" y="3414945"/>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887555" y="3281390"/>
            <a:ext cx="96427" cy="96427"/>
          </a:xfrm>
          <a:prstGeom prst="ellipse">
            <a:avLst/>
          </a:prstGeom>
          <a:solidFill>
            <a:srgbClr val="A9B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mond 36"/>
          <p:cNvSpPr/>
          <p:nvPr/>
        </p:nvSpPr>
        <p:spPr>
          <a:xfrm>
            <a:off x="832935" y="2159447"/>
            <a:ext cx="227919" cy="244876"/>
          </a:xfrm>
          <a:prstGeom prst="diamond">
            <a:avLst/>
          </a:prstGeom>
          <a:solidFill>
            <a:srgbClr val="FFFFFF"/>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iamond 37"/>
          <p:cNvSpPr/>
          <p:nvPr/>
        </p:nvSpPr>
        <p:spPr>
          <a:xfrm>
            <a:off x="1183581" y="2206538"/>
            <a:ext cx="227919" cy="244876"/>
          </a:xfrm>
          <a:prstGeom prst="diamond">
            <a:avLst/>
          </a:prstGeom>
          <a:solidFill>
            <a:srgbClr val="FFFFFF"/>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iamond 38"/>
          <p:cNvSpPr/>
          <p:nvPr/>
        </p:nvSpPr>
        <p:spPr>
          <a:xfrm>
            <a:off x="2542334" y="3430920"/>
            <a:ext cx="227919" cy="244876"/>
          </a:xfrm>
          <a:prstGeom prst="diamond">
            <a:avLst/>
          </a:prstGeom>
          <a:solidFill>
            <a:srgbClr val="FFFFFF"/>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3930091"/>
            <a:ext cx="2366860" cy="753465"/>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On choisit le nombre de groupes, ici k = 3, et on place 3 centres au hasard.</a:t>
            </a:r>
          </a:p>
        </p:txBody>
      </p:sp>
      <p:cxnSp>
        <p:nvCxnSpPr>
          <p:cNvPr id="41" name="Connector 40"/>
          <p:cNvCxnSpPr/>
          <p:nvPr/>
        </p:nvCxnSpPr>
        <p:spPr>
          <a:xfrm>
            <a:off x="3050770" y="2912912"/>
            <a:ext cx="280517" cy="0"/>
          </a:xfrm>
          <a:prstGeom prst="line">
            <a:avLst/>
          </a:prstGeom>
          <a:ln w="25400">
            <a:solidFill>
              <a:srgbClr val="008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3357586" y="1495023"/>
            <a:ext cx="368178" cy="368178"/>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57586" y="1481328"/>
            <a:ext cx="368178" cy="395569"/>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2</a:t>
            </a:r>
          </a:p>
        </p:txBody>
      </p:sp>
      <p:sp>
        <p:nvSpPr>
          <p:cNvPr id="44" name="TextBox 43"/>
          <p:cNvSpPr txBox="1"/>
          <p:nvPr/>
        </p:nvSpPr>
        <p:spPr>
          <a:xfrm>
            <a:off x="3813425" y="1462491"/>
            <a:ext cx="1884721" cy="433242"/>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Affecter chaque point</a:t>
            </a:r>
          </a:p>
        </p:txBody>
      </p:sp>
      <p:sp>
        <p:nvSpPr>
          <p:cNvPr id="45" name="Rectangle 44"/>
          <p:cNvSpPr/>
          <p:nvPr/>
        </p:nvSpPr>
        <p:spPr>
          <a:xfrm>
            <a:off x="3357586" y="1999335"/>
            <a:ext cx="2366860" cy="183657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733640" y="2438563"/>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775838" y="245422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933091" y="229672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807074" y="243557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741971" y="2477308"/>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847181" y="276893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883109" y="2489584"/>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950472" y="2372314"/>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775630" y="2552672"/>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806868" y="257762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071035" y="247719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794379" y="252767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009491" y="2658863"/>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807843" y="2389303"/>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036623" y="2588504"/>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135175" y="2645817"/>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940470" y="250414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5258593" y="2502498"/>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227839" y="323236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366771" y="315200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514982" y="3213562"/>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367205" y="3409346"/>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340998" y="3063723"/>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236282" y="314680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478266" y="330218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535457" y="3414945"/>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605061" y="3281390"/>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Diamond 72"/>
          <p:cNvSpPr/>
          <p:nvPr/>
        </p:nvSpPr>
        <p:spPr>
          <a:xfrm>
            <a:off x="3550441" y="2159447"/>
            <a:ext cx="227919" cy="244876"/>
          </a:xfrm>
          <a:prstGeom prst="diamond">
            <a:avLst/>
          </a:prstGeom>
          <a:solidFill>
            <a:srgbClr val="00ABA2"/>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Diamond 73"/>
          <p:cNvSpPr/>
          <p:nvPr/>
        </p:nvSpPr>
        <p:spPr>
          <a:xfrm>
            <a:off x="3901087" y="2206538"/>
            <a:ext cx="227919" cy="244876"/>
          </a:xfrm>
          <a:prstGeom prst="diamond">
            <a:avLst/>
          </a:prstGeom>
          <a:solidFill>
            <a:srgbClr val="712180"/>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Diamond 74"/>
          <p:cNvSpPr/>
          <p:nvPr/>
        </p:nvSpPr>
        <p:spPr>
          <a:xfrm>
            <a:off x="5259840" y="3430920"/>
            <a:ext cx="227919" cy="244876"/>
          </a:xfrm>
          <a:prstGeom prst="diamond">
            <a:avLst/>
          </a:prstGeom>
          <a:solidFill>
            <a:srgbClr val="ED5D42"/>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357586" y="3930091"/>
            <a:ext cx="2366860" cy="753465"/>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Chaque client rejoint le centre le plus proche de lui.</a:t>
            </a:r>
          </a:p>
        </p:txBody>
      </p:sp>
      <p:cxnSp>
        <p:nvCxnSpPr>
          <p:cNvPr id="77" name="Connector 76"/>
          <p:cNvCxnSpPr/>
          <p:nvPr/>
        </p:nvCxnSpPr>
        <p:spPr>
          <a:xfrm>
            <a:off x="5768277" y="2912912"/>
            <a:ext cx="280516" cy="0"/>
          </a:xfrm>
          <a:prstGeom prst="line">
            <a:avLst/>
          </a:prstGeom>
          <a:ln w="25400">
            <a:solidFill>
              <a:srgbClr val="008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6075092" y="1495023"/>
            <a:ext cx="368178" cy="368178"/>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075092" y="1481328"/>
            <a:ext cx="368178" cy="395569"/>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3</a:t>
            </a:r>
          </a:p>
        </p:txBody>
      </p:sp>
      <p:sp>
        <p:nvSpPr>
          <p:cNvPr id="80" name="TextBox 79"/>
          <p:cNvSpPr txBox="1"/>
          <p:nvPr/>
        </p:nvSpPr>
        <p:spPr>
          <a:xfrm>
            <a:off x="6530931" y="1462491"/>
            <a:ext cx="1884721" cy="433242"/>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Déplacer les centres</a:t>
            </a:r>
          </a:p>
        </p:txBody>
      </p:sp>
      <p:sp>
        <p:nvSpPr>
          <p:cNvPr id="81" name="Rectangle 80"/>
          <p:cNvSpPr/>
          <p:nvPr/>
        </p:nvSpPr>
        <p:spPr>
          <a:xfrm>
            <a:off x="6075092" y="1999335"/>
            <a:ext cx="2366860" cy="183657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451147" y="2438563"/>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493344" y="245422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650598" y="229672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524581" y="243557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6459477" y="2477308"/>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564687" y="276893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6600615" y="2489584"/>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6667978" y="2372314"/>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493136" y="2552672"/>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7524374" y="257762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788542" y="247719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7511885" y="252767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726997" y="2658863"/>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525350" y="2389303"/>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754129" y="2588504"/>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852681" y="2645817"/>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657976" y="250414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976099" y="2502498"/>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945345" y="323236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084277" y="315200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7232488" y="3213562"/>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084711" y="3409346"/>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7058504" y="3063723"/>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6953788" y="314680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195772" y="330218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7252963" y="3414945"/>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322567" y="3281390"/>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Diamond 108"/>
          <p:cNvSpPr/>
          <p:nvPr/>
        </p:nvSpPr>
        <p:spPr>
          <a:xfrm>
            <a:off x="6389566" y="2383711"/>
            <a:ext cx="227919" cy="244876"/>
          </a:xfrm>
          <a:prstGeom prst="diamond">
            <a:avLst/>
          </a:prstGeom>
          <a:solidFill>
            <a:srgbClr val="00ABA2"/>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Diamond 109"/>
          <p:cNvSpPr/>
          <p:nvPr/>
        </p:nvSpPr>
        <p:spPr>
          <a:xfrm>
            <a:off x="6884683" y="2590020"/>
            <a:ext cx="227919" cy="244876"/>
          </a:xfrm>
          <a:prstGeom prst="diamond">
            <a:avLst/>
          </a:prstGeom>
          <a:solidFill>
            <a:srgbClr val="712180"/>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Diamond 110"/>
          <p:cNvSpPr/>
          <p:nvPr/>
        </p:nvSpPr>
        <p:spPr>
          <a:xfrm>
            <a:off x="7452949" y="2875207"/>
            <a:ext cx="227919" cy="244876"/>
          </a:xfrm>
          <a:prstGeom prst="diamond">
            <a:avLst/>
          </a:prstGeom>
          <a:solidFill>
            <a:srgbClr val="ED5D42"/>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075092" y="3930091"/>
            <a:ext cx="2366860" cy="753465"/>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Chaque centre se place au milieu (à la moyenne) de son groupe.</a:t>
            </a:r>
          </a:p>
        </p:txBody>
      </p:sp>
      <p:cxnSp>
        <p:nvCxnSpPr>
          <p:cNvPr id="113" name="Connector 112"/>
          <p:cNvCxnSpPr/>
          <p:nvPr/>
        </p:nvCxnSpPr>
        <p:spPr>
          <a:xfrm>
            <a:off x="8485783" y="2912912"/>
            <a:ext cx="280516" cy="0"/>
          </a:xfrm>
          <a:prstGeom prst="line">
            <a:avLst/>
          </a:prstGeom>
          <a:ln w="25400">
            <a:solidFill>
              <a:srgbClr val="008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8792598" y="1495023"/>
            <a:ext cx="368178" cy="368178"/>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792598" y="1481328"/>
            <a:ext cx="368178" cy="395569"/>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4</a:t>
            </a:r>
          </a:p>
        </p:txBody>
      </p:sp>
      <p:sp>
        <p:nvSpPr>
          <p:cNvPr id="116" name="TextBox 115"/>
          <p:cNvSpPr txBox="1"/>
          <p:nvPr/>
        </p:nvSpPr>
        <p:spPr>
          <a:xfrm>
            <a:off x="9248438" y="1462491"/>
            <a:ext cx="1884721" cy="433242"/>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Recommencer</a:t>
            </a:r>
          </a:p>
        </p:txBody>
      </p:sp>
      <p:sp>
        <p:nvSpPr>
          <p:cNvPr id="117" name="Rectangle 116"/>
          <p:cNvSpPr/>
          <p:nvPr/>
        </p:nvSpPr>
        <p:spPr>
          <a:xfrm>
            <a:off x="8792598" y="1999335"/>
            <a:ext cx="2366860" cy="183657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9168653" y="2438563"/>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9210850" y="2454228"/>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368104" y="2296720"/>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242087" y="2435578"/>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176983" y="2477308"/>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282193" y="2768930"/>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9318121" y="2489584"/>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385485" y="2372314"/>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210642" y="2552672"/>
            <a:ext cx="96427" cy="96427"/>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241880" y="2577625"/>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0506048" y="247719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0229391" y="2527670"/>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444503" y="2658863"/>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242856" y="2389303"/>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0471635" y="2588504"/>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570187" y="2645817"/>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0375482" y="2504140"/>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693605" y="2502498"/>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662852" y="323236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801783" y="315200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9949994" y="3213562"/>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802218" y="3409346"/>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9776010" y="3063723"/>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9671294" y="314680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9913278" y="3302189"/>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9970469" y="341494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10040074" y="328139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Diamond 144"/>
          <p:cNvSpPr/>
          <p:nvPr/>
        </p:nvSpPr>
        <p:spPr>
          <a:xfrm>
            <a:off x="9196822" y="2401986"/>
            <a:ext cx="227919" cy="244876"/>
          </a:xfrm>
          <a:prstGeom prst="diamond">
            <a:avLst/>
          </a:prstGeom>
          <a:solidFill>
            <a:srgbClr val="00ABA2"/>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Diamond 145"/>
          <p:cNvSpPr/>
          <p:nvPr/>
        </p:nvSpPr>
        <p:spPr>
          <a:xfrm>
            <a:off x="9777362" y="3172034"/>
            <a:ext cx="227919" cy="244876"/>
          </a:xfrm>
          <a:prstGeom prst="diamond">
            <a:avLst/>
          </a:prstGeom>
          <a:solidFill>
            <a:srgbClr val="712180"/>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Diamond 146"/>
          <p:cNvSpPr/>
          <p:nvPr/>
        </p:nvSpPr>
        <p:spPr>
          <a:xfrm>
            <a:off x="10353764" y="2467067"/>
            <a:ext cx="227919" cy="244876"/>
          </a:xfrm>
          <a:prstGeom prst="diamond">
            <a:avLst/>
          </a:prstGeom>
          <a:solidFill>
            <a:srgbClr val="ED5D42"/>
          </a:solidFill>
          <a:ln w="15875">
            <a:solidFill>
              <a:srgbClr val="1A2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8792598" y="3930091"/>
            <a:ext cx="2366860" cy="753465"/>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On répète jusqu'à ce que plus rien ne bouge : les groupes sont trouvés.</a:t>
            </a:r>
          </a:p>
        </p:txBody>
      </p:sp>
      <p:sp>
        <p:nvSpPr>
          <p:cNvPr id="149" name="Rectangle 148"/>
          <p:cNvSpPr/>
          <p:nvPr/>
        </p:nvSpPr>
        <p:spPr>
          <a:xfrm>
            <a:off x="640080" y="4777740"/>
            <a:ext cx="6048642" cy="122438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40080" y="4777740"/>
            <a:ext cx="6048642"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15402" y="4937851"/>
            <a:ext cx="1402583" cy="9418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946895" y="5050871"/>
            <a:ext cx="157790" cy="395569"/>
          </a:xfrm>
          <a:prstGeom prst="line">
            <a:avLst/>
          </a:prstGeom>
          <a:ln w="22225">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04685" y="5446440"/>
            <a:ext cx="157791" cy="188367"/>
          </a:xfrm>
          <a:prstGeom prst="line">
            <a:avLst/>
          </a:prstGeom>
          <a:ln w="22225">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262476" y="5634807"/>
            <a:ext cx="157791" cy="75346"/>
          </a:xfrm>
          <a:prstGeom prst="line">
            <a:avLst/>
          </a:prstGeom>
          <a:ln w="22225">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420267" y="5710153"/>
            <a:ext cx="157790" cy="37673"/>
          </a:xfrm>
          <a:prstGeom prst="line">
            <a:avLst/>
          </a:prstGeom>
          <a:ln w="22225">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578057" y="5747826"/>
            <a:ext cx="157791" cy="28255"/>
          </a:xfrm>
          <a:prstGeom prst="line">
            <a:avLst/>
          </a:prstGeom>
          <a:ln w="22225">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735848" y="5776081"/>
            <a:ext cx="157791" cy="18837"/>
          </a:xfrm>
          <a:prstGeom prst="line">
            <a:avLst/>
          </a:prstGeom>
          <a:ln w="22225">
            <a:solidFill>
              <a:srgbClr val="00877A"/>
            </a:solidFill>
          </a:ln>
        </p:spPr>
        <p:style>
          <a:lnRef idx="2">
            <a:schemeClr val="accent1"/>
          </a:lnRef>
          <a:fillRef idx="0">
            <a:schemeClr val="accent1"/>
          </a:fillRef>
          <a:effectRef idx="1">
            <a:schemeClr val="accent1"/>
          </a:effectRef>
          <a:fontRef idx="minor">
            <a:schemeClr val="tx1"/>
          </a:fontRef>
        </p:style>
      </p:cxnSp>
      <p:sp>
        <p:nvSpPr>
          <p:cNvPr id="158" name="Oval 157"/>
          <p:cNvSpPr/>
          <p:nvPr/>
        </p:nvSpPr>
        <p:spPr>
          <a:xfrm>
            <a:off x="911830" y="5015806"/>
            <a:ext cx="70129" cy="70129"/>
          </a:xfrm>
          <a:prstGeom prst="ellipse">
            <a:avLst/>
          </a:prstGeom>
          <a:solidFill>
            <a:srgbClr val="008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1069621" y="5411376"/>
            <a:ext cx="70129" cy="70129"/>
          </a:xfrm>
          <a:prstGeom prst="ellipse">
            <a:avLst/>
          </a:prstGeom>
          <a:solidFill>
            <a:srgbClr val="008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1227411" y="5599742"/>
            <a:ext cx="70129" cy="70129"/>
          </a:xfrm>
          <a:prstGeom prst="ellipse">
            <a:avLst/>
          </a:prstGeom>
          <a:solidFill>
            <a:srgbClr val="008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1385202" y="5675089"/>
            <a:ext cx="70129" cy="70129"/>
          </a:xfrm>
          <a:prstGeom prst="ellipse">
            <a:avLst/>
          </a:prstGeom>
          <a:solidFill>
            <a:srgbClr val="008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1542993" y="5712762"/>
            <a:ext cx="70129" cy="70129"/>
          </a:xfrm>
          <a:prstGeom prst="ellipse">
            <a:avLst/>
          </a:prstGeom>
          <a:solidFill>
            <a:srgbClr val="008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1700784" y="5741017"/>
            <a:ext cx="70129" cy="70129"/>
          </a:xfrm>
          <a:prstGeom prst="ellipse">
            <a:avLst/>
          </a:prstGeom>
          <a:solidFill>
            <a:srgbClr val="008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1858574" y="5759853"/>
            <a:ext cx="70129" cy="70129"/>
          </a:xfrm>
          <a:prstGeom prst="ellipse">
            <a:avLst/>
          </a:prstGeom>
          <a:solidFill>
            <a:srgbClr val="008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174815" y="5547145"/>
            <a:ext cx="175322" cy="175322"/>
          </a:xfrm>
          <a:prstGeom prst="ellipse">
            <a:avLst/>
          </a:prstGeom>
          <a:solidFill>
            <a:srgbClr val="FFFFFF"/>
          </a:solidFill>
          <a:ln w="22225">
            <a:solidFill>
              <a:srgbClr val="ED5D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2393309" y="4871923"/>
            <a:ext cx="4163920" cy="1083106"/>
          </a:xfrm>
          <a:prstGeom prst="rect">
            <a:avLst/>
          </a:prstGeom>
          <a:noFill/>
        </p:spPr>
        <p:txBody>
          <a:bodyPr wrap="square" lIns="0" rIns="0" tIns="0" bIns="0" anchor="ctr">
            <a:spAutoFit/>
          </a:bodyPr>
          <a:lstStyle/>
          <a:p>
            <a:pPr algn="l">
              <a:spcAft>
                <a:spcPts val="0"/>
              </a:spcAft>
            </a:pPr>
            <a:r>
              <a:rPr sz="1080" b="1" i="0">
                <a:solidFill>
                  <a:srgbClr val="00877A"/>
                </a:solidFill>
                <a:latin typeface="Arial"/>
              </a:rPr>
              <a:t>Combien de groupes ? </a:t>
            </a:r>
            <a:r>
              <a:rPr sz="1080" b="0" i="0">
                <a:solidFill>
                  <a:srgbClr val="2B3A38"/>
                </a:solidFill>
                <a:latin typeface="Arial"/>
              </a:rPr>
              <a:t>on essaie plusieurs valeurs de k. L'erreur diminue toujours, mais à partir d'un certain k elle ne baisse presque plus : c'est le « coude ».</a:t>
            </a:r>
          </a:p>
        </p:txBody>
      </p:sp>
      <p:sp>
        <p:nvSpPr>
          <p:cNvPr id="167" name="Rectangle 166"/>
          <p:cNvSpPr/>
          <p:nvPr/>
        </p:nvSpPr>
        <p:spPr>
          <a:xfrm>
            <a:off x="6951707" y="4777740"/>
            <a:ext cx="4295412" cy="122438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6951707" y="4777740"/>
            <a:ext cx="429541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7127030" y="4871923"/>
            <a:ext cx="3988597" cy="1083106"/>
          </a:xfrm>
          <a:prstGeom prst="rect">
            <a:avLst/>
          </a:prstGeom>
          <a:noFill/>
        </p:spPr>
        <p:txBody>
          <a:bodyPr wrap="square" lIns="0" rIns="0" tIns="0" bIns="0" anchor="ctr">
            <a:spAutoFit/>
          </a:bodyPr>
          <a:lstStyle/>
          <a:p>
            <a:pPr algn="l">
              <a:spcAft>
                <a:spcPts val="0"/>
              </a:spcAft>
            </a:pPr>
            <a:r>
              <a:rPr sz="1080" b="1" i="0">
                <a:solidFill>
                  <a:srgbClr val="D1452B"/>
                </a:solidFill>
                <a:latin typeface="Arial"/>
              </a:rPr>
              <a:t>Attention aux échelles : </a:t>
            </a:r>
            <a:r>
              <a:rPr sz="1080" b="0" i="0">
                <a:solidFill>
                  <a:srgbClr val="2B3A38"/>
                </a:solidFill>
                <a:latin typeface="Arial"/>
              </a:rPr>
              <a:t>un revenu en euros (15 000 à 140 000) écraserait l'âge (18 à 70) dans le calcul des distances. On standardise d'abord les variables.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00877A"/>
                </a:solidFill>
              </a:rPr>
              <a:t>A · IA prédictive · Clustering</a:t>
            </a:r>
          </a:p>
        </p:txBody>
      </p:sp>
      <p:sp>
        <p:nvSpPr>
          <p:cNvPr id="3" name="Text Placeholder 2"/>
          <p:cNvSpPr>
            <a:spLocks noGrp="1"/>
          </p:cNvSpPr>
          <p:nvPr>
            <p:ph type="body" idx="25" sz="quarter"/>
          </p:nvPr>
        </p:nvSpPr>
        <p:spPr/>
        <p:txBody>
          <a:bodyPr/>
          <a:lstStyle/>
          <a:p>
            <a:r>
              <a:t>Clustering : quel algorithme choisir ?</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7</a:t>
            </a:fld>
          </a:p>
        </p:txBody>
      </p:sp>
      <p:sp>
        <p:nvSpPr>
          <p:cNvPr id="6" name="Rectangle 5"/>
          <p:cNvSpPr/>
          <p:nvPr/>
        </p:nvSpPr>
        <p:spPr>
          <a:xfrm>
            <a:off x="640080"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2498352"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402" y="1622602"/>
            <a:ext cx="2147706" cy="423824"/>
          </a:xfrm>
          <a:prstGeom prst="rect">
            <a:avLst/>
          </a:prstGeom>
          <a:noFill/>
        </p:spPr>
        <p:txBody>
          <a:bodyPr wrap="square" lIns="0" rIns="0" tIns="0" bIns="0" anchor="ctr">
            <a:spAutoFit/>
          </a:bodyPr>
          <a:lstStyle/>
          <a:p>
            <a:pPr algn="l">
              <a:spcAft>
                <a:spcPts val="0"/>
              </a:spcAft>
            </a:pPr>
            <a:r>
              <a:rPr sz="1350" b="1" i="0">
                <a:solidFill>
                  <a:srgbClr val="00877A"/>
                </a:solidFill>
                <a:latin typeface="Arial"/>
              </a:rPr>
              <a:t>K-Means</a:t>
            </a:r>
          </a:p>
        </p:txBody>
      </p:sp>
      <p:sp>
        <p:nvSpPr>
          <p:cNvPr id="9" name="Rectangle 8"/>
          <p:cNvSpPr/>
          <p:nvPr/>
        </p:nvSpPr>
        <p:spPr>
          <a:xfrm>
            <a:off x="815402"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216" y="2473905"/>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34503" y="2488039"/>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3461" y="2345927"/>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62106" y="2471212"/>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04577" y="2508863"/>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97546" y="2771981"/>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9294" y="2519939"/>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08375" y="2606103"/>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41808" y="2515493"/>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297340" y="2561030"/>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487424" y="2679400"/>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309238" y="2436188"/>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11399" y="2615918"/>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98485" y="2667629"/>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715316" y="3297759"/>
            <a:ext cx="87661" cy="8766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38083" y="3225250"/>
            <a:ext cx="87661" cy="8766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69050" y="3280791"/>
            <a:ext cx="87661" cy="8766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838467" y="3457438"/>
            <a:ext cx="87661" cy="8766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815308" y="3145598"/>
            <a:ext cx="87661" cy="8766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722776" y="3220554"/>
            <a:ext cx="87661" cy="8766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36606" y="3360755"/>
            <a:ext cx="87661" cy="87661"/>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402"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Rapide et simple. Suppose des groupes plutôt ronds ; il faut choisir k à l'avance.</a:t>
            </a:r>
          </a:p>
        </p:txBody>
      </p:sp>
      <p:sp>
        <p:nvSpPr>
          <p:cNvPr id="32" name="Rectangle 31"/>
          <p:cNvSpPr/>
          <p:nvPr/>
        </p:nvSpPr>
        <p:spPr>
          <a:xfrm>
            <a:off x="3331287"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31287" y="1481328"/>
            <a:ext cx="2498352"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06610" y="1622602"/>
            <a:ext cx="2147706" cy="423824"/>
          </a:xfrm>
          <a:prstGeom prst="rect">
            <a:avLst/>
          </a:prstGeom>
          <a:noFill/>
        </p:spPr>
        <p:txBody>
          <a:bodyPr wrap="square" lIns="0" rIns="0" tIns="0" bIns="0" anchor="ctr">
            <a:spAutoFit/>
          </a:bodyPr>
          <a:lstStyle/>
          <a:p>
            <a:pPr algn="l">
              <a:spcAft>
                <a:spcPts val="0"/>
              </a:spcAft>
            </a:pPr>
            <a:r>
              <a:rPr sz="1350" b="1" i="0">
                <a:solidFill>
                  <a:srgbClr val="00877A"/>
                </a:solidFill>
                <a:latin typeface="Arial"/>
              </a:rPr>
              <a:t>CAH</a:t>
            </a:r>
          </a:p>
        </p:txBody>
      </p:sp>
      <p:sp>
        <p:nvSpPr>
          <p:cNvPr id="35" name="Rectangle 34"/>
          <p:cNvSpPr/>
          <p:nvPr/>
        </p:nvSpPr>
        <p:spPr>
          <a:xfrm>
            <a:off x="3506610"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V="1">
            <a:off x="3725764" y="3364991"/>
            <a:ext cx="0" cy="329642"/>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725764" y="3364991"/>
            <a:ext cx="341880" cy="0"/>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067644" y="3364991"/>
            <a:ext cx="0" cy="329642"/>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409523" y="3412083"/>
            <a:ext cx="0" cy="282550"/>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409523" y="3412083"/>
            <a:ext cx="341880" cy="0"/>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51403" y="3412083"/>
            <a:ext cx="0" cy="282550"/>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896704" y="2988259"/>
            <a:ext cx="0" cy="376732"/>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896704" y="2988259"/>
            <a:ext cx="683759" cy="0"/>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580463" y="2988259"/>
            <a:ext cx="0" cy="423824"/>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093283" y="3223717"/>
            <a:ext cx="0" cy="470916"/>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093283" y="3223717"/>
            <a:ext cx="341880" cy="0"/>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35163" y="3223717"/>
            <a:ext cx="0" cy="470916"/>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238584" y="2611526"/>
            <a:ext cx="0" cy="376733"/>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238584" y="2611526"/>
            <a:ext cx="1025639" cy="0"/>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264223" y="2611526"/>
            <a:ext cx="0" cy="612191"/>
          </a:xfrm>
          <a:prstGeom prst="line">
            <a:avLst/>
          </a:prstGeom>
          <a:ln w="19050">
            <a:solidFill>
              <a:srgbClr val="00877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594272" y="2799892"/>
            <a:ext cx="1972383" cy="0"/>
          </a:xfrm>
          <a:prstGeom prst="line">
            <a:avLst/>
          </a:prstGeom>
          <a:ln w="15875">
            <a:solidFill>
              <a:srgbClr val="ED5D42"/>
            </a:solidFill>
            <a:prstDash val="dash"/>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3681933" y="3726149"/>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023813" y="3726149"/>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365693" y="3726149"/>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707573" y="3726149"/>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049452" y="3726149"/>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391332" y="3726149"/>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506610"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Fusionne pas à pas les groupes les plus proches : on coupe l'arbre (dendrogramme) au niveau voulu.</a:t>
            </a:r>
          </a:p>
        </p:txBody>
      </p:sp>
      <p:sp>
        <p:nvSpPr>
          <p:cNvPr id="59" name="Rectangle 58"/>
          <p:cNvSpPr/>
          <p:nvPr/>
        </p:nvSpPr>
        <p:spPr>
          <a:xfrm>
            <a:off x="6022495"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022495" y="1481328"/>
            <a:ext cx="2498352"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97818" y="1622602"/>
            <a:ext cx="2147706" cy="423824"/>
          </a:xfrm>
          <a:prstGeom prst="rect">
            <a:avLst/>
          </a:prstGeom>
          <a:noFill/>
        </p:spPr>
        <p:txBody>
          <a:bodyPr wrap="square" lIns="0" rIns="0" tIns="0" bIns="0" anchor="ctr">
            <a:spAutoFit/>
          </a:bodyPr>
          <a:lstStyle/>
          <a:p>
            <a:pPr algn="l">
              <a:spcAft>
                <a:spcPts val="0"/>
              </a:spcAft>
            </a:pPr>
            <a:r>
              <a:rPr sz="1350" b="1" i="0">
                <a:solidFill>
                  <a:srgbClr val="00877A"/>
                </a:solidFill>
                <a:latin typeface="Arial"/>
              </a:rPr>
              <a:t>DBSCAN</a:t>
            </a:r>
          </a:p>
        </p:txBody>
      </p:sp>
      <p:sp>
        <p:nvSpPr>
          <p:cNvPr id="62" name="Rectangle 61"/>
          <p:cNvSpPr/>
          <p:nvPr/>
        </p:nvSpPr>
        <p:spPr>
          <a:xfrm>
            <a:off x="6197818"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300460" y="2889947"/>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791337" y="2788484"/>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277144" y="2734541"/>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879801" y="287759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241615" y="2656394"/>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6900692" y="2978419"/>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192180" y="2514840"/>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927438" y="3060340"/>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054680" y="2424449"/>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6981299" y="3141258"/>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982265" y="2405263"/>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7128819" y="3163022"/>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871857" y="2393873"/>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259605" y="3204017"/>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747200" y="2330207"/>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342840" y="3165860"/>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607535" y="2445437"/>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411039" y="3223322"/>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550569" y="2458246"/>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583935" y="3162904"/>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482439" y="2535844"/>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643281" y="3055636"/>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362977" y="2634513"/>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704217" y="300948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298540" y="2711027"/>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741031" y="2814008"/>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6383720" y="2786580"/>
            <a:ext cx="78895" cy="78895"/>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7772658" y="2745605"/>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333693" y="2242437"/>
            <a:ext cx="78895" cy="78895"/>
          </a:xfrm>
          <a:prstGeom prst="ellipse">
            <a:avLst/>
          </a:prstGeom>
          <a:solidFill>
            <a:srgbClr val="FFFFFF"/>
          </a:solidFill>
          <a:ln w="15875">
            <a:solidFill>
              <a:srgbClr val="8C9A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911600" y="2289529"/>
            <a:ext cx="78895" cy="78895"/>
          </a:xfrm>
          <a:prstGeom prst="ellipse">
            <a:avLst/>
          </a:prstGeom>
          <a:solidFill>
            <a:srgbClr val="FFFFFF"/>
          </a:solidFill>
          <a:ln w="15875">
            <a:solidFill>
              <a:srgbClr val="8C9A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7867769" y="3325544"/>
            <a:ext cx="78895" cy="78895"/>
          </a:xfrm>
          <a:prstGeom prst="ellipse">
            <a:avLst/>
          </a:prstGeom>
          <a:solidFill>
            <a:srgbClr val="FFFFFF"/>
          </a:solidFill>
          <a:ln w="15875">
            <a:solidFill>
              <a:srgbClr val="8C9A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97818"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Un groupe = une zone dense. Trouve des formes quelconques et isole les points aberrants.</a:t>
            </a:r>
          </a:p>
        </p:txBody>
      </p:sp>
      <p:sp>
        <p:nvSpPr>
          <p:cNvPr id="95" name="Rectangle 94"/>
          <p:cNvSpPr/>
          <p:nvPr/>
        </p:nvSpPr>
        <p:spPr>
          <a:xfrm>
            <a:off x="8713703"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713703" y="1481328"/>
            <a:ext cx="2498352"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889025" y="1622602"/>
            <a:ext cx="2147706" cy="423824"/>
          </a:xfrm>
          <a:prstGeom prst="rect">
            <a:avLst/>
          </a:prstGeom>
          <a:noFill/>
        </p:spPr>
        <p:txBody>
          <a:bodyPr wrap="square" lIns="0" rIns="0" tIns="0" bIns="0" anchor="ctr">
            <a:spAutoFit/>
          </a:bodyPr>
          <a:lstStyle/>
          <a:p>
            <a:pPr algn="l">
              <a:spcAft>
                <a:spcPts val="0"/>
              </a:spcAft>
            </a:pPr>
            <a:r>
              <a:rPr sz="1350" b="1" i="0">
                <a:solidFill>
                  <a:srgbClr val="00877A"/>
                </a:solidFill>
                <a:latin typeface="Arial"/>
              </a:rPr>
              <a:t>Mélanges gaussiens</a:t>
            </a:r>
          </a:p>
        </p:txBody>
      </p:sp>
      <p:sp>
        <p:nvSpPr>
          <p:cNvPr id="98" name="Rectangle 97"/>
          <p:cNvSpPr/>
          <p:nvPr/>
        </p:nvSpPr>
        <p:spPr>
          <a:xfrm>
            <a:off x="8889025"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108179" y="2376068"/>
            <a:ext cx="1095768" cy="753465"/>
          </a:xfrm>
          <a:prstGeom prst="ellipse">
            <a:avLst/>
          </a:prstGeom>
          <a:solidFill>
            <a:srgbClr val="00ABA2">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721810" y="2611526"/>
            <a:ext cx="964276" cy="800557"/>
          </a:xfrm>
          <a:prstGeom prst="ellipse">
            <a:avLst/>
          </a:prstGeom>
          <a:solidFill>
            <a:srgbClr val="712180">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371164" y="2614787"/>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546487" y="2803153"/>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283502" y="2850245"/>
            <a:ext cx="87661" cy="87661"/>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247779" y="2991520"/>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379271" y="2803153"/>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0116286" y="3179886"/>
            <a:ext cx="87661" cy="87661"/>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883983" y="2808841"/>
            <a:ext cx="113959" cy="113959"/>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984794" y="2187702"/>
            <a:ext cx="788953" cy="235458"/>
          </a:xfrm>
          <a:prstGeom prst="rect">
            <a:avLst/>
          </a:prstGeom>
          <a:noFill/>
        </p:spPr>
        <p:txBody>
          <a:bodyPr wrap="square" lIns="0" rIns="0" tIns="0" bIns="0" anchor="t">
            <a:spAutoFit/>
          </a:bodyPr>
          <a:lstStyle/>
          <a:p>
            <a:pPr algn="l">
              <a:spcAft>
                <a:spcPts val="0"/>
              </a:spcAft>
            </a:pPr>
            <a:r>
              <a:rPr sz="810" b="1" i="0">
                <a:solidFill>
                  <a:srgbClr val="ED5D42"/>
                </a:solidFill>
                <a:latin typeface="Arial"/>
              </a:rPr>
              <a:t>60 % / 40 %</a:t>
            </a:r>
          </a:p>
        </p:txBody>
      </p:sp>
      <p:sp>
        <p:nvSpPr>
          <p:cNvPr id="109" name="TextBox 108"/>
          <p:cNvSpPr txBox="1"/>
          <p:nvPr/>
        </p:nvSpPr>
        <p:spPr>
          <a:xfrm>
            <a:off x="8889025"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Clustering « souple » : chaque point reçoit une probabilité d'appartenir à chaque groupe.</a:t>
            </a:r>
          </a:p>
        </p:txBody>
      </p:sp>
      <p:sp>
        <p:nvSpPr>
          <p:cNvPr id="110" name="Rectangle 109"/>
          <p:cNvSpPr/>
          <p:nvPr/>
        </p:nvSpPr>
        <p:spPr>
          <a:xfrm>
            <a:off x="640080" y="5389930"/>
            <a:ext cx="10607040" cy="47091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15402" y="5389930"/>
            <a:ext cx="10344055" cy="470916"/>
          </a:xfrm>
          <a:prstGeom prst="rect">
            <a:avLst/>
          </a:prstGeom>
          <a:noFill/>
        </p:spPr>
        <p:txBody>
          <a:bodyPr wrap="square" lIns="0" rIns="0" tIns="0" bIns="0" anchor="ctr">
            <a:spAutoFit/>
          </a:bodyPr>
          <a:lstStyle/>
          <a:p>
            <a:pPr algn="l">
              <a:spcAft>
                <a:spcPts val="0"/>
              </a:spcAft>
            </a:pPr>
            <a:r>
              <a:rPr sz="1125" b="1" i="0">
                <a:solidFill>
                  <a:srgbClr val="00877A"/>
                </a:solidFill>
                <a:latin typeface="Arial"/>
              </a:rPr>
              <a:t>Au TP1 : </a:t>
            </a:r>
            <a:r>
              <a:rPr sz="1125" b="0" i="0">
                <a:solidFill>
                  <a:srgbClr val="2B3A38"/>
                </a:solidFill>
                <a:latin typeface="Arial"/>
              </a:rPr>
              <a:t>K-Means sur les clients du centre commercial, puis la CAH en partie facultative.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D1452B"/>
                </a:solidFill>
              </a:rPr>
              <a:t>A · IA prédictive · Classification</a:t>
            </a:r>
          </a:p>
        </p:txBody>
      </p:sp>
      <p:sp>
        <p:nvSpPr>
          <p:cNvPr id="3" name="Text Placeholder 2"/>
          <p:cNvSpPr>
            <a:spLocks noGrp="1"/>
          </p:cNvSpPr>
          <p:nvPr>
            <p:ph type="body" idx="25" sz="quarter"/>
          </p:nvPr>
        </p:nvSpPr>
        <p:spPr/>
        <p:txBody>
          <a:bodyPr/>
          <a:lstStyle/>
          <a:p>
            <a:r>
              <a:t>Classification : apprendre à reconnaître des catégories</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8</a:t>
            </a:fld>
          </a:p>
        </p:txBody>
      </p:sp>
      <p:sp>
        <p:nvSpPr>
          <p:cNvPr id="6" name="TextBox 5"/>
          <p:cNvSpPr txBox="1"/>
          <p:nvPr/>
        </p:nvSpPr>
        <p:spPr>
          <a:xfrm>
            <a:off x="640080" y="1481328"/>
            <a:ext cx="5084366" cy="329641"/>
          </a:xfrm>
          <a:prstGeom prst="rect">
            <a:avLst/>
          </a:prstGeom>
          <a:noFill/>
        </p:spPr>
        <p:txBody>
          <a:bodyPr wrap="square" lIns="0" rIns="0" tIns="0" bIns="0" anchor="t">
            <a:spAutoFit/>
          </a:bodyPr>
          <a:lstStyle/>
          <a:p>
            <a:pPr algn="l">
              <a:spcAft>
                <a:spcPts val="0"/>
              </a:spcAft>
            </a:pPr>
            <a:r>
              <a:rPr sz="1260" b="1" i="0">
                <a:solidFill>
                  <a:srgbClr val="D1452B"/>
                </a:solidFill>
                <a:latin typeface="Arial"/>
              </a:rPr>
              <a:t>1. Des exemples dont on connaît la réponse</a:t>
            </a:r>
          </a:p>
        </p:txBody>
      </p:sp>
      <p:sp>
        <p:nvSpPr>
          <p:cNvPr id="7" name="Rectangle 6"/>
          <p:cNvSpPr/>
          <p:nvPr/>
        </p:nvSpPr>
        <p:spPr>
          <a:xfrm>
            <a:off x="640080" y="1858060"/>
            <a:ext cx="1271091" cy="357896"/>
          </a:xfrm>
          <a:prstGeom prst="rect">
            <a:avLst/>
          </a:prstGeom>
          <a:solidFill>
            <a:srgbClr val="D1452B"/>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3910" y="1858060"/>
            <a:ext cx="1183430" cy="357896"/>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 gratuit » ?</a:t>
            </a:r>
          </a:p>
        </p:txBody>
      </p:sp>
      <p:sp>
        <p:nvSpPr>
          <p:cNvPr id="9" name="Rectangle 8"/>
          <p:cNvSpPr/>
          <p:nvPr/>
        </p:nvSpPr>
        <p:spPr>
          <a:xfrm>
            <a:off x="1911171" y="1858060"/>
            <a:ext cx="1051937" cy="357896"/>
          </a:xfrm>
          <a:prstGeom prst="rect">
            <a:avLst/>
          </a:prstGeom>
          <a:solidFill>
            <a:srgbClr val="D1452B"/>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55002" y="1858060"/>
            <a:ext cx="964276" cy="357896"/>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Liens</a:t>
            </a:r>
          </a:p>
        </p:txBody>
      </p:sp>
      <p:sp>
        <p:nvSpPr>
          <p:cNvPr id="11" name="Rectangle 10"/>
          <p:cNvSpPr/>
          <p:nvPr/>
        </p:nvSpPr>
        <p:spPr>
          <a:xfrm>
            <a:off x="2963109" y="1858060"/>
            <a:ext cx="1358753" cy="357896"/>
          </a:xfrm>
          <a:prstGeom prst="rect">
            <a:avLst/>
          </a:prstGeom>
          <a:solidFill>
            <a:srgbClr val="D1452B"/>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6940" y="1858060"/>
            <a:ext cx="1271091" cy="357896"/>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Expéditeur connu</a:t>
            </a:r>
          </a:p>
        </p:txBody>
      </p:sp>
      <p:sp>
        <p:nvSpPr>
          <p:cNvPr id="13" name="Rectangle 12"/>
          <p:cNvSpPr/>
          <p:nvPr/>
        </p:nvSpPr>
        <p:spPr>
          <a:xfrm>
            <a:off x="4321862" y="1858060"/>
            <a:ext cx="1139599" cy="357896"/>
          </a:xfrm>
          <a:prstGeom prst="rect">
            <a:avLst/>
          </a:prstGeom>
          <a:solidFill>
            <a:srgbClr val="D1452B"/>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5693" y="1858060"/>
            <a:ext cx="1051937" cy="357896"/>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Étiquette</a:t>
            </a:r>
          </a:p>
        </p:txBody>
      </p:sp>
      <p:sp>
        <p:nvSpPr>
          <p:cNvPr id="15" name="Rectangle 14"/>
          <p:cNvSpPr/>
          <p:nvPr/>
        </p:nvSpPr>
        <p:spPr>
          <a:xfrm>
            <a:off x="640080" y="2215956"/>
            <a:ext cx="1271091"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3910" y="2215956"/>
            <a:ext cx="1183430"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oui</a:t>
            </a:r>
          </a:p>
        </p:txBody>
      </p:sp>
      <p:sp>
        <p:nvSpPr>
          <p:cNvPr id="17" name="Rectangle 16"/>
          <p:cNvSpPr/>
          <p:nvPr/>
        </p:nvSpPr>
        <p:spPr>
          <a:xfrm>
            <a:off x="1911171" y="2215956"/>
            <a:ext cx="1051937"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55002" y="2215956"/>
            <a:ext cx="964276"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7</a:t>
            </a:r>
          </a:p>
        </p:txBody>
      </p:sp>
      <p:sp>
        <p:nvSpPr>
          <p:cNvPr id="19" name="Rectangle 18"/>
          <p:cNvSpPr/>
          <p:nvPr/>
        </p:nvSpPr>
        <p:spPr>
          <a:xfrm>
            <a:off x="2963109" y="2215956"/>
            <a:ext cx="1358753"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6940" y="2215956"/>
            <a:ext cx="1271091"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non</a:t>
            </a:r>
          </a:p>
        </p:txBody>
      </p:sp>
      <p:sp>
        <p:nvSpPr>
          <p:cNvPr id="21" name="Rectangle 20"/>
          <p:cNvSpPr/>
          <p:nvPr/>
        </p:nvSpPr>
        <p:spPr>
          <a:xfrm>
            <a:off x="4321862" y="2215956"/>
            <a:ext cx="1139599"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65693" y="2215956"/>
            <a:ext cx="1051937" cy="357896"/>
          </a:xfrm>
          <a:prstGeom prst="rect">
            <a:avLst/>
          </a:prstGeom>
          <a:noFill/>
        </p:spPr>
        <p:txBody>
          <a:bodyPr wrap="square" lIns="0" rIns="0" tIns="0" bIns="0" anchor="ctr">
            <a:spAutoFit/>
          </a:bodyPr>
          <a:lstStyle/>
          <a:p>
            <a:pPr algn="ctr">
              <a:spcAft>
                <a:spcPts val="0"/>
              </a:spcAft>
            </a:pPr>
            <a:r>
              <a:rPr sz="1035" b="1" i="0">
                <a:solidFill>
                  <a:srgbClr val="D1452B"/>
                </a:solidFill>
                <a:latin typeface="Arial"/>
              </a:rPr>
              <a:t>spam</a:t>
            </a:r>
          </a:p>
        </p:txBody>
      </p:sp>
      <p:sp>
        <p:nvSpPr>
          <p:cNvPr id="23" name="Rectangle 22"/>
          <p:cNvSpPr/>
          <p:nvPr/>
        </p:nvSpPr>
        <p:spPr>
          <a:xfrm>
            <a:off x="640080" y="2573853"/>
            <a:ext cx="1271091"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910" y="2573853"/>
            <a:ext cx="1183430"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non</a:t>
            </a:r>
          </a:p>
        </p:txBody>
      </p:sp>
      <p:sp>
        <p:nvSpPr>
          <p:cNvPr id="25" name="Rectangle 24"/>
          <p:cNvSpPr/>
          <p:nvPr/>
        </p:nvSpPr>
        <p:spPr>
          <a:xfrm>
            <a:off x="1911171" y="2573853"/>
            <a:ext cx="1051937"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55002" y="2573853"/>
            <a:ext cx="964276"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a:t>
            </a:r>
          </a:p>
        </p:txBody>
      </p:sp>
      <p:sp>
        <p:nvSpPr>
          <p:cNvPr id="27" name="Rectangle 26"/>
          <p:cNvSpPr/>
          <p:nvPr/>
        </p:nvSpPr>
        <p:spPr>
          <a:xfrm>
            <a:off x="2963109" y="2573853"/>
            <a:ext cx="1358753"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06940" y="2573853"/>
            <a:ext cx="1271091"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oui</a:t>
            </a:r>
          </a:p>
        </p:txBody>
      </p:sp>
      <p:sp>
        <p:nvSpPr>
          <p:cNvPr id="29" name="Rectangle 28"/>
          <p:cNvSpPr/>
          <p:nvPr/>
        </p:nvSpPr>
        <p:spPr>
          <a:xfrm>
            <a:off x="4321862" y="2573853"/>
            <a:ext cx="1139599"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65693" y="2573853"/>
            <a:ext cx="1051937" cy="357896"/>
          </a:xfrm>
          <a:prstGeom prst="rect">
            <a:avLst/>
          </a:prstGeom>
          <a:noFill/>
        </p:spPr>
        <p:txBody>
          <a:bodyPr wrap="square" lIns="0" rIns="0" tIns="0" bIns="0" anchor="ctr">
            <a:spAutoFit/>
          </a:bodyPr>
          <a:lstStyle/>
          <a:p>
            <a:pPr algn="ctr">
              <a:spcAft>
                <a:spcPts val="0"/>
              </a:spcAft>
            </a:pPr>
            <a:r>
              <a:rPr sz="1035" b="1" i="0">
                <a:solidFill>
                  <a:srgbClr val="D1452B"/>
                </a:solidFill>
                <a:latin typeface="Arial"/>
              </a:rPr>
              <a:t>normal</a:t>
            </a:r>
          </a:p>
        </p:txBody>
      </p:sp>
      <p:sp>
        <p:nvSpPr>
          <p:cNvPr id="31" name="Rectangle 30"/>
          <p:cNvSpPr/>
          <p:nvPr/>
        </p:nvSpPr>
        <p:spPr>
          <a:xfrm>
            <a:off x="640080" y="2931749"/>
            <a:ext cx="1271091"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3910" y="2931749"/>
            <a:ext cx="1183430"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oui</a:t>
            </a:r>
          </a:p>
        </p:txBody>
      </p:sp>
      <p:sp>
        <p:nvSpPr>
          <p:cNvPr id="33" name="Rectangle 32"/>
          <p:cNvSpPr/>
          <p:nvPr/>
        </p:nvSpPr>
        <p:spPr>
          <a:xfrm>
            <a:off x="1911171" y="2931749"/>
            <a:ext cx="1051937"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55002" y="2931749"/>
            <a:ext cx="964276"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0</a:t>
            </a:r>
          </a:p>
        </p:txBody>
      </p:sp>
      <p:sp>
        <p:nvSpPr>
          <p:cNvPr id="35" name="Rectangle 34"/>
          <p:cNvSpPr/>
          <p:nvPr/>
        </p:nvSpPr>
        <p:spPr>
          <a:xfrm>
            <a:off x="2963109" y="2931749"/>
            <a:ext cx="1358753"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06940" y="2931749"/>
            <a:ext cx="1271091"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oui</a:t>
            </a:r>
          </a:p>
        </p:txBody>
      </p:sp>
      <p:sp>
        <p:nvSpPr>
          <p:cNvPr id="37" name="Rectangle 36"/>
          <p:cNvSpPr/>
          <p:nvPr/>
        </p:nvSpPr>
        <p:spPr>
          <a:xfrm>
            <a:off x="4321862" y="2931749"/>
            <a:ext cx="1139599"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65693" y="2931749"/>
            <a:ext cx="1051937" cy="357896"/>
          </a:xfrm>
          <a:prstGeom prst="rect">
            <a:avLst/>
          </a:prstGeom>
          <a:noFill/>
        </p:spPr>
        <p:txBody>
          <a:bodyPr wrap="square" lIns="0" rIns="0" tIns="0" bIns="0" anchor="ctr">
            <a:spAutoFit/>
          </a:bodyPr>
          <a:lstStyle/>
          <a:p>
            <a:pPr algn="ctr">
              <a:spcAft>
                <a:spcPts val="0"/>
              </a:spcAft>
            </a:pPr>
            <a:r>
              <a:rPr sz="1035" b="1" i="0">
                <a:solidFill>
                  <a:srgbClr val="D1452B"/>
                </a:solidFill>
                <a:latin typeface="Arial"/>
              </a:rPr>
              <a:t>normal</a:t>
            </a:r>
          </a:p>
        </p:txBody>
      </p:sp>
      <p:sp>
        <p:nvSpPr>
          <p:cNvPr id="39" name="Rectangle 38"/>
          <p:cNvSpPr/>
          <p:nvPr/>
        </p:nvSpPr>
        <p:spPr>
          <a:xfrm>
            <a:off x="640080" y="3289645"/>
            <a:ext cx="1271091"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3910" y="3289645"/>
            <a:ext cx="1183430"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non</a:t>
            </a:r>
          </a:p>
        </p:txBody>
      </p:sp>
      <p:sp>
        <p:nvSpPr>
          <p:cNvPr id="41" name="Rectangle 40"/>
          <p:cNvSpPr/>
          <p:nvPr/>
        </p:nvSpPr>
        <p:spPr>
          <a:xfrm>
            <a:off x="1911171" y="3289645"/>
            <a:ext cx="1051937"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55002" y="3289645"/>
            <a:ext cx="964276"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12</a:t>
            </a:r>
          </a:p>
        </p:txBody>
      </p:sp>
      <p:sp>
        <p:nvSpPr>
          <p:cNvPr id="43" name="Rectangle 42"/>
          <p:cNvSpPr/>
          <p:nvPr/>
        </p:nvSpPr>
        <p:spPr>
          <a:xfrm>
            <a:off x="2963109" y="3289645"/>
            <a:ext cx="1358753"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06940" y="3289645"/>
            <a:ext cx="1271091"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non</a:t>
            </a:r>
          </a:p>
        </p:txBody>
      </p:sp>
      <p:sp>
        <p:nvSpPr>
          <p:cNvPr id="45" name="Rectangle 44"/>
          <p:cNvSpPr/>
          <p:nvPr/>
        </p:nvSpPr>
        <p:spPr>
          <a:xfrm>
            <a:off x="4321862" y="3289645"/>
            <a:ext cx="1139599" cy="357896"/>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65693" y="3289645"/>
            <a:ext cx="1051937" cy="357896"/>
          </a:xfrm>
          <a:prstGeom prst="rect">
            <a:avLst/>
          </a:prstGeom>
          <a:noFill/>
        </p:spPr>
        <p:txBody>
          <a:bodyPr wrap="square" lIns="0" rIns="0" tIns="0" bIns="0" anchor="ctr">
            <a:spAutoFit/>
          </a:bodyPr>
          <a:lstStyle/>
          <a:p>
            <a:pPr algn="ctr">
              <a:spcAft>
                <a:spcPts val="0"/>
              </a:spcAft>
            </a:pPr>
            <a:r>
              <a:rPr sz="1035" b="1" i="0">
                <a:solidFill>
                  <a:srgbClr val="D1452B"/>
                </a:solidFill>
                <a:latin typeface="Arial"/>
              </a:rPr>
              <a:t>spam</a:t>
            </a:r>
          </a:p>
        </p:txBody>
      </p:sp>
      <p:sp>
        <p:nvSpPr>
          <p:cNvPr id="47" name="Rectangle 46"/>
          <p:cNvSpPr/>
          <p:nvPr/>
        </p:nvSpPr>
        <p:spPr>
          <a:xfrm>
            <a:off x="640080" y="3647541"/>
            <a:ext cx="1271091"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3910" y="3647541"/>
            <a:ext cx="1183430"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a:t>
            </a:r>
          </a:p>
        </p:txBody>
      </p:sp>
      <p:sp>
        <p:nvSpPr>
          <p:cNvPr id="49" name="Rectangle 48"/>
          <p:cNvSpPr/>
          <p:nvPr/>
        </p:nvSpPr>
        <p:spPr>
          <a:xfrm>
            <a:off x="1911171" y="3647541"/>
            <a:ext cx="1051937"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955002" y="3647541"/>
            <a:ext cx="964276"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a:t>
            </a:r>
          </a:p>
        </p:txBody>
      </p:sp>
      <p:sp>
        <p:nvSpPr>
          <p:cNvPr id="51" name="Rectangle 50"/>
          <p:cNvSpPr/>
          <p:nvPr/>
        </p:nvSpPr>
        <p:spPr>
          <a:xfrm>
            <a:off x="2963109" y="3647541"/>
            <a:ext cx="1358753"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006940" y="3647541"/>
            <a:ext cx="1271091" cy="357896"/>
          </a:xfrm>
          <a:prstGeom prst="rect">
            <a:avLst/>
          </a:prstGeom>
          <a:noFill/>
        </p:spPr>
        <p:txBody>
          <a:bodyPr wrap="square" lIns="0" rIns="0" tIns="0" bIns="0" anchor="ctr">
            <a:spAutoFit/>
          </a:bodyPr>
          <a:lstStyle/>
          <a:p>
            <a:pPr algn="ctr">
              <a:spcAft>
                <a:spcPts val="0"/>
              </a:spcAft>
            </a:pPr>
            <a:r>
              <a:rPr sz="1035" b="0" i="0">
                <a:solidFill>
                  <a:srgbClr val="2B3A38"/>
                </a:solidFill>
                <a:latin typeface="Arial"/>
              </a:rPr>
              <a:t>…</a:t>
            </a:r>
          </a:p>
        </p:txBody>
      </p:sp>
      <p:sp>
        <p:nvSpPr>
          <p:cNvPr id="53" name="Rectangle 52"/>
          <p:cNvSpPr/>
          <p:nvPr/>
        </p:nvSpPr>
        <p:spPr>
          <a:xfrm>
            <a:off x="4321862" y="3647541"/>
            <a:ext cx="1139599" cy="357896"/>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65693" y="3647541"/>
            <a:ext cx="1051937" cy="357896"/>
          </a:xfrm>
          <a:prstGeom prst="rect">
            <a:avLst/>
          </a:prstGeom>
          <a:noFill/>
        </p:spPr>
        <p:txBody>
          <a:bodyPr wrap="square" lIns="0" rIns="0" tIns="0" bIns="0" anchor="ctr">
            <a:spAutoFit/>
          </a:bodyPr>
          <a:lstStyle/>
          <a:p>
            <a:pPr algn="ctr">
              <a:spcAft>
                <a:spcPts val="0"/>
              </a:spcAft>
            </a:pPr>
            <a:r>
              <a:rPr sz="1035" b="1" i="0">
                <a:solidFill>
                  <a:srgbClr val="D1452B"/>
                </a:solidFill>
                <a:latin typeface="Arial"/>
              </a:rPr>
              <a:t>…</a:t>
            </a:r>
          </a:p>
        </p:txBody>
      </p:sp>
      <p:cxnSp>
        <p:nvCxnSpPr>
          <p:cNvPr id="55" name="Connector 54"/>
          <p:cNvCxnSpPr/>
          <p:nvPr/>
        </p:nvCxnSpPr>
        <p:spPr>
          <a:xfrm>
            <a:off x="5505292" y="2752801"/>
            <a:ext cx="525969" cy="0"/>
          </a:xfrm>
          <a:prstGeom prst="line">
            <a:avLst/>
          </a:prstGeom>
          <a:ln w="28575">
            <a:solidFill>
              <a:srgbClr val="D145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6075092" y="2140610"/>
            <a:ext cx="1665568" cy="122438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075092" y="2140610"/>
            <a:ext cx="1665568"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644891" y="2301450"/>
            <a:ext cx="525968" cy="525968"/>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FaCogs.png"/>
          <p:cNvPicPr>
            <a:picLocks noChangeAspect="1"/>
          </p:cNvPicPr>
          <p:nvPr/>
        </p:nvPicPr>
        <p:blipFill>
          <a:blip r:embed="rId2"/>
          <a:stretch>
            <a:fillRect/>
          </a:stretch>
        </p:blipFill>
        <p:spPr>
          <a:xfrm>
            <a:off x="6781643" y="2438202"/>
            <a:ext cx="252465" cy="252465"/>
          </a:xfrm>
          <a:prstGeom prst="rect">
            <a:avLst/>
          </a:prstGeom>
        </p:spPr>
      </p:pic>
      <p:sp>
        <p:nvSpPr>
          <p:cNvPr id="60" name="TextBox 59"/>
          <p:cNvSpPr txBox="1"/>
          <p:nvPr/>
        </p:nvSpPr>
        <p:spPr>
          <a:xfrm>
            <a:off x="6075092" y="2894076"/>
            <a:ext cx="1665568" cy="376732"/>
          </a:xfrm>
          <a:prstGeom prst="rect">
            <a:avLst/>
          </a:prstGeom>
          <a:noFill/>
        </p:spPr>
        <p:txBody>
          <a:bodyPr wrap="square" lIns="0" rIns="0" tIns="0" bIns="0" anchor="t">
            <a:spAutoFit/>
          </a:bodyPr>
          <a:lstStyle/>
          <a:p>
            <a:pPr algn="ctr">
              <a:spcAft>
                <a:spcPts val="0"/>
              </a:spcAft>
            </a:pPr>
            <a:r>
              <a:rPr sz="1260" b="1" i="0">
                <a:solidFill>
                  <a:srgbClr val="1A2E2B"/>
                </a:solidFill>
                <a:latin typeface="Arial"/>
              </a:rPr>
              <a:t>Modèle</a:t>
            </a:r>
          </a:p>
        </p:txBody>
      </p:sp>
      <p:cxnSp>
        <p:nvCxnSpPr>
          <p:cNvPr id="61" name="Connector 60"/>
          <p:cNvCxnSpPr/>
          <p:nvPr/>
        </p:nvCxnSpPr>
        <p:spPr>
          <a:xfrm>
            <a:off x="7784491" y="2752801"/>
            <a:ext cx="438307" cy="0"/>
          </a:xfrm>
          <a:prstGeom prst="line">
            <a:avLst/>
          </a:prstGeom>
          <a:ln w="28575">
            <a:solidFill>
              <a:srgbClr val="D145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266629" y="1481328"/>
            <a:ext cx="2980490" cy="329641"/>
          </a:xfrm>
          <a:prstGeom prst="rect">
            <a:avLst/>
          </a:prstGeom>
          <a:noFill/>
        </p:spPr>
        <p:txBody>
          <a:bodyPr wrap="square" lIns="0" rIns="0" tIns="0" bIns="0" anchor="t">
            <a:spAutoFit/>
          </a:bodyPr>
          <a:lstStyle/>
          <a:p>
            <a:pPr algn="l">
              <a:spcAft>
                <a:spcPts val="0"/>
              </a:spcAft>
            </a:pPr>
            <a:r>
              <a:rPr sz="1260" b="1" i="0">
                <a:solidFill>
                  <a:srgbClr val="D1452B"/>
                </a:solidFill>
                <a:latin typeface="Arial"/>
              </a:rPr>
              <a:t>2. On l'applique à un nouveau cas</a:t>
            </a:r>
          </a:p>
        </p:txBody>
      </p:sp>
      <p:sp>
        <p:nvSpPr>
          <p:cNvPr id="63" name="Rectangle 62"/>
          <p:cNvSpPr/>
          <p:nvPr/>
        </p:nvSpPr>
        <p:spPr>
          <a:xfrm>
            <a:off x="8266629" y="1905152"/>
            <a:ext cx="2980490" cy="9418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98121" y="1952244"/>
            <a:ext cx="2717506" cy="847648"/>
          </a:xfrm>
          <a:prstGeom prst="rect">
            <a:avLst/>
          </a:prstGeom>
          <a:noFill/>
        </p:spPr>
        <p:txBody>
          <a:bodyPr wrap="square" lIns="0" rIns="0" tIns="0" bIns="0" anchor="ctr">
            <a:spAutoFit/>
          </a:bodyPr>
          <a:lstStyle/>
          <a:p>
            <a:pPr algn="l">
              <a:spcAft>
                <a:spcPts val="0"/>
              </a:spcAft>
            </a:pPr>
            <a:r>
              <a:rPr sz="1080" b="1" i="0">
                <a:solidFill>
                  <a:srgbClr val="2B3A38"/>
                </a:solidFill>
                <a:latin typeface="Arial"/>
              </a:rPr>
              <a:t>Nouveau mail</a:t>
            </a:r>
          </a:p>
          <a:p>
            <a:pPr algn="l">
              <a:spcAft>
                <a:spcPts val="0"/>
              </a:spcAft>
            </a:pPr>
            <a:r>
              <a:rPr sz="1080" b="0" i="0">
                <a:solidFill>
                  <a:srgbClr val="2B3A38"/>
                </a:solidFill>
                <a:latin typeface="Arial"/>
              </a:rPr>
              <a:t>« gratuit » : oui · 5 liens · inconnu</a:t>
            </a:r>
          </a:p>
        </p:txBody>
      </p:sp>
      <p:sp>
        <p:nvSpPr>
          <p:cNvPr id="65" name="Rectangle 64"/>
          <p:cNvSpPr/>
          <p:nvPr/>
        </p:nvSpPr>
        <p:spPr>
          <a:xfrm>
            <a:off x="8266629" y="2988259"/>
            <a:ext cx="2980490" cy="565099"/>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66629" y="2988259"/>
            <a:ext cx="2980490" cy="565099"/>
          </a:xfrm>
          <a:prstGeom prst="rect">
            <a:avLst/>
          </a:prstGeom>
          <a:noFill/>
        </p:spPr>
        <p:txBody>
          <a:bodyPr wrap="square" lIns="0" rIns="0" tIns="0" bIns="0" anchor="ctr">
            <a:spAutoFit/>
          </a:bodyPr>
          <a:lstStyle/>
          <a:p>
            <a:pPr algn="ctr">
              <a:spcAft>
                <a:spcPts val="0"/>
              </a:spcAft>
            </a:pPr>
            <a:r>
              <a:rPr sz="1260" b="1" i="0">
                <a:solidFill>
                  <a:srgbClr val="FFFFFF"/>
                </a:solidFill>
                <a:latin typeface="Arial"/>
              </a:rPr>
              <a:t>Prédiction : spam (94 %)</a:t>
            </a:r>
          </a:p>
        </p:txBody>
      </p:sp>
      <p:sp>
        <p:nvSpPr>
          <p:cNvPr id="67" name="Rectangle 66"/>
          <p:cNvSpPr/>
          <p:nvPr/>
        </p:nvSpPr>
        <p:spPr>
          <a:xfrm>
            <a:off x="640080" y="4118457"/>
            <a:ext cx="5172027" cy="1883664"/>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40080" y="4118457"/>
            <a:ext cx="517202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9233" y="4240895"/>
            <a:ext cx="4733720" cy="376732"/>
          </a:xfrm>
          <a:prstGeom prst="rect">
            <a:avLst/>
          </a:prstGeom>
          <a:noFill/>
        </p:spPr>
        <p:txBody>
          <a:bodyPr wrap="square" lIns="0" rIns="0" tIns="0" bIns="0" anchor="t">
            <a:spAutoFit/>
          </a:bodyPr>
          <a:lstStyle/>
          <a:p>
            <a:pPr algn="l">
              <a:spcAft>
                <a:spcPts val="0"/>
              </a:spcAft>
            </a:pPr>
            <a:r>
              <a:rPr sz="1350" b="1" i="0">
                <a:solidFill>
                  <a:srgbClr val="D1452B"/>
                </a:solidFill>
                <a:latin typeface="Arial"/>
              </a:rPr>
              <a:t>Classification binaire</a:t>
            </a:r>
            <a:r>
              <a:rPr sz="1080" b="0" i="1">
                <a:solidFill>
                  <a:srgbClr val="5A6B68"/>
                </a:solidFill>
                <a:latin typeface="Arial"/>
              </a:rPr>
              <a:t>  ·  deux catégories</a:t>
            </a:r>
          </a:p>
        </p:txBody>
      </p:sp>
      <p:sp>
        <p:nvSpPr>
          <p:cNvPr id="70" name="TextBox 69"/>
          <p:cNvSpPr txBox="1"/>
          <p:nvPr/>
        </p:nvSpPr>
        <p:spPr>
          <a:xfrm>
            <a:off x="859233" y="4683556"/>
            <a:ext cx="4733720" cy="1271473"/>
          </a:xfrm>
          <a:prstGeom prst="rect">
            <a:avLst/>
          </a:prstGeom>
          <a:noFill/>
        </p:spPr>
        <p:txBody>
          <a:bodyPr wrap="square" lIns="0" rIns="0" tIns="0" bIns="0" anchor="t">
            <a:spAutoFit/>
          </a:bodyPr>
          <a:lstStyle/>
          <a:p>
            <a:pPr algn="l">
              <a:spcAft>
                <a:spcPts val="200"/>
              </a:spcAft>
            </a:pPr>
            <a:r>
              <a:rPr sz="1125" b="0" i="0">
                <a:solidFill>
                  <a:srgbClr val="2B3A38"/>
                </a:solidFill>
                <a:latin typeface="Arial"/>
              </a:rPr>
              <a:t>•  Spam ou message normal</a:t>
            </a:r>
          </a:p>
          <a:p>
            <a:pPr algn="l">
              <a:spcAft>
                <a:spcPts val="200"/>
              </a:spcAft>
            </a:pPr>
            <a:r>
              <a:rPr sz="1125" b="0" i="0">
                <a:solidFill>
                  <a:srgbClr val="2B3A38"/>
                </a:solidFill>
                <a:latin typeface="Arial"/>
              </a:rPr>
              <a:t>•  Transaction frauduleuse ou non</a:t>
            </a:r>
          </a:p>
          <a:p>
            <a:pPr algn="l">
              <a:spcAft>
                <a:spcPts val="200"/>
              </a:spcAft>
            </a:pPr>
            <a:r>
              <a:rPr sz="1125" b="0" i="0">
                <a:solidFill>
                  <a:srgbClr val="2B3A38"/>
                </a:solidFill>
                <a:latin typeface="Arial"/>
              </a:rPr>
              <a:t>•  Tumeur bénigne ou maligne</a:t>
            </a:r>
          </a:p>
          <a:p>
            <a:pPr algn="l">
              <a:spcAft>
                <a:spcPts val="200"/>
              </a:spcAft>
            </a:pPr>
            <a:r>
              <a:rPr sz="1125" b="0" i="0">
                <a:solidFill>
                  <a:srgbClr val="2B3A38"/>
                </a:solidFill>
                <a:latin typeface="Arial"/>
              </a:rPr>
              <a:t>•  Passager survivant ou non (TP2)</a:t>
            </a:r>
          </a:p>
        </p:txBody>
      </p:sp>
      <p:sp>
        <p:nvSpPr>
          <p:cNvPr id="71" name="Rectangle 70"/>
          <p:cNvSpPr/>
          <p:nvPr/>
        </p:nvSpPr>
        <p:spPr>
          <a:xfrm>
            <a:off x="6075092" y="4118457"/>
            <a:ext cx="5172027" cy="1883664"/>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75092" y="4118457"/>
            <a:ext cx="517202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94245" y="4240895"/>
            <a:ext cx="4733720" cy="376732"/>
          </a:xfrm>
          <a:prstGeom prst="rect">
            <a:avLst/>
          </a:prstGeom>
          <a:noFill/>
        </p:spPr>
        <p:txBody>
          <a:bodyPr wrap="square" lIns="0" rIns="0" tIns="0" bIns="0" anchor="t">
            <a:spAutoFit/>
          </a:bodyPr>
          <a:lstStyle/>
          <a:p>
            <a:pPr algn="l">
              <a:spcAft>
                <a:spcPts val="0"/>
              </a:spcAft>
            </a:pPr>
            <a:r>
              <a:rPr sz="1350" b="1" i="0">
                <a:solidFill>
                  <a:srgbClr val="D1452B"/>
                </a:solidFill>
                <a:latin typeface="Arial"/>
              </a:rPr>
              <a:t>Classification multiclasse</a:t>
            </a:r>
            <a:r>
              <a:rPr sz="1080" b="0" i="1">
                <a:solidFill>
                  <a:srgbClr val="5A6B68"/>
                </a:solidFill>
                <a:latin typeface="Arial"/>
              </a:rPr>
              <a:t>  ·  plus de deux catégories</a:t>
            </a:r>
          </a:p>
        </p:txBody>
      </p:sp>
      <p:sp>
        <p:nvSpPr>
          <p:cNvPr id="74" name="TextBox 73"/>
          <p:cNvSpPr txBox="1"/>
          <p:nvPr/>
        </p:nvSpPr>
        <p:spPr>
          <a:xfrm>
            <a:off x="6294245" y="4683556"/>
            <a:ext cx="4733720" cy="1271473"/>
          </a:xfrm>
          <a:prstGeom prst="rect">
            <a:avLst/>
          </a:prstGeom>
          <a:noFill/>
        </p:spPr>
        <p:txBody>
          <a:bodyPr wrap="square" lIns="0" rIns="0" tIns="0" bIns="0" anchor="t">
            <a:spAutoFit/>
          </a:bodyPr>
          <a:lstStyle/>
          <a:p>
            <a:pPr algn="l">
              <a:spcAft>
                <a:spcPts val="200"/>
              </a:spcAft>
            </a:pPr>
            <a:r>
              <a:rPr sz="1125" b="0" i="0">
                <a:solidFill>
                  <a:srgbClr val="2B3A38"/>
                </a:solidFill>
                <a:latin typeface="Arial"/>
              </a:rPr>
              <a:t>•  Chiffre manuscrit : 0, 1, …, 9</a:t>
            </a:r>
          </a:p>
          <a:p>
            <a:pPr algn="l">
              <a:spcAft>
                <a:spcPts val="200"/>
              </a:spcAft>
            </a:pPr>
            <a:r>
              <a:rPr sz="1125" b="0" i="0">
                <a:solidFill>
                  <a:srgbClr val="2B3A38"/>
                </a:solidFill>
                <a:latin typeface="Arial"/>
              </a:rPr>
              <a:t>•  Espèce d'une plante à partir d'une photo</a:t>
            </a:r>
          </a:p>
          <a:p>
            <a:pPr algn="l">
              <a:spcAft>
                <a:spcPts val="200"/>
              </a:spcAft>
            </a:pPr>
            <a:r>
              <a:rPr sz="1125" b="0" i="0">
                <a:solidFill>
                  <a:srgbClr val="2B3A38"/>
                </a:solidFill>
                <a:latin typeface="Arial"/>
              </a:rPr>
              <a:t>•  Sentiment d'un avis : positif, neutre, négatif</a:t>
            </a:r>
          </a:p>
          <a:p>
            <a:pPr algn="l">
              <a:spcAft>
                <a:spcPts val="200"/>
              </a:spcAft>
            </a:pPr>
            <a:r>
              <a:rPr sz="1125" b="0" i="0">
                <a:solidFill>
                  <a:srgbClr val="2B3A38"/>
                </a:solidFill>
                <a:latin typeface="Arial"/>
              </a:rPr>
              <a:t>•  Type de panne d'une machine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D1452B"/>
                </a:solidFill>
              </a:rPr>
              <a:t>A · IA prédictive · Classification</a:t>
            </a:r>
          </a:p>
        </p:txBody>
      </p:sp>
      <p:sp>
        <p:nvSpPr>
          <p:cNvPr id="3" name="Text Placeholder 2"/>
          <p:cNvSpPr>
            <a:spLocks noGrp="1"/>
          </p:cNvSpPr>
          <p:nvPr>
            <p:ph type="body" idx="25" sz="quarter"/>
          </p:nvPr>
        </p:nvSpPr>
        <p:spPr/>
        <p:txBody>
          <a:bodyPr/>
          <a:lstStyle/>
          <a:p>
            <a:r>
              <a:t>Classification : évaluer un modèle</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9</a:t>
            </a:fld>
          </a:p>
        </p:txBody>
      </p:sp>
      <p:sp>
        <p:nvSpPr>
          <p:cNvPr id="6" name="TextBox 5"/>
          <p:cNvSpPr txBox="1"/>
          <p:nvPr/>
        </p:nvSpPr>
        <p:spPr>
          <a:xfrm>
            <a:off x="640080" y="1481328"/>
            <a:ext cx="4909043" cy="376732"/>
          </a:xfrm>
          <a:prstGeom prst="rect">
            <a:avLst/>
          </a:prstGeom>
          <a:noFill/>
        </p:spPr>
        <p:txBody>
          <a:bodyPr wrap="square" lIns="0" rIns="0" tIns="0" bIns="0" anchor="t">
            <a:spAutoFit/>
          </a:bodyPr>
          <a:lstStyle/>
          <a:p>
            <a:pPr algn="l">
              <a:spcAft>
                <a:spcPts val="0"/>
              </a:spcAft>
            </a:pPr>
            <a:r>
              <a:rPr sz="1350" b="1" i="0">
                <a:solidFill>
                  <a:srgbClr val="D1452B"/>
                </a:solidFill>
                <a:latin typeface="Arial"/>
              </a:rPr>
              <a:t>Tester sur des données jamais vues</a:t>
            </a:r>
          </a:p>
        </p:txBody>
      </p:sp>
      <p:sp>
        <p:nvSpPr>
          <p:cNvPr id="7" name="Rectangle 6"/>
          <p:cNvSpPr/>
          <p:nvPr/>
        </p:nvSpPr>
        <p:spPr>
          <a:xfrm>
            <a:off x="640080" y="1952244"/>
            <a:ext cx="3857105" cy="518007"/>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52244"/>
            <a:ext cx="3857105" cy="518007"/>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80 % : entraînement</a:t>
            </a:r>
          </a:p>
        </p:txBody>
      </p:sp>
      <p:sp>
        <p:nvSpPr>
          <p:cNvPr id="9" name="Rectangle 8"/>
          <p:cNvSpPr/>
          <p:nvPr/>
        </p:nvSpPr>
        <p:spPr>
          <a:xfrm>
            <a:off x="4497185" y="1952244"/>
            <a:ext cx="1051937" cy="518007"/>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7185" y="1952244"/>
            <a:ext cx="1051937" cy="518007"/>
          </a:xfrm>
          <a:prstGeom prst="rect">
            <a:avLst/>
          </a:prstGeom>
          <a:noFill/>
        </p:spPr>
        <p:txBody>
          <a:bodyPr wrap="square" lIns="0" rIns="0" tIns="0" bIns="0" anchor="ctr">
            <a:spAutoFit/>
          </a:bodyPr>
          <a:lstStyle/>
          <a:p>
            <a:pPr algn="ctr">
              <a:spcAft>
                <a:spcPts val="0"/>
              </a:spcAft>
            </a:pPr>
            <a:r>
              <a:rPr sz="1080" b="1" i="0">
                <a:solidFill>
                  <a:srgbClr val="FFFFFF"/>
                </a:solidFill>
                <a:latin typeface="Arial"/>
              </a:rPr>
              <a:t>20 % : test</a:t>
            </a:r>
          </a:p>
        </p:txBody>
      </p:sp>
      <p:sp>
        <p:nvSpPr>
          <p:cNvPr id="11" name="TextBox 10"/>
          <p:cNvSpPr txBox="1"/>
          <p:nvPr/>
        </p:nvSpPr>
        <p:spPr>
          <a:xfrm>
            <a:off x="640080" y="2564434"/>
            <a:ext cx="4909043" cy="800557"/>
          </a:xfrm>
          <a:prstGeom prst="rect">
            <a:avLst/>
          </a:prstGeom>
          <a:noFill/>
        </p:spPr>
        <p:txBody>
          <a:bodyPr wrap="square" lIns="0" rIns="0" tIns="0" bIns="0" anchor="t">
            <a:spAutoFit/>
          </a:bodyPr>
          <a:lstStyle/>
          <a:p>
            <a:pPr algn="l">
              <a:spcAft>
                <a:spcPts val="0"/>
              </a:spcAft>
            </a:pPr>
            <a:r>
              <a:rPr sz="1125" b="0" i="1">
                <a:solidFill>
                  <a:srgbClr val="5A6B68"/>
                </a:solidFill>
                <a:latin typeface="Arial"/>
              </a:rPr>
              <a:t>Évaluer un modèle sur les exemples qui ont servi à l'entraîner, c'est donner à un élève les questions de l'examen à l'avance.</a:t>
            </a:r>
          </a:p>
        </p:txBody>
      </p:sp>
      <p:sp>
        <p:nvSpPr>
          <p:cNvPr id="12" name="TextBox 11"/>
          <p:cNvSpPr txBox="1"/>
          <p:nvPr/>
        </p:nvSpPr>
        <p:spPr>
          <a:xfrm>
            <a:off x="640080" y="3459175"/>
            <a:ext cx="4909043" cy="376732"/>
          </a:xfrm>
          <a:prstGeom prst="rect">
            <a:avLst/>
          </a:prstGeom>
          <a:noFill/>
        </p:spPr>
        <p:txBody>
          <a:bodyPr wrap="square" lIns="0" rIns="0" tIns="0" bIns="0" anchor="t">
            <a:spAutoFit/>
          </a:bodyPr>
          <a:lstStyle/>
          <a:p>
            <a:pPr algn="l">
              <a:spcAft>
                <a:spcPts val="0"/>
              </a:spcAft>
            </a:pPr>
            <a:r>
              <a:rPr sz="1170" b="1" i="0">
                <a:solidFill>
                  <a:srgbClr val="1A2E2B"/>
                </a:solidFill>
                <a:latin typeface="Arial"/>
              </a:rPr>
              <a:t>Exemple : dépistage d'une maladie sur 100 patients de test</a:t>
            </a:r>
          </a:p>
        </p:txBody>
      </p:sp>
      <p:sp>
        <p:nvSpPr>
          <p:cNvPr id="13" name="TextBox 12"/>
          <p:cNvSpPr txBox="1"/>
          <p:nvPr/>
        </p:nvSpPr>
        <p:spPr>
          <a:xfrm>
            <a:off x="640080" y="3930091"/>
            <a:ext cx="1183430" cy="753465"/>
          </a:xfrm>
          <a:prstGeom prst="rect">
            <a:avLst/>
          </a:prstGeom>
          <a:noFill/>
        </p:spPr>
        <p:txBody>
          <a:bodyPr wrap="square" lIns="0" rIns="0" tIns="0" bIns="0" anchor="ctr">
            <a:spAutoFit/>
          </a:bodyPr>
          <a:lstStyle/>
          <a:p>
            <a:pPr algn="l">
              <a:spcAft>
                <a:spcPts val="0"/>
              </a:spcAft>
            </a:pPr>
            <a:r>
              <a:rPr sz="990" b="1" i="0">
                <a:solidFill>
                  <a:srgbClr val="5A6B68"/>
                </a:solidFill>
                <a:latin typeface="Arial"/>
              </a:rPr>
              <a:t>réalité : malade</a:t>
            </a:r>
          </a:p>
        </p:txBody>
      </p:sp>
      <p:sp>
        <p:nvSpPr>
          <p:cNvPr id="14" name="TextBox 13"/>
          <p:cNvSpPr txBox="1"/>
          <p:nvPr/>
        </p:nvSpPr>
        <p:spPr>
          <a:xfrm>
            <a:off x="640080" y="4777740"/>
            <a:ext cx="1183430" cy="753465"/>
          </a:xfrm>
          <a:prstGeom prst="rect">
            <a:avLst/>
          </a:prstGeom>
          <a:noFill/>
        </p:spPr>
        <p:txBody>
          <a:bodyPr wrap="square" lIns="0" rIns="0" tIns="0" bIns="0" anchor="ctr">
            <a:spAutoFit/>
          </a:bodyPr>
          <a:lstStyle/>
          <a:p>
            <a:pPr algn="l">
              <a:spcAft>
                <a:spcPts val="0"/>
              </a:spcAft>
            </a:pPr>
            <a:r>
              <a:rPr sz="990" b="1" i="0">
                <a:solidFill>
                  <a:srgbClr val="5A6B68"/>
                </a:solidFill>
                <a:latin typeface="Arial"/>
              </a:rPr>
              <a:t>réalité : sain</a:t>
            </a:r>
          </a:p>
        </p:txBody>
      </p:sp>
      <p:sp>
        <p:nvSpPr>
          <p:cNvPr id="15" name="TextBox 14"/>
          <p:cNvSpPr txBox="1"/>
          <p:nvPr/>
        </p:nvSpPr>
        <p:spPr>
          <a:xfrm>
            <a:off x="1867340" y="5578297"/>
            <a:ext cx="1753229" cy="282549"/>
          </a:xfrm>
          <a:prstGeom prst="rect">
            <a:avLst/>
          </a:prstGeom>
          <a:noFill/>
        </p:spPr>
        <p:txBody>
          <a:bodyPr wrap="square" lIns="0" rIns="0" tIns="0" bIns="0" anchor="t">
            <a:spAutoFit/>
          </a:bodyPr>
          <a:lstStyle/>
          <a:p>
            <a:pPr algn="ctr">
              <a:spcAft>
                <a:spcPts val="0"/>
              </a:spcAft>
            </a:pPr>
            <a:r>
              <a:rPr sz="990" b="1" i="0">
                <a:solidFill>
                  <a:srgbClr val="5A6B68"/>
                </a:solidFill>
                <a:latin typeface="Arial"/>
              </a:rPr>
              <a:t>prédit : malade</a:t>
            </a:r>
          </a:p>
        </p:txBody>
      </p:sp>
      <p:sp>
        <p:nvSpPr>
          <p:cNvPr id="16" name="TextBox 15"/>
          <p:cNvSpPr txBox="1"/>
          <p:nvPr/>
        </p:nvSpPr>
        <p:spPr>
          <a:xfrm>
            <a:off x="3708232" y="5578297"/>
            <a:ext cx="1753229" cy="282549"/>
          </a:xfrm>
          <a:prstGeom prst="rect">
            <a:avLst/>
          </a:prstGeom>
          <a:noFill/>
        </p:spPr>
        <p:txBody>
          <a:bodyPr wrap="square" lIns="0" rIns="0" tIns="0" bIns="0" anchor="t">
            <a:spAutoFit/>
          </a:bodyPr>
          <a:lstStyle/>
          <a:p>
            <a:pPr algn="ctr">
              <a:spcAft>
                <a:spcPts val="0"/>
              </a:spcAft>
            </a:pPr>
            <a:r>
              <a:rPr sz="990" b="1" i="0">
                <a:solidFill>
                  <a:srgbClr val="5A6B68"/>
                </a:solidFill>
                <a:latin typeface="Arial"/>
              </a:rPr>
              <a:t>prédit : sain</a:t>
            </a:r>
          </a:p>
        </p:txBody>
      </p:sp>
      <p:sp>
        <p:nvSpPr>
          <p:cNvPr id="17" name="Rectangle 16"/>
          <p:cNvSpPr/>
          <p:nvPr/>
        </p:nvSpPr>
        <p:spPr>
          <a:xfrm>
            <a:off x="1867340" y="3930091"/>
            <a:ext cx="1753229" cy="772302"/>
          </a:xfrm>
          <a:prstGeom prst="rect">
            <a:avLst/>
          </a:prstGeom>
          <a:solidFill>
            <a:srgbClr val="E1F5F3"/>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55002" y="3930091"/>
            <a:ext cx="1621737" cy="772302"/>
          </a:xfrm>
          <a:prstGeom prst="rect">
            <a:avLst/>
          </a:prstGeom>
          <a:noFill/>
        </p:spPr>
        <p:txBody>
          <a:bodyPr wrap="square" lIns="0" rIns="0" tIns="0" bIns="0" anchor="ctr">
            <a:spAutoFit/>
          </a:bodyPr>
          <a:lstStyle/>
          <a:p>
            <a:pPr algn="l">
              <a:spcAft>
                <a:spcPts val="0"/>
              </a:spcAft>
            </a:pPr>
            <a:r>
              <a:rPr sz="1800" b="1" i="0">
                <a:solidFill>
                  <a:srgbClr val="00877A"/>
                </a:solidFill>
                <a:latin typeface="Arial"/>
              </a:rPr>
              <a:t>8  </a:t>
            </a:r>
            <a:r>
              <a:rPr sz="1035" b="0" i="0">
                <a:solidFill>
                  <a:srgbClr val="2B3A38"/>
                </a:solidFill>
                <a:latin typeface="Arial"/>
              </a:rPr>
              <a:t>malades détectés</a:t>
            </a:r>
          </a:p>
        </p:txBody>
      </p:sp>
      <p:sp>
        <p:nvSpPr>
          <p:cNvPr id="19" name="Rectangle 18"/>
          <p:cNvSpPr/>
          <p:nvPr/>
        </p:nvSpPr>
        <p:spPr>
          <a:xfrm>
            <a:off x="3708232" y="3930091"/>
            <a:ext cx="1753229" cy="772302"/>
          </a:xfrm>
          <a:prstGeom prst="rect">
            <a:avLst/>
          </a:prstGeom>
          <a:solidFill>
            <a:srgbClr val="FDECE8"/>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5893" y="3930091"/>
            <a:ext cx="1621737" cy="772302"/>
          </a:xfrm>
          <a:prstGeom prst="rect">
            <a:avLst/>
          </a:prstGeom>
          <a:noFill/>
        </p:spPr>
        <p:txBody>
          <a:bodyPr wrap="square" lIns="0" rIns="0" tIns="0" bIns="0" anchor="ctr">
            <a:spAutoFit/>
          </a:bodyPr>
          <a:lstStyle/>
          <a:p>
            <a:pPr algn="l">
              <a:spcAft>
                <a:spcPts val="0"/>
              </a:spcAft>
            </a:pPr>
            <a:r>
              <a:rPr sz="1800" b="1" i="0">
                <a:solidFill>
                  <a:srgbClr val="D1452B"/>
                </a:solidFill>
                <a:latin typeface="Arial"/>
              </a:rPr>
              <a:t>2  </a:t>
            </a:r>
            <a:r>
              <a:rPr sz="1035" b="0" i="0">
                <a:solidFill>
                  <a:srgbClr val="2B3A38"/>
                </a:solidFill>
                <a:latin typeface="Arial"/>
              </a:rPr>
              <a:t>malades manqués</a:t>
            </a:r>
          </a:p>
        </p:txBody>
      </p:sp>
      <p:sp>
        <p:nvSpPr>
          <p:cNvPr id="21" name="Rectangle 20"/>
          <p:cNvSpPr/>
          <p:nvPr/>
        </p:nvSpPr>
        <p:spPr>
          <a:xfrm>
            <a:off x="1867340" y="4777740"/>
            <a:ext cx="1753229" cy="772302"/>
          </a:xfrm>
          <a:prstGeom prst="rect">
            <a:avLst/>
          </a:prstGeom>
          <a:solidFill>
            <a:srgbClr val="FDECE8"/>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55002" y="4777740"/>
            <a:ext cx="1621737" cy="772302"/>
          </a:xfrm>
          <a:prstGeom prst="rect">
            <a:avLst/>
          </a:prstGeom>
          <a:noFill/>
        </p:spPr>
        <p:txBody>
          <a:bodyPr wrap="square" lIns="0" rIns="0" tIns="0" bIns="0" anchor="ctr">
            <a:spAutoFit/>
          </a:bodyPr>
          <a:lstStyle/>
          <a:p>
            <a:pPr algn="l">
              <a:spcAft>
                <a:spcPts val="0"/>
              </a:spcAft>
            </a:pPr>
            <a:r>
              <a:rPr sz="1800" b="1" i="0">
                <a:solidFill>
                  <a:srgbClr val="D1452B"/>
                </a:solidFill>
                <a:latin typeface="Arial"/>
              </a:rPr>
              <a:t>5  </a:t>
            </a:r>
            <a:r>
              <a:rPr sz="1035" b="0" i="0">
                <a:solidFill>
                  <a:srgbClr val="2B3A38"/>
                </a:solidFill>
                <a:latin typeface="Arial"/>
              </a:rPr>
              <a:t>fausses alertes</a:t>
            </a:r>
          </a:p>
        </p:txBody>
      </p:sp>
      <p:sp>
        <p:nvSpPr>
          <p:cNvPr id="23" name="Rectangle 22"/>
          <p:cNvSpPr/>
          <p:nvPr/>
        </p:nvSpPr>
        <p:spPr>
          <a:xfrm>
            <a:off x="3708232" y="4777740"/>
            <a:ext cx="1753229" cy="772302"/>
          </a:xfrm>
          <a:prstGeom prst="rect">
            <a:avLst/>
          </a:prstGeom>
          <a:solidFill>
            <a:srgbClr val="E1F5F3"/>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95893" y="4777740"/>
            <a:ext cx="1621737" cy="772302"/>
          </a:xfrm>
          <a:prstGeom prst="rect">
            <a:avLst/>
          </a:prstGeom>
          <a:noFill/>
        </p:spPr>
        <p:txBody>
          <a:bodyPr wrap="square" lIns="0" rIns="0" tIns="0" bIns="0" anchor="ctr">
            <a:spAutoFit/>
          </a:bodyPr>
          <a:lstStyle/>
          <a:p>
            <a:pPr algn="l">
              <a:spcAft>
                <a:spcPts val="0"/>
              </a:spcAft>
            </a:pPr>
            <a:r>
              <a:rPr sz="1800" b="1" i="0">
                <a:solidFill>
                  <a:srgbClr val="00877A"/>
                </a:solidFill>
                <a:latin typeface="Arial"/>
              </a:rPr>
              <a:t>85  </a:t>
            </a:r>
            <a:r>
              <a:rPr sz="1035" b="0" i="0">
                <a:solidFill>
                  <a:srgbClr val="2B3A38"/>
                </a:solidFill>
                <a:latin typeface="Arial"/>
              </a:rPr>
              <a:t>sains reconnus</a:t>
            </a:r>
          </a:p>
        </p:txBody>
      </p:sp>
      <p:sp>
        <p:nvSpPr>
          <p:cNvPr id="25" name="Rectangle 24"/>
          <p:cNvSpPr/>
          <p:nvPr/>
        </p:nvSpPr>
        <p:spPr>
          <a:xfrm>
            <a:off x="6075092" y="1481328"/>
            <a:ext cx="5172027" cy="94183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75092" y="1481328"/>
            <a:ext cx="517202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06584" y="1556674"/>
            <a:ext cx="1314922" cy="800557"/>
          </a:xfrm>
          <a:prstGeom prst="rect">
            <a:avLst/>
          </a:prstGeom>
          <a:noFill/>
        </p:spPr>
        <p:txBody>
          <a:bodyPr wrap="square" lIns="0" rIns="0" tIns="0" bIns="0" anchor="ctr">
            <a:spAutoFit/>
          </a:bodyPr>
          <a:lstStyle/>
          <a:p>
            <a:pPr algn="l">
              <a:spcAft>
                <a:spcPts val="0"/>
              </a:spcAft>
            </a:pPr>
            <a:r>
              <a:rPr sz="2520" b="1" i="0">
                <a:solidFill>
                  <a:srgbClr val="D1452B"/>
                </a:solidFill>
                <a:latin typeface="Arial"/>
              </a:rPr>
              <a:t>93 %</a:t>
            </a:r>
          </a:p>
        </p:txBody>
      </p:sp>
      <p:sp>
        <p:nvSpPr>
          <p:cNvPr id="28" name="TextBox 27"/>
          <p:cNvSpPr txBox="1"/>
          <p:nvPr/>
        </p:nvSpPr>
        <p:spPr>
          <a:xfrm>
            <a:off x="7565337" y="1556674"/>
            <a:ext cx="2279198" cy="800557"/>
          </a:xfrm>
          <a:prstGeom prst="rect">
            <a:avLst/>
          </a:prstGeom>
          <a:noFill/>
        </p:spPr>
        <p:txBody>
          <a:bodyPr wrap="square" lIns="0" rIns="0" tIns="0" bIns="0" anchor="ctr">
            <a:spAutoFit/>
          </a:bodyPr>
          <a:lstStyle/>
          <a:p>
            <a:pPr algn="l">
              <a:spcAft>
                <a:spcPts val="0"/>
              </a:spcAft>
            </a:pPr>
            <a:r>
              <a:rPr sz="1170" b="1" i="0">
                <a:solidFill>
                  <a:srgbClr val="2B3A38"/>
                </a:solidFill>
                <a:latin typeface="Arial"/>
              </a:rPr>
              <a:t>Exactitude</a:t>
            </a:r>
          </a:p>
          <a:p>
            <a:pPr algn="l">
              <a:spcAft>
                <a:spcPts val="0"/>
              </a:spcAft>
            </a:pPr>
            <a:r>
              <a:rPr sz="1170" b="0" i="0">
                <a:solidFill>
                  <a:srgbClr val="2B3A38"/>
                </a:solidFill>
                <a:latin typeface="Arial"/>
              </a:rPr>
              <a:t>des prédictions correctes</a:t>
            </a:r>
          </a:p>
        </p:txBody>
      </p:sp>
      <p:sp>
        <p:nvSpPr>
          <p:cNvPr id="29" name="TextBox 28"/>
          <p:cNvSpPr txBox="1"/>
          <p:nvPr/>
        </p:nvSpPr>
        <p:spPr>
          <a:xfrm>
            <a:off x="9800705" y="1556674"/>
            <a:ext cx="1314922" cy="800557"/>
          </a:xfrm>
          <a:prstGeom prst="rect">
            <a:avLst/>
          </a:prstGeom>
          <a:noFill/>
        </p:spPr>
        <p:txBody>
          <a:bodyPr wrap="square" lIns="0" rIns="0" tIns="0" bIns="0" anchor="ctr">
            <a:spAutoFit/>
          </a:bodyPr>
          <a:lstStyle/>
          <a:p>
            <a:pPr algn="r">
              <a:spcAft>
                <a:spcPts val="0"/>
              </a:spcAft>
            </a:pPr>
            <a:r>
              <a:rPr sz="990" b="0" i="1">
                <a:solidFill>
                  <a:srgbClr val="5A6B68"/>
                </a:solidFill>
                <a:latin typeface="Arial"/>
              </a:rPr>
              <a:t>(8 + 85) / 100</a:t>
            </a:r>
          </a:p>
        </p:txBody>
      </p:sp>
      <p:sp>
        <p:nvSpPr>
          <p:cNvPr id="30" name="Rectangle 29"/>
          <p:cNvSpPr/>
          <p:nvPr/>
        </p:nvSpPr>
        <p:spPr>
          <a:xfrm>
            <a:off x="6075092" y="2536179"/>
            <a:ext cx="5172027" cy="94183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75092" y="2536179"/>
            <a:ext cx="517202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06584" y="2611526"/>
            <a:ext cx="1314922" cy="800557"/>
          </a:xfrm>
          <a:prstGeom prst="rect">
            <a:avLst/>
          </a:prstGeom>
          <a:noFill/>
        </p:spPr>
        <p:txBody>
          <a:bodyPr wrap="square" lIns="0" rIns="0" tIns="0" bIns="0" anchor="ctr">
            <a:spAutoFit/>
          </a:bodyPr>
          <a:lstStyle/>
          <a:p>
            <a:pPr algn="l">
              <a:spcAft>
                <a:spcPts val="0"/>
              </a:spcAft>
            </a:pPr>
            <a:r>
              <a:rPr sz="2520" b="1" i="0">
                <a:solidFill>
                  <a:srgbClr val="D1452B"/>
                </a:solidFill>
                <a:latin typeface="Arial"/>
              </a:rPr>
              <a:t>80 %</a:t>
            </a:r>
          </a:p>
        </p:txBody>
      </p:sp>
      <p:sp>
        <p:nvSpPr>
          <p:cNvPr id="33" name="TextBox 32"/>
          <p:cNvSpPr txBox="1"/>
          <p:nvPr/>
        </p:nvSpPr>
        <p:spPr>
          <a:xfrm>
            <a:off x="7565337" y="2611526"/>
            <a:ext cx="2279198" cy="800557"/>
          </a:xfrm>
          <a:prstGeom prst="rect">
            <a:avLst/>
          </a:prstGeom>
          <a:noFill/>
        </p:spPr>
        <p:txBody>
          <a:bodyPr wrap="square" lIns="0" rIns="0" tIns="0" bIns="0" anchor="ctr">
            <a:spAutoFit/>
          </a:bodyPr>
          <a:lstStyle/>
          <a:p>
            <a:pPr algn="l">
              <a:spcAft>
                <a:spcPts val="0"/>
              </a:spcAft>
            </a:pPr>
            <a:r>
              <a:rPr sz="1170" b="1" i="0">
                <a:solidFill>
                  <a:srgbClr val="2B3A38"/>
                </a:solidFill>
                <a:latin typeface="Arial"/>
              </a:rPr>
              <a:t>Rappel</a:t>
            </a:r>
          </a:p>
          <a:p>
            <a:pPr algn="l">
              <a:spcAft>
                <a:spcPts val="0"/>
              </a:spcAft>
            </a:pPr>
            <a:r>
              <a:rPr sz="1170" b="0" i="0">
                <a:solidFill>
                  <a:srgbClr val="2B3A38"/>
                </a:solidFill>
                <a:latin typeface="Arial"/>
              </a:rPr>
              <a:t>des malades sont détectés</a:t>
            </a:r>
          </a:p>
        </p:txBody>
      </p:sp>
      <p:sp>
        <p:nvSpPr>
          <p:cNvPr id="34" name="TextBox 33"/>
          <p:cNvSpPr txBox="1"/>
          <p:nvPr/>
        </p:nvSpPr>
        <p:spPr>
          <a:xfrm>
            <a:off x="9800705" y="2611526"/>
            <a:ext cx="1314922" cy="800557"/>
          </a:xfrm>
          <a:prstGeom prst="rect">
            <a:avLst/>
          </a:prstGeom>
          <a:noFill/>
        </p:spPr>
        <p:txBody>
          <a:bodyPr wrap="square" lIns="0" rIns="0" tIns="0" bIns="0" anchor="ctr">
            <a:spAutoFit/>
          </a:bodyPr>
          <a:lstStyle/>
          <a:p>
            <a:pPr algn="r">
              <a:spcAft>
                <a:spcPts val="0"/>
              </a:spcAft>
            </a:pPr>
            <a:r>
              <a:rPr sz="990" b="0" i="1">
                <a:solidFill>
                  <a:srgbClr val="5A6B68"/>
                </a:solidFill>
                <a:latin typeface="Arial"/>
              </a:rPr>
              <a:t>8 / (8 + 2)</a:t>
            </a:r>
          </a:p>
        </p:txBody>
      </p:sp>
      <p:sp>
        <p:nvSpPr>
          <p:cNvPr id="35" name="Rectangle 34"/>
          <p:cNvSpPr/>
          <p:nvPr/>
        </p:nvSpPr>
        <p:spPr>
          <a:xfrm>
            <a:off x="6075092" y="3591031"/>
            <a:ext cx="5172027" cy="94183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75092" y="3591031"/>
            <a:ext cx="5172027"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06584" y="3666378"/>
            <a:ext cx="1314922" cy="800557"/>
          </a:xfrm>
          <a:prstGeom prst="rect">
            <a:avLst/>
          </a:prstGeom>
          <a:noFill/>
        </p:spPr>
        <p:txBody>
          <a:bodyPr wrap="square" lIns="0" rIns="0" tIns="0" bIns="0" anchor="ctr">
            <a:spAutoFit/>
          </a:bodyPr>
          <a:lstStyle/>
          <a:p>
            <a:pPr algn="l">
              <a:spcAft>
                <a:spcPts val="0"/>
              </a:spcAft>
            </a:pPr>
            <a:r>
              <a:rPr sz="2520" b="1" i="0">
                <a:solidFill>
                  <a:srgbClr val="D1452B"/>
                </a:solidFill>
                <a:latin typeface="Arial"/>
              </a:rPr>
              <a:t>62 %</a:t>
            </a:r>
          </a:p>
        </p:txBody>
      </p:sp>
      <p:sp>
        <p:nvSpPr>
          <p:cNvPr id="38" name="TextBox 37"/>
          <p:cNvSpPr txBox="1"/>
          <p:nvPr/>
        </p:nvSpPr>
        <p:spPr>
          <a:xfrm>
            <a:off x="7565337" y="3666378"/>
            <a:ext cx="2279198" cy="800557"/>
          </a:xfrm>
          <a:prstGeom prst="rect">
            <a:avLst/>
          </a:prstGeom>
          <a:noFill/>
        </p:spPr>
        <p:txBody>
          <a:bodyPr wrap="square" lIns="0" rIns="0" tIns="0" bIns="0" anchor="ctr">
            <a:spAutoFit/>
          </a:bodyPr>
          <a:lstStyle/>
          <a:p>
            <a:pPr algn="l">
              <a:spcAft>
                <a:spcPts val="0"/>
              </a:spcAft>
            </a:pPr>
            <a:r>
              <a:rPr sz="1170" b="1" i="0">
                <a:solidFill>
                  <a:srgbClr val="2B3A38"/>
                </a:solidFill>
                <a:latin typeface="Arial"/>
              </a:rPr>
              <a:t>Précision</a:t>
            </a:r>
          </a:p>
          <a:p>
            <a:pPr algn="l">
              <a:spcAft>
                <a:spcPts val="0"/>
              </a:spcAft>
            </a:pPr>
            <a:r>
              <a:rPr sz="1170" b="0" i="0">
                <a:solidFill>
                  <a:srgbClr val="2B3A38"/>
                </a:solidFill>
                <a:latin typeface="Arial"/>
              </a:rPr>
              <a:t>des alertes sont justifiées</a:t>
            </a:r>
          </a:p>
        </p:txBody>
      </p:sp>
      <p:sp>
        <p:nvSpPr>
          <p:cNvPr id="39" name="TextBox 38"/>
          <p:cNvSpPr txBox="1"/>
          <p:nvPr/>
        </p:nvSpPr>
        <p:spPr>
          <a:xfrm>
            <a:off x="9800705" y="3666378"/>
            <a:ext cx="1314922" cy="800557"/>
          </a:xfrm>
          <a:prstGeom prst="rect">
            <a:avLst/>
          </a:prstGeom>
          <a:noFill/>
        </p:spPr>
        <p:txBody>
          <a:bodyPr wrap="square" lIns="0" rIns="0" tIns="0" bIns="0" anchor="ctr">
            <a:spAutoFit/>
          </a:bodyPr>
          <a:lstStyle/>
          <a:p>
            <a:pPr algn="r">
              <a:spcAft>
                <a:spcPts val="0"/>
              </a:spcAft>
            </a:pPr>
            <a:r>
              <a:rPr sz="990" b="0" i="1">
                <a:solidFill>
                  <a:srgbClr val="5A6B68"/>
                </a:solidFill>
                <a:latin typeface="Arial"/>
              </a:rPr>
              <a:t>8 / (8 + 5)</a:t>
            </a:r>
          </a:p>
        </p:txBody>
      </p:sp>
      <p:sp>
        <p:nvSpPr>
          <p:cNvPr id="40" name="Rectangle 39"/>
          <p:cNvSpPr/>
          <p:nvPr/>
        </p:nvSpPr>
        <p:spPr>
          <a:xfrm>
            <a:off x="6075092" y="4730648"/>
            <a:ext cx="5172027" cy="1271473"/>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94245" y="4777740"/>
            <a:ext cx="4777551" cy="1177290"/>
          </a:xfrm>
          <a:prstGeom prst="rect">
            <a:avLst/>
          </a:prstGeom>
          <a:noFill/>
        </p:spPr>
        <p:txBody>
          <a:bodyPr wrap="square" lIns="0" rIns="0" tIns="0" bIns="0" anchor="ctr">
            <a:spAutoFit/>
          </a:bodyPr>
          <a:lstStyle/>
          <a:p>
            <a:pPr algn="l">
              <a:spcAft>
                <a:spcPts val="0"/>
              </a:spcAft>
            </a:pPr>
            <a:r>
              <a:rPr sz="1170" b="1" i="0">
                <a:solidFill>
                  <a:srgbClr val="F4D73F"/>
                </a:solidFill>
                <a:latin typeface="Arial"/>
              </a:rPr>
              <a:t>Piège : </a:t>
            </a:r>
            <a:r>
              <a:rPr sz="1170" b="0" i="0">
                <a:solidFill>
                  <a:srgbClr val="FFFFFF"/>
                </a:solidFill>
                <a:latin typeface="Arial"/>
              </a:rPr>
              <a:t>un modèle qui répond toujours « sain » obtient 90 % d'exactitude… et ne détecte aucun malade (rappel de 0 %). L'exactitude seule ne suffit pas.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D1452B"/>
                </a:solidFill>
              </a:rPr>
              <a:t>A · IA prédictive · Classification</a:t>
            </a:r>
          </a:p>
        </p:txBody>
      </p:sp>
      <p:sp>
        <p:nvSpPr>
          <p:cNvPr id="3" name="Text Placeholder 2"/>
          <p:cNvSpPr>
            <a:spLocks noGrp="1"/>
          </p:cNvSpPr>
          <p:nvPr>
            <p:ph type="body" idx="25" sz="quarter"/>
          </p:nvPr>
        </p:nvSpPr>
        <p:spPr/>
        <p:txBody>
          <a:bodyPr/>
          <a:lstStyle/>
          <a:p>
            <a:r>
              <a:t>Classification : quelques algorithmes</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10</a:t>
            </a:fld>
          </a:p>
        </p:txBody>
      </p:sp>
      <p:sp>
        <p:nvSpPr>
          <p:cNvPr id="6" name="Rectangle 5"/>
          <p:cNvSpPr/>
          <p:nvPr/>
        </p:nvSpPr>
        <p:spPr>
          <a:xfrm>
            <a:off x="640080"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402" y="1622602"/>
            <a:ext cx="2147706" cy="423824"/>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Régression logistique</a:t>
            </a:r>
          </a:p>
        </p:txBody>
      </p:sp>
      <p:sp>
        <p:nvSpPr>
          <p:cNvPr id="9" name="Rectangle 8"/>
          <p:cNvSpPr/>
          <p:nvPr/>
        </p:nvSpPr>
        <p:spPr>
          <a:xfrm>
            <a:off x="815402"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946895" y="3634819"/>
            <a:ext cx="62824" cy="3582"/>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009719" y="3629851"/>
            <a:ext cx="62824" cy="4968"/>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72543" y="3622978"/>
            <a:ext cx="62824" cy="6873"/>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35367" y="3613503"/>
            <a:ext cx="62824" cy="9475"/>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98191" y="3600501"/>
            <a:ext cx="62824" cy="13002"/>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261015" y="3582774"/>
            <a:ext cx="62824" cy="17727"/>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23839" y="3558816"/>
            <a:ext cx="62824" cy="23958"/>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386663" y="3526818"/>
            <a:ext cx="62824" cy="31998"/>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449487" y="3484751"/>
            <a:ext cx="62824" cy="42067"/>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512311" y="3430580"/>
            <a:ext cx="62824" cy="54171"/>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575135" y="3362654"/>
            <a:ext cx="62824" cy="67926"/>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637959" y="3280260"/>
            <a:ext cx="62825" cy="82394"/>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700784" y="3184251"/>
            <a:ext cx="62824" cy="96009"/>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763608" y="3077475"/>
            <a:ext cx="62824" cy="106776"/>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826432" y="2964713"/>
            <a:ext cx="62824" cy="112762"/>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889256" y="2851950"/>
            <a:ext cx="62824" cy="112763"/>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952080" y="2745175"/>
            <a:ext cx="62824" cy="106775"/>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014904" y="2649166"/>
            <a:ext cx="62824" cy="96009"/>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077728" y="2566772"/>
            <a:ext cx="62824" cy="82394"/>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140552" y="2498845"/>
            <a:ext cx="62824" cy="67927"/>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203376" y="2444675"/>
            <a:ext cx="62824" cy="54170"/>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266200" y="2402608"/>
            <a:ext cx="62824" cy="42067"/>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329024" y="2370610"/>
            <a:ext cx="62824" cy="31998"/>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391848" y="2346652"/>
            <a:ext cx="62824" cy="23958"/>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454672" y="2328925"/>
            <a:ext cx="62824" cy="17727"/>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517496" y="2315923"/>
            <a:ext cx="62824" cy="13002"/>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580320" y="2306448"/>
            <a:ext cx="62824" cy="9475"/>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643144" y="2299575"/>
            <a:ext cx="62825" cy="6873"/>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705969" y="2294607"/>
            <a:ext cx="62824" cy="4968"/>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768793" y="2291025"/>
            <a:ext cx="62824" cy="3582"/>
          </a:xfrm>
          <a:prstGeom prst="line">
            <a:avLst/>
          </a:prstGeom>
          <a:ln w="25400">
            <a:solidFill>
              <a:srgbClr val="D1452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03064" y="2964713"/>
            <a:ext cx="1972383" cy="0"/>
          </a:xfrm>
          <a:prstGeom prst="line">
            <a:avLst/>
          </a:prstGeom>
          <a:ln w="12700">
            <a:solidFill>
              <a:srgbClr val="A9B4B2"/>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03064" y="2112355"/>
            <a:ext cx="1051937" cy="188366"/>
          </a:xfrm>
          <a:prstGeom prst="rect">
            <a:avLst/>
          </a:prstGeom>
          <a:noFill/>
        </p:spPr>
        <p:txBody>
          <a:bodyPr wrap="square" lIns="0" rIns="0" tIns="0" bIns="0" anchor="t">
            <a:spAutoFit/>
          </a:bodyPr>
          <a:lstStyle/>
          <a:p>
            <a:pPr algn="l">
              <a:spcAft>
                <a:spcPts val="0"/>
              </a:spcAft>
            </a:pPr>
            <a:r>
              <a:rPr sz="765" b="0" i="1">
                <a:solidFill>
                  <a:srgbClr val="5A6B68"/>
                </a:solidFill>
                <a:latin typeface="Arial"/>
              </a:rPr>
              <a:t>probabilité</a:t>
            </a:r>
          </a:p>
        </p:txBody>
      </p:sp>
      <p:sp>
        <p:nvSpPr>
          <p:cNvPr id="42" name="TextBox 41"/>
          <p:cNvSpPr txBox="1"/>
          <p:nvPr/>
        </p:nvSpPr>
        <p:spPr>
          <a:xfrm>
            <a:off x="2217986" y="2757510"/>
            <a:ext cx="701291" cy="188366"/>
          </a:xfrm>
          <a:prstGeom prst="rect">
            <a:avLst/>
          </a:prstGeom>
          <a:noFill/>
        </p:spPr>
        <p:txBody>
          <a:bodyPr wrap="square" lIns="0" rIns="0" tIns="0" bIns="0" anchor="t">
            <a:spAutoFit/>
          </a:bodyPr>
          <a:lstStyle/>
          <a:p>
            <a:pPr algn="l">
              <a:spcAft>
                <a:spcPts val="0"/>
              </a:spcAft>
            </a:pPr>
            <a:r>
              <a:rPr sz="765" b="0" i="1">
                <a:solidFill>
                  <a:srgbClr val="5A6B68"/>
                </a:solidFill>
                <a:latin typeface="Arial"/>
              </a:rPr>
              <a:t>seuil 50 %</a:t>
            </a:r>
          </a:p>
        </p:txBody>
      </p:sp>
      <p:sp>
        <p:nvSpPr>
          <p:cNvPr id="43" name="TextBox 42"/>
          <p:cNvSpPr txBox="1"/>
          <p:nvPr/>
        </p:nvSpPr>
        <p:spPr>
          <a:xfrm>
            <a:off x="815402"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Calcule une probabilité à partir d'une somme pondérée des variables. Simple, rapide et interprétable.</a:t>
            </a:r>
          </a:p>
        </p:txBody>
      </p:sp>
      <p:sp>
        <p:nvSpPr>
          <p:cNvPr id="44" name="Rectangle 43"/>
          <p:cNvSpPr/>
          <p:nvPr/>
        </p:nvSpPr>
        <p:spPr>
          <a:xfrm>
            <a:off x="3331287"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331287"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06610" y="1622602"/>
            <a:ext cx="2147706" cy="423824"/>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k plus proches voisins</a:t>
            </a:r>
          </a:p>
        </p:txBody>
      </p:sp>
      <p:sp>
        <p:nvSpPr>
          <p:cNvPr id="47" name="Rectangle 46"/>
          <p:cNvSpPr/>
          <p:nvPr/>
        </p:nvSpPr>
        <p:spPr>
          <a:xfrm>
            <a:off x="3506610"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142156" y="2549951"/>
            <a:ext cx="876614" cy="876614"/>
          </a:xfrm>
          <a:prstGeom prst="ellipse">
            <a:avLst/>
          </a:prstGeom>
          <a:solidFill>
            <a:srgbClr val="FFFFFF"/>
          </a:solidFill>
          <a:ln w="12700">
            <a:solidFill>
              <a:srgbClr val="A9B4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313096" y="2751678"/>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707573" y="2704587"/>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777702" y="3128411"/>
            <a:ext cx="96427" cy="96427"/>
          </a:xfrm>
          <a:prstGeom prst="ellipse">
            <a:avLst/>
          </a:prstGeom>
          <a:solidFill>
            <a:srgbClr val="FFFFFF"/>
          </a:solidFill>
          <a:ln w="15875">
            <a:solidFill>
              <a:srgbClr val="00AB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269265" y="3128411"/>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549782" y="325084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830958" y="2516220"/>
            <a:ext cx="96427" cy="96427"/>
          </a:xfrm>
          <a:prstGeom prst="ellipse">
            <a:avLst/>
          </a:prstGeom>
          <a:solidFill>
            <a:srgbClr val="FFFFFF"/>
          </a:solidFill>
          <a:ln w="15875">
            <a:solidFill>
              <a:srgbClr val="00AB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189711" y="3410961"/>
            <a:ext cx="96427" cy="96427"/>
          </a:xfrm>
          <a:prstGeom prst="ellipse">
            <a:avLst/>
          </a:prstGeom>
          <a:solidFill>
            <a:srgbClr val="FFFFFF"/>
          </a:solidFill>
          <a:ln w="15875">
            <a:solidFill>
              <a:srgbClr val="00AB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277372" y="2657495"/>
            <a:ext cx="96427" cy="96427"/>
          </a:xfrm>
          <a:prstGeom prst="ellipse">
            <a:avLst/>
          </a:prstGeom>
          <a:solidFill>
            <a:srgbClr val="FFFFFF"/>
          </a:solidFill>
          <a:ln w="15875">
            <a:solidFill>
              <a:srgbClr val="00AB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787127" y="3363869"/>
            <a:ext cx="96427" cy="9642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75270" y="2856402"/>
            <a:ext cx="210387" cy="263712"/>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a:t>
            </a:r>
          </a:p>
        </p:txBody>
      </p:sp>
      <p:sp>
        <p:nvSpPr>
          <p:cNvPr id="59" name="TextBox 58"/>
          <p:cNvSpPr txBox="1"/>
          <p:nvPr/>
        </p:nvSpPr>
        <p:spPr>
          <a:xfrm>
            <a:off x="3506610"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Regarde les k exemples les plus proches du nouveau cas et prend la catégorie majoritaire.</a:t>
            </a:r>
          </a:p>
        </p:txBody>
      </p:sp>
      <p:sp>
        <p:nvSpPr>
          <p:cNvPr id="60" name="Rectangle 59"/>
          <p:cNvSpPr/>
          <p:nvPr/>
        </p:nvSpPr>
        <p:spPr>
          <a:xfrm>
            <a:off x="6022495"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022495"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97818" y="1622602"/>
            <a:ext cx="2147706" cy="423824"/>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Arbre de décision</a:t>
            </a:r>
          </a:p>
        </p:txBody>
      </p:sp>
      <p:sp>
        <p:nvSpPr>
          <p:cNvPr id="63" name="Rectangle 62"/>
          <p:cNvSpPr/>
          <p:nvPr/>
        </p:nvSpPr>
        <p:spPr>
          <a:xfrm>
            <a:off x="6197818"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789533" y="2234793"/>
            <a:ext cx="964276" cy="301386"/>
          </a:xfrm>
          <a:prstGeom prst="rect">
            <a:avLst/>
          </a:prstGeom>
          <a:solidFill>
            <a:srgbClr val="D1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789533" y="2234793"/>
            <a:ext cx="964276" cy="301386"/>
          </a:xfrm>
          <a:prstGeom prst="rect">
            <a:avLst/>
          </a:prstGeom>
          <a:noFill/>
        </p:spPr>
        <p:txBody>
          <a:bodyPr wrap="square" lIns="0" rIns="0" tIns="0" bIns="0" anchor="ctr">
            <a:spAutoFit/>
          </a:bodyPr>
          <a:lstStyle/>
          <a:p>
            <a:pPr algn="ctr">
              <a:spcAft>
                <a:spcPts val="0"/>
              </a:spcAft>
            </a:pPr>
            <a:r>
              <a:rPr sz="855" b="1" i="0">
                <a:solidFill>
                  <a:srgbClr val="FFFFFF"/>
                </a:solidFill>
                <a:latin typeface="Arial"/>
              </a:rPr>
              <a:t>femme ?</a:t>
            </a:r>
          </a:p>
        </p:txBody>
      </p:sp>
      <p:cxnSp>
        <p:nvCxnSpPr>
          <p:cNvPr id="66" name="Connector 65"/>
          <p:cNvCxnSpPr/>
          <p:nvPr/>
        </p:nvCxnSpPr>
        <p:spPr>
          <a:xfrm flipH="1">
            <a:off x="6679956" y="2536179"/>
            <a:ext cx="591715" cy="235458"/>
          </a:xfrm>
          <a:prstGeom prst="line">
            <a:avLst/>
          </a:prstGeom>
          <a:ln w="15875">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271671" y="2536179"/>
            <a:ext cx="416392" cy="235458"/>
          </a:xfrm>
          <a:prstGeom prst="line">
            <a:avLst/>
          </a:prstGeom>
          <a:ln w="15875">
            <a:solidFill>
              <a:srgbClr val="8C9A9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614210" y="2517343"/>
            <a:ext cx="350645" cy="188366"/>
          </a:xfrm>
          <a:prstGeom prst="rect">
            <a:avLst/>
          </a:prstGeom>
          <a:noFill/>
        </p:spPr>
        <p:txBody>
          <a:bodyPr wrap="square" lIns="0" rIns="0" tIns="0" bIns="0" anchor="t">
            <a:spAutoFit/>
          </a:bodyPr>
          <a:lstStyle/>
          <a:p>
            <a:pPr algn="l">
              <a:spcAft>
                <a:spcPts val="0"/>
              </a:spcAft>
            </a:pPr>
            <a:r>
              <a:rPr sz="765" b="0" i="1">
                <a:solidFill>
                  <a:srgbClr val="5A6B68"/>
                </a:solidFill>
                <a:latin typeface="Arial"/>
              </a:rPr>
              <a:t>oui</a:t>
            </a:r>
          </a:p>
        </p:txBody>
      </p:sp>
      <p:sp>
        <p:nvSpPr>
          <p:cNvPr id="69" name="TextBox 68"/>
          <p:cNvSpPr txBox="1"/>
          <p:nvPr/>
        </p:nvSpPr>
        <p:spPr>
          <a:xfrm>
            <a:off x="7622317" y="2517343"/>
            <a:ext cx="350645" cy="188366"/>
          </a:xfrm>
          <a:prstGeom prst="rect">
            <a:avLst/>
          </a:prstGeom>
          <a:noFill/>
        </p:spPr>
        <p:txBody>
          <a:bodyPr wrap="square" lIns="0" rIns="0" tIns="0" bIns="0" anchor="t">
            <a:spAutoFit/>
          </a:bodyPr>
          <a:lstStyle/>
          <a:p>
            <a:pPr algn="l">
              <a:spcAft>
                <a:spcPts val="0"/>
              </a:spcAft>
            </a:pPr>
            <a:r>
              <a:rPr sz="765" b="0" i="1">
                <a:solidFill>
                  <a:srgbClr val="5A6B68"/>
                </a:solidFill>
                <a:latin typeface="Arial"/>
              </a:rPr>
              <a:t>non</a:t>
            </a:r>
          </a:p>
        </p:txBody>
      </p:sp>
      <p:sp>
        <p:nvSpPr>
          <p:cNvPr id="70" name="Rectangle 69"/>
          <p:cNvSpPr/>
          <p:nvPr/>
        </p:nvSpPr>
        <p:spPr>
          <a:xfrm>
            <a:off x="6329310" y="2771637"/>
            <a:ext cx="701291" cy="301386"/>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29310" y="2771637"/>
            <a:ext cx="701291" cy="301386"/>
          </a:xfrm>
          <a:prstGeom prst="rect">
            <a:avLst/>
          </a:prstGeom>
          <a:noFill/>
        </p:spPr>
        <p:txBody>
          <a:bodyPr wrap="square" lIns="0" rIns="0" tIns="0" bIns="0" anchor="ctr">
            <a:spAutoFit/>
          </a:bodyPr>
          <a:lstStyle/>
          <a:p>
            <a:pPr algn="ctr">
              <a:spcAft>
                <a:spcPts val="0"/>
              </a:spcAft>
            </a:pPr>
            <a:r>
              <a:rPr sz="855" b="1" i="0">
                <a:solidFill>
                  <a:srgbClr val="FFFFFF"/>
                </a:solidFill>
                <a:latin typeface="Arial"/>
              </a:rPr>
              <a:t>survit</a:t>
            </a:r>
          </a:p>
        </p:txBody>
      </p:sp>
      <p:sp>
        <p:nvSpPr>
          <p:cNvPr id="72" name="Rectangle 71"/>
          <p:cNvSpPr/>
          <p:nvPr/>
        </p:nvSpPr>
        <p:spPr>
          <a:xfrm>
            <a:off x="7271671" y="2771637"/>
            <a:ext cx="832784" cy="301386"/>
          </a:xfrm>
          <a:prstGeom prst="rect">
            <a:avLst/>
          </a:prstGeom>
          <a:solidFill>
            <a:srgbClr val="D1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271671" y="2771637"/>
            <a:ext cx="832784" cy="301386"/>
          </a:xfrm>
          <a:prstGeom prst="rect">
            <a:avLst/>
          </a:prstGeom>
          <a:noFill/>
        </p:spPr>
        <p:txBody>
          <a:bodyPr wrap="square" lIns="0" rIns="0" tIns="0" bIns="0" anchor="ctr">
            <a:spAutoFit/>
          </a:bodyPr>
          <a:lstStyle/>
          <a:p>
            <a:pPr algn="ctr">
              <a:spcAft>
                <a:spcPts val="0"/>
              </a:spcAft>
            </a:pPr>
            <a:r>
              <a:rPr sz="855" b="1" i="0">
                <a:solidFill>
                  <a:srgbClr val="FFFFFF"/>
                </a:solidFill>
                <a:latin typeface="Arial"/>
              </a:rPr>
              <a:t>enfant ?</a:t>
            </a:r>
          </a:p>
        </p:txBody>
      </p:sp>
      <p:cxnSp>
        <p:nvCxnSpPr>
          <p:cNvPr id="74" name="Connector 73"/>
          <p:cNvCxnSpPr/>
          <p:nvPr/>
        </p:nvCxnSpPr>
        <p:spPr>
          <a:xfrm flipH="1">
            <a:off x="7319885" y="3073024"/>
            <a:ext cx="368178" cy="150693"/>
          </a:xfrm>
          <a:prstGeom prst="line">
            <a:avLst/>
          </a:prstGeom>
          <a:ln w="12700">
            <a:solidFill>
              <a:srgbClr val="8C9A98"/>
            </a:solidFill>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7004304" y="3223717"/>
            <a:ext cx="631162" cy="301386"/>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004304" y="3223717"/>
            <a:ext cx="631162" cy="301386"/>
          </a:xfrm>
          <a:prstGeom prst="rect">
            <a:avLst/>
          </a:prstGeom>
          <a:noFill/>
        </p:spPr>
        <p:txBody>
          <a:bodyPr wrap="square" lIns="0" rIns="0" tIns="0" bIns="0" anchor="ctr">
            <a:spAutoFit/>
          </a:bodyPr>
          <a:lstStyle/>
          <a:p>
            <a:pPr algn="ctr">
              <a:spcAft>
                <a:spcPts val="0"/>
              </a:spcAft>
            </a:pPr>
            <a:r>
              <a:rPr sz="765" b="1" i="0">
                <a:solidFill>
                  <a:srgbClr val="FFFFFF"/>
                </a:solidFill>
                <a:latin typeface="Arial"/>
              </a:rPr>
              <a:t>survit</a:t>
            </a:r>
          </a:p>
        </p:txBody>
      </p:sp>
      <p:cxnSp>
        <p:nvCxnSpPr>
          <p:cNvPr id="77" name="Connector 76"/>
          <p:cNvCxnSpPr/>
          <p:nvPr/>
        </p:nvCxnSpPr>
        <p:spPr>
          <a:xfrm>
            <a:off x="7688063" y="3073024"/>
            <a:ext cx="368178" cy="150693"/>
          </a:xfrm>
          <a:prstGeom prst="line">
            <a:avLst/>
          </a:prstGeom>
          <a:ln w="12700">
            <a:solidFill>
              <a:srgbClr val="8C9A98"/>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7740660" y="3223717"/>
            <a:ext cx="631162" cy="301386"/>
          </a:xfrm>
          <a:prstGeom prst="rect">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740660" y="3223717"/>
            <a:ext cx="631162" cy="301386"/>
          </a:xfrm>
          <a:prstGeom prst="rect">
            <a:avLst/>
          </a:prstGeom>
          <a:noFill/>
        </p:spPr>
        <p:txBody>
          <a:bodyPr wrap="square" lIns="0" rIns="0" tIns="0" bIns="0" anchor="ctr">
            <a:spAutoFit/>
          </a:bodyPr>
          <a:lstStyle/>
          <a:p>
            <a:pPr algn="ctr">
              <a:spcAft>
                <a:spcPts val="0"/>
              </a:spcAft>
            </a:pPr>
            <a:r>
              <a:rPr sz="765" b="1" i="0">
                <a:solidFill>
                  <a:srgbClr val="FFFFFF"/>
                </a:solidFill>
                <a:latin typeface="Arial"/>
              </a:rPr>
              <a:t>décède</a:t>
            </a:r>
          </a:p>
        </p:txBody>
      </p:sp>
      <p:sp>
        <p:nvSpPr>
          <p:cNvPr id="80" name="TextBox 79"/>
          <p:cNvSpPr txBox="1"/>
          <p:nvPr/>
        </p:nvSpPr>
        <p:spPr>
          <a:xfrm>
            <a:off x="6197818"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Une suite de questions simples, apprises à partir des données. Très lisible, mais fragile seul.</a:t>
            </a:r>
          </a:p>
        </p:txBody>
      </p:sp>
      <p:sp>
        <p:nvSpPr>
          <p:cNvPr id="81" name="Rectangle 80"/>
          <p:cNvSpPr/>
          <p:nvPr/>
        </p:nvSpPr>
        <p:spPr>
          <a:xfrm>
            <a:off x="8713703"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713703" y="1481328"/>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889025" y="1622602"/>
            <a:ext cx="2147706" cy="423824"/>
          </a:xfrm>
          <a:prstGeom prst="rect">
            <a:avLst/>
          </a:prstGeom>
          <a:noFill/>
        </p:spPr>
        <p:txBody>
          <a:bodyPr wrap="square" lIns="0" rIns="0" tIns="0" bIns="0" anchor="ctr">
            <a:spAutoFit/>
          </a:bodyPr>
          <a:lstStyle/>
          <a:p>
            <a:pPr algn="l">
              <a:spcAft>
                <a:spcPts val="0"/>
              </a:spcAft>
            </a:pPr>
            <a:r>
              <a:rPr sz="1350" b="1" i="0">
                <a:solidFill>
                  <a:srgbClr val="D1452B"/>
                </a:solidFill>
                <a:latin typeface="Arial"/>
              </a:rPr>
              <a:t>Forêts et XGBoost</a:t>
            </a:r>
          </a:p>
        </p:txBody>
      </p:sp>
      <p:sp>
        <p:nvSpPr>
          <p:cNvPr id="84" name="Rectangle 83"/>
          <p:cNvSpPr/>
          <p:nvPr/>
        </p:nvSpPr>
        <p:spPr>
          <a:xfrm>
            <a:off x="8889025"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064348" y="2298189"/>
            <a:ext cx="438307" cy="43830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FaTree.png"/>
          <p:cNvPicPr>
            <a:picLocks noChangeAspect="1"/>
          </p:cNvPicPr>
          <p:nvPr/>
        </p:nvPicPr>
        <p:blipFill>
          <a:blip r:embed="rId2"/>
          <a:stretch>
            <a:fillRect/>
          </a:stretch>
        </p:blipFill>
        <p:spPr>
          <a:xfrm>
            <a:off x="9178308" y="2412149"/>
            <a:ext cx="210387" cy="210387"/>
          </a:xfrm>
          <a:prstGeom prst="rect">
            <a:avLst/>
          </a:prstGeom>
        </p:spPr>
      </p:pic>
      <p:cxnSp>
        <p:nvCxnSpPr>
          <p:cNvPr id="87" name="Connector 86"/>
          <p:cNvCxnSpPr/>
          <p:nvPr/>
        </p:nvCxnSpPr>
        <p:spPr>
          <a:xfrm>
            <a:off x="9283502" y="2771637"/>
            <a:ext cx="679377" cy="310805"/>
          </a:xfrm>
          <a:prstGeom prst="line">
            <a:avLst/>
          </a:prstGeom>
          <a:ln w="15875">
            <a:solidFill>
              <a:srgbClr val="8C9A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Oval 87"/>
          <p:cNvSpPr/>
          <p:nvPr/>
        </p:nvSpPr>
        <p:spPr>
          <a:xfrm>
            <a:off x="9607850" y="2298189"/>
            <a:ext cx="438307" cy="43830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9" name="Picture 88" descr="FaTree.png"/>
          <p:cNvPicPr>
            <a:picLocks noChangeAspect="1"/>
          </p:cNvPicPr>
          <p:nvPr/>
        </p:nvPicPr>
        <p:blipFill>
          <a:blip r:embed="rId2"/>
          <a:stretch>
            <a:fillRect/>
          </a:stretch>
        </p:blipFill>
        <p:spPr>
          <a:xfrm>
            <a:off x="9721810" y="2412149"/>
            <a:ext cx="210387" cy="210387"/>
          </a:xfrm>
          <a:prstGeom prst="rect">
            <a:avLst/>
          </a:prstGeom>
        </p:spPr>
      </p:pic>
      <p:cxnSp>
        <p:nvCxnSpPr>
          <p:cNvPr id="90" name="Connector 89"/>
          <p:cNvCxnSpPr/>
          <p:nvPr/>
        </p:nvCxnSpPr>
        <p:spPr>
          <a:xfrm>
            <a:off x="9827003" y="2771637"/>
            <a:ext cx="135876" cy="310805"/>
          </a:xfrm>
          <a:prstGeom prst="line">
            <a:avLst/>
          </a:prstGeom>
          <a:ln w="15875">
            <a:solidFill>
              <a:srgbClr val="8C9A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10151351" y="2298189"/>
            <a:ext cx="438307" cy="43830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FaTree.png"/>
          <p:cNvPicPr>
            <a:picLocks noChangeAspect="1"/>
          </p:cNvPicPr>
          <p:nvPr/>
        </p:nvPicPr>
        <p:blipFill>
          <a:blip r:embed="rId2"/>
          <a:stretch>
            <a:fillRect/>
          </a:stretch>
        </p:blipFill>
        <p:spPr>
          <a:xfrm>
            <a:off x="10265311" y="2412149"/>
            <a:ext cx="210387" cy="210387"/>
          </a:xfrm>
          <a:prstGeom prst="rect">
            <a:avLst/>
          </a:prstGeom>
        </p:spPr>
      </p:pic>
      <p:cxnSp>
        <p:nvCxnSpPr>
          <p:cNvPr id="93" name="Connector 92"/>
          <p:cNvCxnSpPr/>
          <p:nvPr/>
        </p:nvCxnSpPr>
        <p:spPr>
          <a:xfrm flipH="1">
            <a:off x="9962879" y="2771637"/>
            <a:ext cx="407626" cy="310805"/>
          </a:xfrm>
          <a:prstGeom prst="line">
            <a:avLst/>
          </a:prstGeom>
          <a:ln w="15875">
            <a:solidFill>
              <a:srgbClr val="8C9A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10686086" y="2357231"/>
            <a:ext cx="262984" cy="329641"/>
          </a:xfrm>
          <a:prstGeom prst="rect">
            <a:avLst/>
          </a:prstGeom>
          <a:noFill/>
        </p:spPr>
        <p:txBody>
          <a:bodyPr wrap="square" lIns="0" rIns="0" tIns="0" bIns="0" anchor="t">
            <a:spAutoFit/>
          </a:bodyPr>
          <a:lstStyle/>
          <a:p>
            <a:pPr algn="l">
              <a:spcAft>
                <a:spcPts val="0"/>
              </a:spcAft>
            </a:pPr>
            <a:r>
              <a:rPr sz="1260" b="1" i="0">
                <a:solidFill>
                  <a:srgbClr val="5A6B68"/>
                </a:solidFill>
                <a:latin typeface="Arial"/>
              </a:rPr>
              <a:t>…</a:t>
            </a:r>
          </a:p>
        </p:txBody>
      </p:sp>
      <p:sp>
        <p:nvSpPr>
          <p:cNvPr id="95" name="Rectangle 94"/>
          <p:cNvSpPr/>
          <p:nvPr/>
        </p:nvSpPr>
        <p:spPr>
          <a:xfrm>
            <a:off x="9480741" y="3082442"/>
            <a:ext cx="964276" cy="320222"/>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480741" y="3082442"/>
            <a:ext cx="964276" cy="320222"/>
          </a:xfrm>
          <a:prstGeom prst="rect">
            <a:avLst/>
          </a:prstGeom>
          <a:noFill/>
        </p:spPr>
        <p:txBody>
          <a:bodyPr wrap="square" lIns="0" rIns="0" tIns="0" bIns="0" anchor="ctr">
            <a:spAutoFit/>
          </a:bodyPr>
          <a:lstStyle/>
          <a:p>
            <a:pPr algn="ctr">
              <a:spcAft>
                <a:spcPts val="0"/>
              </a:spcAft>
            </a:pPr>
            <a:r>
              <a:rPr sz="900" b="1" i="0">
                <a:solidFill>
                  <a:srgbClr val="FFFFFF"/>
                </a:solidFill>
                <a:latin typeface="Arial"/>
              </a:rPr>
              <a:t>vote</a:t>
            </a:r>
          </a:p>
        </p:txBody>
      </p:sp>
      <p:sp>
        <p:nvSpPr>
          <p:cNvPr id="97" name="TextBox 96"/>
          <p:cNvSpPr txBox="1"/>
          <p:nvPr/>
        </p:nvSpPr>
        <p:spPr>
          <a:xfrm>
            <a:off x="8889025"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Combinent des centaines d'arbres. Souvent les plus performants sur des données en tableau (TP3).</a:t>
            </a:r>
          </a:p>
        </p:txBody>
      </p:sp>
      <p:sp>
        <p:nvSpPr>
          <p:cNvPr id="98" name="Rectangle 97"/>
          <p:cNvSpPr/>
          <p:nvPr/>
        </p:nvSpPr>
        <p:spPr>
          <a:xfrm>
            <a:off x="640080" y="5389930"/>
            <a:ext cx="10607040" cy="47091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15402" y="5389930"/>
            <a:ext cx="10344055" cy="470916"/>
          </a:xfrm>
          <a:prstGeom prst="rect">
            <a:avLst/>
          </a:prstGeom>
          <a:noFill/>
        </p:spPr>
        <p:txBody>
          <a:bodyPr wrap="square" lIns="0" rIns="0" tIns="0" bIns="0" anchor="ctr">
            <a:spAutoFit/>
          </a:bodyPr>
          <a:lstStyle/>
          <a:p>
            <a:pPr algn="l">
              <a:spcAft>
                <a:spcPts val="0"/>
              </a:spcAft>
            </a:pPr>
            <a:r>
              <a:rPr sz="1125" b="1" i="0">
                <a:solidFill>
                  <a:srgbClr val="D1452B"/>
                </a:solidFill>
                <a:latin typeface="Arial"/>
              </a:rPr>
              <a:t>Aux TP2 et TP3 : </a:t>
            </a:r>
            <a:r>
              <a:rPr sz="1125" b="0" i="0">
                <a:solidFill>
                  <a:srgbClr val="2B3A38"/>
                </a:solidFill>
                <a:latin typeface="Arial"/>
              </a:rPr>
              <a:t>on compare ces modèles sur le Titanic, puis on apprend à régler XGBoost sur des données de recensement.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A · IA prédictive · Régression</a:t>
            </a:r>
          </a:p>
        </p:txBody>
      </p:sp>
      <p:sp>
        <p:nvSpPr>
          <p:cNvPr id="3" name="Text Placeholder 2"/>
          <p:cNvSpPr>
            <a:spLocks noGrp="1"/>
          </p:cNvSpPr>
          <p:nvPr>
            <p:ph type="body" idx="25" sz="quarter"/>
          </p:nvPr>
        </p:nvSpPr>
        <p:spPr/>
        <p:txBody>
          <a:bodyPr/>
          <a:lstStyle/>
          <a:p>
            <a:r>
              <a:t>Régression : prédire une valeur numérique</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11</a:t>
            </a:fld>
          </a:p>
        </p:txBody>
      </p:sp>
      <p:sp>
        <p:nvSpPr>
          <p:cNvPr id="6" name="TextBox 5"/>
          <p:cNvSpPr txBox="1"/>
          <p:nvPr/>
        </p:nvSpPr>
        <p:spPr>
          <a:xfrm>
            <a:off x="640080" y="1481328"/>
            <a:ext cx="5259689" cy="376732"/>
          </a:xfrm>
          <a:prstGeom prst="rect">
            <a:avLst/>
          </a:prstGeom>
          <a:noFill/>
        </p:spPr>
        <p:txBody>
          <a:bodyPr wrap="square" lIns="0" rIns="0" tIns="0" bIns="0" anchor="t">
            <a:spAutoFit/>
          </a:bodyPr>
          <a:lstStyle/>
          <a:p>
            <a:pPr algn="l">
              <a:spcAft>
                <a:spcPts val="0"/>
              </a:spcAft>
            </a:pPr>
            <a:r>
              <a:rPr sz="1350" b="1" i="0">
                <a:solidFill>
                  <a:srgbClr val="712180"/>
                </a:solidFill>
                <a:latin typeface="Arial"/>
              </a:rPr>
              <a:t>Exemple : estimer le prix d'un logement</a:t>
            </a:r>
          </a:p>
        </p:txBody>
      </p:sp>
      <p:sp>
        <p:nvSpPr>
          <p:cNvPr id="7" name="Rectangle 6"/>
          <p:cNvSpPr/>
          <p:nvPr/>
        </p:nvSpPr>
        <p:spPr>
          <a:xfrm>
            <a:off x="640080" y="1952244"/>
            <a:ext cx="1928552" cy="376732"/>
          </a:xfrm>
          <a:prstGeom prst="rect">
            <a:avLst/>
          </a:prstGeom>
          <a:solidFill>
            <a:srgbClr val="712180"/>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3910" y="1952244"/>
            <a:ext cx="1840891" cy="376732"/>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Caractéristique</a:t>
            </a:r>
          </a:p>
        </p:txBody>
      </p:sp>
      <p:sp>
        <p:nvSpPr>
          <p:cNvPr id="9" name="Rectangle 8"/>
          <p:cNvSpPr/>
          <p:nvPr/>
        </p:nvSpPr>
        <p:spPr>
          <a:xfrm>
            <a:off x="2568632" y="1952244"/>
            <a:ext cx="1139599" cy="376732"/>
          </a:xfrm>
          <a:prstGeom prst="rect">
            <a:avLst/>
          </a:prstGeom>
          <a:solidFill>
            <a:srgbClr val="712180"/>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2463" y="1952244"/>
            <a:ext cx="1051937" cy="376732"/>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Valeur</a:t>
            </a:r>
          </a:p>
        </p:txBody>
      </p:sp>
      <p:sp>
        <p:nvSpPr>
          <p:cNvPr id="11" name="Rectangle 10"/>
          <p:cNvSpPr/>
          <p:nvPr/>
        </p:nvSpPr>
        <p:spPr>
          <a:xfrm>
            <a:off x="640080" y="2328976"/>
            <a:ext cx="1928552"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910" y="2328976"/>
            <a:ext cx="1840891"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Revenu médian du quartier</a:t>
            </a:r>
          </a:p>
        </p:txBody>
      </p:sp>
      <p:sp>
        <p:nvSpPr>
          <p:cNvPr id="13" name="Rectangle 12"/>
          <p:cNvSpPr/>
          <p:nvPr/>
        </p:nvSpPr>
        <p:spPr>
          <a:xfrm>
            <a:off x="2568632" y="2328976"/>
            <a:ext cx="1139599"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12463" y="2328976"/>
            <a:ext cx="1051937"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48 k$</a:t>
            </a:r>
          </a:p>
        </p:txBody>
      </p:sp>
      <p:sp>
        <p:nvSpPr>
          <p:cNvPr id="15" name="Rectangle 14"/>
          <p:cNvSpPr/>
          <p:nvPr/>
        </p:nvSpPr>
        <p:spPr>
          <a:xfrm>
            <a:off x="640080" y="2705709"/>
            <a:ext cx="1928552"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3910" y="2705709"/>
            <a:ext cx="1840891"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Âge des logements</a:t>
            </a:r>
          </a:p>
        </p:txBody>
      </p:sp>
      <p:sp>
        <p:nvSpPr>
          <p:cNvPr id="17" name="Rectangle 16"/>
          <p:cNvSpPr/>
          <p:nvPr/>
        </p:nvSpPr>
        <p:spPr>
          <a:xfrm>
            <a:off x="2568632" y="2705709"/>
            <a:ext cx="1139599"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2463" y="2705709"/>
            <a:ext cx="1051937"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25 ans</a:t>
            </a:r>
          </a:p>
        </p:txBody>
      </p:sp>
      <p:sp>
        <p:nvSpPr>
          <p:cNvPr id="19" name="Rectangle 18"/>
          <p:cNvSpPr/>
          <p:nvPr/>
        </p:nvSpPr>
        <p:spPr>
          <a:xfrm>
            <a:off x="640080" y="3082442"/>
            <a:ext cx="1928552"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10" y="3082442"/>
            <a:ext cx="1840891"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Pièces par logement</a:t>
            </a:r>
          </a:p>
        </p:txBody>
      </p:sp>
      <p:sp>
        <p:nvSpPr>
          <p:cNvPr id="21" name="Rectangle 20"/>
          <p:cNvSpPr/>
          <p:nvPr/>
        </p:nvSpPr>
        <p:spPr>
          <a:xfrm>
            <a:off x="2568632" y="3082442"/>
            <a:ext cx="1139599" cy="376732"/>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12463" y="3082442"/>
            <a:ext cx="1051937"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5,2</a:t>
            </a:r>
          </a:p>
        </p:txBody>
      </p:sp>
      <p:sp>
        <p:nvSpPr>
          <p:cNvPr id="23" name="Rectangle 22"/>
          <p:cNvSpPr/>
          <p:nvPr/>
        </p:nvSpPr>
        <p:spPr>
          <a:xfrm>
            <a:off x="640080" y="3459175"/>
            <a:ext cx="1928552"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910" y="3459175"/>
            <a:ext cx="1840891"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Distance à la côte</a:t>
            </a:r>
          </a:p>
        </p:txBody>
      </p:sp>
      <p:sp>
        <p:nvSpPr>
          <p:cNvPr id="25" name="Rectangle 24"/>
          <p:cNvSpPr/>
          <p:nvPr/>
        </p:nvSpPr>
        <p:spPr>
          <a:xfrm>
            <a:off x="2568632" y="3459175"/>
            <a:ext cx="1139599" cy="376732"/>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12463" y="3459175"/>
            <a:ext cx="1051937" cy="376732"/>
          </a:xfrm>
          <a:prstGeom prst="rect">
            <a:avLst/>
          </a:prstGeom>
          <a:noFill/>
        </p:spPr>
        <p:txBody>
          <a:bodyPr wrap="square" lIns="0" rIns="0" tIns="0" bIns="0" anchor="ctr">
            <a:spAutoFit/>
          </a:bodyPr>
          <a:lstStyle/>
          <a:p>
            <a:pPr algn="ctr">
              <a:spcAft>
                <a:spcPts val="0"/>
              </a:spcAft>
            </a:pPr>
            <a:r>
              <a:rPr sz="1035" i="0">
                <a:solidFill>
                  <a:srgbClr val="2B3A38"/>
                </a:solidFill>
                <a:latin typeface="Arial"/>
              </a:rPr>
              <a:t>12 km</a:t>
            </a:r>
          </a:p>
        </p:txBody>
      </p:sp>
      <p:cxnSp>
        <p:nvCxnSpPr>
          <p:cNvPr id="27" name="Connector 26"/>
          <p:cNvCxnSpPr/>
          <p:nvPr/>
        </p:nvCxnSpPr>
        <p:spPr>
          <a:xfrm>
            <a:off x="3795893" y="2894076"/>
            <a:ext cx="438307" cy="0"/>
          </a:xfrm>
          <a:prstGeom prst="line">
            <a:avLst/>
          </a:prstGeom>
          <a:ln w="28575">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278031" y="2470251"/>
            <a:ext cx="1621737" cy="84764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78031" y="2470251"/>
            <a:ext cx="1621737" cy="847648"/>
          </a:xfrm>
          <a:prstGeom prst="rect">
            <a:avLst/>
          </a:prstGeom>
          <a:noFill/>
        </p:spPr>
        <p:txBody>
          <a:bodyPr wrap="square" lIns="0" rIns="0" tIns="0" bIns="0" anchor="ctr">
            <a:spAutoFit/>
          </a:bodyPr>
          <a:lstStyle/>
          <a:p>
            <a:pPr algn="ctr">
              <a:spcAft>
                <a:spcPts val="0"/>
              </a:spcAft>
            </a:pPr>
            <a:r>
              <a:rPr sz="990" b="0" i="0">
                <a:solidFill>
                  <a:srgbClr val="FFFFFF"/>
                </a:solidFill>
                <a:latin typeface="Arial"/>
              </a:rPr>
              <a:t>Prix estimé</a:t>
            </a:r>
          </a:p>
          <a:p>
            <a:pPr algn="ctr">
              <a:spcAft>
                <a:spcPts val="0"/>
              </a:spcAft>
            </a:pPr>
            <a:r>
              <a:rPr sz="1530" b="1" i="0">
                <a:solidFill>
                  <a:srgbClr val="FFFFFF"/>
                </a:solidFill>
                <a:latin typeface="Arial"/>
              </a:rPr>
              <a:t>245 000 $</a:t>
            </a:r>
          </a:p>
        </p:txBody>
      </p:sp>
      <p:sp>
        <p:nvSpPr>
          <p:cNvPr id="30" name="Rectangle 29"/>
          <p:cNvSpPr/>
          <p:nvPr/>
        </p:nvSpPr>
        <p:spPr>
          <a:xfrm>
            <a:off x="640080" y="4024274"/>
            <a:ext cx="5259689" cy="1977847"/>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4850" y="545357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91536" y="563817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28222" y="5492880"/>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64908" y="539418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801594" y="554392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038280" y="5339901"/>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274966" y="522029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511652" y="546503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748338" y="5050557"/>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985024" y="4866484"/>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221710" y="4781437"/>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458396" y="484096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695082" y="495118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931768" y="4912104"/>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168454" y="488701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405140" y="4926257"/>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41826" y="4838562"/>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878512" y="4611171"/>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115198" y="4647155"/>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351884" y="4477748"/>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588570" y="4225929"/>
            <a:ext cx="96427" cy="96427"/>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V="1">
            <a:off x="859233" y="4335078"/>
            <a:ext cx="4821382" cy="1403330"/>
          </a:xfrm>
          <a:prstGeom prst="line">
            <a:avLst/>
          </a:prstGeom>
          <a:ln w="25400">
            <a:solidFill>
              <a:srgbClr val="1A2E2B"/>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146539" y="5719572"/>
            <a:ext cx="1665568" cy="235458"/>
          </a:xfrm>
          <a:prstGeom prst="rect">
            <a:avLst/>
          </a:prstGeom>
          <a:noFill/>
        </p:spPr>
        <p:txBody>
          <a:bodyPr wrap="square" lIns="0" rIns="0" tIns="0" bIns="0" anchor="t">
            <a:spAutoFit/>
          </a:bodyPr>
          <a:lstStyle/>
          <a:p>
            <a:pPr algn="r">
              <a:spcAft>
                <a:spcPts val="0"/>
              </a:spcAft>
            </a:pPr>
            <a:r>
              <a:rPr sz="855" b="0" i="1">
                <a:solidFill>
                  <a:srgbClr val="5A6B68"/>
                </a:solidFill>
                <a:latin typeface="Arial"/>
              </a:rPr>
              <a:t>revenu du quartier →</a:t>
            </a:r>
          </a:p>
        </p:txBody>
      </p:sp>
      <p:sp>
        <p:nvSpPr>
          <p:cNvPr id="54" name="TextBox 53"/>
          <p:cNvSpPr txBox="1"/>
          <p:nvPr/>
        </p:nvSpPr>
        <p:spPr>
          <a:xfrm>
            <a:off x="727741" y="4071366"/>
            <a:ext cx="701291" cy="235458"/>
          </a:xfrm>
          <a:prstGeom prst="rect">
            <a:avLst/>
          </a:prstGeom>
          <a:noFill/>
        </p:spPr>
        <p:txBody>
          <a:bodyPr wrap="square" lIns="0" rIns="0" tIns="0" bIns="0" anchor="t">
            <a:spAutoFit/>
          </a:bodyPr>
          <a:lstStyle/>
          <a:p>
            <a:pPr algn="l">
              <a:spcAft>
                <a:spcPts val="0"/>
              </a:spcAft>
            </a:pPr>
            <a:r>
              <a:rPr sz="855" b="0" i="1">
                <a:solidFill>
                  <a:srgbClr val="5A6B68"/>
                </a:solidFill>
                <a:latin typeface="Arial"/>
              </a:rPr>
              <a:t>prix ↑</a:t>
            </a:r>
          </a:p>
        </p:txBody>
      </p:sp>
      <p:sp>
        <p:nvSpPr>
          <p:cNvPr id="55" name="TextBox 54"/>
          <p:cNvSpPr txBox="1"/>
          <p:nvPr/>
        </p:nvSpPr>
        <p:spPr>
          <a:xfrm>
            <a:off x="6162753" y="1481328"/>
            <a:ext cx="5084366" cy="376732"/>
          </a:xfrm>
          <a:prstGeom prst="rect">
            <a:avLst/>
          </a:prstGeom>
          <a:noFill/>
        </p:spPr>
        <p:txBody>
          <a:bodyPr wrap="square" lIns="0" rIns="0" tIns="0" bIns="0" anchor="t">
            <a:spAutoFit/>
          </a:bodyPr>
          <a:lstStyle/>
          <a:p>
            <a:pPr algn="l">
              <a:spcAft>
                <a:spcPts val="0"/>
              </a:spcAft>
            </a:pPr>
            <a:r>
              <a:rPr sz="1350" b="1" i="0">
                <a:solidFill>
                  <a:srgbClr val="712180"/>
                </a:solidFill>
                <a:latin typeface="Arial"/>
              </a:rPr>
              <a:t>Classification ou régression ?</a:t>
            </a:r>
          </a:p>
        </p:txBody>
      </p:sp>
      <p:sp>
        <p:nvSpPr>
          <p:cNvPr id="56" name="Rectangle 55"/>
          <p:cNvSpPr/>
          <p:nvPr/>
        </p:nvSpPr>
        <p:spPr>
          <a:xfrm>
            <a:off x="6162753" y="1952244"/>
            <a:ext cx="2980490" cy="395569"/>
          </a:xfrm>
          <a:prstGeom prst="rect">
            <a:avLst/>
          </a:prstGeom>
          <a:solidFill>
            <a:srgbClr val="8C9A98"/>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06584" y="1952244"/>
            <a:ext cx="2892829" cy="395569"/>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Question</a:t>
            </a:r>
          </a:p>
        </p:txBody>
      </p:sp>
      <p:sp>
        <p:nvSpPr>
          <p:cNvPr id="58" name="Rectangle 57"/>
          <p:cNvSpPr/>
          <p:nvPr/>
        </p:nvSpPr>
        <p:spPr>
          <a:xfrm>
            <a:off x="9143244" y="1952244"/>
            <a:ext cx="1008107" cy="395569"/>
          </a:xfrm>
          <a:prstGeom prst="rect">
            <a:avLst/>
          </a:prstGeom>
          <a:solidFill>
            <a:srgbClr val="8C9A98"/>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87075" y="1952244"/>
            <a:ext cx="920445" cy="395569"/>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Réponse</a:t>
            </a:r>
          </a:p>
        </p:txBody>
      </p:sp>
      <p:sp>
        <p:nvSpPr>
          <p:cNvPr id="60" name="Rectangle 59"/>
          <p:cNvSpPr/>
          <p:nvPr/>
        </p:nvSpPr>
        <p:spPr>
          <a:xfrm>
            <a:off x="10151351" y="1952244"/>
            <a:ext cx="1095768" cy="395569"/>
          </a:xfrm>
          <a:prstGeom prst="rect">
            <a:avLst/>
          </a:prstGeom>
          <a:solidFill>
            <a:srgbClr val="8C9A98"/>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95182" y="1952244"/>
            <a:ext cx="1008107" cy="395569"/>
          </a:xfrm>
          <a:prstGeom prst="rect">
            <a:avLst/>
          </a:prstGeom>
          <a:noFill/>
        </p:spPr>
        <p:txBody>
          <a:bodyPr wrap="square" lIns="0" rIns="0" tIns="0" bIns="0" anchor="ctr">
            <a:spAutoFit/>
          </a:bodyPr>
          <a:lstStyle/>
          <a:p>
            <a:pPr algn="ctr">
              <a:spcAft>
                <a:spcPts val="0"/>
              </a:spcAft>
            </a:pPr>
            <a:r>
              <a:rPr sz="990" b="1" i="0">
                <a:solidFill>
                  <a:srgbClr val="FFFFFF"/>
                </a:solidFill>
                <a:latin typeface="Arial"/>
              </a:rPr>
              <a:t>Problème</a:t>
            </a:r>
          </a:p>
        </p:txBody>
      </p:sp>
      <p:sp>
        <p:nvSpPr>
          <p:cNvPr id="62" name="Rectangle 61"/>
          <p:cNvSpPr/>
          <p:nvPr/>
        </p:nvSpPr>
        <p:spPr>
          <a:xfrm>
            <a:off x="6162753" y="2347813"/>
            <a:ext cx="2980490" cy="39556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06584" y="2347813"/>
            <a:ext cx="2892829"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Ce mail est-il un spam ?</a:t>
            </a:r>
          </a:p>
        </p:txBody>
      </p:sp>
      <p:sp>
        <p:nvSpPr>
          <p:cNvPr id="64" name="Rectangle 63"/>
          <p:cNvSpPr/>
          <p:nvPr/>
        </p:nvSpPr>
        <p:spPr>
          <a:xfrm>
            <a:off x="9143244" y="2347813"/>
            <a:ext cx="1008107" cy="39556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87075" y="2347813"/>
            <a:ext cx="920445"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catégorie</a:t>
            </a:r>
          </a:p>
        </p:txBody>
      </p:sp>
      <p:sp>
        <p:nvSpPr>
          <p:cNvPr id="66" name="Rectangle 65"/>
          <p:cNvSpPr/>
          <p:nvPr/>
        </p:nvSpPr>
        <p:spPr>
          <a:xfrm>
            <a:off x="10151351" y="2347813"/>
            <a:ext cx="1095768" cy="39556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195182" y="2347813"/>
            <a:ext cx="1008107"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classification</a:t>
            </a:r>
          </a:p>
        </p:txBody>
      </p:sp>
      <p:sp>
        <p:nvSpPr>
          <p:cNvPr id="68" name="Rectangle 67"/>
          <p:cNvSpPr/>
          <p:nvPr/>
        </p:nvSpPr>
        <p:spPr>
          <a:xfrm>
            <a:off x="6162753" y="2743382"/>
            <a:ext cx="2980490" cy="39556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06584" y="2743382"/>
            <a:ext cx="2892829"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Combien vaut ce logement ?</a:t>
            </a:r>
          </a:p>
        </p:txBody>
      </p:sp>
      <p:sp>
        <p:nvSpPr>
          <p:cNvPr id="70" name="Rectangle 69"/>
          <p:cNvSpPr/>
          <p:nvPr/>
        </p:nvSpPr>
        <p:spPr>
          <a:xfrm>
            <a:off x="9143244" y="2743382"/>
            <a:ext cx="1008107" cy="39556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87075" y="2743382"/>
            <a:ext cx="920445"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nombre</a:t>
            </a:r>
          </a:p>
        </p:txBody>
      </p:sp>
      <p:sp>
        <p:nvSpPr>
          <p:cNvPr id="72" name="Rectangle 71"/>
          <p:cNvSpPr/>
          <p:nvPr/>
        </p:nvSpPr>
        <p:spPr>
          <a:xfrm>
            <a:off x="10151351" y="2743382"/>
            <a:ext cx="1095768" cy="39556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195182" y="2743382"/>
            <a:ext cx="1008107"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régression</a:t>
            </a:r>
          </a:p>
        </p:txBody>
      </p:sp>
      <p:sp>
        <p:nvSpPr>
          <p:cNvPr id="74" name="Rectangle 73"/>
          <p:cNvSpPr/>
          <p:nvPr/>
        </p:nvSpPr>
        <p:spPr>
          <a:xfrm>
            <a:off x="6162753" y="3138952"/>
            <a:ext cx="2980490" cy="39556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06584" y="3138952"/>
            <a:ext cx="2892829"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Ce client va-t-il résilier ?</a:t>
            </a:r>
          </a:p>
        </p:txBody>
      </p:sp>
      <p:sp>
        <p:nvSpPr>
          <p:cNvPr id="76" name="Rectangle 75"/>
          <p:cNvSpPr/>
          <p:nvPr/>
        </p:nvSpPr>
        <p:spPr>
          <a:xfrm>
            <a:off x="9143244" y="3138952"/>
            <a:ext cx="1008107" cy="39556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87075" y="3138952"/>
            <a:ext cx="920445"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catégorie</a:t>
            </a:r>
          </a:p>
        </p:txBody>
      </p:sp>
      <p:sp>
        <p:nvSpPr>
          <p:cNvPr id="78" name="Rectangle 77"/>
          <p:cNvSpPr/>
          <p:nvPr/>
        </p:nvSpPr>
        <p:spPr>
          <a:xfrm>
            <a:off x="10151351" y="3138952"/>
            <a:ext cx="1095768" cy="39556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195182" y="3138952"/>
            <a:ext cx="1008107"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classification</a:t>
            </a:r>
          </a:p>
        </p:txBody>
      </p:sp>
      <p:sp>
        <p:nvSpPr>
          <p:cNvPr id="80" name="Rectangle 79"/>
          <p:cNvSpPr/>
          <p:nvPr/>
        </p:nvSpPr>
        <p:spPr>
          <a:xfrm>
            <a:off x="6162753" y="3534521"/>
            <a:ext cx="2980490" cy="39556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06584" y="3534521"/>
            <a:ext cx="2892829"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Combien de jours avant la panne ?</a:t>
            </a:r>
          </a:p>
        </p:txBody>
      </p:sp>
      <p:sp>
        <p:nvSpPr>
          <p:cNvPr id="82" name="Rectangle 81"/>
          <p:cNvSpPr/>
          <p:nvPr/>
        </p:nvSpPr>
        <p:spPr>
          <a:xfrm>
            <a:off x="9143244" y="3534521"/>
            <a:ext cx="1008107" cy="39556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187075" y="3534521"/>
            <a:ext cx="920445"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nombre</a:t>
            </a:r>
          </a:p>
        </p:txBody>
      </p:sp>
      <p:sp>
        <p:nvSpPr>
          <p:cNvPr id="84" name="Rectangle 83"/>
          <p:cNvSpPr/>
          <p:nvPr/>
        </p:nvSpPr>
        <p:spPr>
          <a:xfrm>
            <a:off x="10151351" y="3534521"/>
            <a:ext cx="1095768" cy="39556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195182" y="3534521"/>
            <a:ext cx="1008107" cy="395569"/>
          </a:xfrm>
          <a:prstGeom prst="rect">
            <a:avLst/>
          </a:prstGeom>
          <a:noFill/>
        </p:spPr>
        <p:txBody>
          <a:bodyPr wrap="square" lIns="0" rIns="0" tIns="0" bIns="0" anchor="ctr">
            <a:spAutoFit/>
          </a:bodyPr>
          <a:lstStyle/>
          <a:p>
            <a:pPr algn="ctr">
              <a:spcAft>
                <a:spcPts val="0"/>
              </a:spcAft>
            </a:pPr>
            <a:r>
              <a:rPr sz="990" i="0">
                <a:solidFill>
                  <a:srgbClr val="2B3A38"/>
                </a:solidFill>
                <a:latin typeface="Arial"/>
              </a:rPr>
              <a:t>régression</a:t>
            </a:r>
          </a:p>
        </p:txBody>
      </p:sp>
      <p:sp>
        <p:nvSpPr>
          <p:cNvPr id="86" name="Rectangle 85"/>
          <p:cNvSpPr/>
          <p:nvPr/>
        </p:nvSpPr>
        <p:spPr>
          <a:xfrm>
            <a:off x="6162753" y="4165549"/>
            <a:ext cx="5084366" cy="183657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162753" y="4165549"/>
            <a:ext cx="5084366"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381907" y="4278569"/>
            <a:ext cx="4646058" cy="329641"/>
          </a:xfrm>
          <a:prstGeom prst="rect">
            <a:avLst/>
          </a:prstGeom>
          <a:noFill/>
        </p:spPr>
        <p:txBody>
          <a:bodyPr wrap="square" lIns="0" rIns="0" tIns="0" bIns="0" anchor="t">
            <a:spAutoFit/>
          </a:bodyPr>
          <a:lstStyle/>
          <a:p>
            <a:pPr algn="l">
              <a:spcAft>
                <a:spcPts val="0"/>
              </a:spcAft>
            </a:pPr>
            <a:r>
              <a:rPr sz="1215" b="1" i="0">
                <a:solidFill>
                  <a:srgbClr val="712180"/>
                </a:solidFill>
                <a:latin typeface="Arial"/>
              </a:rPr>
              <a:t>D'autres exemples</a:t>
            </a:r>
          </a:p>
        </p:txBody>
      </p:sp>
      <p:sp>
        <p:nvSpPr>
          <p:cNvPr id="89" name="TextBox 88"/>
          <p:cNvSpPr txBox="1"/>
          <p:nvPr/>
        </p:nvSpPr>
        <p:spPr>
          <a:xfrm>
            <a:off x="6381907" y="4636465"/>
            <a:ext cx="4646058" cy="1318564"/>
          </a:xfrm>
          <a:prstGeom prst="rect">
            <a:avLst/>
          </a:prstGeom>
          <a:noFill/>
        </p:spPr>
        <p:txBody>
          <a:bodyPr wrap="square" lIns="0" rIns="0" tIns="0" bIns="0" anchor="t">
            <a:spAutoFit/>
          </a:bodyPr>
          <a:lstStyle/>
          <a:p>
            <a:pPr algn="l">
              <a:spcAft>
                <a:spcPts val="200"/>
              </a:spcAft>
            </a:pPr>
            <a:r>
              <a:rPr sz="1125" b="0" i="0">
                <a:solidFill>
                  <a:srgbClr val="2B3A38"/>
                </a:solidFill>
                <a:latin typeface="Arial"/>
              </a:rPr>
              <a:t>•  Consommation d'énergie d'un bâtiment</a:t>
            </a:r>
          </a:p>
          <a:p>
            <a:pPr algn="l">
              <a:spcAft>
                <a:spcPts val="200"/>
              </a:spcAft>
            </a:pPr>
            <a:r>
              <a:rPr sz="1125" b="0" i="0">
                <a:solidFill>
                  <a:srgbClr val="2B3A38"/>
                </a:solidFill>
                <a:latin typeface="Arial"/>
              </a:rPr>
              <a:t>•  Durée d'une livraison ou d'un trajet</a:t>
            </a:r>
          </a:p>
          <a:p>
            <a:pPr algn="l">
              <a:spcAft>
                <a:spcPts val="200"/>
              </a:spcAft>
            </a:pPr>
            <a:r>
              <a:rPr sz="1125" b="0" i="0">
                <a:solidFill>
                  <a:srgbClr val="2B3A38"/>
                </a:solidFill>
                <a:latin typeface="Arial"/>
              </a:rPr>
              <a:t>•  Rendement d'une parcelle agricole</a:t>
            </a:r>
          </a:p>
          <a:p>
            <a:pPr algn="l">
              <a:spcAft>
                <a:spcPts val="200"/>
              </a:spcAft>
            </a:pPr>
            <a:r>
              <a:rPr sz="1125" b="0" i="0">
                <a:solidFill>
                  <a:srgbClr val="2B3A38"/>
                </a:solidFill>
                <a:latin typeface="Arial"/>
              </a:rPr>
              <a:t>•  Salaire selon l'expérience et le poste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A · IA prédictive · Régression</a:t>
            </a:r>
          </a:p>
        </p:txBody>
      </p:sp>
      <p:sp>
        <p:nvSpPr>
          <p:cNvPr id="3" name="Text Placeholder 2"/>
          <p:cNvSpPr>
            <a:spLocks noGrp="1"/>
          </p:cNvSpPr>
          <p:nvPr>
            <p:ph type="body" idx="25" sz="quarter"/>
          </p:nvPr>
        </p:nvSpPr>
        <p:spPr/>
        <p:txBody>
          <a:bodyPr/>
          <a:lstStyle/>
          <a:p>
            <a:r>
              <a:t>Régression : modèles et mesure de l'erreur</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12</a:t>
            </a:fld>
          </a:p>
        </p:txBody>
      </p:sp>
      <p:sp>
        <p:nvSpPr>
          <p:cNvPr id="6" name="Rectangle 5"/>
          <p:cNvSpPr/>
          <p:nvPr/>
        </p:nvSpPr>
        <p:spPr>
          <a:xfrm>
            <a:off x="640080" y="1481328"/>
            <a:ext cx="3374967" cy="3108045"/>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402" y="1622602"/>
            <a:ext cx="3024321" cy="423824"/>
          </a:xfrm>
          <a:prstGeom prst="rect">
            <a:avLst/>
          </a:prstGeom>
          <a:noFill/>
        </p:spPr>
        <p:txBody>
          <a:bodyPr wrap="square" lIns="0" rIns="0" tIns="0" bIns="0" anchor="ctr">
            <a:spAutoFit/>
          </a:bodyPr>
          <a:lstStyle/>
          <a:p>
            <a:pPr algn="l">
              <a:spcAft>
                <a:spcPts val="0"/>
              </a:spcAft>
            </a:pPr>
            <a:r>
              <a:rPr sz="1350" b="1" i="0">
                <a:solidFill>
                  <a:srgbClr val="712180"/>
                </a:solidFill>
                <a:latin typeface="Arial"/>
              </a:rPr>
              <a:t>Régression linéaire</a:t>
            </a:r>
          </a:p>
        </p:txBody>
      </p:sp>
      <p:sp>
        <p:nvSpPr>
          <p:cNvPr id="9" name="Rectangle 8"/>
          <p:cNvSpPr/>
          <p:nvPr/>
        </p:nvSpPr>
        <p:spPr>
          <a:xfrm>
            <a:off x="815402" y="2093518"/>
            <a:ext cx="3024321" cy="1271473"/>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1278" y="2979059"/>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42255" y="2924766"/>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33231" y="303877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524208" y="2702490"/>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15185" y="2847851"/>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906162" y="2591688"/>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097139" y="285068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288115" y="2708917"/>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479092" y="2760367"/>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70069" y="2527956"/>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861046" y="255576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052023" y="2434152"/>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243000" y="2334356"/>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33976" y="2360398"/>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24953" y="2171121"/>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V="1">
            <a:off x="946895" y="2300721"/>
            <a:ext cx="2761337" cy="857067"/>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3064" y="2140610"/>
            <a:ext cx="2848998" cy="235458"/>
          </a:xfrm>
          <a:prstGeom prst="rect">
            <a:avLst/>
          </a:prstGeom>
          <a:noFill/>
        </p:spPr>
        <p:txBody>
          <a:bodyPr wrap="square" lIns="0" rIns="0" tIns="0" bIns="0" anchor="t">
            <a:spAutoFit/>
          </a:bodyPr>
          <a:lstStyle/>
          <a:p>
            <a:pPr algn="l">
              <a:spcAft>
                <a:spcPts val="0"/>
              </a:spcAft>
            </a:pPr>
            <a:r>
              <a:rPr sz="855" b="1" i="1">
                <a:solidFill>
                  <a:srgbClr val="712180"/>
                </a:solidFill>
                <a:latin typeface="Arial"/>
              </a:rPr>
              <a:t>prix = a × revenu + b</a:t>
            </a:r>
          </a:p>
        </p:txBody>
      </p:sp>
      <p:sp>
        <p:nvSpPr>
          <p:cNvPr id="27" name="TextBox 26"/>
          <p:cNvSpPr txBox="1"/>
          <p:nvPr/>
        </p:nvSpPr>
        <p:spPr>
          <a:xfrm>
            <a:off x="815402" y="3506266"/>
            <a:ext cx="3024321" cy="988923"/>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Une droite (ou un plan) qui passe au plus près des points. Chaque coefficient s'interprète : +10 000 $ de revenu, environ +42 000 $ de prix.</a:t>
            </a:r>
          </a:p>
        </p:txBody>
      </p:sp>
      <p:sp>
        <p:nvSpPr>
          <p:cNvPr id="28" name="Rectangle 27"/>
          <p:cNvSpPr/>
          <p:nvPr/>
        </p:nvSpPr>
        <p:spPr>
          <a:xfrm>
            <a:off x="4278031" y="1481328"/>
            <a:ext cx="3374967" cy="3108045"/>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78031" y="1481328"/>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53354" y="1622602"/>
            <a:ext cx="3024321" cy="423824"/>
          </a:xfrm>
          <a:prstGeom prst="rect">
            <a:avLst/>
          </a:prstGeom>
          <a:noFill/>
        </p:spPr>
        <p:txBody>
          <a:bodyPr wrap="square" lIns="0" rIns="0" tIns="0" bIns="0" anchor="ctr">
            <a:spAutoFit/>
          </a:bodyPr>
          <a:lstStyle/>
          <a:p>
            <a:pPr algn="l">
              <a:spcAft>
                <a:spcPts val="0"/>
              </a:spcAft>
            </a:pPr>
            <a:r>
              <a:rPr sz="1350" b="1" i="0">
                <a:solidFill>
                  <a:srgbClr val="712180"/>
                </a:solidFill>
                <a:latin typeface="Arial"/>
              </a:rPr>
              <a:t>Ridge et Lasso</a:t>
            </a:r>
          </a:p>
        </p:txBody>
      </p:sp>
      <p:sp>
        <p:nvSpPr>
          <p:cNvPr id="31" name="Rectangle 30"/>
          <p:cNvSpPr/>
          <p:nvPr/>
        </p:nvSpPr>
        <p:spPr>
          <a:xfrm>
            <a:off x="4453354" y="2093518"/>
            <a:ext cx="3024321" cy="1271473"/>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4541016" y="2776347"/>
            <a:ext cx="2848998" cy="0"/>
          </a:xfrm>
          <a:prstGeom prst="line">
            <a:avLst/>
          </a:prstGeom>
          <a:ln w="12700">
            <a:solidFill>
              <a:srgbClr val="A9B4B2"/>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628677" y="2267757"/>
            <a:ext cx="131492" cy="508589"/>
          </a:xfrm>
          <a:prstGeom prst="rect">
            <a:avLst/>
          </a:prstGeom>
          <a:solidFill>
            <a:srgbClr val="C9B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77702" y="2465542"/>
            <a:ext cx="131492" cy="310804"/>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996855" y="2776347"/>
            <a:ext cx="131492" cy="395569"/>
          </a:xfrm>
          <a:prstGeom prst="rect">
            <a:avLst/>
          </a:prstGeom>
          <a:solidFill>
            <a:srgbClr val="C9B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145880" y="2776347"/>
            <a:ext cx="131492" cy="226039"/>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65034" y="2493797"/>
            <a:ext cx="131492" cy="282549"/>
          </a:xfrm>
          <a:prstGeom prst="rect">
            <a:avLst/>
          </a:prstGeom>
          <a:solidFill>
            <a:srgbClr val="C9B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14058" y="2635072"/>
            <a:ext cx="131492" cy="141274"/>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33212" y="2776347"/>
            <a:ext cx="131492" cy="197784"/>
          </a:xfrm>
          <a:prstGeom prst="rect">
            <a:avLst/>
          </a:prstGeom>
          <a:solidFill>
            <a:srgbClr val="C9B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01390" y="2635072"/>
            <a:ext cx="131492" cy="141274"/>
          </a:xfrm>
          <a:prstGeom prst="rect">
            <a:avLst/>
          </a:prstGeom>
          <a:solidFill>
            <a:srgbClr val="C9B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41016" y="2140610"/>
            <a:ext cx="2848998" cy="235458"/>
          </a:xfrm>
          <a:prstGeom prst="rect">
            <a:avLst/>
          </a:prstGeom>
          <a:noFill/>
        </p:spPr>
        <p:txBody>
          <a:bodyPr wrap="square" lIns="0" rIns="0" tIns="0" bIns="0" anchor="t">
            <a:spAutoFit/>
          </a:bodyPr>
          <a:lstStyle/>
          <a:p>
            <a:pPr algn="l">
              <a:spcAft>
                <a:spcPts val="0"/>
              </a:spcAft>
            </a:pPr>
            <a:r>
              <a:rPr sz="810" b="0" i="1">
                <a:solidFill>
                  <a:srgbClr val="5A6B68"/>
                </a:solidFill>
                <a:latin typeface="Arial"/>
              </a:rPr>
              <a:t>avant / après régularisation</a:t>
            </a:r>
          </a:p>
        </p:txBody>
      </p:sp>
      <p:sp>
        <p:nvSpPr>
          <p:cNvPr id="42" name="TextBox 41"/>
          <p:cNvSpPr txBox="1"/>
          <p:nvPr/>
        </p:nvSpPr>
        <p:spPr>
          <a:xfrm>
            <a:off x="4453354" y="3506266"/>
            <a:ext cx="3024321" cy="988923"/>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Des régressions linéaires « freinées » : on limite la taille des coefficients pour éviter le sur-apprentissage. Lasso élimine même des variables.</a:t>
            </a:r>
          </a:p>
        </p:txBody>
      </p:sp>
      <p:sp>
        <p:nvSpPr>
          <p:cNvPr id="43" name="Rectangle 42"/>
          <p:cNvSpPr/>
          <p:nvPr/>
        </p:nvSpPr>
        <p:spPr>
          <a:xfrm>
            <a:off x="7915983" y="1481328"/>
            <a:ext cx="3374967" cy="3108045"/>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15983" y="1481328"/>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91306" y="1622602"/>
            <a:ext cx="3024321" cy="423824"/>
          </a:xfrm>
          <a:prstGeom prst="rect">
            <a:avLst/>
          </a:prstGeom>
          <a:noFill/>
        </p:spPr>
        <p:txBody>
          <a:bodyPr wrap="square" lIns="0" rIns="0" tIns="0" bIns="0" anchor="ctr">
            <a:spAutoFit/>
          </a:bodyPr>
          <a:lstStyle/>
          <a:p>
            <a:pPr algn="l">
              <a:spcAft>
                <a:spcPts val="0"/>
              </a:spcAft>
            </a:pPr>
            <a:r>
              <a:rPr sz="1350" b="1" i="0">
                <a:solidFill>
                  <a:srgbClr val="712180"/>
                </a:solidFill>
                <a:latin typeface="Arial"/>
              </a:rPr>
              <a:t>Arbres, forêts, XGBoost</a:t>
            </a:r>
          </a:p>
        </p:txBody>
      </p:sp>
      <p:sp>
        <p:nvSpPr>
          <p:cNvPr id="46" name="Rectangle 45"/>
          <p:cNvSpPr/>
          <p:nvPr/>
        </p:nvSpPr>
        <p:spPr>
          <a:xfrm>
            <a:off x="8091306" y="2093518"/>
            <a:ext cx="3024321" cy="1271473"/>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7181" y="2972111"/>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394286" y="292319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561391" y="2892051"/>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728495" y="2818670"/>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895600" y="2717080"/>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062705" y="257031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229810" y="2541297"/>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396914" y="245688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564019" y="2343320"/>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731124" y="2379183"/>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898228" y="2462635"/>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065333" y="2391707"/>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232438" y="2334068"/>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399542" y="2266354"/>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566647" y="2328472"/>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733752" y="2283521"/>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900857" y="2322991"/>
            <a:ext cx="78895" cy="7889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8222798" y="2940954"/>
            <a:ext cx="588976" cy="0"/>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811774" y="2610841"/>
            <a:ext cx="79443" cy="330113"/>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891217" y="2610841"/>
            <a:ext cx="588976" cy="0"/>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480193" y="2433659"/>
            <a:ext cx="79443" cy="177182"/>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559636" y="2433659"/>
            <a:ext cx="588975" cy="0"/>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10148611" y="2342552"/>
            <a:ext cx="79444" cy="91107"/>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228055" y="2342552"/>
            <a:ext cx="588975" cy="0"/>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817030" y="2342552"/>
            <a:ext cx="79444" cy="19887"/>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896474" y="2362439"/>
            <a:ext cx="87661" cy="0"/>
          </a:xfrm>
          <a:prstGeom prst="line">
            <a:avLst/>
          </a:prstGeom>
          <a:ln w="22225">
            <a:solidFill>
              <a:srgbClr val="1A2E2B"/>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8091306" y="3506266"/>
            <a:ext cx="3024321" cy="988923"/>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Prédisent en « escalier » et capturent les relations non linéaires. Souvent les plus précis, mais ils n'extrapolent pas.</a:t>
            </a:r>
          </a:p>
        </p:txBody>
      </p:sp>
      <p:sp>
        <p:nvSpPr>
          <p:cNvPr id="74" name="Rectangle 73"/>
          <p:cNvSpPr/>
          <p:nvPr/>
        </p:nvSpPr>
        <p:spPr>
          <a:xfrm>
            <a:off x="640080" y="4777740"/>
            <a:ext cx="10607040" cy="122438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40080" y="4777740"/>
            <a:ext cx="10607040"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59233" y="4871923"/>
            <a:ext cx="2103875" cy="1036015"/>
          </a:xfrm>
          <a:prstGeom prst="rect">
            <a:avLst/>
          </a:prstGeom>
          <a:noFill/>
        </p:spPr>
        <p:txBody>
          <a:bodyPr wrap="square" lIns="0" rIns="0" tIns="0" bIns="0" anchor="ctr">
            <a:spAutoFit/>
          </a:bodyPr>
          <a:lstStyle/>
          <a:p>
            <a:pPr algn="l">
              <a:spcAft>
                <a:spcPts val="0"/>
              </a:spcAft>
            </a:pPr>
            <a:r>
              <a:rPr sz="1350" b="1" i="0">
                <a:solidFill>
                  <a:srgbClr val="712180"/>
                </a:solidFill>
                <a:latin typeface="Arial"/>
              </a:rPr>
              <a:t>Mesurer l'erreur</a:t>
            </a:r>
          </a:p>
        </p:txBody>
      </p:sp>
      <p:sp>
        <p:nvSpPr>
          <p:cNvPr id="77" name="TextBox 76"/>
          <p:cNvSpPr txBox="1"/>
          <p:nvPr/>
        </p:nvSpPr>
        <p:spPr>
          <a:xfrm>
            <a:off x="2919278" y="4871923"/>
            <a:ext cx="2586013" cy="1036015"/>
          </a:xfrm>
          <a:prstGeom prst="rect">
            <a:avLst/>
          </a:prstGeom>
          <a:noFill/>
        </p:spPr>
        <p:txBody>
          <a:bodyPr wrap="square" lIns="0" rIns="0" tIns="0" bIns="0" anchor="ctr">
            <a:spAutoFit/>
          </a:bodyPr>
          <a:lstStyle/>
          <a:p>
            <a:pPr algn="l">
              <a:spcAft>
                <a:spcPts val="0"/>
              </a:spcAft>
            </a:pPr>
            <a:r>
              <a:rPr sz="1440" b="1" i="0">
                <a:solidFill>
                  <a:srgbClr val="712180"/>
                </a:solidFill>
                <a:latin typeface="Arial"/>
              </a:rPr>
              <a:t>MAE</a:t>
            </a:r>
          </a:p>
          <a:p>
            <a:pPr algn="l">
              <a:spcAft>
                <a:spcPts val="0"/>
              </a:spcAft>
            </a:pPr>
            <a:r>
              <a:rPr sz="1035" b="0" i="0">
                <a:solidFill>
                  <a:srgbClr val="2B3A38"/>
                </a:solidFill>
                <a:latin typeface="Arial"/>
              </a:rPr>
              <a:t>erreur moyenne, dans l'unité de la cible : « on se trompe de 30 000 $ en moyenne »</a:t>
            </a:r>
          </a:p>
        </p:txBody>
      </p:sp>
      <p:sp>
        <p:nvSpPr>
          <p:cNvPr id="78" name="TextBox 77"/>
          <p:cNvSpPr txBox="1"/>
          <p:nvPr/>
        </p:nvSpPr>
        <p:spPr>
          <a:xfrm>
            <a:off x="5636784" y="4871923"/>
            <a:ext cx="2586013" cy="1036015"/>
          </a:xfrm>
          <a:prstGeom prst="rect">
            <a:avLst/>
          </a:prstGeom>
          <a:noFill/>
        </p:spPr>
        <p:txBody>
          <a:bodyPr wrap="square" lIns="0" rIns="0" tIns="0" bIns="0" anchor="ctr">
            <a:spAutoFit/>
          </a:bodyPr>
          <a:lstStyle/>
          <a:p>
            <a:pPr algn="l">
              <a:spcAft>
                <a:spcPts val="0"/>
              </a:spcAft>
            </a:pPr>
            <a:r>
              <a:rPr sz="1440" b="1" i="0">
                <a:solidFill>
                  <a:srgbClr val="712180"/>
                </a:solidFill>
                <a:latin typeface="Arial"/>
              </a:rPr>
              <a:t>RMSE</a:t>
            </a:r>
          </a:p>
          <a:p>
            <a:pPr algn="l">
              <a:spcAft>
                <a:spcPts val="0"/>
              </a:spcAft>
            </a:pPr>
            <a:r>
              <a:rPr sz="1035" b="0" i="0">
                <a:solidFill>
                  <a:srgbClr val="2B3A38"/>
                </a:solidFill>
                <a:latin typeface="Arial"/>
              </a:rPr>
              <a:t>pénalise davantage les grosses erreurs</a:t>
            </a:r>
          </a:p>
        </p:txBody>
      </p:sp>
      <p:sp>
        <p:nvSpPr>
          <p:cNvPr id="79" name="TextBox 78"/>
          <p:cNvSpPr txBox="1"/>
          <p:nvPr/>
        </p:nvSpPr>
        <p:spPr>
          <a:xfrm>
            <a:off x="8354290" y="4871923"/>
            <a:ext cx="2586013" cy="1036015"/>
          </a:xfrm>
          <a:prstGeom prst="rect">
            <a:avLst/>
          </a:prstGeom>
          <a:noFill/>
        </p:spPr>
        <p:txBody>
          <a:bodyPr wrap="square" lIns="0" rIns="0" tIns="0" bIns="0" anchor="ctr">
            <a:spAutoFit/>
          </a:bodyPr>
          <a:lstStyle/>
          <a:p>
            <a:pPr algn="l">
              <a:spcAft>
                <a:spcPts val="0"/>
              </a:spcAft>
            </a:pPr>
            <a:r>
              <a:rPr sz="1440" b="1" i="0">
                <a:solidFill>
                  <a:srgbClr val="712180"/>
                </a:solidFill>
                <a:latin typeface="Arial"/>
              </a:rPr>
              <a:t>R²</a:t>
            </a:r>
          </a:p>
          <a:p>
            <a:pPr algn="l">
              <a:spcAft>
                <a:spcPts val="0"/>
              </a:spcAft>
            </a:pPr>
            <a:r>
              <a:rPr sz="1035" b="0" i="0">
                <a:solidFill>
                  <a:srgbClr val="2B3A38"/>
                </a:solidFill>
                <a:latin typeface="Arial"/>
              </a:rPr>
              <a:t>part de la variation des prix expliquée par le modèle (1 = parfait, 0 = pas mieux que la moyenne)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A · IA prédictive · Séries temporelles</a:t>
            </a:r>
          </a:p>
        </p:txBody>
      </p:sp>
      <p:sp>
        <p:nvSpPr>
          <p:cNvPr id="3" name="Text Placeholder 2"/>
          <p:cNvSpPr>
            <a:spLocks noGrp="1"/>
          </p:cNvSpPr>
          <p:nvPr>
            <p:ph type="body" idx="25" sz="quarter"/>
          </p:nvPr>
        </p:nvSpPr>
        <p:spPr/>
        <p:txBody>
          <a:bodyPr/>
          <a:lstStyle/>
          <a:p>
            <a:r>
              <a:t>Séries temporelles : prévoir à partir du passé</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13</a:t>
            </a:fld>
          </a:p>
        </p:txBody>
      </p:sp>
      <p:graphicFrame>
        <p:nvGraphicFramePr>
          <p:cNvPr id="6" name="Chart 5"/>
          <p:cNvGraphicFramePr>
            <a:graphicFrameLocks noGrp="1"/>
          </p:cNvGraphicFramePr>
          <p:nvPr/>
        </p:nvGraphicFramePr>
        <p:xfrm>
          <a:off x="640080" y="1481328"/>
          <a:ext cx="6136304" cy="4002786"/>
        </p:xfrm>
        <a:graphic>
          <a:graphicData uri="http://schemas.openxmlformats.org/drawingml/2006/chart">
            <c:chart xmlns:c="http://schemas.openxmlformats.org/drawingml/2006/chart" r:id="rId2"/>
          </a:graphicData>
        </a:graphic>
      </p:graphicFrame>
      <p:sp>
        <p:nvSpPr>
          <p:cNvPr id="7" name="TextBox 6"/>
          <p:cNvSpPr txBox="1"/>
          <p:nvPr/>
        </p:nvSpPr>
        <p:spPr>
          <a:xfrm>
            <a:off x="640080" y="5531205"/>
            <a:ext cx="6136304" cy="282549"/>
          </a:xfrm>
          <a:prstGeom prst="rect">
            <a:avLst/>
          </a:prstGeom>
          <a:noFill/>
        </p:spPr>
        <p:txBody>
          <a:bodyPr wrap="square" lIns="0" rIns="0" tIns="0" bIns="0" anchor="t">
            <a:spAutoFit/>
          </a:bodyPr>
          <a:lstStyle/>
          <a:p>
            <a:pPr algn="l">
              <a:spcAft>
                <a:spcPts val="0"/>
              </a:spcAft>
            </a:pPr>
            <a:r>
              <a:rPr sz="945" b="0" i="1">
                <a:solidFill>
                  <a:srgbClr val="5A6B68"/>
                </a:solidFill>
                <a:latin typeface="Arial"/>
              </a:rPr>
              <a:t>Données réelles utilisées au TP5 (Capital Bikeshare).</a:t>
            </a:r>
          </a:p>
        </p:txBody>
      </p:sp>
      <p:sp>
        <p:nvSpPr>
          <p:cNvPr id="8" name="TextBox 7"/>
          <p:cNvSpPr txBox="1"/>
          <p:nvPr/>
        </p:nvSpPr>
        <p:spPr>
          <a:xfrm>
            <a:off x="7039368" y="1481328"/>
            <a:ext cx="4207751" cy="376732"/>
          </a:xfrm>
          <a:prstGeom prst="rect">
            <a:avLst/>
          </a:prstGeom>
          <a:noFill/>
        </p:spPr>
        <p:txBody>
          <a:bodyPr wrap="square" lIns="0" rIns="0" tIns="0" bIns="0" anchor="t">
            <a:spAutoFit/>
          </a:bodyPr>
          <a:lstStyle/>
          <a:p>
            <a:pPr algn="l">
              <a:spcAft>
                <a:spcPts val="0"/>
              </a:spcAft>
            </a:pPr>
            <a:r>
              <a:rPr sz="1350" b="1" i="0">
                <a:solidFill>
                  <a:srgbClr val="5F7C17"/>
                </a:solidFill>
                <a:latin typeface="Arial"/>
              </a:rPr>
              <a:t>Ce qui rend le problème particulier</a:t>
            </a:r>
          </a:p>
        </p:txBody>
      </p:sp>
      <p:sp>
        <p:nvSpPr>
          <p:cNvPr id="9" name="Oval 8"/>
          <p:cNvSpPr/>
          <p:nvPr/>
        </p:nvSpPr>
        <p:spPr>
          <a:xfrm>
            <a:off x="7039368" y="1971809"/>
            <a:ext cx="525968" cy="525968"/>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aRoute_dark.png"/>
          <p:cNvPicPr>
            <a:picLocks noChangeAspect="1"/>
          </p:cNvPicPr>
          <p:nvPr/>
        </p:nvPicPr>
        <p:blipFill>
          <a:blip r:embed="rId3"/>
          <a:stretch>
            <a:fillRect/>
          </a:stretch>
        </p:blipFill>
        <p:spPr>
          <a:xfrm>
            <a:off x="7176120" y="2108561"/>
            <a:ext cx="252465" cy="252465"/>
          </a:xfrm>
          <a:prstGeom prst="rect">
            <a:avLst/>
          </a:prstGeom>
        </p:spPr>
      </p:pic>
      <p:sp>
        <p:nvSpPr>
          <p:cNvPr id="11" name="TextBox 10"/>
          <p:cNvSpPr txBox="1"/>
          <p:nvPr/>
        </p:nvSpPr>
        <p:spPr>
          <a:xfrm>
            <a:off x="7740660" y="1905152"/>
            <a:ext cx="3506459" cy="753465"/>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L'ordre compte</a:t>
            </a:r>
          </a:p>
          <a:p>
            <a:pPr algn="l">
              <a:spcAft>
                <a:spcPts val="0"/>
              </a:spcAft>
            </a:pPr>
            <a:r>
              <a:rPr sz="1080" b="0" i="0">
                <a:solidFill>
                  <a:srgbClr val="2B3A38"/>
                </a:solidFill>
                <a:latin typeface="Arial"/>
              </a:rPr>
              <a:t>La valeur d'aujourd'hui dépend de celle d'hier.</a:t>
            </a:r>
          </a:p>
        </p:txBody>
      </p:sp>
      <p:sp>
        <p:nvSpPr>
          <p:cNvPr id="12" name="Oval 11"/>
          <p:cNvSpPr/>
          <p:nvPr/>
        </p:nvSpPr>
        <p:spPr>
          <a:xfrm>
            <a:off x="7039368" y="2866549"/>
            <a:ext cx="525968" cy="525968"/>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ChartLine_dark.png"/>
          <p:cNvPicPr>
            <a:picLocks noChangeAspect="1"/>
          </p:cNvPicPr>
          <p:nvPr/>
        </p:nvPicPr>
        <p:blipFill>
          <a:blip r:embed="rId4"/>
          <a:stretch>
            <a:fillRect/>
          </a:stretch>
        </p:blipFill>
        <p:spPr>
          <a:xfrm>
            <a:off x="7176120" y="3003301"/>
            <a:ext cx="252465" cy="252465"/>
          </a:xfrm>
          <a:prstGeom prst="rect">
            <a:avLst/>
          </a:prstGeom>
        </p:spPr>
      </p:pic>
      <p:sp>
        <p:nvSpPr>
          <p:cNvPr id="14" name="TextBox 13"/>
          <p:cNvSpPr txBox="1"/>
          <p:nvPr/>
        </p:nvSpPr>
        <p:spPr>
          <a:xfrm>
            <a:off x="7740660" y="2799892"/>
            <a:ext cx="3506459" cy="753465"/>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Une tendance</a:t>
            </a:r>
          </a:p>
          <a:p>
            <a:pPr algn="l">
              <a:spcAft>
                <a:spcPts val="0"/>
              </a:spcAft>
            </a:pPr>
            <a:r>
              <a:rPr sz="1080" b="0" i="0">
                <a:solidFill>
                  <a:srgbClr val="2B3A38"/>
                </a:solidFill>
                <a:latin typeface="Arial"/>
              </a:rPr>
              <a:t>Le service gagne des utilisateurs d'une année à l'autre.</a:t>
            </a:r>
          </a:p>
        </p:txBody>
      </p:sp>
      <p:sp>
        <p:nvSpPr>
          <p:cNvPr id="15" name="Oval 14"/>
          <p:cNvSpPr/>
          <p:nvPr/>
        </p:nvSpPr>
        <p:spPr>
          <a:xfrm>
            <a:off x="7039368" y="3761289"/>
            <a:ext cx="525968" cy="525968"/>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CalendarAlt_dark.png"/>
          <p:cNvPicPr>
            <a:picLocks noChangeAspect="1"/>
          </p:cNvPicPr>
          <p:nvPr/>
        </p:nvPicPr>
        <p:blipFill>
          <a:blip r:embed="rId5"/>
          <a:stretch>
            <a:fillRect/>
          </a:stretch>
        </p:blipFill>
        <p:spPr>
          <a:xfrm>
            <a:off x="7176120" y="3898041"/>
            <a:ext cx="252465" cy="252465"/>
          </a:xfrm>
          <a:prstGeom prst="rect">
            <a:avLst/>
          </a:prstGeom>
        </p:spPr>
      </p:pic>
      <p:sp>
        <p:nvSpPr>
          <p:cNvPr id="17" name="TextBox 16"/>
          <p:cNvSpPr txBox="1"/>
          <p:nvPr/>
        </p:nvSpPr>
        <p:spPr>
          <a:xfrm>
            <a:off x="7740660" y="3694633"/>
            <a:ext cx="3506459" cy="753465"/>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Des saisonnalités</a:t>
            </a:r>
          </a:p>
          <a:p>
            <a:pPr algn="l">
              <a:spcAft>
                <a:spcPts val="0"/>
              </a:spcAft>
            </a:pPr>
            <a:r>
              <a:rPr sz="1080" b="0" i="0">
                <a:solidFill>
                  <a:srgbClr val="2B3A38"/>
                </a:solidFill>
                <a:latin typeface="Arial"/>
              </a:rPr>
              <a:t>Plus de vélos l'été, en semaine, aux heures de pointe.</a:t>
            </a:r>
          </a:p>
        </p:txBody>
      </p:sp>
      <p:sp>
        <p:nvSpPr>
          <p:cNvPr id="18" name="Oval 17"/>
          <p:cNvSpPr/>
          <p:nvPr/>
        </p:nvSpPr>
        <p:spPr>
          <a:xfrm>
            <a:off x="7039368" y="4656030"/>
            <a:ext cx="525968" cy="525968"/>
          </a:xfrm>
          <a:prstGeom prst="ellipse">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Bolt_dark.png"/>
          <p:cNvPicPr>
            <a:picLocks noChangeAspect="1"/>
          </p:cNvPicPr>
          <p:nvPr/>
        </p:nvPicPr>
        <p:blipFill>
          <a:blip r:embed="rId6"/>
          <a:stretch>
            <a:fillRect/>
          </a:stretch>
        </p:blipFill>
        <p:spPr>
          <a:xfrm>
            <a:off x="7176120" y="4792782"/>
            <a:ext cx="252465" cy="252465"/>
          </a:xfrm>
          <a:prstGeom prst="rect">
            <a:avLst/>
          </a:prstGeom>
        </p:spPr>
      </p:pic>
      <p:sp>
        <p:nvSpPr>
          <p:cNvPr id="20" name="TextBox 19"/>
          <p:cNvSpPr txBox="1"/>
          <p:nvPr/>
        </p:nvSpPr>
        <p:spPr>
          <a:xfrm>
            <a:off x="7740660" y="4589373"/>
            <a:ext cx="3506459" cy="753465"/>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Des événements</a:t>
            </a:r>
          </a:p>
          <a:p>
            <a:pPr algn="l">
              <a:spcAft>
                <a:spcPts val="0"/>
              </a:spcAft>
            </a:pPr>
            <a:r>
              <a:rPr sz="1080" b="0" i="0">
                <a:solidFill>
                  <a:srgbClr val="2B3A38"/>
                </a:solidFill>
                <a:latin typeface="Arial"/>
              </a:rPr>
              <a:t>Pluie, jours fériés, ouragan : des chutes brutales.</a:t>
            </a:r>
          </a:p>
        </p:txBody>
      </p:sp>
      <p:sp>
        <p:nvSpPr>
          <p:cNvPr id="21" name="Rectangle 20"/>
          <p:cNvSpPr/>
          <p:nvPr/>
        </p:nvSpPr>
        <p:spPr>
          <a:xfrm>
            <a:off x="7039368" y="5578297"/>
            <a:ext cx="4207751" cy="423824"/>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0860" y="5578297"/>
            <a:ext cx="4032428" cy="423824"/>
          </a:xfrm>
          <a:prstGeom prst="rect">
            <a:avLst/>
          </a:prstGeom>
          <a:noFill/>
        </p:spPr>
        <p:txBody>
          <a:bodyPr wrap="square" lIns="0" rIns="0" tIns="0" bIns="0" anchor="ctr">
            <a:spAutoFit/>
          </a:bodyPr>
          <a:lstStyle/>
          <a:p>
            <a:pPr algn="l">
              <a:spcAft>
                <a:spcPts val="0"/>
              </a:spcAft>
            </a:pPr>
            <a:r>
              <a:rPr sz="1035" b="1" i="0">
                <a:solidFill>
                  <a:srgbClr val="5F7C17"/>
                </a:solidFill>
                <a:latin typeface="Arial"/>
              </a:rPr>
              <a:t>Autres exemples : </a:t>
            </a:r>
            <a:r>
              <a:rPr sz="1035" b="0" i="0">
                <a:solidFill>
                  <a:srgbClr val="2B3A38"/>
                </a:solidFill>
                <a:latin typeface="Arial"/>
              </a:rPr>
              <a:t>ventes, consommation électrique, trafic web.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A · IA prédictive · Séries temporelles</a:t>
            </a:r>
          </a:p>
        </p:txBody>
      </p:sp>
      <p:sp>
        <p:nvSpPr>
          <p:cNvPr id="3" name="Text Placeholder 2"/>
          <p:cNvSpPr>
            <a:spLocks noGrp="1"/>
          </p:cNvSpPr>
          <p:nvPr>
            <p:ph type="body" idx="25" sz="quarter"/>
          </p:nvPr>
        </p:nvSpPr>
        <p:spPr/>
        <p:txBody>
          <a:bodyPr/>
          <a:lstStyle/>
          <a:p>
            <a:r>
              <a:t>Séries temporelles : décomposer et évaluer</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14</a:t>
            </a:fld>
          </a:p>
        </p:txBody>
      </p:sp>
      <p:sp>
        <p:nvSpPr>
          <p:cNvPr id="6" name="TextBox 5"/>
          <p:cNvSpPr txBox="1"/>
          <p:nvPr/>
        </p:nvSpPr>
        <p:spPr>
          <a:xfrm>
            <a:off x="640080" y="1481328"/>
            <a:ext cx="5172027" cy="376732"/>
          </a:xfrm>
          <a:prstGeom prst="rect">
            <a:avLst/>
          </a:prstGeom>
          <a:noFill/>
        </p:spPr>
        <p:txBody>
          <a:bodyPr wrap="square" lIns="0" rIns="0" tIns="0" bIns="0" anchor="t">
            <a:spAutoFit/>
          </a:bodyPr>
          <a:lstStyle/>
          <a:p>
            <a:pPr algn="l">
              <a:spcAft>
                <a:spcPts val="0"/>
              </a:spcAft>
            </a:pPr>
            <a:r>
              <a:rPr sz="1350" b="1" i="0">
                <a:solidFill>
                  <a:srgbClr val="5F7C17"/>
                </a:solidFill>
                <a:latin typeface="Arial"/>
              </a:rPr>
              <a:t>Décomposer une série</a:t>
            </a:r>
          </a:p>
        </p:txBody>
      </p:sp>
      <p:sp>
        <p:nvSpPr>
          <p:cNvPr id="7" name="TextBox 6"/>
          <p:cNvSpPr txBox="1"/>
          <p:nvPr/>
        </p:nvSpPr>
        <p:spPr>
          <a:xfrm>
            <a:off x="640080" y="1952244"/>
            <a:ext cx="1227260" cy="706374"/>
          </a:xfrm>
          <a:prstGeom prst="rect">
            <a:avLst/>
          </a:prstGeom>
          <a:noFill/>
        </p:spPr>
        <p:txBody>
          <a:bodyPr wrap="square" lIns="0" rIns="0" tIns="0" bIns="0" anchor="ctr">
            <a:spAutoFit/>
          </a:bodyPr>
          <a:lstStyle/>
          <a:p>
            <a:pPr algn="l">
              <a:spcAft>
                <a:spcPts val="0"/>
              </a:spcAft>
            </a:pPr>
            <a:r>
              <a:rPr sz="1125" b="1" i="0">
                <a:solidFill>
                  <a:srgbClr val="1A2E2B"/>
                </a:solidFill>
                <a:latin typeface="Arial"/>
              </a:rPr>
              <a:t>Tendance</a:t>
            </a:r>
          </a:p>
        </p:txBody>
      </p:sp>
      <p:sp>
        <p:nvSpPr>
          <p:cNvPr id="8" name="Rectangle 7"/>
          <p:cNvSpPr/>
          <p:nvPr/>
        </p:nvSpPr>
        <p:spPr>
          <a:xfrm>
            <a:off x="1911171" y="1952244"/>
            <a:ext cx="2279198" cy="706374"/>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998833" y="2555655"/>
            <a:ext cx="35658"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034491" y="254687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70150" y="253809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105809" y="252931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141468" y="252053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77127" y="2511756"/>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212786" y="2502976"/>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248445" y="2494196"/>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284104" y="2485416"/>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319763" y="2476636"/>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355422" y="2467857"/>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391081" y="2459077"/>
            <a:ext cx="35658"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426739" y="2450297"/>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462398" y="2441517"/>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98057" y="2432737"/>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33716" y="2423958"/>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569375" y="2415178"/>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605034" y="2406398"/>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640693" y="2397618"/>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676352" y="2388839"/>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712011" y="2380059"/>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747670" y="2371279"/>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783329" y="2362499"/>
            <a:ext cx="35658"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818987" y="2353719"/>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854646" y="2344940"/>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890305" y="2336160"/>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925964" y="2327380"/>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961623" y="2318600"/>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997282" y="2309820"/>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032941" y="2301041"/>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068600" y="2292261"/>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104259" y="2283481"/>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139918" y="2274701"/>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175577" y="2265921"/>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211236" y="2257142"/>
            <a:ext cx="35658"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46894" y="2248362"/>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282553" y="2239582"/>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318212" y="2230802"/>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353871" y="2222022"/>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389530" y="2213243"/>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425189" y="2204463"/>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460848" y="2195683"/>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496507" y="2186903"/>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532166" y="2178124"/>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567825" y="2169344"/>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603484" y="2160564"/>
            <a:ext cx="35658"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639142" y="2151784"/>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674801" y="2143004"/>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710460" y="2134225"/>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46119" y="212544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781778" y="211666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817437" y="210788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853096" y="2099105"/>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88755" y="2090326"/>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924414" y="2081546"/>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60073" y="2072766"/>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995732" y="2063986"/>
            <a:ext cx="35658"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031390" y="2055206"/>
            <a:ext cx="35659" cy="878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067049" y="2046427"/>
            <a:ext cx="35659" cy="877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278031" y="2470251"/>
            <a:ext cx="262984" cy="376732"/>
          </a:xfrm>
          <a:prstGeom prst="rect">
            <a:avLst/>
          </a:prstGeom>
          <a:noFill/>
        </p:spPr>
        <p:txBody>
          <a:bodyPr wrap="square" lIns="0" rIns="0" tIns="0" bIns="0" anchor="ctr">
            <a:spAutoFit/>
          </a:bodyPr>
          <a:lstStyle/>
          <a:p>
            <a:pPr algn="ctr">
              <a:spcAft>
                <a:spcPts val="0"/>
              </a:spcAft>
            </a:pPr>
            <a:r>
              <a:rPr sz="1440" b="1" i="0">
                <a:solidFill>
                  <a:srgbClr val="5A6B68"/>
                </a:solidFill>
                <a:latin typeface="Arial"/>
              </a:rPr>
              <a:t>+</a:t>
            </a:r>
          </a:p>
        </p:txBody>
      </p:sp>
      <p:sp>
        <p:nvSpPr>
          <p:cNvPr id="69" name="TextBox 68"/>
          <p:cNvSpPr txBox="1"/>
          <p:nvPr/>
        </p:nvSpPr>
        <p:spPr>
          <a:xfrm>
            <a:off x="640080" y="2846984"/>
            <a:ext cx="1227260" cy="706374"/>
          </a:xfrm>
          <a:prstGeom prst="rect">
            <a:avLst/>
          </a:prstGeom>
          <a:noFill/>
        </p:spPr>
        <p:txBody>
          <a:bodyPr wrap="square" lIns="0" rIns="0" tIns="0" bIns="0" anchor="ctr">
            <a:spAutoFit/>
          </a:bodyPr>
          <a:lstStyle/>
          <a:p>
            <a:pPr algn="l">
              <a:spcAft>
                <a:spcPts val="0"/>
              </a:spcAft>
            </a:pPr>
            <a:r>
              <a:rPr sz="1125" b="1" i="0">
                <a:solidFill>
                  <a:srgbClr val="1A2E2B"/>
                </a:solidFill>
                <a:latin typeface="Arial"/>
              </a:rPr>
              <a:t>Saisonnalité</a:t>
            </a:r>
          </a:p>
        </p:txBody>
      </p:sp>
      <p:sp>
        <p:nvSpPr>
          <p:cNvPr id="70" name="Rectangle 69"/>
          <p:cNvSpPr/>
          <p:nvPr/>
        </p:nvSpPr>
        <p:spPr>
          <a:xfrm>
            <a:off x="1911171" y="2846984"/>
            <a:ext cx="2279198" cy="706374"/>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flipV="1">
            <a:off x="1998833" y="3094244"/>
            <a:ext cx="35658" cy="10592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2034491" y="3006633"/>
            <a:ext cx="35659" cy="8761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2070150" y="2952487"/>
            <a:ext cx="35659" cy="5414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105809" y="2941167"/>
            <a:ext cx="35659"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2141468" y="2941167"/>
            <a:ext cx="35659"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2177127" y="2974632"/>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212786" y="3047094"/>
            <a:ext cx="35659" cy="9893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248445" y="3146024"/>
            <a:ext cx="35659" cy="10829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2284104" y="3254317"/>
            <a:ext cx="35659" cy="9893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2319763" y="3353248"/>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355422" y="3425710"/>
            <a:ext cx="35659"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2391081" y="3447855"/>
            <a:ext cx="35658"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2426739" y="3393708"/>
            <a:ext cx="35659" cy="5414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2462398" y="3306098"/>
            <a:ext cx="35659" cy="8761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498057" y="3200171"/>
            <a:ext cx="35659" cy="10592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2533716" y="3094244"/>
            <a:ext cx="35659" cy="10592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569375" y="3006633"/>
            <a:ext cx="35659" cy="8761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605034" y="2952487"/>
            <a:ext cx="35659" cy="5414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640693" y="2941167"/>
            <a:ext cx="35659"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2676352" y="2941167"/>
            <a:ext cx="35659"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2712011" y="2974632"/>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2747670" y="3047094"/>
            <a:ext cx="35659" cy="9893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2783329" y="3146024"/>
            <a:ext cx="35658" cy="10829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2818987" y="3254317"/>
            <a:ext cx="35659" cy="9893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2854646" y="3353248"/>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2890305" y="3425710"/>
            <a:ext cx="35659"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925964" y="3447855"/>
            <a:ext cx="35659"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961623" y="3393708"/>
            <a:ext cx="35659" cy="5414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997282" y="3306098"/>
            <a:ext cx="35659" cy="8761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032941" y="3200171"/>
            <a:ext cx="35659" cy="10592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068600" y="3094244"/>
            <a:ext cx="35659" cy="10592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104259" y="3006633"/>
            <a:ext cx="35659" cy="8761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139918" y="2952487"/>
            <a:ext cx="35659" cy="5414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175577" y="2941167"/>
            <a:ext cx="35659"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211236" y="2941167"/>
            <a:ext cx="35658"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246894" y="2974632"/>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282553" y="3047094"/>
            <a:ext cx="35659" cy="9893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3318212" y="3146024"/>
            <a:ext cx="35659" cy="10829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3353871" y="3254317"/>
            <a:ext cx="35659" cy="9893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3389530" y="3353248"/>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3425189" y="3425710"/>
            <a:ext cx="35659"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460848" y="3447855"/>
            <a:ext cx="35659"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496507" y="3393708"/>
            <a:ext cx="35659" cy="5414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532166" y="3306098"/>
            <a:ext cx="35659" cy="8761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567825" y="3200171"/>
            <a:ext cx="35659" cy="10592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603484" y="3094244"/>
            <a:ext cx="35658" cy="10592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639142" y="3006633"/>
            <a:ext cx="35659" cy="8761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674801" y="2952487"/>
            <a:ext cx="35659" cy="5414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10460" y="2941167"/>
            <a:ext cx="35659"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3746119" y="2941167"/>
            <a:ext cx="35659"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781778" y="2974632"/>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3817437" y="3047094"/>
            <a:ext cx="35659" cy="9893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3853096" y="3146024"/>
            <a:ext cx="35659" cy="10829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3888755" y="3254317"/>
            <a:ext cx="35659" cy="98931"/>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3924414" y="3353248"/>
            <a:ext cx="35659" cy="724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3960073" y="3425710"/>
            <a:ext cx="35659" cy="334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995732" y="3447855"/>
            <a:ext cx="35658" cy="113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031390" y="3393708"/>
            <a:ext cx="35659" cy="5414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067049" y="3306098"/>
            <a:ext cx="35659" cy="8761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4278031" y="3364992"/>
            <a:ext cx="262984" cy="376732"/>
          </a:xfrm>
          <a:prstGeom prst="rect">
            <a:avLst/>
          </a:prstGeom>
          <a:noFill/>
        </p:spPr>
        <p:txBody>
          <a:bodyPr wrap="square" lIns="0" rIns="0" tIns="0" bIns="0" anchor="ctr">
            <a:spAutoFit/>
          </a:bodyPr>
          <a:lstStyle/>
          <a:p>
            <a:pPr algn="ctr">
              <a:spcAft>
                <a:spcPts val="0"/>
              </a:spcAft>
            </a:pPr>
            <a:r>
              <a:rPr sz="1440" b="1" i="0">
                <a:solidFill>
                  <a:srgbClr val="5A6B68"/>
                </a:solidFill>
                <a:latin typeface="Arial"/>
              </a:rPr>
              <a:t>+</a:t>
            </a:r>
          </a:p>
        </p:txBody>
      </p:sp>
      <p:sp>
        <p:nvSpPr>
          <p:cNvPr id="131" name="TextBox 130"/>
          <p:cNvSpPr txBox="1"/>
          <p:nvPr/>
        </p:nvSpPr>
        <p:spPr>
          <a:xfrm>
            <a:off x="640080" y="3741724"/>
            <a:ext cx="1227260" cy="706374"/>
          </a:xfrm>
          <a:prstGeom prst="rect">
            <a:avLst/>
          </a:prstGeom>
          <a:noFill/>
        </p:spPr>
        <p:txBody>
          <a:bodyPr wrap="square" lIns="0" rIns="0" tIns="0" bIns="0" anchor="ctr">
            <a:spAutoFit/>
          </a:bodyPr>
          <a:lstStyle/>
          <a:p>
            <a:pPr algn="l">
              <a:spcAft>
                <a:spcPts val="0"/>
              </a:spcAft>
            </a:pPr>
            <a:r>
              <a:rPr sz="1125" b="1" i="0">
                <a:solidFill>
                  <a:srgbClr val="1A2E2B"/>
                </a:solidFill>
                <a:latin typeface="Arial"/>
              </a:rPr>
              <a:t>Bruit</a:t>
            </a:r>
          </a:p>
        </p:txBody>
      </p:sp>
      <p:sp>
        <p:nvSpPr>
          <p:cNvPr id="132" name="Rectangle 131"/>
          <p:cNvSpPr/>
          <p:nvPr/>
        </p:nvSpPr>
        <p:spPr>
          <a:xfrm>
            <a:off x="1911171" y="3741724"/>
            <a:ext cx="2279198" cy="706374"/>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Connector 132"/>
          <p:cNvCxnSpPr/>
          <p:nvPr/>
        </p:nvCxnSpPr>
        <p:spPr>
          <a:xfrm flipV="1">
            <a:off x="1998833" y="4054851"/>
            <a:ext cx="35658" cy="52482"/>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2034491" y="4054851"/>
            <a:ext cx="35659" cy="114588"/>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2070150" y="4068743"/>
            <a:ext cx="35659" cy="10069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2105809" y="3997751"/>
            <a:ext cx="35659" cy="70992"/>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2141468" y="3997751"/>
            <a:ext cx="35659" cy="63730"/>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2177127" y="3919042"/>
            <a:ext cx="35659" cy="142439"/>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2212786" y="3919042"/>
            <a:ext cx="35659" cy="302901"/>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2248445" y="4104049"/>
            <a:ext cx="35659" cy="117894"/>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2284104" y="4104049"/>
            <a:ext cx="35659" cy="95632"/>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2319763" y="4199681"/>
            <a:ext cx="35659" cy="9700"/>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2355422" y="4135148"/>
            <a:ext cx="35659" cy="74233"/>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2391081" y="4085001"/>
            <a:ext cx="35658" cy="5014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2426739" y="4060530"/>
            <a:ext cx="35659" cy="24471"/>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2462398" y="4049495"/>
            <a:ext cx="35659" cy="11035"/>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2498057" y="3835908"/>
            <a:ext cx="35659" cy="21358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2533716" y="3835908"/>
            <a:ext cx="35659" cy="16971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2569375" y="4005625"/>
            <a:ext cx="35659" cy="304132"/>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2605034" y="4087093"/>
            <a:ext cx="35659" cy="222664"/>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2640693" y="4087093"/>
            <a:ext cx="35659" cy="102415"/>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2676352" y="4176228"/>
            <a:ext cx="35659" cy="13280"/>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2712011" y="3950709"/>
            <a:ext cx="35659" cy="225519"/>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2747670" y="3950709"/>
            <a:ext cx="35659" cy="18927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2783329" y="4139985"/>
            <a:ext cx="35658" cy="213930"/>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2818987" y="4073947"/>
            <a:ext cx="35659" cy="279968"/>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2854646" y="4073947"/>
            <a:ext cx="35659" cy="74521"/>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2890305" y="4148468"/>
            <a:ext cx="35659" cy="109289"/>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2925964" y="4226400"/>
            <a:ext cx="35659" cy="3135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2961623" y="4189786"/>
            <a:ext cx="35659" cy="36614"/>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2997282" y="4115287"/>
            <a:ext cx="35659" cy="74499"/>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3032941" y="4115287"/>
            <a:ext cx="35659" cy="49920"/>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3068600" y="4103544"/>
            <a:ext cx="35659" cy="61663"/>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3104259" y="3885107"/>
            <a:ext cx="35659" cy="21843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3139918" y="3885107"/>
            <a:ext cx="35659" cy="32633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3175577" y="4211444"/>
            <a:ext cx="35659" cy="890"/>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3211236" y="4143233"/>
            <a:ext cx="35658" cy="69101"/>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3246894" y="3976786"/>
            <a:ext cx="35659" cy="16644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3282553" y="3976786"/>
            <a:ext cx="35659" cy="223018"/>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3318212" y="3934858"/>
            <a:ext cx="35659" cy="26494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3353871" y="3934858"/>
            <a:ext cx="35659" cy="33944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3389530" y="4240171"/>
            <a:ext cx="35659" cy="34134"/>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3425189" y="4119119"/>
            <a:ext cx="35659" cy="121052"/>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3460848" y="4119119"/>
            <a:ext cx="35659" cy="10014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3496507" y="4188929"/>
            <a:ext cx="35659" cy="3033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3532166" y="4056543"/>
            <a:ext cx="35659" cy="13238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3567825" y="4022754"/>
            <a:ext cx="35659" cy="33789"/>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3603484" y="4022754"/>
            <a:ext cx="35658" cy="75533"/>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3639142" y="4098287"/>
            <a:ext cx="35659" cy="4809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3674801" y="3946015"/>
            <a:ext cx="35659" cy="200368"/>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3710460" y="3946015"/>
            <a:ext cx="35659" cy="11653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3746119" y="4062552"/>
            <a:ext cx="35659" cy="78935"/>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3781778" y="3962086"/>
            <a:ext cx="35659" cy="179401"/>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3817437" y="3962086"/>
            <a:ext cx="35659" cy="261879"/>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3853096" y="4092006"/>
            <a:ext cx="35659" cy="131959"/>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3888755" y="4030742"/>
            <a:ext cx="35659" cy="61264"/>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3924414" y="4030742"/>
            <a:ext cx="35659" cy="83045"/>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3960073" y="4113787"/>
            <a:ext cx="35659" cy="69714"/>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3995732" y="4068995"/>
            <a:ext cx="35658" cy="114506"/>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4031390" y="4068995"/>
            <a:ext cx="35659" cy="110314"/>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4067049" y="4179309"/>
            <a:ext cx="35659" cy="6777"/>
          </a:xfrm>
          <a:prstGeom prst="line">
            <a:avLst/>
          </a:prstGeom>
          <a:ln w="19050">
            <a:solidFill>
              <a:srgbClr val="8C9A98"/>
            </a:solidFill>
          </a:ln>
        </p:spPr>
        <p:style>
          <a:lnRef idx="2">
            <a:schemeClr val="accent1"/>
          </a:lnRef>
          <a:fillRef idx="0">
            <a:schemeClr val="accent1"/>
          </a:fillRef>
          <a:effectRef idx="1">
            <a:schemeClr val="accent1"/>
          </a:effectRef>
          <a:fontRef idx="minor">
            <a:schemeClr val="tx1"/>
          </a:fontRef>
        </p:style>
      </p:cxnSp>
      <p:sp>
        <p:nvSpPr>
          <p:cNvPr id="192" name="TextBox 191"/>
          <p:cNvSpPr txBox="1"/>
          <p:nvPr/>
        </p:nvSpPr>
        <p:spPr>
          <a:xfrm>
            <a:off x="4278031" y="4024274"/>
            <a:ext cx="262984" cy="376732"/>
          </a:xfrm>
          <a:prstGeom prst="rect">
            <a:avLst/>
          </a:prstGeom>
          <a:noFill/>
        </p:spPr>
        <p:txBody>
          <a:bodyPr wrap="square" lIns="0" rIns="0" tIns="0" bIns="0" anchor="ctr">
            <a:spAutoFit/>
          </a:bodyPr>
          <a:lstStyle/>
          <a:p>
            <a:pPr algn="ctr">
              <a:spcAft>
                <a:spcPts val="0"/>
              </a:spcAft>
            </a:pPr>
            <a:r>
              <a:rPr sz="1440" b="1" i="0">
                <a:solidFill>
                  <a:srgbClr val="5A6B68"/>
                </a:solidFill>
                <a:latin typeface="Arial"/>
              </a:rPr>
              <a:t>=</a:t>
            </a:r>
          </a:p>
        </p:txBody>
      </p:sp>
      <p:sp>
        <p:nvSpPr>
          <p:cNvPr id="193" name="Rectangle 192"/>
          <p:cNvSpPr/>
          <p:nvPr/>
        </p:nvSpPr>
        <p:spPr>
          <a:xfrm>
            <a:off x="4584846" y="1952244"/>
            <a:ext cx="1227260" cy="2495854"/>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4" name="Connector 193"/>
          <p:cNvCxnSpPr/>
          <p:nvPr/>
        </p:nvCxnSpPr>
        <p:spPr>
          <a:xfrm flipV="1">
            <a:off x="4628677" y="3645915"/>
            <a:ext cx="19315" cy="32489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4647992" y="3580587"/>
            <a:ext cx="19316" cy="65328"/>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4667308" y="3305524"/>
            <a:ext cx="19315" cy="275063"/>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4686623" y="3163103"/>
            <a:ext cx="19315" cy="14242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4705938" y="3163103"/>
            <a:ext cx="19315" cy="13248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4725253" y="3242421"/>
            <a:ext cx="19316" cy="5317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4744569" y="3242421"/>
            <a:ext cx="19315" cy="58985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4763884" y="3832275"/>
            <a:ext cx="19315" cy="5739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4783199" y="3889674"/>
            <a:ext cx="19315" cy="31750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4802514" y="4207178"/>
            <a:ext cx="19316" cy="146737"/>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4821830" y="4305124"/>
            <a:ext cx="19315" cy="4879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4841145" y="4190092"/>
            <a:ext cx="19315" cy="115032"/>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4860460" y="4015189"/>
            <a:ext cx="19315" cy="174903"/>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4879775" y="3784792"/>
            <a:ext cx="19316" cy="230397"/>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4899091" y="3248212"/>
            <a:ext cx="19315" cy="53658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4918406" y="3215288"/>
            <a:ext cx="19315" cy="3292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4937721" y="3215288"/>
            <a:ext cx="19315" cy="18373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4957036" y="2963691"/>
            <a:ext cx="19316" cy="435327"/>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4976352" y="2963691"/>
            <a:ext cx="19315" cy="8543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4995667" y="3049125"/>
            <a:ext cx="19315" cy="3130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5014982" y="2918087"/>
            <a:ext cx="19315" cy="162338"/>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5034297" y="2918087"/>
            <a:ext cx="19316" cy="440552"/>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5053613" y="3358639"/>
            <a:ext cx="19315" cy="49341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5072928" y="3676021"/>
            <a:ext cx="19315" cy="17602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5092243" y="3676021"/>
            <a:ext cx="19315" cy="23191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5111558" y="3907932"/>
            <a:ext cx="19316" cy="19235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5130874" y="4009944"/>
            <a:ext cx="19315" cy="90342"/>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150189" y="3819084"/>
            <a:ext cx="19315" cy="19086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169504" y="3505298"/>
            <a:ext cx="19315" cy="313786"/>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188819" y="3314962"/>
            <a:ext cx="19315" cy="190336"/>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5208134" y="2978008"/>
            <a:ext cx="19316" cy="33695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5227450" y="2475088"/>
            <a:ext cx="19315" cy="50292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46765" y="2475088"/>
            <a:ext cx="19315" cy="28605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5266080" y="2713172"/>
            <a:ext cx="19315" cy="4797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5285395" y="2671124"/>
            <a:ext cx="19316" cy="42048"/>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5304711" y="2586406"/>
            <a:ext cx="19315" cy="84718"/>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324026" y="2586406"/>
            <a:ext cx="19315" cy="48488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5343341" y="2935470"/>
            <a:ext cx="19315" cy="135825"/>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362656" y="2935470"/>
            <a:ext cx="19316" cy="637875"/>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381972" y="3573345"/>
            <a:ext cx="19315" cy="8913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5401287" y="3552172"/>
            <a:ext cx="19315" cy="110312"/>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420602" y="3552172"/>
            <a:ext cx="19315" cy="82453"/>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5439917" y="3452014"/>
            <a:ext cx="19316" cy="18261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5459233" y="3062165"/>
            <a:ext cx="19315" cy="38984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5478548" y="2761836"/>
            <a:ext cx="19315" cy="30032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5497863" y="2605156"/>
            <a:ext cx="19315" cy="15668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5517178" y="2452458"/>
            <a:ext cx="19316" cy="152698"/>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5536494" y="2046427"/>
            <a:ext cx="19315" cy="40603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555809" y="2046427"/>
            <a:ext cx="19315" cy="10398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575124" y="2150416"/>
            <a:ext cx="19315" cy="15247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5594439" y="2201147"/>
            <a:ext cx="19316" cy="101739"/>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613755" y="2201147"/>
            <a:ext cx="19315" cy="53595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633070" y="2737098"/>
            <a:ext cx="19315" cy="38918"/>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652385" y="2776016"/>
            <a:ext cx="19315" cy="111345"/>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71700" y="2887361"/>
            <a:ext cx="19316" cy="243111"/>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91016" y="3130472"/>
            <a:ext cx="19315" cy="140354"/>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5710331" y="3071226"/>
            <a:ext cx="19315" cy="19960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5729646" y="3071226"/>
            <a:ext cx="19315" cy="2202"/>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5748961" y="2866438"/>
            <a:ext cx="19316" cy="206990"/>
          </a:xfrm>
          <a:prstGeom prst="line">
            <a:avLst/>
          </a:prstGeom>
          <a:ln w="15875">
            <a:solidFill>
              <a:srgbClr val="1A2E2B"/>
            </a:solidFill>
          </a:ln>
        </p:spPr>
        <p:style>
          <a:lnRef idx="2">
            <a:schemeClr val="accent1"/>
          </a:lnRef>
          <a:fillRef idx="0">
            <a:schemeClr val="accent1"/>
          </a:fillRef>
          <a:effectRef idx="1">
            <a:schemeClr val="accent1"/>
          </a:effectRef>
          <a:fontRef idx="minor">
            <a:schemeClr val="tx1"/>
          </a:fontRef>
        </p:style>
      </p:cxnSp>
      <p:sp>
        <p:nvSpPr>
          <p:cNvPr id="253" name="TextBox 252"/>
          <p:cNvSpPr txBox="1"/>
          <p:nvPr/>
        </p:nvSpPr>
        <p:spPr>
          <a:xfrm>
            <a:off x="4584846" y="4495190"/>
            <a:ext cx="1227260" cy="282549"/>
          </a:xfrm>
          <a:prstGeom prst="rect">
            <a:avLst/>
          </a:prstGeom>
          <a:noFill/>
        </p:spPr>
        <p:txBody>
          <a:bodyPr wrap="square" lIns="0" rIns="0" tIns="0" bIns="0" anchor="t">
            <a:spAutoFit/>
          </a:bodyPr>
          <a:lstStyle/>
          <a:p>
            <a:pPr algn="ctr">
              <a:spcAft>
                <a:spcPts val="0"/>
              </a:spcAft>
            </a:pPr>
            <a:r>
              <a:rPr sz="945" b="1" i="0">
                <a:solidFill>
                  <a:srgbClr val="1A2E2B"/>
                </a:solidFill>
                <a:latin typeface="Arial"/>
              </a:rPr>
              <a:t>Série observée</a:t>
            </a:r>
          </a:p>
        </p:txBody>
      </p:sp>
      <p:sp>
        <p:nvSpPr>
          <p:cNvPr id="254" name="TextBox 253"/>
          <p:cNvSpPr txBox="1"/>
          <p:nvPr/>
        </p:nvSpPr>
        <p:spPr>
          <a:xfrm>
            <a:off x="640080" y="4919014"/>
            <a:ext cx="5172027" cy="565099"/>
          </a:xfrm>
          <a:prstGeom prst="rect">
            <a:avLst/>
          </a:prstGeom>
          <a:noFill/>
        </p:spPr>
        <p:txBody>
          <a:bodyPr wrap="square" lIns="0" rIns="0" tIns="0" bIns="0" anchor="t">
            <a:spAutoFit/>
          </a:bodyPr>
          <a:lstStyle/>
          <a:p>
            <a:pPr algn="l">
              <a:spcAft>
                <a:spcPts val="0"/>
              </a:spcAft>
            </a:pPr>
            <a:r>
              <a:rPr sz="1080" b="0" i="1">
                <a:solidFill>
                  <a:srgbClr val="5A6B68"/>
                </a:solidFill>
                <a:latin typeface="Arial"/>
              </a:rPr>
              <a:t>Comprendre ces composantes aide à choisir le modèle et les variables utiles.</a:t>
            </a:r>
          </a:p>
        </p:txBody>
      </p:sp>
      <p:sp>
        <p:nvSpPr>
          <p:cNvPr id="255" name="TextBox 254"/>
          <p:cNvSpPr txBox="1"/>
          <p:nvPr/>
        </p:nvSpPr>
        <p:spPr>
          <a:xfrm>
            <a:off x="6162753" y="1481328"/>
            <a:ext cx="5084366" cy="376732"/>
          </a:xfrm>
          <a:prstGeom prst="rect">
            <a:avLst/>
          </a:prstGeom>
          <a:noFill/>
        </p:spPr>
        <p:txBody>
          <a:bodyPr wrap="square" lIns="0" rIns="0" tIns="0" bIns="0" anchor="t">
            <a:spAutoFit/>
          </a:bodyPr>
          <a:lstStyle/>
          <a:p>
            <a:pPr algn="l">
              <a:spcAft>
                <a:spcPts val="0"/>
              </a:spcAft>
            </a:pPr>
            <a:r>
              <a:rPr sz="1350" b="1" i="0">
                <a:solidFill>
                  <a:srgbClr val="5F7C17"/>
                </a:solidFill>
                <a:latin typeface="Arial"/>
              </a:rPr>
              <a:t>Évaluer une prévision sans tricher</a:t>
            </a:r>
          </a:p>
        </p:txBody>
      </p:sp>
      <p:sp>
        <p:nvSpPr>
          <p:cNvPr id="256" name="Rectangle 255"/>
          <p:cNvSpPr/>
          <p:nvPr/>
        </p:nvSpPr>
        <p:spPr>
          <a:xfrm>
            <a:off x="6162753" y="1999335"/>
            <a:ext cx="3857105" cy="518007"/>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6162753" y="1999335"/>
            <a:ext cx="3857105" cy="518007"/>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passé : entraînement</a:t>
            </a:r>
          </a:p>
        </p:txBody>
      </p:sp>
      <p:sp>
        <p:nvSpPr>
          <p:cNvPr id="258" name="Rectangle 257"/>
          <p:cNvSpPr/>
          <p:nvPr/>
        </p:nvSpPr>
        <p:spPr>
          <a:xfrm>
            <a:off x="10019859" y="1999335"/>
            <a:ext cx="1227260" cy="518007"/>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0019859" y="1999335"/>
            <a:ext cx="1227260" cy="518007"/>
          </a:xfrm>
          <a:prstGeom prst="rect">
            <a:avLst/>
          </a:prstGeom>
          <a:noFill/>
        </p:spPr>
        <p:txBody>
          <a:bodyPr wrap="square" lIns="0" rIns="0" tIns="0" bIns="0" anchor="ctr">
            <a:spAutoFit/>
          </a:bodyPr>
          <a:lstStyle/>
          <a:p>
            <a:pPr algn="ctr">
              <a:spcAft>
                <a:spcPts val="0"/>
              </a:spcAft>
            </a:pPr>
            <a:r>
              <a:rPr sz="1035" b="1" i="0">
                <a:solidFill>
                  <a:srgbClr val="FFFFFF"/>
                </a:solidFill>
                <a:latin typeface="Arial"/>
              </a:rPr>
              <a:t>futur : test</a:t>
            </a:r>
          </a:p>
        </p:txBody>
      </p:sp>
      <p:cxnSp>
        <p:nvCxnSpPr>
          <p:cNvPr id="260" name="Connector 259"/>
          <p:cNvCxnSpPr/>
          <p:nvPr/>
        </p:nvCxnSpPr>
        <p:spPr>
          <a:xfrm>
            <a:off x="6162753" y="2658618"/>
            <a:ext cx="5084366" cy="0"/>
          </a:xfrm>
          <a:prstGeom prst="line">
            <a:avLst/>
          </a:prstGeom>
          <a:ln w="19050">
            <a:solidFill>
              <a:srgbClr val="5A6B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1" name="TextBox 260"/>
          <p:cNvSpPr txBox="1"/>
          <p:nvPr/>
        </p:nvSpPr>
        <p:spPr>
          <a:xfrm>
            <a:off x="10633489" y="2677454"/>
            <a:ext cx="613630" cy="235458"/>
          </a:xfrm>
          <a:prstGeom prst="rect">
            <a:avLst/>
          </a:prstGeom>
          <a:noFill/>
        </p:spPr>
        <p:txBody>
          <a:bodyPr wrap="square" lIns="0" rIns="0" tIns="0" bIns="0" anchor="t">
            <a:spAutoFit/>
          </a:bodyPr>
          <a:lstStyle/>
          <a:p>
            <a:pPr algn="r">
              <a:spcAft>
                <a:spcPts val="0"/>
              </a:spcAft>
            </a:pPr>
            <a:r>
              <a:rPr sz="855" b="0" i="1">
                <a:solidFill>
                  <a:srgbClr val="5A6B68"/>
                </a:solidFill>
                <a:latin typeface="Arial"/>
              </a:rPr>
              <a:t>temps</a:t>
            </a:r>
          </a:p>
        </p:txBody>
      </p:sp>
      <p:sp>
        <p:nvSpPr>
          <p:cNvPr id="262" name="Rectangle 261"/>
          <p:cNvSpPr/>
          <p:nvPr/>
        </p:nvSpPr>
        <p:spPr>
          <a:xfrm>
            <a:off x="6162753" y="2988259"/>
            <a:ext cx="5084366" cy="89474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6162753" y="2988259"/>
            <a:ext cx="5084366"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6338076" y="3035350"/>
            <a:ext cx="4733720" cy="800557"/>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On ne mélange jamais les données</a:t>
            </a:r>
          </a:p>
          <a:p>
            <a:pPr algn="l">
              <a:spcAft>
                <a:spcPts val="0"/>
              </a:spcAft>
            </a:pPr>
            <a:r>
              <a:rPr sz="1080" b="0" i="0">
                <a:solidFill>
                  <a:srgbClr val="2B3A38"/>
                </a:solidFill>
                <a:latin typeface="Arial"/>
              </a:rPr>
              <a:t>Sinon le modèle verrait le 15 mars pour prévoir le 14 : il « lirait l'avenir ».</a:t>
            </a:r>
          </a:p>
        </p:txBody>
      </p:sp>
      <p:sp>
        <p:nvSpPr>
          <p:cNvPr id="265" name="Rectangle 264"/>
          <p:cNvSpPr/>
          <p:nvPr/>
        </p:nvSpPr>
        <p:spPr>
          <a:xfrm>
            <a:off x="6162753" y="3996019"/>
            <a:ext cx="5084366" cy="89474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6162753" y="3996019"/>
            <a:ext cx="5084366"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6338076" y="4043111"/>
            <a:ext cx="4733720" cy="800557"/>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On compare à une référence naïve</a:t>
            </a:r>
          </a:p>
          <a:p>
            <a:pPr algn="l">
              <a:spcAft>
                <a:spcPts val="0"/>
              </a:spcAft>
            </a:pPr>
            <a:r>
              <a:rPr sz="1080" b="0" i="0">
                <a:solidFill>
                  <a:srgbClr val="2B3A38"/>
                </a:solidFill>
                <a:latin typeface="Arial"/>
              </a:rPr>
              <a:t>« Demain comme aujourd'hui » est souvent étonnamment difficile à battre.</a:t>
            </a:r>
          </a:p>
        </p:txBody>
      </p:sp>
      <p:sp>
        <p:nvSpPr>
          <p:cNvPr id="268" name="Rectangle 267"/>
          <p:cNvSpPr/>
          <p:nvPr/>
        </p:nvSpPr>
        <p:spPr>
          <a:xfrm>
            <a:off x="6162753" y="5003779"/>
            <a:ext cx="5084366" cy="894740"/>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6162753" y="5003779"/>
            <a:ext cx="5084366"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6338076" y="5050871"/>
            <a:ext cx="4733720" cy="800557"/>
          </a:xfrm>
          <a:prstGeom prst="rect">
            <a:avLst/>
          </a:prstGeom>
          <a:noFill/>
        </p:spPr>
        <p:txBody>
          <a:bodyPr wrap="square" lIns="0" rIns="0" tIns="0" bIns="0" anchor="ctr">
            <a:spAutoFit/>
          </a:bodyPr>
          <a:lstStyle/>
          <a:p>
            <a:pPr algn="l">
              <a:spcAft>
                <a:spcPts val="0"/>
              </a:spcAft>
            </a:pPr>
            <a:r>
              <a:rPr sz="1215" b="1" i="0">
                <a:solidFill>
                  <a:srgbClr val="2B3A38"/>
                </a:solidFill>
                <a:latin typeface="Arial"/>
              </a:rPr>
              <a:t>On précise l'horizon</a:t>
            </a:r>
          </a:p>
          <a:p>
            <a:pPr algn="l">
              <a:spcAft>
                <a:spcPts val="0"/>
              </a:spcAft>
            </a:pPr>
            <a:r>
              <a:rPr sz="1080" b="0" i="0">
                <a:solidFill>
                  <a:srgbClr val="2B3A38"/>
                </a:solidFill>
                <a:latin typeface="Arial"/>
              </a:rPr>
              <a:t>Prévoir le lendemain est bien plus facile que prévoir le mois prochain.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5F7C17"/>
                </a:solidFill>
              </a:rPr>
              <a:t>A · IA prédictive · Séries temporelles</a:t>
            </a:r>
          </a:p>
        </p:txBody>
      </p:sp>
      <p:sp>
        <p:nvSpPr>
          <p:cNvPr id="3" name="Text Placeholder 2"/>
          <p:cNvSpPr>
            <a:spLocks noGrp="1"/>
          </p:cNvSpPr>
          <p:nvPr>
            <p:ph type="body" idx="25" sz="quarter"/>
          </p:nvPr>
        </p:nvSpPr>
        <p:spPr/>
        <p:txBody>
          <a:bodyPr/>
          <a:lstStyle/>
          <a:p>
            <a:r>
              <a:t>Séries temporelles : les modèles</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15</a:t>
            </a:fld>
          </a:p>
        </p:txBody>
      </p:sp>
      <p:sp>
        <p:nvSpPr>
          <p:cNvPr id="6" name="Rectangle 5"/>
          <p:cNvSpPr/>
          <p:nvPr/>
        </p:nvSpPr>
        <p:spPr>
          <a:xfrm>
            <a:off x="640080"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2498352"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402" y="1622602"/>
            <a:ext cx="2147706" cy="423824"/>
          </a:xfrm>
          <a:prstGeom prst="rect">
            <a:avLst/>
          </a:prstGeom>
          <a:noFill/>
        </p:spPr>
        <p:txBody>
          <a:bodyPr wrap="square" lIns="0" rIns="0" tIns="0" bIns="0" anchor="ctr">
            <a:spAutoFit/>
          </a:bodyPr>
          <a:lstStyle/>
          <a:p>
            <a:pPr algn="l">
              <a:spcAft>
                <a:spcPts val="0"/>
              </a:spcAft>
            </a:pPr>
            <a:r>
              <a:rPr sz="1350" b="1" i="0">
                <a:solidFill>
                  <a:srgbClr val="5F7C17"/>
                </a:solidFill>
                <a:latin typeface="Arial"/>
              </a:rPr>
              <a:t>Références naïves</a:t>
            </a:r>
          </a:p>
        </p:txBody>
      </p:sp>
      <p:sp>
        <p:nvSpPr>
          <p:cNvPr id="9" name="Rectangle 8"/>
          <p:cNvSpPr/>
          <p:nvPr/>
        </p:nvSpPr>
        <p:spPr>
          <a:xfrm>
            <a:off x="815402"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946895" y="3055772"/>
            <a:ext cx="60797" cy="4259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07692" y="3055772"/>
            <a:ext cx="60798" cy="13116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68490" y="3186938"/>
            <a:ext cx="60797" cy="376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29287" y="3224600"/>
            <a:ext cx="60798" cy="4020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90085" y="3122643"/>
            <a:ext cx="60797" cy="1421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250882" y="3091766"/>
            <a:ext cx="60798" cy="3087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11680" y="2968408"/>
            <a:ext cx="60797" cy="12335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372477" y="2830743"/>
            <a:ext cx="60798" cy="1376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433275" y="2721770"/>
            <a:ext cx="60797" cy="10897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494072" y="2637272"/>
            <a:ext cx="60798" cy="8449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554870" y="2581557"/>
            <a:ext cx="60797" cy="5571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615667" y="2528471"/>
            <a:ext cx="60798" cy="5308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676465" y="2528471"/>
            <a:ext cx="60797" cy="8311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737262" y="2611586"/>
            <a:ext cx="60797" cy="1429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798059" y="2589190"/>
            <a:ext cx="60798" cy="36694"/>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858857" y="2589190"/>
            <a:ext cx="60797" cy="30723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919654" y="2896429"/>
            <a:ext cx="60798" cy="2085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980452" y="2917282"/>
            <a:ext cx="60797" cy="5678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41249" y="2974068"/>
            <a:ext cx="60798" cy="8557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102047" y="3052590"/>
            <a:ext cx="60797" cy="705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162844" y="2994870"/>
            <a:ext cx="60798" cy="577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223642" y="2864645"/>
            <a:ext cx="60797" cy="13022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284439" y="2800313"/>
            <a:ext cx="60798" cy="6433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345237" y="2800313"/>
            <a:ext cx="486380" cy="0"/>
          </a:xfrm>
          <a:prstGeom prst="line">
            <a:avLst/>
          </a:prstGeom>
          <a:ln w="25400">
            <a:solidFill>
              <a:srgbClr val="ED5D42"/>
            </a:solidFill>
            <a:prstDash val="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15402"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 Demain comme aujourd'hui », ou « comme le même jour la semaine dernière ». Le plancher à battre.</a:t>
            </a:r>
          </a:p>
        </p:txBody>
      </p:sp>
      <p:sp>
        <p:nvSpPr>
          <p:cNvPr id="35" name="Rectangle 34"/>
          <p:cNvSpPr/>
          <p:nvPr/>
        </p:nvSpPr>
        <p:spPr>
          <a:xfrm>
            <a:off x="3331287"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31287" y="1481328"/>
            <a:ext cx="2498352"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06610" y="1622602"/>
            <a:ext cx="2147706" cy="423824"/>
          </a:xfrm>
          <a:prstGeom prst="rect">
            <a:avLst/>
          </a:prstGeom>
          <a:noFill/>
        </p:spPr>
        <p:txBody>
          <a:bodyPr wrap="square" lIns="0" rIns="0" tIns="0" bIns="0" anchor="ctr">
            <a:spAutoFit/>
          </a:bodyPr>
          <a:lstStyle/>
          <a:p>
            <a:pPr algn="l">
              <a:spcAft>
                <a:spcPts val="0"/>
              </a:spcAft>
            </a:pPr>
            <a:r>
              <a:rPr sz="1350" b="1" i="0">
                <a:solidFill>
                  <a:srgbClr val="5F7C17"/>
                </a:solidFill>
                <a:latin typeface="Arial"/>
              </a:rPr>
              <a:t>Lissage exponentiel</a:t>
            </a:r>
          </a:p>
        </p:txBody>
      </p:sp>
      <p:sp>
        <p:nvSpPr>
          <p:cNvPr id="38" name="Rectangle 37"/>
          <p:cNvSpPr/>
          <p:nvPr/>
        </p:nvSpPr>
        <p:spPr>
          <a:xfrm>
            <a:off x="3506610"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3638102" y="2820314"/>
            <a:ext cx="60798" cy="4259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698900" y="2820314"/>
            <a:ext cx="60797" cy="13116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759697" y="2951480"/>
            <a:ext cx="60798" cy="376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820495" y="2989142"/>
            <a:ext cx="60797" cy="4020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881292" y="2887185"/>
            <a:ext cx="60798" cy="1421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942090" y="2856308"/>
            <a:ext cx="60797" cy="3087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002887" y="2732950"/>
            <a:ext cx="60798" cy="12335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063685" y="2595285"/>
            <a:ext cx="60797" cy="1376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124482" y="2486312"/>
            <a:ext cx="60798" cy="10897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85280" y="2401814"/>
            <a:ext cx="60797" cy="8449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46077" y="2346099"/>
            <a:ext cx="60798" cy="5571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06875" y="2293013"/>
            <a:ext cx="60797" cy="5308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367672" y="2293013"/>
            <a:ext cx="60798" cy="8311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28470" y="2376128"/>
            <a:ext cx="60797" cy="1429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489267" y="2353732"/>
            <a:ext cx="60798" cy="36694"/>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550065" y="2353732"/>
            <a:ext cx="60797" cy="30723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610862" y="2660971"/>
            <a:ext cx="60798" cy="2085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671660" y="2681824"/>
            <a:ext cx="60797" cy="5678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732457" y="2738610"/>
            <a:ext cx="60798" cy="8557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793255" y="2817132"/>
            <a:ext cx="60797" cy="705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854052" y="2759412"/>
            <a:ext cx="60798" cy="577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914850" y="2629187"/>
            <a:ext cx="60797" cy="13022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975647" y="2564855"/>
            <a:ext cx="60797" cy="6433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4458586" y="3732306"/>
            <a:ext cx="61363" cy="37673"/>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519383" y="3689924"/>
            <a:ext cx="61363" cy="80055"/>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80181" y="3647541"/>
            <a:ext cx="61363" cy="12243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640978" y="3605159"/>
            <a:ext cx="61363" cy="164820"/>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701776" y="3562776"/>
            <a:ext cx="61363" cy="207203"/>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762573" y="3520394"/>
            <a:ext cx="61363" cy="249585"/>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823371" y="3478011"/>
            <a:ext cx="61363" cy="291967"/>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884168" y="3435629"/>
            <a:ext cx="61363" cy="334350"/>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944965" y="3393246"/>
            <a:ext cx="61363" cy="376732"/>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05763" y="3350864"/>
            <a:ext cx="61363" cy="419115"/>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594272" y="3553358"/>
            <a:ext cx="1139599" cy="282549"/>
          </a:xfrm>
          <a:prstGeom prst="rect">
            <a:avLst/>
          </a:prstGeom>
          <a:noFill/>
        </p:spPr>
        <p:txBody>
          <a:bodyPr wrap="square" lIns="0" rIns="0" tIns="0" bIns="0" anchor="t">
            <a:spAutoFit/>
          </a:bodyPr>
          <a:lstStyle/>
          <a:p>
            <a:pPr algn="l">
              <a:spcAft>
                <a:spcPts val="0"/>
              </a:spcAft>
            </a:pPr>
            <a:r>
              <a:rPr sz="765" b="0" i="1">
                <a:solidFill>
                  <a:srgbClr val="5A6B68"/>
                </a:solidFill>
                <a:latin typeface="Arial"/>
              </a:rPr>
              <a:t>poids des valeurs passées</a:t>
            </a:r>
          </a:p>
        </p:txBody>
      </p:sp>
      <p:sp>
        <p:nvSpPr>
          <p:cNvPr id="73" name="TextBox 72"/>
          <p:cNvSpPr txBox="1"/>
          <p:nvPr/>
        </p:nvSpPr>
        <p:spPr>
          <a:xfrm>
            <a:off x="3506610"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Une moyenne du passé où les valeurs récentes pèsent davantage. Simple et robuste.</a:t>
            </a:r>
          </a:p>
        </p:txBody>
      </p:sp>
      <p:sp>
        <p:nvSpPr>
          <p:cNvPr id="74" name="Rectangle 73"/>
          <p:cNvSpPr/>
          <p:nvPr/>
        </p:nvSpPr>
        <p:spPr>
          <a:xfrm>
            <a:off x="6022495"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022495" y="1481328"/>
            <a:ext cx="2498352"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97818" y="1622602"/>
            <a:ext cx="2147706" cy="423824"/>
          </a:xfrm>
          <a:prstGeom prst="rect">
            <a:avLst/>
          </a:prstGeom>
          <a:noFill/>
        </p:spPr>
        <p:txBody>
          <a:bodyPr wrap="square" lIns="0" rIns="0" tIns="0" bIns="0" anchor="ctr">
            <a:spAutoFit/>
          </a:bodyPr>
          <a:lstStyle/>
          <a:p>
            <a:pPr algn="l">
              <a:spcAft>
                <a:spcPts val="0"/>
              </a:spcAft>
            </a:pPr>
            <a:r>
              <a:rPr sz="1350" b="1" i="0">
                <a:solidFill>
                  <a:srgbClr val="5F7C17"/>
                </a:solidFill>
                <a:latin typeface="Arial"/>
              </a:rPr>
              <a:t>ARIMA / SARIMA</a:t>
            </a:r>
          </a:p>
        </p:txBody>
      </p:sp>
      <p:sp>
        <p:nvSpPr>
          <p:cNvPr id="77" name="Rectangle 76"/>
          <p:cNvSpPr/>
          <p:nvPr/>
        </p:nvSpPr>
        <p:spPr>
          <a:xfrm>
            <a:off x="6197818"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flipV="1">
            <a:off x="6329310" y="3055772"/>
            <a:ext cx="57113" cy="4259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386423" y="3055772"/>
            <a:ext cx="57113" cy="13116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443536" y="3186938"/>
            <a:ext cx="57112" cy="3766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500648" y="3224600"/>
            <a:ext cx="57113" cy="4020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6557761" y="3122643"/>
            <a:ext cx="57113" cy="1421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6614874" y="3091766"/>
            <a:ext cx="57113" cy="3087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6671987" y="2968408"/>
            <a:ext cx="57113" cy="12335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729100" y="2830743"/>
            <a:ext cx="57112" cy="13766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6786212" y="2721770"/>
            <a:ext cx="57113" cy="10897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843325" y="2637272"/>
            <a:ext cx="57113" cy="8449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900438" y="2581557"/>
            <a:ext cx="57113" cy="5571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957551" y="2528471"/>
            <a:ext cx="57112" cy="5308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014663" y="2528471"/>
            <a:ext cx="57113" cy="8311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7071776" y="2611586"/>
            <a:ext cx="57113" cy="1429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7128889" y="2589190"/>
            <a:ext cx="57113" cy="36694"/>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7186002" y="2589190"/>
            <a:ext cx="57113" cy="307239"/>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243115" y="2896429"/>
            <a:ext cx="57112" cy="20853"/>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300227" y="2917282"/>
            <a:ext cx="57113" cy="56786"/>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357340" y="2974068"/>
            <a:ext cx="57113" cy="8557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7414453" y="3052590"/>
            <a:ext cx="57113" cy="705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7471566" y="2994870"/>
            <a:ext cx="57113" cy="57720"/>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7528679" y="2864645"/>
            <a:ext cx="57112" cy="130225"/>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7585791" y="2800313"/>
            <a:ext cx="57113" cy="64332"/>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7642904" y="2595355"/>
            <a:ext cx="57113" cy="204958"/>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7700017" y="2595355"/>
            <a:ext cx="57113" cy="24617"/>
          </a:xfrm>
          <a:prstGeom prst="line">
            <a:avLst/>
          </a:prstGeom>
          <a:ln w="19050">
            <a:solidFill>
              <a:srgbClr val="5F7C1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7757130" y="2460505"/>
            <a:ext cx="57113" cy="91491"/>
          </a:xfrm>
          <a:prstGeom prst="line">
            <a:avLst/>
          </a:prstGeom>
          <a:ln w="25400">
            <a:solidFill>
              <a:srgbClr val="ED5D42"/>
            </a:solidFill>
            <a:prstDash val="dash"/>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814243" y="2405942"/>
            <a:ext cx="57112" cy="54563"/>
          </a:xfrm>
          <a:prstGeom prst="line">
            <a:avLst/>
          </a:prstGeom>
          <a:ln w="25400">
            <a:solidFill>
              <a:srgbClr val="ED5D42"/>
            </a:solidFill>
            <a:prstDash val="dash"/>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7871355" y="2395137"/>
            <a:ext cx="57113" cy="10805"/>
          </a:xfrm>
          <a:prstGeom prst="line">
            <a:avLst/>
          </a:prstGeom>
          <a:ln w="25400">
            <a:solidFill>
              <a:srgbClr val="ED5D42"/>
            </a:solidFill>
            <a:prstDash val="dash"/>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928468" y="2395137"/>
            <a:ext cx="57113" cy="32874"/>
          </a:xfrm>
          <a:prstGeom prst="line">
            <a:avLst/>
          </a:prstGeom>
          <a:ln w="25400">
            <a:solidFill>
              <a:srgbClr val="ED5D42"/>
            </a:solidFill>
            <a:prstDash val="dash"/>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985581" y="2428011"/>
            <a:ext cx="57113" cy="69580"/>
          </a:xfrm>
          <a:prstGeom prst="line">
            <a:avLst/>
          </a:prstGeom>
          <a:ln w="25400">
            <a:solidFill>
              <a:srgbClr val="ED5D42"/>
            </a:solidFill>
            <a:prstDash val="dash"/>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8042694" y="2497591"/>
            <a:ext cx="57112" cy="93515"/>
          </a:xfrm>
          <a:prstGeom prst="line">
            <a:avLst/>
          </a:prstGeom>
          <a:ln w="25400">
            <a:solidFill>
              <a:srgbClr val="ED5D42"/>
            </a:solidFill>
            <a:prstDash val="dash"/>
          </a:ln>
        </p:spPr>
        <p:style>
          <a:lnRef idx="2">
            <a:schemeClr val="accent1"/>
          </a:lnRef>
          <a:fillRef idx="0">
            <a:schemeClr val="accent1"/>
          </a:fillRef>
          <a:effectRef idx="1">
            <a:schemeClr val="accent1"/>
          </a:effectRef>
          <a:fontRef idx="minor">
            <a:schemeClr val="tx1"/>
          </a:fontRef>
        </p:style>
      </p:cxnSp>
      <p:sp>
        <p:nvSpPr>
          <p:cNvPr id="109" name="Oval 108"/>
          <p:cNvSpPr/>
          <p:nvPr/>
        </p:nvSpPr>
        <p:spPr>
          <a:xfrm>
            <a:off x="7713299" y="2222355"/>
            <a:ext cx="430338" cy="659282"/>
          </a:xfrm>
          <a:prstGeom prst="ellipse">
            <a:avLst/>
          </a:prstGeom>
          <a:solidFill>
            <a:srgbClr val="ED5D42">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197818"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Modèles statistiques qui exploitent les valeurs et erreurs passées, la tendance et la saisonnalité.</a:t>
            </a:r>
          </a:p>
        </p:txBody>
      </p:sp>
      <p:sp>
        <p:nvSpPr>
          <p:cNvPr id="111" name="Rectangle 110"/>
          <p:cNvSpPr/>
          <p:nvPr/>
        </p:nvSpPr>
        <p:spPr>
          <a:xfrm>
            <a:off x="8713703" y="1481328"/>
            <a:ext cx="2498352" cy="372023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8713703" y="1481328"/>
            <a:ext cx="2498352" cy="64008"/>
          </a:xfrm>
          <a:prstGeom prst="rect">
            <a:avLst/>
          </a:prstGeom>
          <a:solidFill>
            <a:srgbClr val="A0C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889025" y="1622602"/>
            <a:ext cx="2147706" cy="423824"/>
          </a:xfrm>
          <a:prstGeom prst="rect">
            <a:avLst/>
          </a:prstGeom>
          <a:noFill/>
        </p:spPr>
        <p:txBody>
          <a:bodyPr wrap="square" lIns="0" rIns="0" tIns="0" bIns="0" anchor="ctr">
            <a:spAutoFit/>
          </a:bodyPr>
          <a:lstStyle/>
          <a:p>
            <a:pPr algn="l">
              <a:spcAft>
                <a:spcPts val="0"/>
              </a:spcAft>
            </a:pPr>
            <a:r>
              <a:rPr sz="1350" b="1" i="0">
                <a:solidFill>
                  <a:srgbClr val="5F7C17"/>
                </a:solidFill>
                <a:latin typeface="Arial"/>
              </a:rPr>
              <a:t>Approche supervisée</a:t>
            </a:r>
          </a:p>
        </p:txBody>
      </p:sp>
      <p:sp>
        <p:nvSpPr>
          <p:cNvPr id="114" name="Rectangle 113"/>
          <p:cNvSpPr/>
          <p:nvPr/>
        </p:nvSpPr>
        <p:spPr>
          <a:xfrm>
            <a:off x="8889025" y="2093518"/>
            <a:ext cx="2147706" cy="178948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8976687" y="2206538"/>
            <a:ext cx="613630" cy="282549"/>
          </a:xfrm>
          <a:prstGeom prst="rect">
            <a:avLst/>
          </a:prstGeom>
          <a:solidFill>
            <a:srgbClr val="5F7C17"/>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020518" y="2206538"/>
            <a:ext cx="525968" cy="282549"/>
          </a:xfrm>
          <a:prstGeom prst="rect">
            <a:avLst/>
          </a:prstGeom>
          <a:noFill/>
        </p:spPr>
        <p:txBody>
          <a:bodyPr wrap="square" lIns="0" rIns="0" tIns="0" bIns="0" anchor="ctr">
            <a:spAutoFit/>
          </a:bodyPr>
          <a:lstStyle/>
          <a:p>
            <a:pPr algn="ctr">
              <a:spcAft>
                <a:spcPts val="0"/>
              </a:spcAft>
            </a:pPr>
            <a:r>
              <a:rPr sz="810" b="1" i="0">
                <a:solidFill>
                  <a:srgbClr val="FFFFFF"/>
                </a:solidFill>
                <a:latin typeface="Arial"/>
              </a:rPr>
              <a:t>J-1</a:t>
            </a:r>
          </a:p>
        </p:txBody>
      </p:sp>
      <p:sp>
        <p:nvSpPr>
          <p:cNvPr id="117" name="Rectangle 116"/>
          <p:cNvSpPr/>
          <p:nvPr/>
        </p:nvSpPr>
        <p:spPr>
          <a:xfrm>
            <a:off x="9590317" y="2206538"/>
            <a:ext cx="613630" cy="282549"/>
          </a:xfrm>
          <a:prstGeom prst="rect">
            <a:avLst/>
          </a:prstGeom>
          <a:solidFill>
            <a:srgbClr val="5F7C17"/>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634148" y="2206538"/>
            <a:ext cx="525968" cy="282549"/>
          </a:xfrm>
          <a:prstGeom prst="rect">
            <a:avLst/>
          </a:prstGeom>
          <a:noFill/>
        </p:spPr>
        <p:txBody>
          <a:bodyPr wrap="square" lIns="0" rIns="0" tIns="0" bIns="0" anchor="ctr">
            <a:spAutoFit/>
          </a:bodyPr>
          <a:lstStyle/>
          <a:p>
            <a:pPr algn="ctr">
              <a:spcAft>
                <a:spcPts val="0"/>
              </a:spcAft>
            </a:pPr>
            <a:r>
              <a:rPr sz="810" b="1" i="0">
                <a:solidFill>
                  <a:srgbClr val="FFFFFF"/>
                </a:solidFill>
                <a:latin typeface="Arial"/>
              </a:rPr>
              <a:t>J-7</a:t>
            </a:r>
          </a:p>
        </p:txBody>
      </p:sp>
      <p:sp>
        <p:nvSpPr>
          <p:cNvPr id="119" name="Rectangle 118"/>
          <p:cNvSpPr/>
          <p:nvPr/>
        </p:nvSpPr>
        <p:spPr>
          <a:xfrm>
            <a:off x="10203948" y="2206538"/>
            <a:ext cx="657461" cy="282549"/>
          </a:xfrm>
          <a:prstGeom prst="rect">
            <a:avLst/>
          </a:prstGeom>
          <a:solidFill>
            <a:srgbClr val="5F7C17"/>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247779" y="2206538"/>
            <a:ext cx="569799" cy="282549"/>
          </a:xfrm>
          <a:prstGeom prst="rect">
            <a:avLst/>
          </a:prstGeom>
          <a:noFill/>
        </p:spPr>
        <p:txBody>
          <a:bodyPr wrap="square" lIns="0" rIns="0" tIns="0" bIns="0" anchor="ctr">
            <a:spAutoFit/>
          </a:bodyPr>
          <a:lstStyle/>
          <a:p>
            <a:pPr algn="ctr">
              <a:spcAft>
                <a:spcPts val="0"/>
              </a:spcAft>
            </a:pPr>
            <a:r>
              <a:rPr sz="810" b="1" i="0">
                <a:solidFill>
                  <a:srgbClr val="FFFFFF"/>
                </a:solidFill>
                <a:latin typeface="Arial"/>
              </a:rPr>
              <a:t>météo</a:t>
            </a:r>
          </a:p>
        </p:txBody>
      </p:sp>
      <p:sp>
        <p:nvSpPr>
          <p:cNvPr id="121" name="Rectangle 120"/>
          <p:cNvSpPr/>
          <p:nvPr/>
        </p:nvSpPr>
        <p:spPr>
          <a:xfrm>
            <a:off x="8976687" y="2489088"/>
            <a:ext cx="613630" cy="28254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020518" y="2489088"/>
            <a:ext cx="525968" cy="282549"/>
          </a:xfrm>
          <a:prstGeom prst="rect">
            <a:avLst/>
          </a:prstGeom>
          <a:noFill/>
        </p:spPr>
        <p:txBody>
          <a:bodyPr wrap="square" lIns="0" rIns="0" tIns="0" bIns="0" anchor="ctr">
            <a:spAutoFit/>
          </a:bodyPr>
          <a:lstStyle/>
          <a:p>
            <a:pPr algn="ctr">
              <a:spcAft>
                <a:spcPts val="0"/>
              </a:spcAft>
            </a:pPr>
            <a:r>
              <a:rPr sz="810" i="0">
                <a:solidFill>
                  <a:srgbClr val="2B3A38"/>
                </a:solidFill>
                <a:latin typeface="Arial"/>
              </a:rPr>
              <a:t>5 120</a:t>
            </a:r>
          </a:p>
        </p:txBody>
      </p:sp>
      <p:sp>
        <p:nvSpPr>
          <p:cNvPr id="123" name="Rectangle 122"/>
          <p:cNvSpPr/>
          <p:nvPr/>
        </p:nvSpPr>
        <p:spPr>
          <a:xfrm>
            <a:off x="9590317" y="2489088"/>
            <a:ext cx="613630" cy="28254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634148" y="2489088"/>
            <a:ext cx="525968" cy="282549"/>
          </a:xfrm>
          <a:prstGeom prst="rect">
            <a:avLst/>
          </a:prstGeom>
          <a:noFill/>
        </p:spPr>
        <p:txBody>
          <a:bodyPr wrap="square" lIns="0" rIns="0" tIns="0" bIns="0" anchor="ctr">
            <a:spAutoFit/>
          </a:bodyPr>
          <a:lstStyle/>
          <a:p>
            <a:pPr algn="ctr">
              <a:spcAft>
                <a:spcPts val="0"/>
              </a:spcAft>
            </a:pPr>
            <a:r>
              <a:rPr sz="810" i="0">
                <a:solidFill>
                  <a:srgbClr val="2B3A38"/>
                </a:solidFill>
                <a:latin typeface="Arial"/>
              </a:rPr>
              <a:t>4 870</a:t>
            </a:r>
          </a:p>
        </p:txBody>
      </p:sp>
      <p:sp>
        <p:nvSpPr>
          <p:cNvPr id="125" name="Rectangle 124"/>
          <p:cNvSpPr/>
          <p:nvPr/>
        </p:nvSpPr>
        <p:spPr>
          <a:xfrm>
            <a:off x="10203948" y="2489088"/>
            <a:ext cx="657461" cy="282549"/>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0247779" y="2489088"/>
            <a:ext cx="569799" cy="282549"/>
          </a:xfrm>
          <a:prstGeom prst="rect">
            <a:avLst/>
          </a:prstGeom>
          <a:noFill/>
        </p:spPr>
        <p:txBody>
          <a:bodyPr wrap="square" lIns="0" rIns="0" tIns="0" bIns="0" anchor="ctr">
            <a:spAutoFit/>
          </a:bodyPr>
          <a:lstStyle/>
          <a:p>
            <a:pPr algn="ctr">
              <a:spcAft>
                <a:spcPts val="0"/>
              </a:spcAft>
            </a:pPr>
            <a:r>
              <a:rPr sz="810" i="0">
                <a:solidFill>
                  <a:srgbClr val="2B3A38"/>
                </a:solidFill>
                <a:latin typeface="Arial"/>
              </a:rPr>
              <a:t>pluie</a:t>
            </a:r>
          </a:p>
        </p:txBody>
      </p:sp>
      <p:sp>
        <p:nvSpPr>
          <p:cNvPr id="127" name="Rectangle 126"/>
          <p:cNvSpPr/>
          <p:nvPr/>
        </p:nvSpPr>
        <p:spPr>
          <a:xfrm>
            <a:off x="8976687" y="2771637"/>
            <a:ext cx="613630" cy="28254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020518" y="2771637"/>
            <a:ext cx="525968" cy="282549"/>
          </a:xfrm>
          <a:prstGeom prst="rect">
            <a:avLst/>
          </a:prstGeom>
          <a:noFill/>
        </p:spPr>
        <p:txBody>
          <a:bodyPr wrap="square" lIns="0" rIns="0" tIns="0" bIns="0" anchor="ctr">
            <a:spAutoFit/>
          </a:bodyPr>
          <a:lstStyle/>
          <a:p>
            <a:pPr algn="ctr">
              <a:spcAft>
                <a:spcPts val="0"/>
              </a:spcAft>
            </a:pPr>
            <a:r>
              <a:rPr sz="810" i="0">
                <a:solidFill>
                  <a:srgbClr val="2B3A38"/>
                </a:solidFill>
                <a:latin typeface="Arial"/>
              </a:rPr>
              <a:t>4 980</a:t>
            </a:r>
          </a:p>
        </p:txBody>
      </p:sp>
      <p:sp>
        <p:nvSpPr>
          <p:cNvPr id="129" name="Rectangle 128"/>
          <p:cNvSpPr/>
          <p:nvPr/>
        </p:nvSpPr>
        <p:spPr>
          <a:xfrm>
            <a:off x="9590317" y="2771637"/>
            <a:ext cx="613630" cy="28254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634148" y="2771637"/>
            <a:ext cx="525968" cy="282549"/>
          </a:xfrm>
          <a:prstGeom prst="rect">
            <a:avLst/>
          </a:prstGeom>
          <a:noFill/>
        </p:spPr>
        <p:txBody>
          <a:bodyPr wrap="square" lIns="0" rIns="0" tIns="0" bIns="0" anchor="ctr">
            <a:spAutoFit/>
          </a:bodyPr>
          <a:lstStyle/>
          <a:p>
            <a:pPr algn="ctr">
              <a:spcAft>
                <a:spcPts val="0"/>
              </a:spcAft>
            </a:pPr>
            <a:r>
              <a:rPr sz="810" i="0">
                <a:solidFill>
                  <a:srgbClr val="2B3A38"/>
                </a:solidFill>
                <a:latin typeface="Arial"/>
              </a:rPr>
              <a:t>5 300</a:t>
            </a:r>
          </a:p>
        </p:txBody>
      </p:sp>
      <p:sp>
        <p:nvSpPr>
          <p:cNvPr id="131" name="Rectangle 130"/>
          <p:cNvSpPr/>
          <p:nvPr/>
        </p:nvSpPr>
        <p:spPr>
          <a:xfrm>
            <a:off x="10203948" y="2771637"/>
            <a:ext cx="657461" cy="282549"/>
          </a:xfrm>
          <a:prstGeom prst="rect">
            <a:avLst/>
          </a:prstGeom>
          <a:solidFill>
            <a:srgbClr val="F7FAFA"/>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247779" y="2771637"/>
            <a:ext cx="569799" cy="282549"/>
          </a:xfrm>
          <a:prstGeom prst="rect">
            <a:avLst/>
          </a:prstGeom>
          <a:noFill/>
        </p:spPr>
        <p:txBody>
          <a:bodyPr wrap="square" lIns="0" rIns="0" tIns="0" bIns="0" anchor="ctr">
            <a:spAutoFit/>
          </a:bodyPr>
          <a:lstStyle/>
          <a:p>
            <a:pPr algn="ctr">
              <a:spcAft>
                <a:spcPts val="0"/>
              </a:spcAft>
            </a:pPr>
            <a:r>
              <a:rPr sz="810" i="0">
                <a:solidFill>
                  <a:srgbClr val="2B3A38"/>
                </a:solidFill>
                <a:latin typeface="Arial"/>
              </a:rPr>
              <a:t>soleil</a:t>
            </a:r>
          </a:p>
        </p:txBody>
      </p:sp>
      <p:cxnSp>
        <p:nvCxnSpPr>
          <p:cNvPr id="133" name="Connector 132"/>
          <p:cNvCxnSpPr/>
          <p:nvPr/>
        </p:nvCxnSpPr>
        <p:spPr>
          <a:xfrm>
            <a:off x="9962879" y="3082442"/>
            <a:ext cx="0" cy="188366"/>
          </a:xfrm>
          <a:prstGeom prst="line">
            <a:avLst/>
          </a:prstGeom>
          <a:ln w="19050">
            <a:solidFill>
              <a:srgbClr val="5F7C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Rectangle 133"/>
          <p:cNvSpPr/>
          <p:nvPr/>
        </p:nvSpPr>
        <p:spPr>
          <a:xfrm>
            <a:off x="9480741" y="3270808"/>
            <a:ext cx="964276" cy="263712"/>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9480741" y="3270808"/>
            <a:ext cx="964276" cy="263712"/>
          </a:xfrm>
          <a:prstGeom prst="rect">
            <a:avLst/>
          </a:prstGeom>
          <a:noFill/>
        </p:spPr>
        <p:txBody>
          <a:bodyPr wrap="square" lIns="0" rIns="0" tIns="0" bIns="0" anchor="ctr">
            <a:spAutoFit/>
          </a:bodyPr>
          <a:lstStyle/>
          <a:p>
            <a:pPr algn="ctr">
              <a:spcAft>
                <a:spcPts val="0"/>
              </a:spcAft>
            </a:pPr>
            <a:r>
              <a:rPr sz="855" b="1" i="0">
                <a:solidFill>
                  <a:srgbClr val="FFFFFF"/>
                </a:solidFill>
                <a:latin typeface="Arial"/>
              </a:rPr>
              <a:t>XGBoost</a:t>
            </a:r>
          </a:p>
        </p:txBody>
      </p:sp>
      <p:sp>
        <p:nvSpPr>
          <p:cNvPr id="136" name="TextBox 135"/>
          <p:cNvSpPr txBox="1"/>
          <p:nvPr/>
        </p:nvSpPr>
        <p:spPr>
          <a:xfrm>
            <a:off x="8889025" y="4024274"/>
            <a:ext cx="2147706" cy="1083106"/>
          </a:xfrm>
          <a:prstGeom prst="rect">
            <a:avLst/>
          </a:prstGeom>
          <a:noFill/>
        </p:spPr>
        <p:txBody>
          <a:bodyPr wrap="square" lIns="0" rIns="0" tIns="0" bIns="0" anchor="t">
            <a:spAutoFit/>
          </a:bodyPr>
          <a:lstStyle/>
          <a:p>
            <a:pPr algn="l">
              <a:spcAft>
                <a:spcPts val="0"/>
              </a:spcAft>
            </a:pPr>
            <a:r>
              <a:rPr sz="1080" b="0" i="0">
                <a:solidFill>
                  <a:srgbClr val="2B3A38"/>
                </a:solidFill>
                <a:latin typeface="Arial"/>
              </a:rPr>
              <a:t>On crée des variables (veille, semaine précédente, calendrier, météo) et on applique XGBoost.</a:t>
            </a:r>
          </a:p>
        </p:txBody>
      </p:sp>
      <p:sp>
        <p:nvSpPr>
          <p:cNvPr id="137" name="Rectangle 136"/>
          <p:cNvSpPr/>
          <p:nvPr/>
        </p:nvSpPr>
        <p:spPr>
          <a:xfrm>
            <a:off x="640080" y="5389930"/>
            <a:ext cx="10607040" cy="47091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15402" y="5389930"/>
            <a:ext cx="10344055" cy="470916"/>
          </a:xfrm>
          <a:prstGeom prst="rect">
            <a:avLst/>
          </a:prstGeom>
          <a:noFill/>
        </p:spPr>
        <p:txBody>
          <a:bodyPr wrap="square" lIns="0" rIns="0" tIns="0" bIns="0" anchor="ctr">
            <a:spAutoFit/>
          </a:bodyPr>
          <a:lstStyle/>
          <a:p>
            <a:pPr algn="l">
              <a:spcAft>
                <a:spcPts val="0"/>
              </a:spcAft>
            </a:pPr>
            <a:r>
              <a:rPr sz="1080" b="1" i="0">
                <a:solidFill>
                  <a:srgbClr val="5F7C17"/>
                </a:solidFill>
                <a:latin typeface="Arial"/>
              </a:rPr>
              <a:t>Pour aller plus loin : </a:t>
            </a:r>
            <a:r>
              <a:rPr sz="1080" b="0" i="0">
                <a:solidFill>
                  <a:srgbClr val="2B3A38"/>
                </a:solidFill>
                <a:latin typeface="Arial"/>
              </a:rPr>
              <a:t>réseaux de neurones récurrents (LSTM) et grands modèles pré-entraînés sur des milliers de séries. Au TP5 : naïfs, ARIMA et XGBoost.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3" sz="quarter"/>
          </p:nvPr>
        </p:nvSpPr>
        <p:spPr/>
        <p:txBody>
          <a:bodyPr/>
          <a:p>
            <a:r>
              <a:t>Cours d'IA — BUT 3 informatique | Partie 2 : les notions du semestre</a:t>
            </a:r>
          </a:p>
        </p:txBody>
      </p:sp>
      <p:sp>
        <p:nvSpPr>
          <p:cNvPr id="3" name="Slide Number Placeholder 2"/>
          <p:cNvSpPr>
            <a:spLocks noGrp="1"/>
          </p:cNvSpPr>
          <p:nvPr>
            <p:ph type="sldNum" idx="4" sz="quarter"/>
          </p:nvPr>
        </p:nvSpPr>
        <p:spPr/>
        <p:txBody>
          <a:bodyPr/>
          <a:p>
            <a:fld id="{B6F15528-21DE-4FAA-801E-634DDDAF4B2B}" type="slidenum">
              <a:rPr lang="fr-FR"/>
              <a:t>16</a:t>
            </a:fld>
          </a:p>
        </p:txBody>
      </p:sp>
      <p:sp>
        <p:nvSpPr>
          <p:cNvPr id="4" name="TextBox 3"/>
          <p:cNvSpPr txBox="1"/>
          <p:nvPr/>
        </p:nvSpPr>
        <p:spPr>
          <a:xfrm>
            <a:off x="731520" y="822960"/>
            <a:ext cx="3200400" cy="1280160"/>
          </a:xfrm>
          <a:prstGeom prst="rect">
            <a:avLst/>
          </a:prstGeom>
          <a:noFill/>
        </p:spPr>
        <p:txBody>
          <a:bodyPr wrap="square" lIns="0" rIns="0" tIns="0" bIns="0" anchor="t">
            <a:spAutoFit/>
          </a:bodyPr>
          <a:lstStyle/>
          <a:p>
            <a:pPr algn="l">
              <a:spcAft>
                <a:spcPts val="0"/>
              </a:spcAft>
            </a:pPr>
            <a:r>
              <a:rPr sz="8000" b="1" i="0">
                <a:solidFill>
                  <a:srgbClr val="FFFFFF"/>
                </a:solidFill>
                <a:latin typeface="Arial"/>
              </a:rPr>
              <a:t>B</a:t>
            </a:r>
          </a:p>
        </p:txBody>
      </p:sp>
      <p:sp>
        <p:nvSpPr>
          <p:cNvPr id="5" name="TextBox 4"/>
          <p:cNvSpPr txBox="1"/>
          <p:nvPr/>
        </p:nvSpPr>
        <p:spPr>
          <a:xfrm>
            <a:off x="731520" y="2194560"/>
            <a:ext cx="6400800" cy="457200"/>
          </a:xfrm>
          <a:prstGeom prst="rect">
            <a:avLst/>
          </a:prstGeom>
          <a:noFill/>
        </p:spPr>
        <p:txBody>
          <a:bodyPr wrap="square" lIns="0" rIns="0" tIns="0" bIns="0" anchor="t">
            <a:spAutoFit/>
          </a:bodyPr>
          <a:lstStyle/>
          <a:p>
            <a:pPr algn="l">
              <a:spcAft>
                <a:spcPts val="0"/>
              </a:spcAft>
            </a:pPr>
            <a:r>
              <a:rPr sz="2200" b="1" i="0">
                <a:solidFill>
                  <a:srgbClr val="F4D73F"/>
                </a:solidFill>
                <a:latin typeface="Arial"/>
              </a:rPr>
              <a:t>Utiliser, pas construire</a:t>
            </a:r>
          </a:p>
        </p:txBody>
      </p:sp>
      <p:sp>
        <p:nvSpPr>
          <p:cNvPr id="6" name="TextBox 5"/>
          <p:cNvSpPr txBox="1"/>
          <p:nvPr/>
        </p:nvSpPr>
        <p:spPr>
          <a:xfrm>
            <a:off x="731520" y="2743200"/>
            <a:ext cx="7680960" cy="822960"/>
          </a:xfrm>
          <a:prstGeom prst="rect">
            <a:avLst/>
          </a:prstGeom>
          <a:noFill/>
        </p:spPr>
        <p:txBody>
          <a:bodyPr wrap="square" lIns="0" rIns="0" tIns="0" bIns="0" anchor="t">
            <a:spAutoFit/>
          </a:bodyPr>
          <a:lstStyle/>
          <a:p>
            <a:pPr algn="l">
              <a:spcAft>
                <a:spcPts val="0"/>
              </a:spcAft>
            </a:pPr>
            <a:r>
              <a:rPr sz="3800" b="1" i="0">
                <a:solidFill>
                  <a:srgbClr val="FFFFFF"/>
                </a:solidFill>
                <a:latin typeface="Arial"/>
              </a:rPr>
              <a:t>IA GÉNÉRATIVE</a:t>
            </a:r>
          </a:p>
        </p:txBody>
      </p:sp>
      <p:sp>
        <p:nvSpPr>
          <p:cNvPr id="7" name="TextBox 6"/>
          <p:cNvSpPr txBox="1"/>
          <p:nvPr/>
        </p:nvSpPr>
        <p:spPr>
          <a:xfrm>
            <a:off x="731520" y="3703320"/>
            <a:ext cx="7315200" cy="731520"/>
          </a:xfrm>
          <a:prstGeom prst="rect">
            <a:avLst/>
          </a:prstGeom>
          <a:noFill/>
        </p:spPr>
        <p:txBody>
          <a:bodyPr wrap="square" lIns="0" rIns="0" tIns="0" bIns="0" anchor="t">
            <a:spAutoFit/>
          </a:bodyPr>
          <a:lstStyle/>
          <a:p>
            <a:pPr algn="l">
              <a:spcAft>
                <a:spcPts val="0"/>
              </a:spcAft>
            </a:pPr>
            <a:r>
              <a:rPr sz="2000" b="0" i="1">
                <a:solidFill>
                  <a:srgbClr val="E3F6F5"/>
                </a:solidFill>
                <a:latin typeface="Arial"/>
              </a:rPr>
              <a:t>Intégrer un grand modèle de langage dans une application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B · IA générative</a:t>
            </a:r>
          </a:p>
        </p:txBody>
      </p:sp>
      <p:sp>
        <p:nvSpPr>
          <p:cNvPr id="3" name="Text Placeholder 2"/>
          <p:cNvSpPr>
            <a:spLocks noGrp="1"/>
          </p:cNvSpPr>
          <p:nvPr>
            <p:ph type="body" idx="25" sz="quarter"/>
          </p:nvPr>
        </p:nvSpPr>
        <p:spPr/>
        <p:txBody>
          <a:bodyPr/>
          <a:lstStyle/>
          <a:p>
            <a:r>
              <a:t>Dialoguer avec un LLM depuis son code</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17</a:t>
            </a:fld>
          </a:p>
        </p:txBody>
      </p:sp>
      <p:sp>
        <p:nvSpPr>
          <p:cNvPr id="6" name="Rectangle 5"/>
          <p:cNvSpPr/>
          <p:nvPr/>
        </p:nvSpPr>
        <p:spPr>
          <a:xfrm>
            <a:off x="640080" y="1481328"/>
            <a:ext cx="5785658" cy="3484778"/>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233" y="1669694"/>
            <a:ext cx="5347350" cy="3108045"/>
          </a:xfrm>
          <a:prstGeom prst="rect">
            <a:avLst/>
          </a:prstGeom>
          <a:noFill/>
        </p:spPr>
        <p:txBody>
          <a:bodyPr wrap="square" lIns="0" rIns="0" tIns="0" bIns="0" anchor="t">
            <a:spAutoFit/>
          </a:bodyPr>
          <a:lstStyle/>
          <a:p>
            <a:pPr algn="l">
              <a:spcAft>
                <a:spcPts val="200"/>
              </a:spcAft>
            </a:pPr>
            <a:r>
              <a:rPr sz="990" b="0" i="0">
                <a:solidFill>
                  <a:srgbClr val="7FD5D0"/>
                </a:solidFill>
                <a:latin typeface="Courier New"/>
              </a:rPr>
              <a:t>from</a:t>
            </a:r>
            <a:r>
              <a:rPr sz="990" b="0" i="0">
                <a:solidFill>
                  <a:srgbClr val="FFFFFF"/>
                </a:solidFill>
                <a:latin typeface="Courier New"/>
              </a:rPr>
              <a:t> mistralai </a:t>
            </a:r>
            <a:r>
              <a:rPr sz="990" b="0" i="0">
                <a:solidFill>
                  <a:srgbClr val="7FD5D0"/>
                </a:solidFill>
                <a:latin typeface="Courier New"/>
              </a:rPr>
              <a:t>import</a:t>
            </a:r>
            <a:r>
              <a:rPr sz="990" b="0" i="0">
                <a:solidFill>
                  <a:srgbClr val="FFFFFF"/>
                </a:solidFill>
                <a:latin typeface="Courier New"/>
              </a:rPr>
              <a:t> Mistral</a:t>
            </a:r>
          </a:p>
          <a:p>
            <a:pPr algn="l">
              <a:spcAft>
                <a:spcPts val="200"/>
              </a:spcAft>
            </a:pPr>
            <a:r>
              <a:rPr sz="990" b="0" i="0">
                <a:solidFill>
                  <a:srgbClr val="FFFFFF"/>
                </a:solidFill>
                <a:latin typeface="Courier New"/>
              </a:rPr>
              <a:t>client = Mistral(api_key=CLE)</a:t>
            </a:r>
          </a:p>
          <a:p>
            <a:pPr algn="l">
              <a:spcAft>
                <a:spcPts val="200"/>
              </a:spcAft>
            </a:pPr>
          </a:p>
          <a:p>
            <a:pPr algn="l">
              <a:spcAft>
                <a:spcPts val="200"/>
              </a:spcAft>
            </a:pPr>
            <a:r>
              <a:rPr sz="990" b="0" i="0">
                <a:solidFill>
                  <a:srgbClr val="FFFFFF"/>
                </a:solidFill>
                <a:latin typeface="Courier New"/>
              </a:rPr>
              <a:t>reponse = client.chat.complete(</a:t>
            </a:r>
          </a:p>
          <a:p>
            <a:pPr algn="l">
              <a:spcAft>
                <a:spcPts val="200"/>
              </a:spcAft>
            </a:pPr>
            <a:r>
              <a:rPr sz="990" b="0" i="0">
                <a:solidFill>
                  <a:srgbClr val="FFFFFF"/>
                </a:solidFill>
                <a:latin typeface="Courier New"/>
              </a:rPr>
              <a:t>    model=</a:t>
            </a:r>
            <a:r>
              <a:rPr sz="990" b="0" i="0">
                <a:solidFill>
                  <a:srgbClr val="F2A99B"/>
                </a:solidFill>
                <a:latin typeface="Courier New"/>
              </a:rPr>
              <a:t>"mistral-small-latest"</a:t>
            </a:r>
            <a:r>
              <a:rPr sz="990" b="0" i="0">
                <a:solidFill>
                  <a:srgbClr val="FFFFFF"/>
                </a:solidFill>
                <a:latin typeface="Courier New"/>
              </a:rPr>
              <a:t>,</a:t>
            </a:r>
          </a:p>
          <a:p>
            <a:pPr algn="l">
              <a:spcAft>
                <a:spcPts val="200"/>
              </a:spcAft>
            </a:pPr>
            <a:r>
              <a:rPr sz="990" b="0" i="0">
                <a:solidFill>
                  <a:srgbClr val="FFFFFF"/>
                </a:solidFill>
                <a:latin typeface="Courier New"/>
              </a:rPr>
              <a:t>    messages=[</a:t>
            </a:r>
          </a:p>
          <a:p>
            <a:pPr algn="l">
              <a:spcAft>
                <a:spcPts val="200"/>
              </a:spcAft>
            </a:pPr>
            <a:r>
              <a:rPr sz="990" b="0" i="0">
                <a:solidFill>
                  <a:srgbClr val="FFFFFF"/>
                </a:solidFill>
                <a:latin typeface="Courier New"/>
              </a:rPr>
              <a:t>        {"role": </a:t>
            </a:r>
            <a:r>
              <a:rPr sz="990" b="0" i="0">
                <a:solidFill>
                  <a:srgbClr val="F4D73F"/>
                </a:solidFill>
                <a:latin typeface="Courier New"/>
              </a:rPr>
              <a:t>"system"</a:t>
            </a:r>
            <a:r>
              <a:rPr sz="990" b="0" i="0">
                <a:solidFill>
                  <a:srgbClr val="FFFFFF"/>
                </a:solidFill>
                <a:latin typeface="Courier New"/>
              </a:rPr>
              <a:t>, "content": </a:t>
            </a:r>
            <a:r>
              <a:rPr sz="990" b="0" i="0">
                <a:solidFill>
                  <a:srgbClr val="F2A99B"/>
                </a:solidFill>
                <a:latin typeface="Courier New"/>
              </a:rPr>
              <a:t>"Tu es un assistant de l'IUT."</a:t>
            </a:r>
            <a:r>
              <a:rPr sz="990" b="0" i="0">
                <a:solidFill>
                  <a:srgbClr val="FFFFFF"/>
                </a:solidFill>
                <a:latin typeface="Courier New"/>
              </a:rPr>
              <a:t>},</a:t>
            </a:r>
          </a:p>
          <a:p>
            <a:pPr algn="l">
              <a:spcAft>
                <a:spcPts val="200"/>
              </a:spcAft>
            </a:pPr>
            <a:r>
              <a:rPr sz="990" b="0" i="0">
                <a:solidFill>
                  <a:srgbClr val="FFFFFF"/>
                </a:solidFill>
                <a:latin typeface="Courier New"/>
              </a:rPr>
              <a:t>        {"role": </a:t>
            </a:r>
            <a:r>
              <a:rPr sz="990" b="0" i="0">
                <a:solidFill>
                  <a:srgbClr val="F4D73F"/>
                </a:solidFill>
                <a:latin typeface="Courier New"/>
              </a:rPr>
              <a:t>"user"</a:t>
            </a:r>
            <a:r>
              <a:rPr sz="990" b="0" i="0">
                <a:solidFill>
                  <a:srgbClr val="FFFFFF"/>
                </a:solidFill>
                <a:latin typeface="Courier New"/>
              </a:rPr>
              <a:t>,   "content": </a:t>
            </a:r>
            <a:r>
              <a:rPr sz="990" b="0" i="0">
                <a:solidFill>
                  <a:srgbClr val="F2A99B"/>
                </a:solidFill>
                <a:latin typeface="Courier New"/>
              </a:rPr>
              <a:t>"Résume ce texte : …"</a:t>
            </a:r>
            <a:r>
              <a:rPr sz="990" b="0" i="0">
                <a:solidFill>
                  <a:srgbClr val="FFFFFF"/>
                </a:solidFill>
                <a:latin typeface="Courier New"/>
              </a:rPr>
              <a:t>},</a:t>
            </a:r>
          </a:p>
          <a:p>
            <a:pPr algn="l">
              <a:spcAft>
                <a:spcPts val="200"/>
              </a:spcAft>
            </a:pPr>
            <a:r>
              <a:rPr sz="990" b="0" i="0">
                <a:solidFill>
                  <a:srgbClr val="FFFFFF"/>
                </a:solidFill>
                <a:latin typeface="Courier New"/>
              </a:rPr>
              <a:t>    ],</a:t>
            </a:r>
          </a:p>
          <a:p>
            <a:pPr algn="l">
              <a:spcAft>
                <a:spcPts val="200"/>
              </a:spcAft>
            </a:pPr>
            <a:r>
              <a:rPr sz="990" b="0" i="0">
                <a:solidFill>
                  <a:srgbClr val="FFFFFF"/>
                </a:solidFill>
                <a:latin typeface="Courier New"/>
              </a:rPr>
              <a:t>    temperature=0.2,</a:t>
            </a:r>
          </a:p>
          <a:p>
            <a:pPr algn="l">
              <a:spcAft>
                <a:spcPts val="200"/>
              </a:spcAft>
            </a:pPr>
            <a:r>
              <a:rPr sz="990" b="0" i="0">
                <a:solidFill>
                  <a:srgbClr val="FFFFFF"/>
                </a:solidFill>
                <a:latin typeface="Courier New"/>
              </a:rPr>
              <a:t>)</a:t>
            </a:r>
          </a:p>
          <a:p>
            <a:pPr algn="l">
              <a:spcAft>
                <a:spcPts val="200"/>
              </a:spcAft>
            </a:pPr>
            <a:r>
              <a:rPr sz="990" b="0" i="0">
                <a:solidFill>
                  <a:srgbClr val="FFFFFF"/>
                </a:solidFill>
                <a:latin typeface="Courier New"/>
              </a:rPr>
              <a:t>print(reponse.choices[0].message.content)</a:t>
            </a:r>
          </a:p>
        </p:txBody>
      </p:sp>
      <p:sp>
        <p:nvSpPr>
          <p:cNvPr id="8" name="TextBox 7"/>
          <p:cNvSpPr txBox="1"/>
          <p:nvPr/>
        </p:nvSpPr>
        <p:spPr>
          <a:xfrm>
            <a:off x="640080" y="5060289"/>
            <a:ext cx="5785658" cy="565099"/>
          </a:xfrm>
          <a:prstGeom prst="rect">
            <a:avLst/>
          </a:prstGeom>
          <a:noFill/>
        </p:spPr>
        <p:txBody>
          <a:bodyPr wrap="square" lIns="0" rIns="0" tIns="0" bIns="0" anchor="t">
            <a:spAutoFit/>
          </a:bodyPr>
          <a:lstStyle/>
          <a:p>
            <a:pPr algn="l">
              <a:spcAft>
                <a:spcPts val="0"/>
              </a:spcAft>
            </a:pPr>
            <a:r>
              <a:rPr sz="990" b="0" i="1">
                <a:solidFill>
                  <a:srgbClr val="5A6B68"/>
                </a:solidFill>
                <a:latin typeface="Arial"/>
              </a:rPr>
              <a:t>Exemple avec l'API de Mistral AI ; les autres fournisseurs (OpenAI, Anthropic, Google) ou les modèles locaux (Ollama) fonctionnent de la même façon.</a:t>
            </a:r>
          </a:p>
        </p:txBody>
      </p:sp>
      <p:sp>
        <p:nvSpPr>
          <p:cNvPr id="9" name="Oval 8"/>
          <p:cNvSpPr/>
          <p:nvPr/>
        </p:nvSpPr>
        <p:spPr>
          <a:xfrm>
            <a:off x="6732553" y="1502523"/>
            <a:ext cx="569799" cy="569799"/>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aCode.png"/>
          <p:cNvPicPr>
            <a:picLocks noChangeAspect="1"/>
          </p:cNvPicPr>
          <p:nvPr/>
        </p:nvPicPr>
        <p:blipFill>
          <a:blip r:embed="rId2"/>
          <a:stretch>
            <a:fillRect/>
          </a:stretch>
        </p:blipFill>
        <p:spPr>
          <a:xfrm>
            <a:off x="6880701" y="1650671"/>
            <a:ext cx="273503" cy="273503"/>
          </a:xfrm>
          <a:prstGeom prst="rect">
            <a:avLst/>
          </a:prstGeom>
        </p:spPr>
      </p:pic>
      <p:sp>
        <p:nvSpPr>
          <p:cNvPr id="11" name="TextBox 10"/>
          <p:cNvSpPr txBox="1"/>
          <p:nvPr/>
        </p:nvSpPr>
        <p:spPr>
          <a:xfrm>
            <a:off x="7477676" y="1434236"/>
            <a:ext cx="3769443" cy="1318564"/>
          </a:xfrm>
          <a:prstGeom prst="rect">
            <a:avLst/>
          </a:prstGeom>
          <a:noFill/>
        </p:spPr>
        <p:txBody>
          <a:bodyPr wrap="square" lIns="0" rIns="0" tIns="0" bIns="0" anchor="t">
            <a:spAutoFit/>
          </a:bodyPr>
          <a:lstStyle/>
          <a:p>
            <a:pPr algn="l">
              <a:spcAft>
                <a:spcPts val="0"/>
              </a:spcAft>
            </a:pPr>
            <a:r>
              <a:rPr sz="1350" b="1" i="0">
                <a:solidFill>
                  <a:srgbClr val="2B3A38"/>
                </a:solidFill>
                <a:latin typeface="Arial"/>
              </a:rPr>
              <a:t>Un simple appel d'API</a:t>
            </a:r>
          </a:p>
          <a:p>
            <a:pPr algn="l">
              <a:spcAft>
                <a:spcPts val="0"/>
              </a:spcAft>
            </a:pPr>
            <a:r>
              <a:rPr sz="1125" b="0" i="0">
                <a:solidFill>
                  <a:srgbClr val="2B3A38"/>
                </a:solidFill>
                <a:latin typeface="Arial"/>
              </a:rPr>
              <a:t>On envoie une requête HTTP avec une clé personnelle, on reçoit du texte. Le modèle tourne sur les serveurs du fournisseur.</a:t>
            </a:r>
          </a:p>
        </p:txBody>
      </p:sp>
      <p:sp>
        <p:nvSpPr>
          <p:cNvPr id="12" name="Oval 11"/>
          <p:cNvSpPr/>
          <p:nvPr/>
        </p:nvSpPr>
        <p:spPr>
          <a:xfrm>
            <a:off x="6732553" y="2962363"/>
            <a:ext cx="569799" cy="569799"/>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Comments.png"/>
          <p:cNvPicPr>
            <a:picLocks noChangeAspect="1"/>
          </p:cNvPicPr>
          <p:nvPr/>
        </p:nvPicPr>
        <p:blipFill>
          <a:blip r:embed="rId3"/>
          <a:stretch>
            <a:fillRect/>
          </a:stretch>
        </p:blipFill>
        <p:spPr>
          <a:xfrm>
            <a:off x="6880701" y="3110511"/>
            <a:ext cx="273503" cy="273503"/>
          </a:xfrm>
          <a:prstGeom prst="rect">
            <a:avLst/>
          </a:prstGeom>
        </p:spPr>
      </p:pic>
      <p:sp>
        <p:nvSpPr>
          <p:cNvPr id="14" name="TextBox 13"/>
          <p:cNvSpPr txBox="1"/>
          <p:nvPr/>
        </p:nvSpPr>
        <p:spPr>
          <a:xfrm>
            <a:off x="7477676" y="2894076"/>
            <a:ext cx="3769443" cy="1318564"/>
          </a:xfrm>
          <a:prstGeom prst="rect">
            <a:avLst/>
          </a:prstGeom>
          <a:noFill/>
        </p:spPr>
        <p:txBody>
          <a:bodyPr wrap="square" lIns="0" rIns="0" tIns="0" bIns="0" anchor="t">
            <a:spAutoFit/>
          </a:bodyPr>
          <a:lstStyle/>
          <a:p>
            <a:pPr algn="l">
              <a:spcAft>
                <a:spcPts val="0"/>
              </a:spcAft>
            </a:pPr>
            <a:r>
              <a:rPr sz="1350" b="1" i="0">
                <a:solidFill>
                  <a:srgbClr val="2B3A38"/>
                </a:solidFill>
                <a:latin typeface="Arial"/>
              </a:rPr>
              <a:t>Des messages avec des rôles</a:t>
            </a:r>
          </a:p>
          <a:p>
            <a:pPr algn="l">
              <a:spcAft>
                <a:spcPts val="0"/>
              </a:spcAft>
            </a:pPr>
            <a:r>
              <a:rPr sz="1125" b="0" i="0">
                <a:solidFill>
                  <a:srgbClr val="2B3A38"/>
                </a:solidFill>
                <a:latin typeface="Arial"/>
              </a:rPr>
              <a:t>« system » fixe le comportement général, « user » porte la demande, « assistant » contient les réponses précédentes.</a:t>
            </a:r>
          </a:p>
        </p:txBody>
      </p:sp>
      <p:sp>
        <p:nvSpPr>
          <p:cNvPr id="15" name="Oval 14"/>
          <p:cNvSpPr/>
          <p:nvPr/>
        </p:nvSpPr>
        <p:spPr>
          <a:xfrm>
            <a:off x="6732553" y="4422202"/>
            <a:ext cx="569799" cy="569799"/>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SyncAlt.png"/>
          <p:cNvPicPr>
            <a:picLocks noChangeAspect="1"/>
          </p:cNvPicPr>
          <p:nvPr/>
        </p:nvPicPr>
        <p:blipFill>
          <a:blip r:embed="rId4"/>
          <a:stretch>
            <a:fillRect/>
          </a:stretch>
        </p:blipFill>
        <p:spPr>
          <a:xfrm>
            <a:off x="6880701" y="4570350"/>
            <a:ext cx="273503" cy="273503"/>
          </a:xfrm>
          <a:prstGeom prst="rect">
            <a:avLst/>
          </a:prstGeom>
        </p:spPr>
      </p:pic>
      <p:sp>
        <p:nvSpPr>
          <p:cNvPr id="17" name="TextBox 16"/>
          <p:cNvSpPr txBox="1"/>
          <p:nvPr/>
        </p:nvSpPr>
        <p:spPr>
          <a:xfrm>
            <a:off x="7477676" y="4353915"/>
            <a:ext cx="3769443" cy="1318564"/>
          </a:xfrm>
          <a:prstGeom prst="rect">
            <a:avLst/>
          </a:prstGeom>
          <a:noFill/>
        </p:spPr>
        <p:txBody>
          <a:bodyPr wrap="square" lIns="0" rIns="0" tIns="0" bIns="0" anchor="t">
            <a:spAutoFit/>
          </a:bodyPr>
          <a:lstStyle/>
          <a:p>
            <a:pPr algn="l">
              <a:spcAft>
                <a:spcPts val="0"/>
              </a:spcAft>
            </a:pPr>
            <a:r>
              <a:rPr sz="1350" b="1" i="0">
                <a:solidFill>
                  <a:srgbClr val="2B3A38"/>
                </a:solidFill>
                <a:latin typeface="Arial"/>
              </a:rPr>
              <a:t>Aucune mémoire</a:t>
            </a:r>
          </a:p>
          <a:p>
            <a:pPr algn="l">
              <a:spcAft>
                <a:spcPts val="0"/>
              </a:spcAft>
            </a:pPr>
            <a:r>
              <a:rPr sz="1125" b="0" i="0">
                <a:solidFill>
                  <a:srgbClr val="2B3A38"/>
                </a:solidFill>
                <a:latin typeface="Arial"/>
              </a:rPr>
              <a:t>Le modèle ne se souvient de rien entre deux appels : pour une conversation, le programme renvoie tout l'historique à chaque fois.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B · IA générative</a:t>
            </a:r>
          </a:p>
        </p:txBody>
      </p:sp>
      <p:sp>
        <p:nvSpPr>
          <p:cNvPr id="3" name="Text Placeholder 2"/>
          <p:cNvSpPr>
            <a:spLocks noGrp="1"/>
          </p:cNvSpPr>
          <p:nvPr>
            <p:ph type="body" idx="25" sz="quarter"/>
          </p:nvPr>
        </p:nvSpPr>
        <p:spPr/>
        <p:txBody>
          <a:bodyPr/>
          <a:lstStyle/>
          <a:p>
            <a:r>
              <a:t>Tokens, contexte et température</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18</a:t>
            </a:fld>
          </a:p>
        </p:txBody>
      </p:sp>
      <p:sp>
        <p:nvSpPr>
          <p:cNvPr id="6" name="TextBox 5"/>
          <p:cNvSpPr txBox="1"/>
          <p:nvPr/>
        </p:nvSpPr>
        <p:spPr>
          <a:xfrm>
            <a:off x="640080" y="1481328"/>
            <a:ext cx="5259689" cy="376732"/>
          </a:xfrm>
          <a:prstGeom prst="rect">
            <a:avLst/>
          </a:prstGeom>
          <a:noFill/>
        </p:spPr>
        <p:txBody>
          <a:bodyPr wrap="square" lIns="0" rIns="0" tIns="0" bIns="0" anchor="t">
            <a:spAutoFit/>
          </a:bodyPr>
          <a:lstStyle/>
          <a:p>
            <a:pPr algn="l">
              <a:spcAft>
                <a:spcPts val="0"/>
              </a:spcAft>
            </a:pPr>
            <a:r>
              <a:rPr sz="1350" b="1" i="0">
                <a:solidFill>
                  <a:srgbClr val="712180"/>
                </a:solidFill>
                <a:latin typeface="Arial"/>
              </a:rPr>
              <a:t>Le texte est découpé en tokens</a:t>
            </a:r>
          </a:p>
        </p:txBody>
      </p:sp>
      <p:sp>
        <p:nvSpPr>
          <p:cNvPr id="7" name="Rectangle 6"/>
          <p:cNvSpPr/>
          <p:nvPr/>
        </p:nvSpPr>
        <p:spPr>
          <a:xfrm>
            <a:off x="640080" y="1999335"/>
            <a:ext cx="604864" cy="395569"/>
          </a:xfrm>
          <a:prstGeom prst="rect">
            <a:avLst/>
          </a:prstGeom>
          <a:solidFill>
            <a:srgbClr val="E9D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99335"/>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Les</a:t>
            </a:r>
          </a:p>
        </p:txBody>
      </p:sp>
      <p:sp>
        <p:nvSpPr>
          <p:cNvPr id="9" name="Rectangle 8"/>
          <p:cNvSpPr/>
          <p:nvPr/>
        </p:nvSpPr>
        <p:spPr>
          <a:xfrm>
            <a:off x="1297541" y="1999335"/>
            <a:ext cx="604864" cy="395569"/>
          </a:xfrm>
          <a:prstGeom prst="rect">
            <a:avLst/>
          </a:prstGeom>
          <a:solidFill>
            <a:srgbClr val="D7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7541" y="1999335"/>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mod</a:t>
            </a:r>
          </a:p>
        </p:txBody>
      </p:sp>
      <p:sp>
        <p:nvSpPr>
          <p:cNvPr id="11" name="Rectangle 10"/>
          <p:cNvSpPr/>
          <p:nvPr/>
        </p:nvSpPr>
        <p:spPr>
          <a:xfrm>
            <a:off x="1955002" y="1999335"/>
            <a:ext cx="718824" cy="395569"/>
          </a:xfrm>
          <a:prstGeom prst="rect">
            <a:avLst/>
          </a:prstGeom>
          <a:solidFill>
            <a:srgbClr val="FD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55002" y="1999335"/>
            <a:ext cx="71882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èles</a:t>
            </a:r>
          </a:p>
        </p:txBody>
      </p:sp>
      <p:sp>
        <p:nvSpPr>
          <p:cNvPr id="13" name="Rectangle 12"/>
          <p:cNvSpPr/>
          <p:nvPr/>
        </p:nvSpPr>
        <p:spPr>
          <a:xfrm>
            <a:off x="2726423" y="1999335"/>
            <a:ext cx="490904" cy="395569"/>
          </a:xfrm>
          <a:prstGeom prst="rect">
            <a:avLst/>
          </a:prstGeom>
          <a:solidFill>
            <a:srgbClr val="FD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26423" y="1999335"/>
            <a:ext cx="49090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de</a:t>
            </a:r>
          </a:p>
        </p:txBody>
      </p:sp>
      <p:sp>
        <p:nvSpPr>
          <p:cNvPr id="15" name="Rectangle 14"/>
          <p:cNvSpPr/>
          <p:nvPr/>
        </p:nvSpPr>
        <p:spPr>
          <a:xfrm>
            <a:off x="3269924" y="1999335"/>
            <a:ext cx="718824" cy="395569"/>
          </a:xfrm>
          <a:prstGeom prst="rect">
            <a:avLst/>
          </a:prstGeom>
          <a:solidFill>
            <a:srgbClr val="E6F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9924" y="1999335"/>
            <a:ext cx="71882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lang</a:t>
            </a:r>
          </a:p>
        </p:txBody>
      </p:sp>
      <p:sp>
        <p:nvSpPr>
          <p:cNvPr id="17" name="Rectangle 16"/>
          <p:cNvSpPr/>
          <p:nvPr/>
        </p:nvSpPr>
        <p:spPr>
          <a:xfrm>
            <a:off x="4041345" y="1999335"/>
            <a:ext cx="604864" cy="395569"/>
          </a:xfrm>
          <a:prstGeom prst="rect">
            <a:avLst/>
          </a:prstGeom>
          <a:solidFill>
            <a:srgbClr val="E9D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41345" y="1999335"/>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age</a:t>
            </a:r>
          </a:p>
        </p:txBody>
      </p:sp>
      <p:sp>
        <p:nvSpPr>
          <p:cNvPr id="19" name="Rectangle 18"/>
          <p:cNvSpPr/>
          <p:nvPr/>
        </p:nvSpPr>
        <p:spPr>
          <a:xfrm>
            <a:off x="4698806" y="1999335"/>
            <a:ext cx="604864" cy="395569"/>
          </a:xfrm>
          <a:prstGeom prst="rect">
            <a:avLst/>
          </a:prstGeom>
          <a:solidFill>
            <a:srgbClr val="D7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98806" y="1999335"/>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déc</a:t>
            </a:r>
          </a:p>
        </p:txBody>
      </p:sp>
      <p:sp>
        <p:nvSpPr>
          <p:cNvPr id="21" name="Rectangle 20"/>
          <p:cNvSpPr/>
          <p:nvPr/>
        </p:nvSpPr>
        <p:spPr>
          <a:xfrm>
            <a:off x="640080" y="2517343"/>
            <a:ext cx="604864" cy="395569"/>
          </a:xfrm>
          <a:prstGeom prst="rect">
            <a:avLst/>
          </a:prstGeom>
          <a:solidFill>
            <a:srgbClr val="FD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517343"/>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oup</a:t>
            </a:r>
          </a:p>
        </p:txBody>
      </p:sp>
      <p:sp>
        <p:nvSpPr>
          <p:cNvPr id="23" name="Rectangle 22"/>
          <p:cNvSpPr/>
          <p:nvPr/>
        </p:nvSpPr>
        <p:spPr>
          <a:xfrm>
            <a:off x="1297541" y="2517343"/>
            <a:ext cx="604864" cy="395569"/>
          </a:xfrm>
          <a:prstGeom prst="rect">
            <a:avLst/>
          </a:prstGeom>
          <a:solidFill>
            <a:srgbClr val="FD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97541" y="2517343"/>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ent</a:t>
            </a:r>
          </a:p>
        </p:txBody>
      </p:sp>
      <p:sp>
        <p:nvSpPr>
          <p:cNvPr id="25" name="Rectangle 24"/>
          <p:cNvSpPr/>
          <p:nvPr/>
        </p:nvSpPr>
        <p:spPr>
          <a:xfrm>
            <a:off x="1955002" y="2517343"/>
            <a:ext cx="490904" cy="395569"/>
          </a:xfrm>
          <a:prstGeom prst="rect">
            <a:avLst/>
          </a:prstGeom>
          <a:solidFill>
            <a:srgbClr val="E6F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55002" y="2517343"/>
            <a:ext cx="49090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le</a:t>
            </a:r>
          </a:p>
        </p:txBody>
      </p:sp>
      <p:sp>
        <p:nvSpPr>
          <p:cNvPr id="27" name="Rectangle 26"/>
          <p:cNvSpPr/>
          <p:nvPr/>
        </p:nvSpPr>
        <p:spPr>
          <a:xfrm>
            <a:off x="2498503" y="2517343"/>
            <a:ext cx="832784" cy="395569"/>
          </a:xfrm>
          <a:prstGeom prst="rect">
            <a:avLst/>
          </a:prstGeom>
          <a:solidFill>
            <a:srgbClr val="E9D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98503" y="2517343"/>
            <a:ext cx="83278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texte</a:t>
            </a:r>
          </a:p>
        </p:txBody>
      </p:sp>
      <p:sp>
        <p:nvSpPr>
          <p:cNvPr id="29" name="Rectangle 28"/>
          <p:cNvSpPr/>
          <p:nvPr/>
        </p:nvSpPr>
        <p:spPr>
          <a:xfrm>
            <a:off x="3383884" y="2517343"/>
            <a:ext cx="490904" cy="395569"/>
          </a:xfrm>
          <a:prstGeom prst="rect">
            <a:avLst/>
          </a:prstGeom>
          <a:solidFill>
            <a:srgbClr val="D7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83884" y="2517343"/>
            <a:ext cx="49090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en</a:t>
            </a:r>
          </a:p>
        </p:txBody>
      </p:sp>
      <p:sp>
        <p:nvSpPr>
          <p:cNvPr id="31" name="Rectangle 30"/>
          <p:cNvSpPr/>
          <p:nvPr/>
        </p:nvSpPr>
        <p:spPr>
          <a:xfrm>
            <a:off x="3927385" y="2517343"/>
            <a:ext cx="604864" cy="395569"/>
          </a:xfrm>
          <a:prstGeom prst="rect">
            <a:avLst/>
          </a:prstGeom>
          <a:solidFill>
            <a:srgbClr val="FD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27385" y="2517343"/>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tok</a:t>
            </a:r>
          </a:p>
        </p:txBody>
      </p:sp>
      <p:sp>
        <p:nvSpPr>
          <p:cNvPr id="33" name="Rectangle 32"/>
          <p:cNvSpPr/>
          <p:nvPr/>
        </p:nvSpPr>
        <p:spPr>
          <a:xfrm>
            <a:off x="4584846" y="2517343"/>
            <a:ext cx="604864" cy="395569"/>
          </a:xfrm>
          <a:prstGeom prst="rect">
            <a:avLst/>
          </a:prstGeom>
          <a:solidFill>
            <a:srgbClr val="FD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84846" y="2517343"/>
            <a:ext cx="60486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ens</a:t>
            </a:r>
          </a:p>
        </p:txBody>
      </p:sp>
      <p:sp>
        <p:nvSpPr>
          <p:cNvPr id="35" name="Rectangle 34"/>
          <p:cNvSpPr/>
          <p:nvPr/>
        </p:nvSpPr>
        <p:spPr>
          <a:xfrm>
            <a:off x="5242308" y="2517343"/>
            <a:ext cx="376944" cy="395569"/>
          </a:xfrm>
          <a:prstGeom prst="rect">
            <a:avLst/>
          </a:prstGeom>
          <a:solidFill>
            <a:srgbClr val="E6F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42308" y="2517343"/>
            <a:ext cx="376944" cy="395569"/>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a:t>
            </a:r>
          </a:p>
        </p:txBody>
      </p:sp>
      <p:sp>
        <p:nvSpPr>
          <p:cNvPr id="37" name="TextBox 36"/>
          <p:cNvSpPr txBox="1"/>
          <p:nvPr/>
        </p:nvSpPr>
        <p:spPr>
          <a:xfrm>
            <a:off x="640080" y="3035350"/>
            <a:ext cx="5259689" cy="470916"/>
          </a:xfrm>
          <a:prstGeom prst="rect">
            <a:avLst/>
          </a:prstGeom>
          <a:noFill/>
        </p:spPr>
        <p:txBody>
          <a:bodyPr wrap="square" lIns="0" rIns="0" tIns="0" bIns="0" anchor="t">
            <a:spAutoFit/>
          </a:bodyPr>
          <a:lstStyle/>
          <a:p>
            <a:pPr algn="l">
              <a:spcAft>
                <a:spcPts val="0"/>
              </a:spcAft>
            </a:pPr>
            <a:r>
              <a:rPr sz="990" b="0" i="1">
                <a:solidFill>
                  <a:srgbClr val="5A6B68"/>
                </a:solidFill>
                <a:latin typeface="Arial"/>
              </a:rPr>
              <a:t>Découpage illustratif. En français, on compte grossièrement 1 token pour 3 à 4 caractères.</a:t>
            </a:r>
          </a:p>
        </p:txBody>
      </p:sp>
      <p:sp>
        <p:nvSpPr>
          <p:cNvPr id="38" name="Rectangle 37"/>
          <p:cNvSpPr/>
          <p:nvPr/>
        </p:nvSpPr>
        <p:spPr>
          <a:xfrm>
            <a:off x="640080" y="3600450"/>
            <a:ext cx="5259689" cy="111136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 y="3600450"/>
            <a:ext cx="5259689"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5402" y="3694633"/>
            <a:ext cx="1314922" cy="941832"/>
          </a:xfrm>
          <a:prstGeom prst="rect">
            <a:avLst/>
          </a:prstGeom>
          <a:noFill/>
        </p:spPr>
        <p:txBody>
          <a:bodyPr wrap="square" lIns="0" rIns="0" tIns="0" bIns="0" anchor="ctr">
            <a:spAutoFit/>
          </a:bodyPr>
          <a:lstStyle/>
          <a:p>
            <a:pPr algn="l">
              <a:spcAft>
                <a:spcPts val="0"/>
              </a:spcAft>
            </a:pPr>
            <a:r>
              <a:rPr sz="1440" b="1" i="0">
                <a:solidFill>
                  <a:srgbClr val="712180"/>
                </a:solidFill>
                <a:latin typeface="Arial"/>
              </a:rPr>
              <a:t>Contexte</a:t>
            </a:r>
          </a:p>
        </p:txBody>
      </p:sp>
      <p:sp>
        <p:nvSpPr>
          <p:cNvPr id="41" name="TextBox 40"/>
          <p:cNvSpPr txBox="1"/>
          <p:nvPr/>
        </p:nvSpPr>
        <p:spPr>
          <a:xfrm>
            <a:off x="2174156" y="3675796"/>
            <a:ext cx="3594120" cy="988923"/>
          </a:xfrm>
          <a:prstGeom prst="rect">
            <a:avLst/>
          </a:prstGeom>
          <a:noFill/>
        </p:spPr>
        <p:txBody>
          <a:bodyPr wrap="square" lIns="0" rIns="0" tIns="0" bIns="0" anchor="ctr">
            <a:spAutoFit/>
          </a:bodyPr>
          <a:lstStyle/>
          <a:p>
            <a:pPr algn="l">
              <a:spcAft>
                <a:spcPts val="0"/>
              </a:spcAft>
            </a:pPr>
            <a:r>
              <a:rPr sz="1170" b="1" i="0">
                <a:solidFill>
                  <a:srgbClr val="2B3A38"/>
                </a:solidFill>
                <a:latin typeface="Arial"/>
              </a:rPr>
              <a:t>Une taille maximale</a:t>
            </a:r>
          </a:p>
          <a:p>
            <a:pPr algn="l">
              <a:spcAft>
                <a:spcPts val="0"/>
              </a:spcAft>
            </a:pPr>
            <a:r>
              <a:rPr sz="1035" b="0" i="0">
                <a:solidFill>
                  <a:srgbClr val="2B3A38"/>
                </a:solidFill>
                <a:latin typeface="Arial"/>
              </a:rPr>
              <a:t>Tout ce qu'on envoie (consignes, historique, documents) et tout ce que le modèle produit doit tenir dans sa fenêtre de contexte : de quelques milliers à plus d'un million de tokens selon les modèles.</a:t>
            </a:r>
          </a:p>
        </p:txBody>
      </p:sp>
      <p:sp>
        <p:nvSpPr>
          <p:cNvPr id="42" name="Rectangle 41"/>
          <p:cNvSpPr/>
          <p:nvPr/>
        </p:nvSpPr>
        <p:spPr>
          <a:xfrm>
            <a:off x="640080" y="4824831"/>
            <a:ext cx="5259689" cy="1111361"/>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4824831"/>
            <a:ext cx="5259689"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5402" y="4919014"/>
            <a:ext cx="1314922" cy="941832"/>
          </a:xfrm>
          <a:prstGeom prst="rect">
            <a:avLst/>
          </a:prstGeom>
          <a:noFill/>
        </p:spPr>
        <p:txBody>
          <a:bodyPr wrap="square" lIns="0" rIns="0" tIns="0" bIns="0" anchor="ctr">
            <a:spAutoFit/>
          </a:bodyPr>
          <a:lstStyle/>
          <a:p>
            <a:pPr algn="l">
              <a:spcAft>
                <a:spcPts val="0"/>
              </a:spcAft>
            </a:pPr>
            <a:r>
              <a:rPr sz="1440" b="1" i="0">
                <a:solidFill>
                  <a:srgbClr val="712180"/>
                </a:solidFill>
                <a:latin typeface="Arial"/>
              </a:rPr>
              <a:t>Coût</a:t>
            </a:r>
          </a:p>
        </p:txBody>
      </p:sp>
      <p:sp>
        <p:nvSpPr>
          <p:cNvPr id="45" name="TextBox 44"/>
          <p:cNvSpPr txBox="1"/>
          <p:nvPr/>
        </p:nvSpPr>
        <p:spPr>
          <a:xfrm>
            <a:off x="2174156" y="4900178"/>
            <a:ext cx="3594120" cy="988923"/>
          </a:xfrm>
          <a:prstGeom prst="rect">
            <a:avLst/>
          </a:prstGeom>
          <a:noFill/>
        </p:spPr>
        <p:txBody>
          <a:bodyPr wrap="square" lIns="0" rIns="0" tIns="0" bIns="0" anchor="ctr">
            <a:spAutoFit/>
          </a:bodyPr>
          <a:lstStyle/>
          <a:p>
            <a:pPr algn="l">
              <a:spcAft>
                <a:spcPts val="0"/>
              </a:spcAft>
            </a:pPr>
            <a:r>
              <a:rPr sz="1170" b="1" i="0">
                <a:solidFill>
                  <a:srgbClr val="2B3A38"/>
                </a:solidFill>
                <a:latin typeface="Arial"/>
              </a:rPr>
              <a:t>On paie au token</a:t>
            </a:r>
          </a:p>
          <a:p>
            <a:pPr algn="l">
              <a:spcAft>
                <a:spcPts val="0"/>
              </a:spcAft>
            </a:pPr>
            <a:r>
              <a:rPr sz="1035" b="0" i="0">
                <a:solidFill>
                  <a:srgbClr val="2B3A38"/>
                </a:solidFill>
                <a:latin typeface="Arial"/>
              </a:rPr>
              <a:t>La facture dépend du nombre de tokens envoyés et générés, et du modèle choisi : les plus gros modèles coûtent beaucoup plus cher.</a:t>
            </a:r>
          </a:p>
        </p:txBody>
      </p:sp>
      <p:sp>
        <p:nvSpPr>
          <p:cNvPr id="46" name="TextBox 45"/>
          <p:cNvSpPr txBox="1"/>
          <p:nvPr/>
        </p:nvSpPr>
        <p:spPr>
          <a:xfrm>
            <a:off x="6162753" y="1481328"/>
            <a:ext cx="5084366" cy="376732"/>
          </a:xfrm>
          <a:prstGeom prst="rect">
            <a:avLst/>
          </a:prstGeom>
          <a:noFill/>
        </p:spPr>
        <p:txBody>
          <a:bodyPr wrap="square" lIns="0" rIns="0" tIns="0" bIns="0" anchor="t">
            <a:spAutoFit/>
          </a:bodyPr>
          <a:lstStyle/>
          <a:p>
            <a:pPr algn="l">
              <a:spcAft>
                <a:spcPts val="0"/>
              </a:spcAft>
            </a:pPr>
            <a:r>
              <a:rPr sz="1350" b="1" i="0">
                <a:solidFill>
                  <a:srgbClr val="712180"/>
                </a:solidFill>
                <a:latin typeface="Arial"/>
              </a:rPr>
              <a:t>La température : un curseur de créativité</a:t>
            </a:r>
          </a:p>
        </p:txBody>
      </p:sp>
      <p:sp>
        <p:nvSpPr>
          <p:cNvPr id="47" name="TextBox 46"/>
          <p:cNvSpPr txBox="1"/>
          <p:nvPr/>
        </p:nvSpPr>
        <p:spPr>
          <a:xfrm>
            <a:off x="6162753" y="1905152"/>
            <a:ext cx="5084366" cy="376732"/>
          </a:xfrm>
          <a:prstGeom prst="rect">
            <a:avLst/>
          </a:prstGeom>
          <a:noFill/>
        </p:spPr>
        <p:txBody>
          <a:bodyPr wrap="square" lIns="0" rIns="0" tIns="0" bIns="0" anchor="t">
            <a:spAutoFit/>
          </a:bodyPr>
          <a:lstStyle/>
          <a:p>
            <a:pPr algn="l">
              <a:spcAft>
                <a:spcPts val="0"/>
              </a:spcAft>
            </a:pPr>
            <a:r>
              <a:rPr sz="1080" b="0" i="1">
                <a:solidFill>
                  <a:srgbClr val="5A6B68"/>
                </a:solidFill>
                <a:latin typeface="Arial"/>
              </a:rPr>
              <a:t>Même question posée trois fois : « Complète : le chat dort sur le… »</a:t>
            </a:r>
          </a:p>
        </p:txBody>
      </p:sp>
      <p:sp>
        <p:nvSpPr>
          <p:cNvPr id="48" name="Rectangle 47"/>
          <p:cNvSpPr/>
          <p:nvPr/>
        </p:nvSpPr>
        <p:spPr>
          <a:xfrm>
            <a:off x="6162753" y="2423160"/>
            <a:ext cx="5084366" cy="145983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62753" y="2423160"/>
            <a:ext cx="5084366"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38076" y="2536179"/>
            <a:ext cx="4733720" cy="329641"/>
          </a:xfrm>
          <a:prstGeom prst="rect">
            <a:avLst/>
          </a:prstGeom>
          <a:noFill/>
        </p:spPr>
        <p:txBody>
          <a:bodyPr wrap="square" lIns="0" rIns="0" tIns="0" bIns="0" anchor="t">
            <a:spAutoFit/>
          </a:bodyPr>
          <a:lstStyle/>
          <a:p>
            <a:pPr algn="l">
              <a:spcAft>
                <a:spcPts val="0"/>
              </a:spcAft>
            </a:pPr>
            <a:r>
              <a:rPr sz="1215" b="1" i="0">
                <a:solidFill>
                  <a:srgbClr val="712180"/>
                </a:solidFill>
                <a:latin typeface="Arial"/>
              </a:rPr>
              <a:t>Température 0</a:t>
            </a:r>
          </a:p>
        </p:txBody>
      </p:sp>
      <p:sp>
        <p:nvSpPr>
          <p:cNvPr id="51" name="TextBox 50"/>
          <p:cNvSpPr txBox="1"/>
          <p:nvPr/>
        </p:nvSpPr>
        <p:spPr>
          <a:xfrm>
            <a:off x="6338076" y="2894076"/>
            <a:ext cx="4733720" cy="941832"/>
          </a:xfrm>
          <a:prstGeom prst="rect">
            <a:avLst/>
          </a:prstGeom>
          <a:noFill/>
        </p:spPr>
        <p:txBody>
          <a:bodyPr wrap="square" lIns="0" rIns="0" tIns="0" bIns="0" anchor="t">
            <a:spAutoFit/>
          </a:bodyPr>
          <a:lstStyle/>
          <a:p>
            <a:pPr algn="l">
              <a:spcAft>
                <a:spcPts val="100"/>
              </a:spcAft>
            </a:pPr>
            <a:r>
              <a:rPr sz="1125" b="0" i="0">
                <a:solidFill>
                  <a:srgbClr val="2B3A38"/>
                </a:solidFill>
                <a:latin typeface="Arial"/>
              </a:rPr>
              <a:t>→  canapé.</a:t>
            </a:r>
          </a:p>
          <a:p>
            <a:pPr algn="l">
              <a:spcAft>
                <a:spcPts val="100"/>
              </a:spcAft>
            </a:pPr>
            <a:r>
              <a:rPr sz="1125" b="0" i="0">
                <a:solidFill>
                  <a:srgbClr val="2B3A38"/>
                </a:solidFill>
                <a:latin typeface="Arial"/>
              </a:rPr>
              <a:t>→  canapé.</a:t>
            </a:r>
          </a:p>
          <a:p>
            <a:pPr algn="l">
              <a:spcAft>
                <a:spcPts val="100"/>
              </a:spcAft>
            </a:pPr>
            <a:r>
              <a:rPr sz="1125" b="0" i="0">
                <a:solidFill>
                  <a:srgbClr val="2B3A38"/>
                </a:solidFill>
                <a:latin typeface="Arial"/>
              </a:rPr>
              <a:t>→  canapé.</a:t>
            </a:r>
          </a:p>
        </p:txBody>
      </p:sp>
      <p:sp>
        <p:nvSpPr>
          <p:cNvPr id="52" name="Rectangle 51"/>
          <p:cNvSpPr/>
          <p:nvPr/>
        </p:nvSpPr>
        <p:spPr>
          <a:xfrm>
            <a:off x="6162753" y="4071366"/>
            <a:ext cx="5084366" cy="1459839"/>
          </a:xfrm>
          <a:prstGeom prst="rect">
            <a:avLst/>
          </a:prstGeom>
          <a:solidFill>
            <a:srgbClr val="F3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62753" y="4071366"/>
            <a:ext cx="5084366"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38076" y="4184385"/>
            <a:ext cx="4733720" cy="329641"/>
          </a:xfrm>
          <a:prstGeom prst="rect">
            <a:avLst/>
          </a:prstGeom>
          <a:noFill/>
        </p:spPr>
        <p:txBody>
          <a:bodyPr wrap="square" lIns="0" rIns="0" tIns="0" bIns="0" anchor="t">
            <a:spAutoFit/>
          </a:bodyPr>
          <a:lstStyle/>
          <a:p>
            <a:pPr algn="l">
              <a:spcAft>
                <a:spcPts val="0"/>
              </a:spcAft>
            </a:pPr>
            <a:r>
              <a:rPr sz="1215" b="1" i="0">
                <a:solidFill>
                  <a:srgbClr val="712180"/>
                </a:solidFill>
                <a:latin typeface="Arial"/>
              </a:rPr>
              <a:t>Température 1</a:t>
            </a:r>
          </a:p>
        </p:txBody>
      </p:sp>
      <p:sp>
        <p:nvSpPr>
          <p:cNvPr id="55" name="TextBox 54"/>
          <p:cNvSpPr txBox="1"/>
          <p:nvPr/>
        </p:nvSpPr>
        <p:spPr>
          <a:xfrm>
            <a:off x="6338076" y="4542282"/>
            <a:ext cx="4733720" cy="941832"/>
          </a:xfrm>
          <a:prstGeom prst="rect">
            <a:avLst/>
          </a:prstGeom>
          <a:noFill/>
        </p:spPr>
        <p:txBody>
          <a:bodyPr wrap="square" lIns="0" rIns="0" tIns="0" bIns="0" anchor="t">
            <a:spAutoFit/>
          </a:bodyPr>
          <a:lstStyle/>
          <a:p>
            <a:pPr algn="l">
              <a:spcAft>
                <a:spcPts val="100"/>
              </a:spcAft>
            </a:pPr>
            <a:r>
              <a:rPr sz="1125" b="0" i="0">
                <a:solidFill>
                  <a:srgbClr val="2B3A38"/>
                </a:solidFill>
                <a:latin typeface="Arial"/>
              </a:rPr>
              <a:t>→  canapé.</a:t>
            </a:r>
          </a:p>
          <a:p>
            <a:pPr algn="l">
              <a:spcAft>
                <a:spcPts val="100"/>
              </a:spcAft>
            </a:pPr>
            <a:r>
              <a:rPr sz="1125" b="0" i="0">
                <a:solidFill>
                  <a:srgbClr val="2B3A38"/>
                </a:solidFill>
                <a:latin typeface="Arial"/>
              </a:rPr>
              <a:t>→  rebord de la fenêtre.</a:t>
            </a:r>
          </a:p>
          <a:p>
            <a:pPr algn="l">
              <a:spcAft>
                <a:spcPts val="100"/>
              </a:spcAft>
            </a:pPr>
            <a:r>
              <a:rPr sz="1125" b="0" i="0">
                <a:solidFill>
                  <a:srgbClr val="2B3A38"/>
                </a:solidFill>
                <a:latin typeface="Arial"/>
              </a:rPr>
              <a:t>→  clavier de mon ordinateur !</a:t>
            </a:r>
          </a:p>
        </p:txBody>
      </p:sp>
      <p:sp>
        <p:nvSpPr>
          <p:cNvPr id="56" name="TextBox 55"/>
          <p:cNvSpPr txBox="1"/>
          <p:nvPr/>
        </p:nvSpPr>
        <p:spPr>
          <a:xfrm>
            <a:off x="6162753" y="5766663"/>
            <a:ext cx="5084366" cy="376732"/>
          </a:xfrm>
          <a:prstGeom prst="rect">
            <a:avLst/>
          </a:prstGeom>
          <a:noFill/>
        </p:spPr>
        <p:txBody>
          <a:bodyPr wrap="square" lIns="0" rIns="0" tIns="0" bIns="0" anchor="t">
            <a:spAutoFit/>
          </a:bodyPr>
          <a:lstStyle/>
          <a:p>
            <a:pPr algn="l">
              <a:spcAft>
                <a:spcPts val="0"/>
              </a:spcAft>
            </a:pPr>
            <a:r>
              <a:rPr sz="1035" b="1" i="0">
                <a:solidFill>
                  <a:srgbClr val="712180"/>
                </a:solidFill>
                <a:latin typeface="Arial"/>
              </a:rPr>
              <a:t>Température basse : </a:t>
            </a:r>
            <a:r>
              <a:rPr sz="1035" b="0" i="0">
                <a:solidFill>
                  <a:srgbClr val="2B3A38"/>
                </a:solidFill>
                <a:latin typeface="Arial"/>
              </a:rPr>
              <a:t>réponses stables (extraction, classification). </a:t>
            </a:r>
            <a:r>
              <a:rPr sz="1035" b="1" i="0">
                <a:solidFill>
                  <a:srgbClr val="712180"/>
                </a:solidFill>
                <a:latin typeface="Arial"/>
              </a:rPr>
              <a:t>Haute : </a:t>
            </a:r>
            <a:r>
              <a:rPr sz="1035" b="0" i="0">
                <a:solidFill>
                  <a:srgbClr val="2B3A38"/>
                </a:solidFill>
                <a:latin typeface="Arial"/>
              </a:rPr>
              <a:t>réponses variées (rédaction, idées).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B · IA générative</a:t>
            </a:r>
          </a:p>
        </p:txBody>
      </p:sp>
      <p:sp>
        <p:nvSpPr>
          <p:cNvPr id="3" name="Text Placeholder 2"/>
          <p:cNvSpPr>
            <a:spLocks noGrp="1"/>
          </p:cNvSpPr>
          <p:nvPr>
            <p:ph type="body" idx="25" sz="quarter"/>
          </p:nvPr>
        </p:nvSpPr>
        <p:spPr/>
        <p:txBody>
          <a:bodyPr/>
          <a:lstStyle/>
          <a:p>
            <a:r>
              <a:t>Bien formuler sa demande : l'ingénierie de prompt</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19</a:t>
            </a:fld>
          </a:p>
        </p:txBody>
      </p:sp>
      <p:sp>
        <p:nvSpPr>
          <p:cNvPr id="6" name="Rectangle 5"/>
          <p:cNvSpPr/>
          <p:nvPr/>
        </p:nvSpPr>
        <p:spPr>
          <a:xfrm>
            <a:off x="640080" y="1481328"/>
            <a:ext cx="3769443" cy="1789480"/>
          </a:xfrm>
          <a:prstGeom prst="rect">
            <a:avLst/>
          </a:prstGeom>
          <a:solidFill>
            <a:srgbClr val="F4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481328"/>
            <a:ext cx="3769443" cy="64008"/>
          </a:xfrm>
          <a:prstGeom prst="rect">
            <a:avLst/>
          </a:prstGeom>
          <a:solidFill>
            <a:srgbClr val="8C9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402" y="1603766"/>
            <a:ext cx="3418798" cy="329641"/>
          </a:xfrm>
          <a:prstGeom prst="rect">
            <a:avLst/>
          </a:prstGeom>
          <a:noFill/>
        </p:spPr>
        <p:txBody>
          <a:bodyPr wrap="square" lIns="0" rIns="0" tIns="0" bIns="0" anchor="t">
            <a:spAutoFit/>
          </a:bodyPr>
          <a:lstStyle/>
          <a:p>
            <a:pPr algn="l">
              <a:spcAft>
                <a:spcPts val="0"/>
              </a:spcAft>
            </a:pPr>
            <a:r>
              <a:rPr sz="1215" b="1" i="0">
                <a:solidFill>
                  <a:srgbClr val="6B7876"/>
                </a:solidFill>
                <a:latin typeface="Arial"/>
              </a:rPr>
              <a:t>Prompt vague</a:t>
            </a:r>
          </a:p>
        </p:txBody>
      </p:sp>
      <p:sp>
        <p:nvSpPr>
          <p:cNvPr id="9" name="TextBox 8"/>
          <p:cNvSpPr txBox="1"/>
          <p:nvPr/>
        </p:nvSpPr>
        <p:spPr>
          <a:xfrm>
            <a:off x="815402" y="1999335"/>
            <a:ext cx="3418798" cy="470916"/>
          </a:xfrm>
          <a:prstGeom prst="rect">
            <a:avLst/>
          </a:prstGeom>
          <a:noFill/>
        </p:spPr>
        <p:txBody>
          <a:bodyPr wrap="square" lIns="0" rIns="0" tIns="0" bIns="0" anchor="t">
            <a:spAutoFit/>
          </a:bodyPr>
          <a:lstStyle/>
          <a:p>
            <a:pPr algn="l">
              <a:spcAft>
                <a:spcPts val="0"/>
              </a:spcAft>
            </a:pPr>
            <a:r>
              <a:rPr sz="1260" b="0" i="1">
                <a:solidFill>
                  <a:srgbClr val="1A2E2B"/>
                </a:solidFill>
                <a:latin typeface="Arial"/>
              </a:rPr>
              <a:t>« Analyse cet avis client. »</a:t>
            </a:r>
          </a:p>
        </p:txBody>
      </p:sp>
      <p:sp>
        <p:nvSpPr>
          <p:cNvPr id="10" name="TextBox 9"/>
          <p:cNvSpPr txBox="1"/>
          <p:nvPr/>
        </p:nvSpPr>
        <p:spPr>
          <a:xfrm>
            <a:off x="815402" y="2470251"/>
            <a:ext cx="3418798" cy="753465"/>
          </a:xfrm>
          <a:prstGeom prst="rect">
            <a:avLst/>
          </a:prstGeom>
          <a:noFill/>
        </p:spPr>
        <p:txBody>
          <a:bodyPr wrap="square" lIns="0" rIns="0" tIns="0" bIns="0" anchor="t">
            <a:spAutoFit/>
          </a:bodyPr>
          <a:lstStyle/>
          <a:p>
            <a:pPr algn="l">
              <a:spcAft>
                <a:spcPts val="0"/>
              </a:spcAft>
            </a:pPr>
            <a:r>
              <a:rPr sz="1035" b="0" i="0">
                <a:solidFill>
                  <a:srgbClr val="5A6B68"/>
                </a:solidFill>
                <a:latin typeface="Arial"/>
              </a:rPr>
              <a:t>Réponse longue, format imprévisible, difficile à exploiter dans un programme.</a:t>
            </a:r>
          </a:p>
        </p:txBody>
      </p:sp>
      <p:cxnSp>
        <p:nvCxnSpPr>
          <p:cNvPr id="11" name="Connector 10"/>
          <p:cNvCxnSpPr/>
          <p:nvPr/>
        </p:nvCxnSpPr>
        <p:spPr>
          <a:xfrm>
            <a:off x="4453354" y="2376068"/>
            <a:ext cx="350646" cy="0"/>
          </a:xfrm>
          <a:prstGeom prst="line">
            <a:avLst/>
          </a:prstGeom>
          <a:ln w="28575">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847831" y="1481328"/>
            <a:ext cx="6399288" cy="1789480"/>
          </a:xfrm>
          <a:prstGeom prst="rect">
            <a:avLst/>
          </a:prstGeom>
          <a:solidFill>
            <a:srgbClr val="F3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47831" y="1481328"/>
            <a:ext cx="6399288"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3154" y="1603766"/>
            <a:ext cx="6048642" cy="329641"/>
          </a:xfrm>
          <a:prstGeom prst="rect">
            <a:avLst/>
          </a:prstGeom>
          <a:noFill/>
        </p:spPr>
        <p:txBody>
          <a:bodyPr wrap="square" lIns="0" rIns="0" tIns="0" bIns="0" anchor="t">
            <a:spAutoFit/>
          </a:bodyPr>
          <a:lstStyle/>
          <a:p>
            <a:pPr algn="l">
              <a:spcAft>
                <a:spcPts val="0"/>
              </a:spcAft>
            </a:pPr>
            <a:r>
              <a:rPr sz="1215" b="1" i="0">
                <a:solidFill>
                  <a:srgbClr val="712180"/>
                </a:solidFill>
                <a:latin typeface="Arial"/>
              </a:rPr>
              <a:t>Prompt précis</a:t>
            </a:r>
          </a:p>
        </p:txBody>
      </p:sp>
      <p:sp>
        <p:nvSpPr>
          <p:cNvPr id="15" name="TextBox 14"/>
          <p:cNvSpPr txBox="1"/>
          <p:nvPr/>
        </p:nvSpPr>
        <p:spPr>
          <a:xfrm>
            <a:off x="5023154" y="1952244"/>
            <a:ext cx="6048642" cy="1224381"/>
          </a:xfrm>
          <a:prstGeom prst="rect">
            <a:avLst/>
          </a:prstGeom>
          <a:noFill/>
        </p:spPr>
        <p:txBody>
          <a:bodyPr wrap="square" lIns="0" rIns="0" tIns="0" bIns="0" anchor="t">
            <a:spAutoFit/>
          </a:bodyPr>
          <a:lstStyle/>
          <a:p>
            <a:pPr algn="l">
              <a:spcAft>
                <a:spcPts val="0"/>
              </a:spcAft>
            </a:pPr>
            <a:r>
              <a:rPr sz="1125" b="0" i="1">
                <a:solidFill>
                  <a:srgbClr val="1A2E2B"/>
                </a:solidFill>
                <a:latin typeface="Arial"/>
              </a:rPr>
              <a:t>« Tu es chargé de la relation client. Classe l'avis ci-dessous en positif, neutre ou négatif, puis cite en moins de 10 mots le problème principal. Réponds uniquement au format : sentiment | problème. »</a:t>
            </a:r>
          </a:p>
        </p:txBody>
      </p:sp>
      <p:sp>
        <p:nvSpPr>
          <p:cNvPr id="16" name="Rectangle 15"/>
          <p:cNvSpPr/>
          <p:nvPr/>
        </p:nvSpPr>
        <p:spPr>
          <a:xfrm>
            <a:off x="640080" y="3553358"/>
            <a:ext cx="2016214" cy="1977847"/>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553358"/>
            <a:ext cx="2016214"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5402" y="3756398"/>
            <a:ext cx="394476" cy="394476"/>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402" y="3741724"/>
            <a:ext cx="394476" cy="423824"/>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1</a:t>
            </a:r>
          </a:p>
        </p:txBody>
      </p:sp>
      <p:sp>
        <p:nvSpPr>
          <p:cNvPr id="20" name="TextBox 19"/>
          <p:cNvSpPr txBox="1"/>
          <p:nvPr/>
        </p:nvSpPr>
        <p:spPr>
          <a:xfrm>
            <a:off x="1297541" y="3694633"/>
            <a:ext cx="1314922" cy="518007"/>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Donner un rôle</a:t>
            </a:r>
          </a:p>
        </p:txBody>
      </p:sp>
      <p:sp>
        <p:nvSpPr>
          <p:cNvPr id="21" name="TextBox 20"/>
          <p:cNvSpPr txBox="1"/>
          <p:nvPr/>
        </p:nvSpPr>
        <p:spPr>
          <a:xfrm>
            <a:off x="815402" y="4306824"/>
            <a:ext cx="1709399" cy="1177290"/>
          </a:xfrm>
          <a:prstGeom prst="rect">
            <a:avLst/>
          </a:prstGeom>
          <a:noFill/>
        </p:spPr>
        <p:txBody>
          <a:bodyPr wrap="square" lIns="0" rIns="0" tIns="0" bIns="0" anchor="t">
            <a:spAutoFit/>
          </a:bodyPr>
          <a:lstStyle/>
          <a:p>
            <a:pPr algn="l">
              <a:spcAft>
                <a:spcPts val="0"/>
              </a:spcAft>
            </a:pPr>
            <a:r>
              <a:rPr sz="1035" b="0" i="0">
                <a:solidFill>
                  <a:srgbClr val="2B3A38"/>
                </a:solidFill>
                <a:latin typeface="Arial"/>
              </a:rPr>
              <a:t>« Tu es un professeur de mathématiques… »</a:t>
            </a:r>
          </a:p>
        </p:txBody>
      </p:sp>
      <p:sp>
        <p:nvSpPr>
          <p:cNvPr id="22" name="Rectangle 21"/>
          <p:cNvSpPr/>
          <p:nvPr/>
        </p:nvSpPr>
        <p:spPr>
          <a:xfrm>
            <a:off x="2796552" y="3553358"/>
            <a:ext cx="2016214" cy="1977847"/>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96552" y="3553358"/>
            <a:ext cx="2016214"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971875" y="3756398"/>
            <a:ext cx="394476" cy="394476"/>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71875" y="3741724"/>
            <a:ext cx="394476" cy="423824"/>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2</a:t>
            </a:r>
          </a:p>
        </p:txBody>
      </p:sp>
      <p:sp>
        <p:nvSpPr>
          <p:cNvPr id="26" name="TextBox 25"/>
          <p:cNvSpPr txBox="1"/>
          <p:nvPr/>
        </p:nvSpPr>
        <p:spPr>
          <a:xfrm>
            <a:off x="3454013" y="3694633"/>
            <a:ext cx="1314922" cy="518007"/>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Être précis</a:t>
            </a:r>
          </a:p>
        </p:txBody>
      </p:sp>
      <p:sp>
        <p:nvSpPr>
          <p:cNvPr id="27" name="TextBox 26"/>
          <p:cNvSpPr txBox="1"/>
          <p:nvPr/>
        </p:nvSpPr>
        <p:spPr>
          <a:xfrm>
            <a:off x="2971875" y="4306824"/>
            <a:ext cx="1709399" cy="1177290"/>
          </a:xfrm>
          <a:prstGeom prst="rect">
            <a:avLst/>
          </a:prstGeom>
          <a:noFill/>
        </p:spPr>
        <p:txBody>
          <a:bodyPr wrap="square" lIns="0" rIns="0" tIns="0" bIns="0" anchor="t">
            <a:spAutoFit/>
          </a:bodyPr>
          <a:lstStyle/>
          <a:p>
            <a:pPr algn="l">
              <a:spcAft>
                <a:spcPts val="0"/>
              </a:spcAft>
            </a:pPr>
            <a:r>
              <a:rPr sz="1035" b="0" i="0">
                <a:solidFill>
                  <a:srgbClr val="2B3A38"/>
                </a:solidFill>
                <a:latin typeface="Arial"/>
              </a:rPr>
              <a:t>Tâche, public, longueur, ton, contraintes.</a:t>
            </a:r>
          </a:p>
        </p:txBody>
      </p:sp>
      <p:sp>
        <p:nvSpPr>
          <p:cNvPr id="28" name="Rectangle 27"/>
          <p:cNvSpPr/>
          <p:nvPr/>
        </p:nvSpPr>
        <p:spPr>
          <a:xfrm>
            <a:off x="4953025" y="3553358"/>
            <a:ext cx="2016214" cy="1977847"/>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53025" y="3553358"/>
            <a:ext cx="2016214"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28348" y="3756398"/>
            <a:ext cx="394476" cy="394476"/>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8348" y="3741724"/>
            <a:ext cx="394476" cy="423824"/>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3</a:t>
            </a:r>
          </a:p>
        </p:txBody>
      </p:sp>
      <p:sp>
        <p:nvSpPr>
          <p:cNvPr id="32" name="TextBox 31"/>
          <p:cNvSpPr txBox="1"/>
          <p:nvPr/>
        </p:nvSpPr>
        <p:spPr>
          <a:xfrm>
            <a:off x="5610486" y="3694633"/>
            <a:ext cx="1314922" cy="518007"/>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Montrer des exemples</a:t>
            </a:r>
          </a:p>
        </p:txBody>
      </p:sp>
      <p:sp>
        <p:nvSpPr>
          <p:cNvPr id="33" name="TextBox 32"/>
          <p:cNvSpPr txBox="1"/>
          <p:nvPr/>
        </p:nvSpPr>
        <p:spPr>
          <a:xfrm>
            <a:off x="5128348" y="4306824"/>
            <a:ext cx="1709399" cy="1177290"/>
          </a:xfrm>
          <a:prstGeom prst="rect">
            <a:avLst/>
          </a:prstGeom>
          <a:noFill/>
        </p:spPr>
        <p:txBody>
          <a:bodyPr wrap="square" lIns="0" rIns="0" tIns="0" bIns="0" anchor="t">
            <a:spAutoFit/>
          </a:bodyPr>
          <a:lstStyle/>
          <a:p>
            <a:pPr algn="l">
              <a:spcAft>
                <a:spcPts val="0"/>
              </a:spcAft>
            </a:pPr>
            <a:r>
              <a:rPr sz="1035" b="0" i="0">
                <a:solidFill>
                  <a:srgbClr val="2B3A38"/>
                </a:solidFill>
                <a:latin typeface="Arial"/>
              </a:rPr>
              <a:t>Deux ou trois paires question → réponse attendue (few-shot).</a:t>
            </a:r>
          </a:p>
        </p:txBody>
      </p:sp>
      <p:sp>
        <p:nvSpPr>
          <p:cNvPr id="34" name="Rectangle 33"/>
          <p:cNvSpPr/>
          <p:nvPr/>
        </p:nvSpPr>
        <p:spPr>
          <a:xfrm>
            <a:off x="7109497" y="3553358"/>
            <a:ext cx="2016214" cy="1977847"/>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09497" y="3553358"/>
            <a:ext cx="2016214"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84820" y="3756398"/>
            <a:ext cx="394476" cy="394476"/>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84820" y="3741724"/>
            <a:ext cx="394476" cy="423824"/>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4</a:t>
            </a:r>
          </a:p>
        </p:txBody>
      </p:sp>
      <p:sp>
        <p:nvSpPr>
          <p:cNvPr id="38" name="TextBox 37"/>
          <p:cNvSpPr txBox="1"/>
          <p:nvPr/>
        </p:nvSpPr>
        <p:spPr>
          <a:xfrm>
            <a:off x="7766958" y="3694633"/>
            <a:ext cx="1314922" cy="518007"/>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Faire raisonner</a:t>
            </a:r>
          </a:p>
        </p:txBody>
      </p:sp>
      <p:sp>
        <p:nvSpPr>
          <p:cNvPr id="39" name="TextBox 38"/>
          <p:cNvSpPr txBox="1"/>
          <p:nvPr/>
        </p:nvSpPr>
        <p:spPr>
          <a:xfrm>
            <a:off x="7284820" y="4306824"/>
            <a:ext cx="1709399" cy="1177290"/>
          </a:xfrm>
          <a:prstGeom prst="rect">
            <a:avLst/>
          </a:prstGeom>
          <a:noFill/>
        </p:spPr>
        <p:txBody>
          <a:bodyPr wrap="square" lIns="0" rIns="0" tIns="0" bIns="0" anchor="t">
            <a:spAutoFit/>
          </a:bodyPr>
          <a:lstStyle/>
          <a:p>
            <a:pPr algn="l">
              <a:spcAft>
                <a:spcPts val="0"/>
              </a:spcAft>
            </a:pPr>
            <a:r>
              <a:rPr sz="1035" b="0" i="0">
                <a:solidFill>
                  <a:srgbClr val="2B3A38"/>
                </a:solidFill>
                <a:latin typeface="Arial"/>
              </a:rPr>
              <a:t>Demander de procéder étape par étape pour les problèmes complexes.</a:t>
            </a:r>
          </a:p>
        </p:txBody>
      </p:sp>
      <p:sp>
        <p:nvSpPr>
          <p:cNvPr id="40" name="Rectangle 39"/>
          <p:cNvSpPr/>
          <p:nvPr/>
        </p:nvSpPr>
        <p:spPr>
          <a:xfrm>
            <a:off x="9265970" y="3553358"/>
            <a:ext cx="2016214" cy="1977847"/>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265970" y="3553358"/>
            <a:ext cx="2016214"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41293" y="3756398"/>
            <a:ext cx="394476" cy="394476"/>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41293" y="3741724"/>
            <a:ext cx="394476" cy="423824"/>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5</a:t>
            </a:r>
          </a:p>
        </p:txBody>
      </p:sp>
      <p:sp>
        <p:nvSpPr>
          <p:cNvPr id="44" name="TextBox 43"/>
          <p:cNvSpPr txBox="1"/>
          <p:nvPr/>
        </p:nvSpPr>
        <p:spPr>
          <a:xfrm>
            <a:off x="9923431" y="3694633"/>
            <a:ext cx="1314922" cy="518007"/>
          </a:xfrm>
          <a:prstGeom prst="rect">
            <a:avLst/>
          </a:prstGeom>
          <a:noFill/>
        </p:spPr>
        <p:txBody>
          <a:bodyPr wrap="square" lIns="0" rIns="0" tIns="0" bIns="0" anchor="ctr">
            <a:spAutoFit/>
          </a:bodyPr>
          <a:lstStyle/>
          <a:p>
            <a:pPr algn="l">
              <a:spcAft>
                <a:spcPts val="0"/>
              </a:spcAft>
            </a:pPr>
            <a:r>
              <a:rPr sz="1170" b="1" i="0">
                <a:solidFill>
                  <a:srgbClr val="1A2E2B"/>
                </a:solidFill>
                <a:latin typeface="Arial"/>
              </a:rPr>
              <a:t>Imposer le format</a:t>
            </a:r>
          </a:p>
        </p:txBody>
      </p:sp>
      <p:sp>
        <p:nvSpPr>
          <p:cNvPr id="45" name="TextBox 44"/>
          <p:cNvSpPr txBox="1"/>
          <p:nvPr/>
        </p:nvSpPr>
        <p:spPr>
          <a:xfrm>
            <a:off x="9441293" y="4306824"/>
            <a:ext cx="1709399" cy="1177290"/>
          </a:xfrm>
          <a:prstGeom prst="rect">
            <a:avLst/>
          </a:prstGeom>
          <a:noFill/>
        </p:spPr>
        <p:txBody>
          <a:bodyPr wrap="square" lIns="0" rIns="0" tIns="0" bIns="0" anchor="t">
            <a:spAutoFit/>
          </a:bodyPr>
          <a:lstStyle/>
          <a:p>
            <a:pPr algn="l">
              <a:spcAft>
                <a:spcPts val="0"/>
              </a:spcAft>
            </a:pPr>
            <a:r>
              <a:rPr sz="1035" b="0" i="0">
                <a:solidFill>
                  <a:srgbClr val="2B3A38"/>
                </a:solidFill>
                <a:latin typeface="Arial"/>
              </a:rPr>
              <a:t>Liste, tableau, JSON : ce que le programme saura lire.</a:t>
            </a:r>
          </a:p>
        </p:txBody>
      </p:sp>
      <p:sp>
        <p:nvSpPr>
          <p:cNvPr id="46" name="Rectangle 45"/>
          <p:cNvSpPr/>
          <p:nvPr/>
        </p:nvSpPr>
        <p:spPr>
          <a:xfrm>
            <a:off x="640080" y="5672480"/>
            <a:ext cx="10607040" cy="376732"/>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5402" y="5672480"/>
            <a:ext cx="10344055" cy="376732"/>
          </a:xfrm>
          <a:prstGeom prst="rect">
            <a:avLst/>
          </a:prstGeom>
          <a:noFill/>
        </p:spPr>
        <p:txBody>
          <a:bodyPr wrap="square" lIns="0" rIns="0" tIns="0" bIns="0" anchor="ctr">
            <a:spAutoFit/>
          </a:bodyPr>
          <a:lstStyle/>
          <a:p>
            <a:pPr algn="l">
              <a:spcAft>
                <a:spcPts val="0"/>
              </a:spcAft>
            </a:pPr>
            <a:r>
              <a:rPr sz="1080" b="1" i="0">
                <a:solidFill>
                  <a:srgbClr val="712180"/>
                </a:solidFill>
                <a:latin typeface="Arial"/>
              </a:rPr>
              <a:t>À retenir : </a:t>
            </a:r>
            <a:r>
              <a:rPr sz="1080" b="0" i="0">
                <a:solidFill>
                  <a:srgbClr val="2B3A38"/>
                </a:solidFill>
                <a:latin typeface="Arial"/>
              </a:rPr>
              <a:t>un prompt se teste et s'améliore comme du code, sur plusieurs exemples, pas sur un seul essai.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B · IA générative</a:t>
            </a:r>
          </a:p>
        </p:txBody>
      </p:sp>
      <p:sp>
        <p:nvSpPr>
          <p:cNvPr id="3" name="Text Placeholder 2"/>
          <p:cNvSpPr>
            <a:spLocks noGrp="1"/>
          </p:cNvSpPr>
          <p:nvPr>
            <p:ph type="body" idx="25" sz="quarter"/>
          </p:nvPr>
        </p:nvSpPr>
        <p:spPr/>
        <p:txBody>
          <a:bodyPr/>
          <a:lstStyle/>
          <a:p>
            <a:r>
              <a:t>Obtenir des sorties exploitables par un programme</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20</a:t>
            </a:fld>
          </a:p>
        </p:txBody>
      </p:sp>
      <p:sp>
        <p:nvSpPr>
          <p:cNvPr id="6" name="TextBox 5"/>
          <p:cNvSpPr txBox="1"/>
          <p:nvPr/>
        </p:nvSpPr>
        <p:spPr>
          <a:xfrm>
            <a:off x="640080" y="1481328"/>
            <a:ext cx="4032428" cy="329641"/>
          </a:xfrm>
          <a:prstGeom prst="rect">
            <a:avLst/>
          </a:prstGeom>
          <a:noFill/>
        </p:spPr>
        <p:txBody>
          <a:bodyPr wrap="square" lIns="0" rIns="0" tIns="0" bIns="0" anchor="t">
            <a:spAutoFit/>
          </a:bodyPr>
          <a:lstStyle/>
          <a:p>
            <a:pPr algn="l">
              <a:spcAft>
                <a:spcPts val="0"/>
              </a:spcAft>
            </a:pPr>
            <a:r>
              <a:rPr sz="1260" b="1" i="0">
                <a:solidFill>
                  <a:srgbClr val="712180"/>
                </a:solidFill>
                <a:latin typeface="Arial"/>
              </a:rPr>
              <a:t>Texte libre</a:t>
            </a:r>
          </a:p>
        </p:txBody>
      </p:sp>
      <p:sp>
        <p:nvSpPr>
          <p:cNvPr id="7" name="Rectangle 6"/>
          <p:cNvSpPr/>
          <p:nvPr/>
        </p:nvSpPr>
        <p:spPr>
          <a:xfrm>
            <a:off x="640080" y="1858060"/>
            <a:ext cx="4032428" cy="2166213"/>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402" y="1999335"/>
            <a:ext cx="3681782" cy="1930755"/>
          </a:xfrm>
          <a:prstGeom prst="rect">
            <a:avLst/>
          </a:prstGeom>
          <a:noFill/>
        </p:spPr>
        <p:txBody>
          <a:bodyPr wrap="square" lIns="0" rIns="0" tIns="0" bIns="0" anchor="t">
            <a:spAutoFit/>
          </a:bodyPr>
          <a:lstStyle/>
          <a:p>
            <a:pPr algn="l">
              <a:spcAft>
                <a:spcPts val="0"/>
              </a:spcAft>
            </a:pPr>
            <a:r>
              <a:rPr sz="1125" b="0" i="1">
                <a:solidFill>
                  <a:srgbClr val="1A2E2B"/>
                </a:solidFill>
                <a:latin typeface="Arial"/>
              </a:rPr>
              <a:t>« Bonjour, j'ai commandé une trottinette le 3 mars (commande 58213) et elle est arrivée avec la batterie cassée. C'est la deuxième fois ! Je veux être remboursé rapidement. Camille M. »</a:t>
            </a:r>
          </a:p>
        </p:txBody>
      </p:sp>
      <p:cxnSp>
        <p:nvCxnSpPr>
          <p:cNvPr id="9" name="Connector 8"/>
          <p:cNvCxnSpPr/>
          <p:nvPr/>
        </p:nvCxnSpPr>
        <p:spPr>
          <a:xfrm>
            <a:off x="4760169" y="2941167"/>
            <a:ext cx="525969" cy="0"/>
          </a:xfrm>
          <a:prstGeom prst="line">
            <a:avLst/>
          </a:prstGeom>
          <a:ln w="3175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628677" y="2517343"/>
            <a:ext cx="788953" cy="376732"/>
          </a:xfrm>
          <a:prstGeom prst="rect">
            <a:avLst/>
          </a:prstGeom>
          <a:noFill/>
        </p:spPr>
        <p:txBody>
          <a:bodyPr wrap="square" lIns="0" rIns="0" tIns="0" bIns="0" anchor="t">
            <a:spAutoFit/>
          </a:bodyPr>
          <a:lstStyle/>
          <a:p>
            <a:pPr algn="ctr">
              <a:spcAft>
                <a:spcPts val="0"/>
              </a:spcAft>
            </a:pPr>
            <a:r>
              <a:rPr sz="900" b="1" i="0">
                <a:solidFill>
                  <a:srgbClr val="712180"/>
                </a:solidFill>
                <a:latin typeface="Arial"/>
              </a:rPr>
              <a:t>LLM + schéma</a:t>
            </a:r>
          </a:p>
        </p:txBody>
      </p:sp>
      <p:sp>
        <p:nvSpPr>
          <p:cNvPr id="11" name="TextBox 10"/>
          <p:cNvSpPr txBox="1"/>
          <p:nvPr/>
        </p:nvSpPr>
        <p:spPr>
          <a:xfrm>
            <a:off x="5373800" y="1481328"/>
            <a:ext cx="5873319" cy="329641"/>
          </a:xfrm>
          <a:prstGeom prst="rect">
            <a:avLst/>
          </a:prstGeom>
          <a:noFill/>
        </p:spPr>
        <p:txBody>
          <a:bodyPr wrap="square" lIns="0" rIns="0" tIns="0" bIns="0" anchor="t">
            <a:spAutoFit/>
          </a:bodyPr>
          <a:lstStyle/>
          <a:p>
            <a:pPr algn="l">
              <a:spcAft>
                <a:spcPts val="0"/>
              </a:spcAft>
            </a:pPr>
            <a:r>
              <a:rPr sz="1260" b="1" i="0">
                <a:solidFill>
                  <a:srgbClr val="712180"/>
                </a:solidFill>
                <a:latin typeface="Arial"/>
              </a:rPr>
              <a:t>JSON conforme au schéma</a:t>
            </a:r>
          </a:p>
        </p:txBody>
      </p:sp>
      <p:sp>
        <p:nvSpPr>
          <p:cNvPr id="12" name="Rectangle 11"/>
          <p:cNvSpPr/>
          <p:nvPr/>
        </p:nvSpPr>
        <p:spPr>
          <a:xfrm>
            <a:off x="5373800" y="1858060"/>
            <a:ext cx="5873319" cy="2166213"/>
          </a:xfrm>
          <a:prstGeom prst="rect">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92954" y="2046427"/>
            <a:ext cx="5435012" cy="1789480"/>
          </a:xfrm>
          <a:prstGeom prst="rect">
            <a:avLst/>
          </a:prstGeom>
          <a:noFill/>
        </p:spPr>
        <p:txBody>
          <a:bodyPr wrap="square" lIns="0" rIns="0" tIns="0" bIns="0" anchor="t">
            <a:spAutoFit/>
          </a:bodyPr>
          <a:lstStyle/>
          <a:p>
            <a:pPr algn="l">
              <a:spcAft>
                <a:spcPts val="200"/>
              </a:spcAft>
            </a:pPr>
            <a:r>
              <a:rPr sz="1035" b="0" i="0">
                <a:solidFill>
                  <a:srgbClr val="FFFFFF"/>
                </a:solidFill>
                <a:latin typeface="Courier New"/>
              </a:rPr>
              <a:t>{</a:t>
            </a:r>
          </a:p>
          <a:p>
            <a:pPr algn="l">
              <a:spcAft>
                <a:spcPts val="200"/>
              </a:spcAft>
            </a:pPr>
            <a:r>
              <a:rPr sz="1035" b="0" i="0">
                <a:solidFill>
                  <a:srgbClr val="FFFFFF"/>
                </a:solidFill>
                <a:latin typeface="Courier New"/>
              </a:rPr>
              <a:t>  "client": </a:t>
            </a:r>
            <a:r>
              <a:rPr sz="1035" b="0" i="0">
                <a:solidFill>
                  <a:srgbClr val="F2A99B"/>
                </a:solidFill>
                <a:latin typeface="Courier New"/>
              </a:rPr>
              <a:t>"Camille M."</a:t>
            </a:r>
            <a:r>
              <a:rPr sz="1035" b="0" i="0">
                <a:solidFill>
                  <a:srgbClr val="FFFFFF"/>
                </a:solidFill>
                <a:latin typeface="Courier New"/>
              </a:rPr>
              <a:t>,</a:t>
            </a:r>
          </a:p>
          <a:p>
            <a:pPr algn="l">
              <a:spcAft>
                <a:spcPts val="200"/>
              </a:spcAft>
            </a:pPr>
            <a:r>
              <a:rPr sz="1035" b="0" i="0">
                <a:solidFill>
                  <a:srgbClr val="FFFFFF"/>
                </a:solidFill>
                <a:latin typeface="Courier New"/>
              </a:rPr>
              <a:t>  "commande": </a:t>
            </a:r>
            <a:r>
              <a:rPr sz="1035" b="0" i="0">
                <a:solidFill>
                  <a:srgbClr val="F4D73F"/>
                </a:solidFill>
                <a:latin typeface="Courier New"/>
              </a:rPr>
              <a:t>58213</a:t>
            </a:r>
            <a:r>
              <a:rPr sz="1035" b="0" i="0">
                <a:solidFill>
                  <a:srgbClr val="FFFFFF"/>
                </a:solidFill>
                <a:latin typeface="Courier New"/>
              </a:rPr>
              <a:t>,</a:t>
            </a:r>
          </a:p>
          <a:p>
            <a:pPr algn="l">
              <a:spcAft>
                <a:spcPts val="200"/>
              </a:spcAft>
            </a:pPr>
            <a:r>
              <a:rPr sz="1035" b="0" i="0">
                <a:solidFill>
                  <a:srgbClr val="FFFFFF"/>
                </a:solidFill>
                <a:latin typeface="Courier New"/>
              </a:rPr>
              <a:t>  "produit": </a:t>
            </a:r>
            <a:r>
              <a:rPr sz="1035" b="0" i="0">
                <a:solidFill>
                  <a:srgbClr val="F2A99B"/>
                </a:solidFill>
                <a:latin typeface="Courier New"/>
              </a:rPr>
              <a:t>"trottinette"</a:t>
            </a:r>
            <a:r>
              <a:rPr sz="1035" b="0" i="0">
                <a:solidFill>
                  <a:srgbClr val="FFFFFF"/>
                </a:solidFill>
                <a:latin typeface="Courier New"/>
              </a:rPr>
              <a:t>,</a:t>
            </a:r>
          </a:p>
          <a:p>
            <a:pPr algn="l">
              <a:spcAft>
                <a:spcPts val="200"/>
              </a:spcAft>
            </a:pPr>
            <a:r>
              <a:rPr sz="1035" b="0" i="0">
                <a:solidFill>
                  <a:srgbClr val="FFFFFF"/>
                </a:solidFill>
                <a:latin typeface="Courier New"/>
              </a:rPr>
              <a:t>  "probleme": </a:t>
            </a:r>
            <a:r>
              <a:rPr sz="1035" b="0" i="0">
                <a:solidFill>
                  <a:srgbClr val="F2A99B"/>
                </a:solidFill>
                <a:latin typeface="Courier New"/>
              </a:rPr>
              <a:t>"batterie cassée"</a:t>
            </a:r>
            <a:r>
              <a:rPr sz="1035" b="0" i="0">
                <a:solidFill>
                  <a:srgbClr val="FFFFFF"/>
                </a:solidFill>
                <a:latin typeface="Courier New"/>
              </a:rPr>
              <a:t>,</a:t>
            </a:r>
          </a:p>
          <a:p>
            <a:pPr algn="l">
              <a:spcAft>
                <a:spcPts val="200"/>
              </a:spcAft>
            </a:pPr>
            <a:r>
              <a:rPr sz="1035" b="0" i="0">
                <a:solidFill>
                  <a:srgbClr val="FFFFFF"/>
                </a:solidFill>
                <a:latin typeface="Courier New"/>
              </a:rPr>
              <a:t>  "demande": </a:t>
            </a:r>
            <a:r>
              <a:rPr sz="1035" b="0" i="0">
                <a:solidFill>
                  <a:srgbClr val="F2A99B"/>
                </a:solidFill>
                <a:latin typeface="Courier New"/>
              </a:rPr>
              <a:t>"remboursement"</a:t>
            </a:r>
            <a:r>
              <a:rPr sz="1035" b="0" i="0">
                <a:solidFill>
                  <a:srgbClr val="FFFFFF"/>
                </a:solidFill>
                <a:latin typeface="Courier New"/>
              </a:rPr>
              <a:t>,</a:t>
            </a:r>
          </a:p>
          <a:p>
            <a:pPr algn="l">
              <a:spcAft>
                <a:spcPts val="200"/>
              </a:spcAft>
            </a:pPr>
            <a:r>
              <a:rPr sz="1035" b="0" i="0">
                <a:solidFill>
                  <a:srgbClr val="FFFFFF"/>
                </a:solidFill>
                <a:latin typeface="Courier New"/>
              </a:rPr>
              <a:t>  "urgence": </a:t>
            </a:r>
            <a:r>
              <a:rPr sz="1035" b="0" i="0">
                <a:solidFill>
                  <a:srgbClr val="F2A99B"/>
                </a:solidFill>
                <a:latin typeface="Courier New"/>
              </a:rPr>
              <a:t>"haute"</a:t>
            </a:r>
          </a:p>
          <a:p>
            <a:pPr algn="l">
              <a:spcAft>
                <a:spcPts val="200"/>
              </a:spcAft>
            </a:pPr>
            <a:r>
              <a:rPr sz="1035" b="0" i="0">
                <a:solidFill>
                  <a:srgbClr val="FFFFFF"/>
                </a:solidFill>
                <a:latin typeface="Courier New"/>
              </a:rPr>
              <a:t>}</a:t>
            </a:r>
          </a:p>
        </p:txBody>
      </p:sp>
      <p:sp>
        <p:nvSpPr>
          <p:cNvPr id="14" name="Rectangle 13"/>
          <p:cNvSpPr/>
          <p:nvPr/>
        </p:nvSpPr>
        <p:spPr>
          <a:xfrm>
            <a:off x="640080" y="4306824"/>
            <a:ext cx="3374967" cy="174238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306824"/>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15402" y="4484870"/>
            <a:ext cx="482138" cy="482138"/>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FileAlt.png"/>
          <p:cNvPicPr>
            <a:picLocks noChangeAspect="1"/>
          </p:cNvPicPr>
          <p:nvPr/>
        </p:nvPicPr>
        <p:blipFill>
          <a:blip r:embed="rId2"/>
          <a:stretch>
            <a:fillRect/>
          </a:stretch>
        </p:blipFill>
        <p:spPr>
          <a:xfrm>
            <a:off x="940758" y="4610226"/>
            <a:ext cx="231426" cy="231426"/>
          </a:xfrm>
          <a:prstGeom prst="rect">
            <a:avLst/>
          </a:prstGeom>
        </p:spPr>
      </p:pic>
      <p:sp>
        <p:nvSpPr>
          <p:cNvPr id="18" name="TextBox 17"/>
          <p:cNvSpPr txBox="1"/>
          <p:nvPr/>
        </p:nvSpPr>
        <p:spPr>
          <a:xfrm>
            <a:off x="1429033" y="4448098"/>
            <a:ext cx="2454521" cy="565099"/>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Extraire l'information</a:t>
            </a:r>
          </a:p>
        </p:txBody>
      </p:sp>
      <p:sp>
        <p:nvSpPr>
          <p:cNvPr id="19" name="TextBox 18"/>
          <p:cNvSpPr txBox="1"/>
          <p:nvPr/>
        </p:nvSpPr>
        <p:spPr>
          <a:xfrm>
            <a:off x="815402" y="5060289"/>
            <a:ext cx="3024321" cy="941832"/>
          </a:xfrm>
          <a:prstGeom prst="rect">
            <a:avLst/>
          </a:prstGeom>
          <a:noFill/>
        </p:spPr>
        <p:txBody>
          <a:bodyPr wrap="square" lIns="0" rIns="0" tIns="0" bIns="0" anchor="t">
            <a:spAutoFit/>
          </a:bodyPr>
          <a:lstStyle/>
          <a:p>
            <a:pPr algn="l">
              <a:spcAft>
                <a:spcPts val="0"/>
              </a:spcAft>
            </a:pPr>
            <a:r>
              <a:rPr sz="990" b="0" i="0">
                <a:solidFill>
                  <a:srgbClr val="2B3A38"/>
                </a:solidFill>
                <a:latin typeface="Arial"/>
              </a:rPr>
              <a:t>On décrit la structure attendue (un schéma, par exemple avec Pydantic) et le modèle remplit les champs. Le résultat s'enregistre directement en base de données.</a:t>
            </a:r>
          </a:p>
        </p:txBody>
      </p:sp>
      <p:sp>
        <p:nvSpPr>
          <p:cNvPr id="20" name="Rectangle 19"/>
          <p:cNvSpPr/>
          <p:nvPr/>
        </p:nvSpPr>
        <p:spPr>
          <a:xfrm>
            <a:off x="4278031" y="4306824"/>
            <a:ext cx="3374967" cy="174238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8031" y="4306824"/>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53354" y="4484870"/>
            <a:ext cx="482138" cy="482138"/>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Tags.png"/>
          <p:cNvPicPr>
            <a:picLocks noChangeAspect="1"/>
          </p:cNvPicPr>
          <p:nvPr/>
        </p:nvPicPr>
        <p:blipFill>
          <a:blip r:embed="rId3"/>
          <a:stretch>
            <a:fillRect/>
          </a:stretch>
        </p:blipFill>
        <p:spPr>
          <a:xfrm>
            <a:off x="4578710" y="4610226"/>
            <a:ext cx="231426" cy="231426"/>
          </a:xfrm>
          <a:prstGeom prst="rect">
            <a:avLst/>
          </a:prstGeom>
        </p:spPr>
      </p:pic>
      <p:sp>
        <p:nvSpPr>
          <p:cNvPr id="24" name="TextBox 23"/>
          <p:cNvSpPr txBox="1"/>
          <p:nvPr/>
        </p:nvSpPr>
        <p:spPr>
          <a:xfrm>
            <a:off x="5066985" y="4448098"/>
            <a:ext cx="2454521" cy="565099"/>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Classer sans entraînement</a:t>
            </a:r>
          </a:p>
        </p:txBody>
      </p:sp>
      <p:sp>
        <p:nvSpPr>
          <p:cNvPr id="25" name="TextBox 24"/>
          <p:cNvSpPr txBox="1"/>
          <p:nvPr/>
        </p:nvSpPr>
        <p:spPr>
          <a:xfrm>
            <a:off x="4453354" y="5060289"/>
            <a:ext cx="3024321" cy="941832"/>
          </a:xfrm>
          <a:prstGeom prst="rect">
            <a:avLst/>
          </a:prstGeom>
          <a:noFill/>
        </p:spPr>
        <p:txBody>
          <a:bodyPr wrap="square" lIns="0" rIns="0" tIns="0" bIns="0" anchor="t">
            <a:spAutoFit/>
          </a:bodyPr>
          <a:lstStyle/>
          <a:p>
            <a:pPr algn="l">
              <a:spcAft>
                <a:spcPts val="0"/>
              </a:spcAft>
            </a:pPr>
            <a:r>
              <a:rPr sz="990" b="0" i="0">
                <a:solidFill>
                  <a:srgbClr val="2B3A38"/>
                </a:solidFill>
                <a:latin typeface="Arial"/>
              </a:rPr>
              <a:t>Un LLM peut servir de classifieur « prêt à l'emploi » : spam, sentiment, catégorie de ticket… sans aucune donnée d'entraînement.</a:t>
            </a:r>
          </a:p>
        </p:txBody>
      </p:sp>
      <p:sp>
        <p:nvSpPr>
          <p:cNvPr id="26" name="Rectangle 25"/>
          <p:cNvSpPr/>
          <p:nvPr/>
        </p:nvSpPr>
        <p:spPr>
          <a:xfrm>
            <a:off x="7915983" y="4306824"/>
            <a:ext cx="3374967" cy="1742389"/>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15983" y="4306824"/>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91306" y="4484870"/>
            <a:ext cx="482138" cy="482138"/>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aChartLine.png"/>
          <p:cNvPicPr>
            <a:picLocks noChangeAspect="1"/>
          </p:cNvPicPr>
          <p:nvPr/>
        </p:nvPicPr>
        <p:blipFill>
          <a:blip r:embed="rId4"/>
          <a:stretch>
            <a:fillRect/>
          </a:stretch>
        </p:blipFill>
        <p:spPr>
          <a:xfrm>
            <a:off x="8216662" y="4610226"/>
            <a:ext cx="231426" cy="231426"/>
          </a:xfrm>
          <a:prstGeom prst="rect">
            <a:avLst/>
          </a:prstGeom>
        </p:spPr>
      </p:pic>
      <p:sp>
        <p:nvSpPr>
          <p:cNvPr id="30" name="TextBox 29"/>
          <p:cNvSpPr txBox="1"/>
          <p:nvPr/>
        </p:nvSpPr>
        <p:spPr>
          <a:xfrm>
            <a:off x="8704936" y="4448098"/>
            <a:ext cx="2454521" cy="565099"/>
          </a:xfrm>
          <a:prstGeom prst="rect">
            <a:avLst/>
          </a:prstGeom>
          <a:noFill/>
        </p:spPr>
        <p:txBody>
          <a:bodyPr wrap="square" lIns="0" rIns="0" tIns="0" bIns="0" anchor="ctr">
            <a:spAutoFit/>
          </a:bodyPr>
          <a:lstStyle/>
          <a:p>
            <a:pPr algn="l">
              <a:spcAft>
                <a:spcPts val="0"/>
              </a:spcAft>
            </a:pPr>
            <a:r>
              <a:rPr sz="1215" b="1" i="0">
                <a:solidFill>
                  <a:srgbClr val="1A2E2B"/>
                </a:solidFill>
                <a:latin typeface="Arial"/>
              </a:rPr>
              <a:t>Évaluer comme en IA prédictive</a:t>
            </a:r>
          </a:p>
        </p:txBody>
      </p:sp>
      <p:sp>
        <p:nvSpPr>
          <p:cNvPr id="31" name="TextBox 30"/>
          <p:cNvSpPr txBox="1"/>
          <p:nvPr/>
        </p:nvSpPr>
        <p:spPr>
          <a:xfrm>
            <a:off x="8091306" y="5060289"/>
            <a:ext cx="3024321" cy="941832"/>
          </a:xfrm>
          <a:prstGeom prst="rect">
            <a:avLst/>
          </a:prstGeom>
          <a:noFill/>
        </p:spPr>
        <p:txBody>
          <a:bodyPr wrap="square" lIns="0" rIns="0" tIns="0" bIns="0" anchor="t">
            <a:spAutoFit/>
          </a:bodyPr>
          <a:lstStyle/>
          <a:p>
            <a:pPr algn="l">
              <a:spcAft>
                <a:spcPts val="0"/>
              </a:spcAft>
            </a:pPr>
            <a:r>
              <a:rPr sz="990" b="0" i="0">
                <a:solidFill>
                  <a:srgbClr val="2B3A38"/>
                </a:solidFill>
                <a:latin typeface="Arial"/>
              </a:rPr>
              <a:t>On mesure précision et rappel sur un jeu de test étiqueté, et on compare à un modèle classique, souvent plus rapide et moins cher.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B · IA générative</a:t>
            </a:r>
          </a:p>
        </p:txBody>
      </p:sp>
      <p:sp>
        <p:nvSpPr>
          <p:cNvPr id="3" name="Text Placeholder 2"/>
          <p:cNvSpPr>
            <a:spLocks noGrp="1"/>
          </p:cNvSpPr>
          <p:nvPr>
            <p:ph type="body" idx="25" sz="quarter"/>
          </p:nvPr>
        </p:nvSpPr>
        <p:spPr/>
        <p:txBody>
          <a:bodyPr/>
          <a:lstStyle/>
          <a:p>
            <a:r>
              <a:t>Donner accès à ses documents : le RAG</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21</a:t>
            </a:fld>
          </a:p>
        </p:txBody>
      </p:sp>
      <p:sp>
        <p:nvSpPr>
          <p:cNvPr id="6" name="TextBox 5"/>
          <p:cNvSpPr txBox="1"/>
          <p:nvPr/>
        </p:nvSpPr>
        <p:spPr>
          <a:xfrm>
            <a:off x="640080" y="1481328"/>
            <a:ext cx="10607040" cy="518007"/>
          </a:xfrm>
          <a:prstGeom prst="rect">
            <a:avLst/>
          </a:prstGeom>
          <a:noFill/>
        </p:spPr>
        <p:txBody>
          <a:bodyPr wrap="square" lIns="0" rIns="0" tIns="0" bIns="0" anchor="ctr">
            <a:spAutoFit/>
          </a:bodyPr>
          <a:lstStyle/>
          <a:p>
            <a:pPr algn="l">
              <a:spcAft>
                <a:spcPts val="0"/>
              </a:spcAft>
            </a:pPr>
            <a:r>
              <a:rPr sz="1215" b="1" i="0">
                <a:solidFill>
                  <a:srgbClr val="712180"/>
                </a:solidFill>
                <a:latin typeface="Arial"/>
              </a:rPr>
              <a:t>RAG </a:t>
            </a:r>
            <a:r>
              <a:rPr sz="1215" b="0" i="0">
                <a:solidFill>
                  <a:srgbClr val="2B3A38"/>
                </a:solidFill>
                <a:latin typeface="Arial"/>
              </a:rPr>
              <a:t>(Retrieval-Augmented Generation) : avant de répondre, on va chercher les passages utiles dans ses propres documents et on les ajoute au prompt.</a:t>
            </a:r>
          </a:p>
        </p:txBody>
      </p:sp>
      <p:sp>
        <p:nvSpPr>
          <p:cNvPr id="7" name="TextBox 6"/>
          <p:cNvSpPr txBox="1"/>
          <p:nvPr/>
        </p:nvSpPr>
        <p:spPr>
          <a:xfrm>
            <a:off x="640080" y="2140610"/>
            <a:ext cx="3506459" cy="329641"/>
          </a:xfrm>
          <a:prstGeom prst="rect">
            <a:avLst/>
          </a:prstGeom>
          <a:noFill/>
        </p:spPr>
        <p:txBody>
          <a:bodyPr wrap="square" lIns="0" rIns="0" tIns="0" bIns="0" anchor="t">
            <a:spAutoFit/>
          </a:bodyPr>
          <a:lstStyle/>
          <a:p>
            <a:pPr algn="l">
              <a:spcAft>
                <a:spcPts val="0"/>
              </a:spcAft>
            </a:pPr>
            <a:r>
              <a:rPr sz="1170" b="1" i="0">
                <a:solidFill>
                  <a:srgbClr val="712180"/>
                </a:solidFill>
                <a:latin typeface="Arial"/>
              </a:rPr>
              <a:t>1. Indexation (une fois)</a:t>
            </a:r>
          </a:p>
        </p:txBody>
      </p:sp>
      <p:sp>
        <p:nvSpPr>
          <p:cNvPr id="8" name="Rectangle 7"/>
          <p:cNvSpPr/>
          <p:nvPr/>
        </p:nvSpPr>
        <p:spPr>
          <a:xfrm>
            <a:off x="640080" y="2517343"/>
            <a:ext cx="2279198" cy="753465"/>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3910" y="2517343"/>
            <a:ext cx="2191537" cy="753465"/>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Documents</a:t>
            </a:r>
          </a:p>
          <a:p>
            <a:pPr algn="ctr">
              <a:spcAft>
                <a:spcPts val="0"/>
              </a:spcAft>
            </a:pPr>
            <a:r>
              <a:rPr sz="990" b="0" i="0">
                <a:solidFill>
                  <a:srgbClr val="1A2E2B"/>
                </a:solidFill>
                <a:latin typeface="Arial"/>
              </a:rPr>
              <a:t>règlement, cours, docs…</a:t>
            </a:r>
          </a:p>
        </p:txBody>
      </p:sp>
      <p:cxnSp>
        <p:nvCxnSpPr>
          <p:cNvPr id="10" name="Connector 9"/>
          <p:cNvCxnSpPr/>
          <p:nvPr/>
        </p:nvCxnSpPr>
        <p:spPr>
          <a:xfrm>
            <a:off x="2936810" y="2894076"/>
            <a:ext cx="403243"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357586" y="2517343"/>
            <a:ext cx="2279198" cy="753465"/>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01416" y="2517343"/>
            <a:ext cx="2191537" cy="753465"/>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Découpage</a:t>
            </a:r>
          </a:p>
          <a:p>
            <a:pPr algn="ctr">
              <a:spcAft>
                <a:spcPts val="0"/>
              </a:spcAft>
            </a:pPr>
            <a:r>
              <a:rPr sz="990" b="0" i="0">
                <a:solidFill>
                  <a:srgbClr val="1A2E2B"/>
                </a:solidFill>
                <a:latin typeface="Arial"/>
              </a:rPr>
              <a:t>en passages</a:t>
            </a:r>
          </a:p>
        </p:txBody>
      </p:sp>
      <p:cxnSp>
        <p:nvCxnSpPr>
          <p:cNvPr id="13" name="Connector 12"/>
          <p:cNvCxnSpPr/>
          <p:nvPr/>
        </p:nvCxnSpPr>
        <p:spPr>
          <a:xfrm>
            <a:off x="5654317" y="2894076"/>
            <a:ext cx="403242"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075092" y="2517343"/>
            <a:ext cx="2279198" cy="753465"/>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18922" y="2517343"/>
            <a:ext cx="2191537" cy="753465"/>
          </a:xfrm>
          <a:prstGeom prst="rect">
            <a:avLst/>
          </a:prstGeom>
          <a:noFill/>
        </p:spPr>
        <p:txBody>
          <a:bodyPr wrap="square" lIns="0" rIns="0" tIns="0" bIns="0" anchor="ctr">
            <a:spAutoFit/>
          </a:bodyPr>
          <a:lstStyle/>
          <a:p>
            <a:pPr algn="ctr">
              <a:spcAft>
                <a:spcPts val="0"/>
              </a:spcAft>
            </a:pPr>
            <a:r>
              <a:rPr sz="1170" b="1" i="0">
                <a:solidFill>
                  <a:srgbClr val="1A2E2B"/>
                </a:solidFill>
                <a:latin typeface="Arial"/>
              </a:rPr>
              <a:t>Embeddings</a:t>
            </a:r>
          </a:p>
          <a:p>
            <a:pPr algn="ctr">
              <a:spcAft>
                <a:spcPts val="0"/>
              </a:spcAft>
            </a:pPr>
            <a:r>
              <a:rPr sz="990" b="0" i="0">
                <a:solidFill>
                  <a:srgbClr val="1A2E2B"/>
                </a:solidFill>
                <a:latin typeface="Arial"/>
              </a:rPr>
              <a:t>chaque passage → un vecteur</a:t>
            </a:r>
          </a:p>
        </p:txBody>
      </p:sp>
      <p:cxnSp>
        <p:nvCxnSpPr>
          <p:cNvPr id="16" name="Connector 15"/>
          <p:cNvCxnSpPr/>
          <p:nvPr/>
        </p:nvCxnSpPr>
        <p:spPr>
          <a:xfrm>
            <a:off x="8371823" y="2894076"/>
            <a:ext cx="403243"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792598" y="2517343"/>
            <a:ext cx="2279198" cy="753465"/>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36429" y="2517343"/>
            <a:ext cx="2191537" cy="753465"/>
          </a:xfrm>
          <a:prstGeom prst="rect">
            <a:avLst/>
          </a:prstGeom>
          <a:noFill/>
        </p:spPr>
        <p:txBody>
          <a:bodyPr wrap="square" lIns="0" rIns="0" tIns="0" bIns="0" anchor="ctr">
            <a:spAutoFit/>
          </a:bodyPr>
          <a:lstStyle/>
          <a:p>
            <a:pPr algn="ctr">
              <a:spcAft>
                <a:spcPts val="0"/>
              </a:spcAft>
            </a:pPr>
            <a:r>
              <a:rPr sz="1170" b="1" i="0">
                <a:solidFill>
                  <a:srgbClr val="FFFFFF"/>
                </a:solidFill>
                <a:latin typeface="Arial"/>
              </a:rPr>
              <a:t>Base vectorielle</a:t>
            </a:r>
          </a:p>
        </p:txBody>
      </p:sp>
      <p:sp>
        <p:nvSpPr>
          <p:cNvPr id="19" name="TextBox 18"/>
          <p:cNvSpPr txBox="1"/>
          <p:nvPr/>
        </p:nvSpPr>
        <p:spPr>
          <a:xfrm>
            <a:off x="640080" y="3506266"/>
            <a:ext cx="3506459" cy="329641"/>
          </a:xfrm>
          <a:prstGeom prst="rect">
            <a:avLst/>
          </a:prstGeom>
          <a:noFill/>
        </p:spPr>
        <p:txBody>
          <a:bodyPr wrap="square" lIns="0" rIns="0" tIns="0" bIns="0" anchor="t">
            <a:spAutoFit/>
          </a:bodyPr>
          <a:lstStyle/>
          <a:p>
            <a:pPr algn="l">
              <a:spcAft>
                <a:spcPts val="0"/>
              </a:spcAft>
            </a:pPr>
            <a:r>
              <a:rPr sz="1170" b="1" i="0">
                <a:solidFill>
                  <a:srgbClr val="712180"/>
                </a:solidFill>
                <a:latin typeface="Arial"/>
              </a:rPr>
              <a:t>2. À chaque question</a:t>
            </a:r>
          </a:p>
        </p:txBody>
      </p:sp>
      <p:sp>
        <p:nvSpPr>
          <p:cNvPr id="20" name="Rectangle 19"/>
          <p:cNvSpPr/>
          <p:nvPr/>
        </p:nvSpPr>
        <p:spPr>
          <a:xfrm>
            <a:off x="640080" y="3882999"/>
            <a:ext cx="1840891" cy="89474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10" y="3882999"/>
            <a:ext cx="1753229" cy="894740"/>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Question</a:t>
            </a:r>
          </a:p>
          <a:p>
            <a:pPr algn="ctr">
              <a:spcAft>
                <a:spcPts val="0"/>
              </a:spcAft>
            </a:pPr>
            <a:r>
              <a:rPr sz="945" b="0" i="0">
                <a:solidFill>
                  <a:srgbClr val="1A2E2B"/>
                </a:solidFill>
                <a:latin typeface="Arial"/>
              </a:rPr>
              <a:t>« Combien d'absences sont autorisées ? »</a:t>
            </a:r>
          </a:p>
        </p:txBody>
      </p:sp>
      <p:cxnSp>
        <p:nvCxnSpPr>
          <p:cNvPr id="22" name="Connector 21"/>
          <p:cNvCxnSpPr/>
          <p:nvPr/>
        </p:nvCxnSpPr>
        <p:spPr>
          <a:xfrm>
            <a:off x="2498503" y="4325660"/>
            <a:ext cx="298049"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2814084" y="3882999"/>
            <a:ext cx="1840891" cy="89474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915" y="3882999"/>
            <a:ext cx="1753229" cy="894740"/>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Recherche</a:t>
            </a:r>
          </a:p>
          <a:p>
            <a:pPr algn="ctr">
              <a:spcAft>
                <a:spcPts val="0"/>
              </a:spcAft>
            </a:pPr>
            <a:r>
              <a:rPr sz="945" b="0" i="0">
                <a:solidFill>
                  <a:srgbClr val="1A2E2B"/>
                </a:solidFill>
                <a:latin typeface="Arial"/>
              </a:rPr>
              <a:t>des passages les plus proches</a:t>
            </a:r>
          </a:p>
        </p:txBody>
      </p:sp>
      <p:cxnSp>
        <p:nvCxnSpPr>
          <p:cNvPr id="25" name="Connector 24"/>
          <p:cNvCxnSpPr/>
          <p:nvPr/>
        </p:nvCxnSpPr>
        <p:spPr>
          <a:xfrm>
            <a:off x="4672508" y="4325660"/>
            <a:ext cx="298049"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988089" y="3882999"/>
            <a:ext cx="1840891" cy="894740"/>
          </a:xfrm>
          <a:prstGeom prst="rect">
            <a:avLst/>
          </a:prstGeom>
          <a:solidFill>
            <a:srgbClr val="FFFFFF"/>
          </a:solidFill>
          <a:ln w="9525">
            <a:solidFill>
              <a:srgbClr val="D5E3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31920" y="3882999"/>
            <a:ext cx="1753229" cy="894740"/>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Prompt enrichi</a:t>
            </a:r>
          </a:p>
          <a:p>
            <a:pPr algn="ctr">
              <a:spcAft>
                <a:spcPts val="0"/>
              </a:spcAft>
            </a:pPr>
            <a:r>
              <a:rPr sz="945" b="0" i="0">
                <a:solidFill>
                  <a:srgbClr val="1A2E2B"/>
                </a:solidFill>
                <a:latin typeface="Arial"/>
              </a:rPr>
              <a:t>question + passages trouvés</a:t>
            </a:r>
          </a:p>
        </p:txBody>
      </p:sp>
      <p:cxnSp>
        <p:nvCxnSpPr>
          <p:cNvPr id="28" name="Connector 27"/>
          <p:cNvCxnSpPr/>
          <p:nvPr/>
        </p:nvCxnSpPr>
        <p:spPr>
          <a:xfrm>
            <a:off x="6846513" y="4325660"/>
            <a:ext cx="298049"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162094" y="3882999"/>
            <a:ext cx="1840891" cy="894740"/>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05925" y="3882999"/>
            <a:ext cx="1753229" cy="894740"/>
          </a:xfrm>
          <a:prstGeom prst="rect">
            <a:avLst/>
          </a:prstGeom>
          <a:noFill/>
        </p:spPr>
        <p:txBody>
          <a:bodyPr wrap="square" lIns="0" rIns="0" tIns="0" bIns="0" anchor="ctr">
            <a:spAutoFit/>
          </a:bodyPr>
          <a:lstStyle/>
          <a:p>
            <a:pPr algn="ctr">
              <a:spcAft>
                <a:spcPts val="0"/>
              </a:spcAft>
            </a:pPr>
            <a:r>
              <a:rPr sz="1125" b="1" i="0">
                <a:solidFill>
                  <a:srgbClr val="FFFFFF"/>
                </a:solidFill>
                <a:latin typeface="Arial"/>
              </a:rPr>
              <a:t>LLM</a:t>
            </a:r>
          </a:p>
        </p:txBody>
      </p:sp>
      <p:cxnSp>
        <p:nvCxnSpPr>
          <p:cNvPr id="31" name="Connector 30"/>
          <p:cNvCxnSpPr/>
          <p:nvPr/>
        </p:nvCxnSpPr>
        <p:spPr>
          <a:xfrm>
            <a:off x="9020518" y="4325660"/>
            <a:ext cx="298049"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336099" y="3882999"/>
            <a:ext cx="1840891" cy="894740"/>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9930" y="3882999"/>
            <a:ext cx="1753229" cy="894740"/>
          </a:xfrm>
          <a:prstGeom prst="rect">
            <a:avLst/>
          </a:prstGeom>
          <a:noFill/>
        </p:spPr>
        <p:txBody>
          <a:bodyPr wrap="square" lIns="0" rIns="0" tIns="0" bIns="0" anchor="ctr">
            <a:spAutoFit/>
          </a:bodyPr>
          <a:lstStyle/>
          <a:p>
            <a:pPr algn="ctr">
              <a:spcAft>
                <a:spcPts val="0"/>
              </a:spcAft>
            </a:pPr>
            <a:r>
              <a:rPr sz="1125" b="1" i="0">
                <a:solidFill>
                  <a:srgbClr val="1A2E2B"/>
                </a:solidFill>
                <a:latin typeface="Arial"/>
              </a:rPr>
              <a:t>Réponse</a:t>
            </a:r>
          </a:p>
          <a:p>
            <a:pPr algn="ctr">
              <a:spcAft>
                <a:spcPts val="0"/>
              </a:spcAft>
            </a:pPr>
            <a:r>
              <a:rPr sz="945" b="0" i="0">
                <a:solidFill>
                  <a:srgbClr val="1A2E2B"/>
                </a:solidFill>
                <a:latin typeface="Arial"/>
              </a:rPr>
              <a:t>avec ses sources</a:t>
            </a:r>
          </a:p>
        </p:txBody>
      </p:sp>
      <p:cxnSp>
        <p:nvCxnSpPr>
          <p:cNvPr id="34" name="Connector 33"/>
          <p:cNvCxnSpPr/>
          <p:nvPr/>
        </p:nvCxnSpPr>
        <p:spPr>
          <a:xfrm flipH="1">
            <a:off x="3269924" y="3270808"/>
            <a:ext cx="5785658" cy="612191"/>
          </a:xfrm>
          <a:prstGeom prst="line">
            <a:avLst/>
          </a:prstGeom>
          <a:ln w="19050">
            <a:solidFill>
              <a:srgbClr val="A9B4B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549123" y="3364992"/>
            <a:ext cx="2103875" cy="282549"/>
          </a:xfrm>
          <a:prstGeom prst="rect">
            <a:avLst/>
          </a:prstGeom>
          <a:noFill/>
        </p:spPr>
        <p:txBody>
          <a:bodyPr wrap="square" lIns="0" rIns="0" tIns="0" bIns="0" anchor="t">
            <a:spAutoFit/>
          </a:bodyPr>
          <a:lstStyle/>
          <a:p>
            <a:pPr algn="l">
              <a:spcAft>
                <a:spcPts val="0"/>
              </a:spcAft>
            </a:pPr>
            <a:r>
              <a:rPr sz="900" b="0" i="1">
                <a:solidFill>
                  <a:srgbClr val="5A6B68"/>
                </a:solidFill>
                <a:latin typeface="Arial"/>
              </a:rPr>
              <a:t>similarité entre vecteurs</a:t>
            </a:r>
          </a:p>
        </p:txBody>
      </p:sp>
      <p:sp>
        <p:nvSpPr>
          <p:cNvPr id="36" name="Rectangle 35"/>
          <p:cNvSpPr/>
          <p:nvPr/>
        </p:nvSpPr>
        <p:spPr>
          <a:xfrm>
            <a:off x="640080" y="4966106"/>
            <a:ext cx="3374967" cy="108310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 y="4966106"/>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5402" y="5032034"/>
            <a:ext cx="3068152" cy="960668"/>
          </a:xfrm>
          <a:prstGeom prst="rect">
            <a:avLst/>
          </a:prstGeom>
          <a:noFill/>
        </p:spPr>
        <p:txBody>
          <a:bodyPr wrap="square" lIns="0" rIns="0" tIns="0" bIns="0" anchor="ctr">
            <a:spAutoFit/>
          </a:bodyPr>
          <a:lstStyle/>
          <a:p>
            <a:pPr algn="l">
              <a:spcAft>
                <a:spcPts val="0"/>
              </a:spcAft>
            </a:pPr>
            <a:r>
              <a:rPr sz="1170" b="1" i="0">
                <a:solidFill>
                  <a:srgbClr val="712180"/>
                </a:solidFill>
                <a:latin typeface="Arial"/>
              </a:rPr>
              <a:t>Pourquoi ?</a:t>
            </a:r>
          </a:p>
          <a:p>
            <a:pPr algn="l">
              <a:spcAft>
                <a:spcPts val="0"/>
              </a:spcAft>
            </a:pPr>
            <a:r>
              <a:rPr sz="990" b="0" i="0">
                <a:solidFill>
                  <a:srgbClr val="2B3A38"/>
                </a:solidFill>
                <a:latin typeface="Arial"/>
              </a:rPr>
              <a:t>Le modèle ne connaît pas vos documents internes ni l'actualité récente, et son contexte est limité.</a:t>
            </a:r>
          </a:p>
        </p:txBody>
      </p:sp>
      <p:sp>
        <p:nvSpPr>
          <p:cNvPr id="39" name="Rectangle 38"/>
          <p:cNvSpPr/>
          <p:nvPr/>
        </p:nvSpPr>
        <p:spPr>
          <a:xfrm>
            <a:off x="4278031" y="4966106"/>
            <a:ext cx="3374967" cy="108310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78031" y="4966106"/>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53354" y="5032034"/>
            <a:ext cx="3068152" cy="960668"/>
          </a:xfrm>
          <a:prstGeom prst="rect">
            <a:avLst/>
          </a:prstGeom>
          <a:noFill/>
        </p:spPr>
        <p:txBody>
          <a:bodyPr wrap="square" lIns="0" rIns="0" tIns="0" bIns="0" anchor="ctr">
            <a:spAutoFit/>
          </a:bodyPr>
          <a:lstStyle/>
          <a:p>
            <a:pPr algn="l">
              <a:spcAft>
                <a:spcPts val="0"/>
              </a:spcAft>
            </a:pPr>
            <a:r>
              <a:rPr sz="1170" b="1" i="0">
                <a:solidFill>
                  <a:srgbClr val="712180"/>
                </a:solidFill>
                <a:latin typeface="Arial"/>
              </a:rPr>
              <a:t>Embeddings</a:t>
            </a:r>
          </a:p>
          <a:p>
            <a:pPr algn="l">
              <a:spcAft>
                <a:spcPts val="0"/>
              </a:spcAft>
            </a:pPr>
            <a:r>
              <a:rPr sz="990" b="0" i="0">
                <a:solidFill>
                  <a:srgbClr val="2B3A38"/>
                </a:solidFill>
                <a:latin typeface="Arial"/>
              </a:rPr>
              <a:t>Deux textes de sens proche ont des vecteurs proches : on retrouve la notion de distance du clustering.</a:t>
            </a:r>
          </a:p>
        </p:txBody>
      </p:sp>
      <p:sp>
        <p:nvSpPr>
          <p:cNvPr id="42" name="Rectangle 41"/>
          <p:cNvSpPr/>
          <p:nvPr/>
        </p:nvSpPr>
        <p:spPr>
          <a:xfrm>
            <a:off x="7915983" y="4966106"/>
            <a:ext cx="3374967" cy="108310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15983" y="4966106"/>
            <a:ext cx="3374967" cy="64008"/>
          </a:xfrm>
          <a:prstGeom prst="rect">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91306" y="5032034"/>
            <a:ext cx="3068152" cy="960668"/>
          </a:xfrm>
          <a:prstGeom prst="rect">
            <a:avLst/>
          </a:prstGeom>
          <a:noFill/>
        </p:spPr>
        <p:txBody>
          <a:bodyPr wrap="square" lIns="0" rIns="0" tIns="0" bIns="0" anchor="ctr">
            <a:spAutoFit/>
          </a:bodyPr>
          <a:lstStyle/>
          <a:p>
            <a:pPr algn="l">
              <a:spcAft>
                <a:spcPts val="0"/>
              </a:spcAft>
            </a:pPr>
            <a:r>
              <a:rPr sz="1170" b="1" i="0">
                <a:solidFill>
                  <a:srgbClr val="712180"/>
                </a:solidFill>
                <a:latin typeface="Arial"/>
              </a:rPr>
              <a:t>Limites</a:t>
            </a:r>
          </a:p>
          <a:p>
            <a:pPr algn="l">
              <a:spcAft>
                <a:spcPts val="0"/>
              </a:spcAft>
            </a:pPr>
            <a:r>
              <a:rPr sz="990" b="0" i="0">
                <a:solidFill>
                  <a:srgbClr val="2B3A38"/>
                </a:solidFill>
                <a:latin typeface="Arial"/>
              </a:rPr>
              <a:t>Si la recherche rate le bon passage, la réponse sera fausse : les hallucinations diminuent, sans disparaître.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a:r>
              <a:rPr b="1" sz="1400">
                <a:solidFill>
                  <a:srgbClr val="712180"/>
                </a:solidFill>
              </a:rPr>
              <a:t>B · IA générative</a:t>
            </a:r>
          </a:p>
        </p:txBody>
      </p:sp>
      <p:sp>
        <p:nvSpPr>
          <p:cNvPr id="3" name="Text Placeholder 2"/>
          <p:cNvSpPr>
            <a:spLocks noGrp="1"/>
          </p:cNvSpPr>
          <p:nvPr>
            <p:ph type="body" idx="25" sz="quarter"/>
          </p:nvPr>
        </p:nvSpPr>
        <p:spPr/>
        <p:txBody>
          <a:bodyPr/>
          <a:lstStyle/>
          <a:p>
            <a:r>
              <a:t>Donner accès à des outils : les agents</a:t>
            </a:r>
          </a:p>
        </p:txBody>
      </p:sp>
      <p:sp>
        <p:nvSpPr>
          <p:cNvPr id="4" name="Footer Placeholder 3"/>
          <p:cNvSpPr>
            <a:spLocks noGrp="1"/>
          </p:cNvSpPr>
          <p:nvPr>
            <p:ph type="ftr" idx="3" sz="quarter"/>
          </p:nvPr>
        </p:nvSpPr>
        <p:spPr/>
        <p:txBody>
          <a:bodyPr/>
          <a:p>
            <a:r>
              <a:t>Cours d'IA — BUT 3 informatique | Partie 2 : les notions du semestre</a:t>
            </a:r>
          </a:p>
        </p:txBody>
      </p:sp>
      <p:sp>
        <p:nvSpPr>
          <p:cNvPr id="5" name="Slide Number Placeholder 4"/>
          <p:cNvSpPr>
            <a:spLocks noGrp="1"/>
          </p:cNvSpPr>
          <p:nvPr>
            <p:ph type="sldNum" idx="4" sz="quarter"/>
          </p:nvPr>
        </p:nvSpPr>
        <p:spPr/>
        <p:txBody>
          <a:bodyPr/>
          <a:p>
            <a:fld id="{B6F15528-21DE-4FAA-801E-634DDDAF4B2B}" type="slidenum">
              <a:rPr lang="fr-FR"/>
              <a:t>22</a:t>
            </a:fld>
          </a:p>
        </p:txBody>
      </p:sp>
      <p:sp>
        <p:nvSpPr>
          <p:cNvPr id="6" name="Oval 5"/>
          <p:cNvSpPr/>
          <p:nvPr/>
        </p:nvSpPr>
        <p:spPr>
          <a:xfrm>
            <a:off x="727741" y="1741242"/>
            <a:ext cx="657461" cy="657461"/>
          </a:xfrm>
          <a:prstGeom prst="ellipse">
            <a:avLst/>
          </a:prstGeom>
          <a:solidFill>
            <a:srgbClr val="1A2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User.png"/>
          <p:cNvPicPr>
            <a:picLocks noChangeAspect="1"/>
          </p:cNvPicPr>
          <p:nvPr/>
        </p:nvPicPr>
        <p:blipFill>
          <a:blip r:embed="rId2"/>
          <a:stretch>
            <a:fillRect/>
          </a:stretch>
        </p:blipFill>
        <p:spPr>
          <a:xfrm>
            <a:off x="898681" y="1912182"/>
            <a:ext cx="315581" cy="315581"/>
          </a:xfrm>
          <a:prstGeom prst="rect">
            <a:avLst/>
          </a:prstGeom>
        </p:spPr>
      </p:pic>
      <p:sp>
        <p:nvSpPr>
          <p:cNvPr id="8" name="TextBox 7"/>
          <p:cNvSpPr txBox="1"/>
          <p:nvPr/>
        </p:nvSpPr>
        <p:spPr>
          <a:xfrm>
            <a:off x="640080" y="2470251"/>
            <a:ext cx="2103875" cy="847648"/>
          </a:xfrm>
          <a:prstGeom prst="rect">
            <a:avLst/>
          </a:prstGeom>
          <a:noFill/>
        </p:spPr>
        <p:txBody>
          <a:bodyPr wrap="square" lIns="0" rIns="0" tIns="0" bIns="0" anchor="t">
            <a:spAutoFit/>
          </a:bodyPr>
          <a:lstStyle/>
          <a:p>
            <a:pPr algn="ctr">
              <a:spcAft>
                <a:spcPts val="0"/>
              </a:spcAft>
            </a:pPr>
            <a:r>
              <a:rPr sz="1035" b="0" i="1">
                <a:solidFill>
                  <a:srgbClr val="1A2E2B"/>
                </a:solidFill>
                <a:latin typeface="Arial"/>
              </a:rPr>
              <a:t>« Quel temps fera-t-il à Belfort demain ? »</a:t>
            </a:r>
          </a:p>
        </p:txBody>
      </p:sp>
      <p:cxnSp>
        <p:nvCxnSpPr>
          <p:cNvPr id="9" name="Connector 8"/>
          <p:cNvCxnSpPr/>
          <p:nvPr/>
        </p:nvCxnSpPr>
        <p:spPr>
          <a:xfrm>
            <a:off x="1516694" y="2074682"/>
            <a:ext cx="2147707"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708232" y="1609750"/>
            <a:ext cx="920445" cy="920445"/>
          </a:xfrm>
          <a:prstGeom prst="ellipse">
            <a:avLst/>
          </a:prstGeom>
          <a:solidFill>
            <a:srgbClr val="7121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Robot.png"/>
          <p:cNvPicPr>
            <a:picLocks noChangeAspect="1"/>
          </p:cNvPicPr>
          <p:nvPr/>
        </p:nvPicPr>
        <p:blipFill>
          <a:blip r:embed="rId3"/>
          <a:stretch>
            <a:fillRect/>
          </a:stretch>
        </p:blipFill>
        <p:spPr>
          <a:xfrm>
            <a:off x="3947547" y="1849066"/>
            <a:ext cx="441813" cy="441813"/>
          </a:xfrm>
          <a:prstGeom prst="rect">
            <a:avLst/>
          </a:prstGeom>
        </p:spPr>
      </p:pic>
      <p:sp>
        <p:nvSpPr>
          <p:cNvPr id="12" name="TextBox 11"/>
          <p:cNvSpPr txBox="1"/>
          <p:nvPr/>
        </p:nvSpPr>
        <p:spPr>
          <a:xfrm>
            <a:off x="3708232" y="2611526"/>
            <a:ext cx="920445" cy="329641"/>
          </a:xfrm>
          <a:prstGeom prst="rect">
            <a:avLst/>
          </a:prstGeom>
          <a:noFill/>
        </p:spPr>
        <p:txBody>
          <a:bodyPr wrap="square" lIns="0" rIns="0" tIns="0" bIns="0" anchor="t">
            <a:spAutoFit/>
          </a:bodyPr>
          <a:lstStyle/>
          <a:p>
            <a:pPr algn="ctr">
              <a:spcAft>
                <a:spcPts val="0"/>
              </a:spcAft>
            </a:pPr>
            <a:r>
              <a:rPr sz="1170" b="1" i="0">
                <a:solidFill>
                  <a:srgbClr val="1A2E2B"/>
                </a:solidFill>
                <a:latin typeface="Arial"/>
              </a:rPr>
              <a:t>LLM</a:t>
            </a:r>
          </a:p>
        </p:txBody>
      </p:sp>
      <p:cxnSp>
        <p:nvCxnSpPr>
          <p:cNvPr id="13" name="Connector 12"/>
          <p:cNvCxnSpPr/>
          <p:nvPr/>
        </p:nvCxnSpPr>
        <p:spPr>
          <a:xfrm>
            <a:off x="4672508" y="1858060"/>
            <a:ext cx="1577907" cy="0"/>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84846" y="1500164"/>
            <a:ext cx="1840891" cy="329641"/>
          </a:xfrm>
          <a:prstGeom prst="rect">
            <a:avLst/>
          </a:prstGeom>
          <a:noFill/>
        </p:spPr>
        <p:txBody>
          <a:bodyPr wrap="square" lIns="0" rIns="0" tIns="0" bIns="0" anchor="t">
            <a:spAutoFit/>
          </a:bodyPr>
          <a:lstStyle/>
          <a:p>
            <a:pPr algn="ctr">
              <a:spcAft>
                <a:spcPts val="0"/>
              </a:spcAft>
            </a:pPr>
            <a:r>
              <a:rPr sz="900" b="0" i="1">
                <a:solidFill>
                  <a:srgbClr val="712180"/>
                </a:solidFill>
                <a:latin typeface="Arial"/>
              </a:rPr>
              <a:t>demande : meteo(« Belfort »)</a:t>
            </a:r>
          </a:p>
        </p:txBody>
      </p:sp>
      <p:cxnSp>
        <p:nvCxnSpPr>
          <p:cNvPr id="15" name="Connector 14"/>
          <p:cNvCxnSpPr/>
          <p:nvPr/>
        </p:nvCxnSpPr>
        <p:spPr>
          <a:xfrm flipH="1">
            <a:off x="4672508" y="2328976"/>
            <a:ext cx="1577907" cy="0"/>
          </a:xfrm>
          <a:prstGeom prst="line">
            <a:avLst/>
          </a:prstGeom>
          <a:ln w="25400">
            <a:solidFill>
              <a:srgbClr val="00AB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84846" y="2376068"/>
            <a:ext cx="1840891" cy="329641"/>
          </a:xfrm>
          <a:prstGeom prst="rect">
            <a:avLst/>
          </a:prstGeom>
          <a:noFill/>
        </p:spPr>
        <p:txBody>
          <a:bodyPr wrap="square" lIns="0" rIns="0" tIns="0" bIns="0" anchor="t">
            <a:spAutoFit/>
          </a:bodyPr>
          <a:lstStyle/>
          <a:p>
            <a:pPr algn="ctr">
              <a:spcAft>
                <a:spcPts val="0"/>
              </a:spcAft>
            </a:pPr>
            <a:r>
              <a:rPr sz="900" b="0" i="1">
                <a:solidFill>
                  <a:srgbClr val="00877A"/>
                </a:solidFill>
                <a:latin typeface="Arial"/>
              </a:rPr>
              <a:t>résultat : 14 °C, pluie</a:t>
            </a:r>
          </a:p>
        </p:txBody>
      </p:sp>
      <p:sp>
        <p:nvSpPr>
          <p:cNvPr id="17" name="Rectangle 16"/>
          <p:cNvSpPr/>
          <p:nvPr/>
        </p:nvSpPr>
        <p:spPr>
          <a:xfrm>
            <a:off x="6294245" y="1481328"/>
            <a:ext cx="2279198" cy="1977847"/>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94245" y="1481328"/>
            <a:ext cx="2279198" cy="64008"/>
          </a:xfrm>
          <a:prstGeom prst="rect">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5738" y="1556674"/>
            <a:ext cx="2016214" cy="282549"/>
          </a:xfrm>
          <a:prstGeom prst="rect">
            <a:avLst/>
          </a:prstGeom>
          <a:noFill/>
        </p:spPr>
        <p:txBody>
          <a:bodyPr wrap="square" lIns="0" rIns="0" tIns="0" bIns="0" anchor="t">
            <a:spAutoFit/>
          </a:bodyPr>
          <a:lstStyle/>
          <a:p>
            <a:pPr algn="l">
              <a:spcAft>
                <a:spcPts val="0"/>
              </a:spcAft>
            </a:pPr>
            <a:r>
              <a:rPr sz="1035" b="1" i="0">
                <a:solidFill>
                  <a:srgbClr val="00877A"/>
                </a:solidFill>
                <a:latin typeface="Arial"/>
              </a:rPr>
              <a:t>Outils disponibles</a:t>
            </a:r>
          </a:p>
        </p:txBody>
      </p:sp>
      <p:sp>
        <p:nvSpPr>
          <p:cNvPr id="20" name="Oval 19"/>
          <p:cNvSpPr/>
          <p:nvPr/>
        </p:nvSpPr>
        <p:spPr>
          <a:xfrm>
            <a:off x="6425738" y="1915913"/>
            <a:ext cx="289282" cy="28928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CloudSun.png"/>
          <p:cNvPicPr>
            <a:picLocks noChangeAspect="1"/>
          </p:cNvPicPr>
          <p:nvPr/>
        </p:nvPicPr>
        <p:blipFill>
          <a:blip r:embed="rId4"/>
          <a:stretch>
            <a:fillRect/>
          </a:stretch>
        </p:blipFill>
        <p:spPr>
          <a:xfrm>
            <a:off x="6500951" y="1991126"/>
            <a:ext cx="138855" cy="138855"/>
          </a:xfrm>
          <a:prstGeom prst="rect">
            <a:avLst/>
          </a:prstGeom>
        </p:spPr>
      </p:pic>
      <p:sp>
        <p:nvSpPr>
          <p:cNvPr id="22" name="TextBox 21"/>
          <p:cNvSpPr txBox="1"/>
          <p:nvPr/>
        </p:nvSpPr>
        <p:spPr>
          <a:xfrm>
            <a:off x="6793916" y="1905152"/>
            <a:ext cx="1665568" cy="310804"/>
          </a:xfrm>
          <a:prstGeom prst="rect">
            <a:avLst/>
          </a:prstGeom>
          <a:noFill/>
        </p:spPr>
        <p:txBody>
          <a:bodyPr wrap="square" lIns="0" rIns="0" tIns="0" bIns="0" anchor="ctr">
            <a:spAutoFit/>
          </a:bodyPr>
          <a:lstStyle/>
          <a:p>
            <a:pPr algn="l">
              <a:spcAft>
                <a:spcPts val="0"/>
              </a:spcAft>
            </a:pPr>
            <a:r>
              <a:rPr sz="990" b="0" i="0">
                <a:solidFill>
                  <a:srgbClr val="2B3A38"/>
                </a:solidFill>
                <a:latin typeface="Arial"/>
              </a:rPr>
              <a:t>API météo</a:t>
            </a:r>
          </a:p>
        </p:txBody>
      </p:sp>
      <p:sp>
        <p:nvSpPr>
          <p:cNvPr id="23" name="Oval 22"/>
          <p:cNvSpPr/>
          <p:nvPr/>
        </p:nvSpPr>
        <p:spPr>
          <a:xfrm>
            <a:off x="6425738" y="2292646"/>
            <a:ext cx="289282" cy="28928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aDatabase.png"/>
          <p:cNvPicPr>
            <a:picLocks noChangeAspect="1"/>
          </p:cNvPicPr>
          <p:nvPr/>
        </p:nvPicPr>
        <p:blipFill>
          <a:blip r:embed="rId5"/>
          <a:stretch>
            <a:fillRect/>
          </a:stretch>
        </p:blipFill>
        <p:spPr>
          <a:xfrm>
            <a:off x="6500951" y="2367859"/>
            <a:ext cx="138855" cy="138855"/>
          </a:xfrm>
          <a:prstGeom prst="rect">
            <a:avLst/>
          </a:prstGeom>
        </p:spPr>
      </p:pic>
      <p:sp>
        <p:nvSpPr>
          <p:cNvPr id="25" name="TextBox 24"/>
          <p:cNvSpPr txBox="1"/>
          <p:nvPr/>
        </p:nvSpPr>
        <p:spPr>
          <a:xfrm>
            <a:off x="6793916" y="2281885"/>
            <a:ext cx="1665568" cy="310804"/>
          </a:xfrm>
          <a:prstGeom prst="rect">
            <a:avLst/>
          </a:prstGeom>
          <a:noFill/>
        </p:spPr>
        <p:txBody>
          <a:bodyPr wrap="square" lIns="0" rIns="0" tIns="0" bIns="0" anchor="ctr">
            <a:spAutoFit/>
          </a:bodyPr>
          <a:lstStyle/>
          <a:p>
            <a:pPr algn="l">
              <a:spcAft>
                <a:spcPts val="0"/>
              </a:spcAft>
            </a:pPr>
            <a:r>
              <a:rPr sz="990" b="0" i="0">
                <a:solidFill>
                  <a:srgbClr val="2B3A38"/>
                </a:solidFill>
                <a:latin typeface="Arial"/>
              </a:rPr>
              <a:t>Base SQL</a:t>
            </a:r>
          </a:p>
        </p:txBody>
      </p:sp>
      <p:sp>
        <p:nvSpPr>
          <p:cNvPr id="26" name="Oval 25"/>
          <p:cNvSpPr/>
          <p:nvPr/>
        </p:nvSpPr>
        <p:spPr>
          <a:xfrm>
            <a:off x="6425738" y="2669378"/>
            <a:ext cx="289282" cy="28928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aCalculator.png"/>
          <p:cNvPicPr>
            <a:picLocks noChangeAspect="1"/>
          </p:cNvPicPr>
          <p:nvPr/>
        </p:nvPicPr>
        <p:blipFill>
          <a:blip r:embed="rId6"/>
          <a:stretch>
            <a:fillRect/>
          </a:stretch>
        </p:blipFill>
        <p:spPr>
          <a:xfrm>
            <a:off x="6500951" y="2744592"/>
            <a:ext cx="138855" cy="138855"/>
          </a:xfrm>
          <a:prstGeom prst="rect">
            <a:avLst/>
          </a:prstGeom>
        </p:spPr>
      </p:pic>
      <p:sp>
        <p:nvSpPr>
          <p:cNvPr id="28" name="TextBox 27"/>
          <p:cNvSpPr txBox="1"/>
          <p:nvPr/>
        </p:nvSpPr>
        <p:spPr>
          <a:xfrm>
            <a:off x="6793916" y="2658618"/>
            <a:ext cx="1665568" cy="310804"/>
          </a:xfrm>
          <a:prstGeom prst="rect">
            <a:avLst/>
          </a:prstGeom>
          <a:noFill/>
        </p:spPr>
        <p:txBody>
          <a:bodyPr wrap="square" lIns="0" rIns="0" tIns="0" bIns="0" anchor="ctr">
            <a:spAutoFit/>
          </a:bodyPr>
          <a:lstStyle/>
          <a:p>
            <a:pPr algn="l">
              <a:spcAft>
                <a:spcPts val="0"/>
              </a:spcAft>
            </a:pPr>
            <a:r>
              <a:rPr sz="990" b="0" i="0">
                <a:solidFill>
                  <a:srgbClr val="2B3A38"/>
                </a:solidFill>
                <a:latin typeface="Arial"/>
              </a:rPr>
              <a:t>Calcul</a:t>
            </a:r>
          </a:p>
        </p:txBody>
      </p:sp>
      <p:sp>
        <p:nvSpPr>
          <p:cNvPr id="29" name="Oval 28"/>
          <p:cNvSpPr/>
          <p:nvPr/>
        </p:nvSpPr>
        <p:spPr>
          <a:xfrm>
            <a:off x="6425738" y="3046111"/>
            <a:ext cx="289282" cy="289282"/>
          </a:xfrm>
          <a:prstGeom prst="ellipse">
            <a:avLst/>
          </a:prstGeom>
          <a:solidFill>
            <a:srgbClr val="00AB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aSearch.png"/>
          <p:cNvPicPr>
            <a:picLocks noChangeAspect="1"/>
          </p:cNvPicPr>
          <p:nvPr/>
        </p:nvPicPr>
        <p:blipFill>
          <a:blip r:embed="rId7"/>
          <a:stretch>
            <a:fillRect/>
          </a:stretch>
        </p:blipFill>
        <p:spPr>
          <a:xfrm>
            <a:off x="6500951" y="3121325"/>
            <a:ext cx="138855" cy="138855"/>
          </a:xfrm>
          <a:prstGeom prst="rect">
            <a:avLst/>
          </a:prstGeom>
        </p:spPr>
      </p:pic>
      <p:sp>
        <p:nvSpPr>
          <p:cNvPr id="31" name="TextBox 30"/>
          <p:cNvSpPr txBox="1"/>
          <p:nvPr/>
        </p:nvSpPr>
        <p:spPr>
          <a:xfrm>
            <a:off x="6793916" y="3035350"/>
            <a:ext cx="1665568" cy="310804"/>
          </a:xfrm>
          <a:prstGeom prst="rect">
            <a:avLst/>
          </a:prstGeom>
          <a:noFill/>
        </p:spPr>
        <p:txBody>
          <a:bodyPr wrap="square" lIns="0" rIns="0" tIns="0" bIns="0" anchor="ctr">
            <a:spAutoFit/>
          </a:bodyPr>
          <a:lstStyle/>
          <a:p>
            <a:pPr algn="l">
              <a:spcAft>
                <a:spcPts val="0"/>
              </a:spcAft>
            </a:pPr>
            <a:r>
              <a:rPr sz="990" b="0" i="0">
                <a:solidFill>
                  <a:srgbClr val="2B3A38"/>
                </a:solidFill>
                <a:latin typeface="Arial"/>
              </a:rPr>
              <a:t>Recherche web</a:t>
            </a:r>
          </a:p>
        </p:txBody>
      </p:sp>
      <p:cxnSp>
        <p:nvCxnSpPr>
          <p:cNvPr id="32" name="Connector 31"/>
          <p:cNvCxnSpPr/>
          <p:nvPr/>
        </p:nvCxnSpPr>
        <p:spPr>
          <a:xfrm>
            <a:off x="4164071" y="2988259"/>
            <a:ext cx="0" cy="470916"/>
          </a:xfrm>
          <a:prstGeom prst="line">
            <a:avLst/>
          </a:prstGeom>
          <a:ln w="25400">
            <a:solidFill>
              <a:srgbClr val="7121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3050770" y="3506266"/>
            <a:ext cx="2235367" cy="565099"/>
          </a:xfrm>
          <a:prstGeom prst="rect">
            <a:avLst/>
          </a:prstGeom>
          <a:solidFill>
            <a:srgbClr val="F4D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94601" y="3506266"/>
            <a:ext cx="2147706" cy="565099"/>
          </a:xfrm>
          <a:prstGeom prst="rect">
            <a:avLst/>
          </a:prstGeom>
          <a:noFill/>
        </p:spPr>
        <p:txBody>
          <a:bodyPr wrap="square" lIns="0" rIns="0" tIns="0" bIns="0" anchor="ctr">
            <a:spAutoFit/>
          </a:bodyPr>
          <a:lstStyle/>
          <a:p>
            <a:pPr algn="ctr">
              <a:spcAft>
                <a:spcPts val="0"/>
              </a:spcAft>
            </a:pPr>
            <a:r>
              <a:rPr sz="900" b="1" i="0">
                <a:solidFill>
                  <a:srgbClr val="1A2E2B"/>
                </a:solidFill>
                <a:latin typeface="Arial"/>
              </a:rPr>
              <a:t>« Demain à Belfort : 14 °C et pluie, prévoyez un parapluie. »</a:t>
            </a:r>
          </a:p>
        </p:txBody>
      </p:sp>
      <p:sp>
        <p:nvSpPr>
          <p:cNvPr id="35" name="TextBox 34"/>
          <p:cNvSpPr txBox="1"/>
          <p:nvPr/>
        </p:nvSpPr>
        <p:spPr>
          <a:xfrm>
            <a:off x="8836429" y="1481328"/>
            <a:ext cx="2410690" cy="2637129"/>
          </a:xfrm>
          <a:prstGeom prst="rect">
            <a:avLst/>
          </a:prstGeom>
          <a:noFill/>
        </p:spPr>
        <p:txBody>
          <a:bodyPr wrap="square" lIns="0" rIns="0" tIns="0" bIns="0" anchor="t">
            <a:spAutoFit/>
          </a:bodyPr>
          <a:lstStyle/>
          <a:p>
            <a:pPr algn="l">
              <a:spcAft>
                <a:spcPts val="0"/>
              </a:spcAft>
            </a:pPr>
            <a:r>
              <a:rPr sz="1080" b="1" i="0">
                <a:solidFill>
                  <a:srgbClr val="712180"/>
                </a:solidFill>
                <a:latin typeface="Arial"/>
              </a:rPr>
              <a:t>Le principe : </a:t>
            </a:r>
            <a:r>
              <a:rPr sz="1080" b="0" i="0">
                <a:solidFill>
                  <a:srgbClr val="2B3A38"/>
                </a:solidFill>
                <a:latin typeface="Arial"/>
              </a:rPr>
              <a:t>on décrit au modèle des fonctions qu'il peut demander d'appeler. Le programme exécute l'appel et lui renvoie le résultat. Un agent enchaîne ces étapes en boucle jusqu'à atteindre son objectif.</a:t>
            </a:r>
          </a:p>
        </p:txBody>
      </p:sp>
      <p:sp>
        <p:nvSpPr>
          <p:cNvPr id="36" name="TextBox 35"/>
          <p:cNvSpPr txBox="1"/>
          <p:nvPr/>
        </p:nvSpPr>
        <p:spPr>
          <a:xfrm>
            <a:off x="640080" y="4306824"/>
            <a:ext cx="5259689" cy="329641"/>
          </a:xfrm>
          <a:prstGeom prst="rect">
            <a:avLst/>
          </a:prstGeom>
          <a:noFill/>
        </p:spPr>
        <p:txBody>
          <a:bodyPr wrap="square" lIns="0" rIns="0" tIns="0" bIns="0" anchor="t">
            <a:spAutoFit/>
          </a:bodyPr>
          <a:lstStyle/>
          <a:p>
            <a:pPr algn="l">
              <a:spcAft>
                <a:spcPts val="0"/>
              </a:spcAft>
            </a:pPr>
            <a:r>
              <a:rPr sz="1260" b="1" i="0">
                <a:solidFill>
                  <a:srgbClr val="712180"/>
                </a:solidFill>
                <a:latin typeface="Arial"/>
              </a:rPr>
              <a:t>Des risques à maîtriser</a:t>
            </a:r>
          </a:p>
        </p:txBody>
      </p:sp>
      <p:sp>
        <p:nvSpPr>
          <p:cNvPr id="37" name="Rectangle 36"/>
          <p:cNvSpPr/>
          <p:nvPr/>
        </p:nvSpPr>
        <p:spPr>
          <a:xfrm>
            <a:off x="640080" y="4683556"/>
            <a:ext cx="2498352" cy="136565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4683556"/>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71572" y="4841135"/>
            <a:ext cx="438307" cy="43830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FaExclamationTriangle.png"/>
          <p:cNvPicPr>
            <a:picLocks noChangeAspect="1"/>
          </p:cNvPicPr>
          <p:nvPr/>
        </p:nvPicPr>
        <p:blipFill>
          <a:blip r:embed="rId8"/>
          <a:stretch>
            <a:fillRect/>
          </a:stretch>
        </p:blipFill>
        <p:spPr>
          <a:xfrm>
            <a:off x="885532" y="4955095"/>
            <a:ext cx="210387" cy="210387"/>
          </a:xfrm>
          <a:prstGeom prst="rect">
            <a:avLst/>
          </a:prstGeom>
        </p:spPr>
      </p:pic>
      <p:sp>
        <p:nvSpPr>
          <p:cNvPr id="41" name="TextBox 40"/>
          <p:cNvSpPr txBox="1"/>
          <p:nvPr/>
        </p:nvSpPr>
        <p:spPr>
          <a:xfrm>
            <a:off x="1297541" y="4805994"/>
            <a:ext cx="1753229" cy="518007"/>
          </a:xfrm>
          <a:prstGeom prst="rect">
            <a:avLst/>
          </a:prstGeom>
          <a:noFill/>
        </p:spPr>
        <p:txBody>
          <a:bodyPr wrap="square" lIns="0" rIns="0" tIns="0" bIns="0" anchor="ctr">
            <a:spAutoFit/>
          </a:bodyPr>
          <a:lstStyle/>
          <a:p>
            <a:pPr algn="l">
              <a:spcAft>
                <a:spcPts val="0"/>
              </a:spcAft>
            </a:pPr>
            <a:r>
              <a:rPr sz="1125" b="1" i="0">
                <a:solidFill>
                  <a:srgbClr val="1A2E2B"/>
                </a:solidFill>
                <a:latin typeface="Arial"/>
              </a:rPr>
              <a:t>Hallucinations</a:t>
            </a:r>
          </a:p>
        </p:txBody>
      </p:sp>
      <p:sp>
        <p:nvSpPr>
          <p:cNvPr id="42" name="TextBox 41"/>
          <p:cNvSpPr txBox="1"/>
          <p:nvPr/>
        </p:nvSpPr>
        <p:spPr>
          <a:xfrm>
            <a:off x="771572" y="5371094"/>
            <a:ext cx="2279198" cy="659282"/>
          </a:xfrm>
          <a:prstGeom prst="rect">
            <a:avLst/>
          </a:prstGeom>
          <a:noFill/>
        </p:spPr>
        <p:txBody>
          <a:bodyPr wrap="square" lIns="0" rIns="0" tIns="0" bIns="0" anchor="t">
            <a:spAutoFit/>
          </a:bodyPr>
          <a:lstStyle/>
          <a:p>
            <a:pPr algn="l">
              <a:spcAft>
                <a:spcPts val="0"/>
              </a:spcAft>
            </a:pPr>
            <a:r>
              <a:rPr sz="945" b="0" i="0">
                <a:solidFill>
                  <a:srgbClr val="2B3A38"/>
                </a:solidFill>
                <a:latin typeface="Arial"/>
              </a:rPr>
              <a:t>Réponses fausses mais convaincantes : toujours vérifier.</a:t>
            </a:r>
          </a:p>
        </p:txBody>
      </p:sp>
      <p:sp>
        <p:nvSpPr>
          <p:cNvPr id="43" name="Rectangle 42"/>
          <p:cNvSpPr/>
          <p:nvPr/>
        </p:nvSpPr>
        <p:spPr>
          <a:xfrm>
            <a:off x="3331287" y="4683556"/>
            <a:ext cx="2498352" cy="136565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31287" y="4683556"/>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462779" y="4841135"/>
            <a:ext cx="438307" cy="43830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FaShieldAlt.png"/>
          <p:cNvPicPr>
            <a:picLocks noChangeAspect="1"/>
          </p:cNvPicPr>
          <p:nvPr/>
        </p:nvPicPr>
        <p:blipFill>
          <a:blip r:embed="rId9"/>
          <a:stretch>
            <a:fillRect/>
          </a:stretch>
        </p:blipFill>
        <p:spPr>
          <a:xfrm>
            <a:off x="3576739" y="4955095"/>
            <a:ext cx="210387" cy="210387"/>
          </a:xfrm>
          <a:prstGeom prst="rect">
            <a:avLst/>
          </a:prstGeom>
        </p:spPr>
      </p:pic>
      <p:sp>
        <p:nvSpPr>
          <p:cNvPr id="47" name="TextBox 46"/>
          <p:cNvSpPr txBox="1"/>
          <p:nvPr/>
        </p:nvSpPr>
        <p:spPr>
          <a:xfrm>
            <a:off x="3988748" y="4805994"/>
            <a:ext cx="1753229" cy="518007"/>
          </a:xfrm>
          <a:prstGeom prst="rect">
            <a:avLst/>
          </a:prstGeom>
          <a:noFill/>
        </p:spPr>
        <p:txBody>
          <a:bodyPr wrap="square" lIns="0" rIns="0" tIns="0" bIns="0" anchor="ctr">
            <a:spAutoFit/>
          </a:bodyPr>
          <a:lstStyle/>
          <a:p>
            <a:pPr algn="l">
              <a:spcAft>
                <a:spcPts val="0"/>
              </a:spcAft>
            </a:pPr>
            <a:r>
              <a:rPr sz="1125" b="1" i="0">
                <a:solidFill>
                  <a:srgbClr val="1A2E2B"/>
                </a:solidFill>
                <a:latin typeface="Arial"/>
              </a:rPr>
              <a:t>Injection de prompt</a:t>
            </a:r>
          </a:p>
        </p:txBody>
      </p:sp>
      <p:sp>
        <p:nvSpPr>
          <p:cNvPr id="48" name="TextBox 47"/>
          <p:cNvSpPr txBox="1"/>
          <p:nvPr/>
        </p:nvSpPr>
        <p:spPr>
          <a:xfrm>
            <a:off x="3462779" y="5371094"/>
            <a:ext cx="2279198" cy="659282"/>
          </a:xfrm>
          <a:prstGeom prst="rect">
            <a:avLst/>
          </a:prstGeom>
          <a:noFill/>
        </p:spPr>
        <p:txBody>
          <a:bodyPr wrap="square" lIns="0" rIns="0" tIns="0" bIns="0" anchor="t">
            <a:spAutoFit/>
          </a:bodyPr>
          <a:lstStyle/>
          <a:p>
            <a:pPr algn="l">
              <a:spcAft>
                <a:spcPts val="0"/>
              </a:spcAft>
            </a:pPr>
            <a:r>
              <a:rPr sz="945" b="0" i="0">
                <a:solidFill>
                  <a:srgbClr val="2B3A38"/>
                </a:solidFill>
                <a:latin typeface="Arial"/>
              </a:rPr>
              <a:t>Un texte piégé dans un document peut détourner le modèle.</a:t>
            </a:r>
          </a:p>
        </p:txBody>
      </p:sp>
      <p:sp>
        <p:nvSpPr>
          <p:cNvPr id="49" name="Rectangle 48"/>
          <p:cNvSpPr/>
          <p:nvPr/>
        </p:nvSpPr>
        <p:spPr>
          <a:xfrm>
            <a:off x="6022495" y="4683556"/>
            <a:ext cx="2498352" cy="136565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022495" y="4683556"/>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153987" y="4841135"/>
            <a:ext cx="438307" cy="43830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aUserSecret.png"/>
          <p:cNvPicPr>
            <a:picLocks noChangeAspect="1"/>
          </p:cNvPicPr>
          <p:nvPr/>
        </p:nvPicPr>
        <p:blipFill>
          <a:blip r:embed="rId10"/>
          <a:stretch>
            <a:fillRect/>
          </a:stretch>
        </p:blipFill>
        <p:spPr>
          <a:xfrm>
            <a:off x="6267947" y="4955095"/>
            <a:ext cx="210387" cy="210387"/>
          </a:xfrm>
          <a:prstGeom prst="rect">
            <a:avLst/>
          </a:prstGeom>
        </p:spPr>
      </p:pic>
      <p:sp>
        <p:nvSpPr>
          <p:cNvPr id="53" name="TextBox 52"/>
          <p:cNvSpPr txBox="1"/>
          <p:nvPr/>
        </p:nvSpPr>
        <p:spPr>
          <a:xfrm>
            <a:off x="6679956" y="4805994"/>
            <a:ext cx="1753229" cy="518007"/>
          </a:xfrm>
          <a:prstGeom prst="rect">
            <a:avLst/>
          </a:prstGeom>
          <a:noFill/>
        </p:spPr>
        <p:txBody>
          <a:bodyPr wrap="square" lIns="0" rIns="0" tIns="0" bIns="0" anchor="ctr">
            <a:spAutoFit/>
          </a:bodyPr>
          <a:lstStyle/>
          <a:p>
            <a:pPr algn="l">
              <a:spcAft>
                <a:spcPts val="0"/>
              </a:spcAft>
            </a:pPr>
            <a:r>
              <a:rPr sz="1125" b="1" i="0">
                <a:solidFill>
                  <a:srgbClr val="1A2E2B"/>
                </a:solidFill>
                <a:latin typeface="Arial"/>
              </a:rPr>
              <a:t>Confidentialité</a:t>
            </a:r>
          </a:p>
        </p:txBody>
      </p:sp>
      <p:sp>
        <p:nvSpPr>
          <p:cNvPr id="54" name="TextBox 53"/>
          <p:cNvSpPr txBox="1"/>
          <p:nvPr/>
        </p:nvSpPr>
        <p:spPr>
          <a:xfrm>
            <a:off x="6153987" y="5371094"/>
            <a:ext cx="2279198" cy="659282"/>
          </a:xfrm>
          <a:prstGeom prst="rect">
            <a:avLst/>
          </a:prstGeom>
          <a:noFill/>
        </p:spPr>
        <p:txBody>
          <a:bodyPr wrap="square" lIns="0" rIns="0" tIns="0" bIns="0" anchor="t">
            <a:spAutoFit/>
          </a:bodyPr>
          <a:lstStyle/>
          <a:p>
            <a:pPr algn="l">
              <a:spcAft>
                <a:spcPts val="0"/>
              </a:spcAft>
            </a:pPr>
            <a:r>
              <a:rPr sz="945" b="0" i="0">
                <a:solidFill>
                  <a:srgbClr val="2B3A38"/>
                </a:solidFill>
                <a:latin typeface="Arial"/>
              </a:rPr>
              <a:t>Ce qu'on envoie part chez le fournisseur : attention aux données.</a:t>
            </a:r>
          </a:p>
        </p:txBody>
      </p:sp>
      <p:sp>
        <p:nvSpPr>
          <p:cNvPr id="55" name="Rectangle 54"/>
          <p:cNvSpPr/>
          <p:nvPr/>
        </p:nvSpPr>
        <p:spPr>
          <a:xfrm>
            <a:off x="8713703" y="4683556"/>
            <a:ext cx="2498352" cy="1365656"/>
          </a:xfrm>
          <a:prstGeom prst="rect">
            <a:avLst/>
          </a:prstGeom>
          <a:solidFill>
            <a:srgbClr val="F0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713703" y="4683556"/>
            <a:ext cx="2498352" cy="64008"/>
          </a:xfrm>
          <a:prstGeom prst="rect">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845195" y="4841135"/>
            <a:ext cx="438307" cy="438307"/>
          </a:xfrm>
          <a:prstGeom prst="ellipse">
            <a:avLst/>
          </a:prstGeom>
          <a:solidFill>
            <a:srgbClr val="ED5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FaBolt.png"/>
          <p:cNvPicPr>
            <a:picLocks noChangeAspect="1"/>
          </p:cNvPicPr>
          <p:nvPr/>
        </p:nvPicPr>
        <p:blipFill>
          <a:blip r:embed="rId11"/>
          <a:stretch>
            <a:fillRect/>
          </a:stretch>
        </p:blipFill>
        <p:spPr>
          <a:xfrm>
            <a:off x="8959155" y="4955095"/>
            <a:ext cx="210387" cy="210387"/>
          </a:xfrm>
          <a:prstGeom prst="rect">
            <a:avLst/>
          </a:prstGeom>
        </p:spPr>
      </p:pic>
      <p:sp>
        <p:nvSpPr>
          <p:cNvPr id="59" name="TextBox 58"/>
          <p:cNvSpPr txBox="1"/>
          <p:nvPr/>
        </p:nvSpPr>
        <p:spPr>
          <a:xfrm>
            <a:off x="9371164" y="4805994"/>
            <a:ext cx="1753229" cy="518007"/>
          </a:xfrm>
          <a:prstGeom prst="rect">
            <a:avLst/>
          </a:prstGeom>
          <a:noFill/>
        </p:spPr>
        <p:txBody>
          <a:bodyPr wrap="square" lIns="0" rIns="0" tIns="0" bIns="0" anchor="ctr">
            <a:spAutoFit/>
          </a:bodyPr>
          <a:lstStyle/>
          <a:p>
            <a:pPr algn="l">
              <a:spcAft>
                <a:spcPts val="0"/>
              </a:spcAft>
            </a:pPr>
            <a:r>
              <a:rPr sz="1125" b="1" i="0">
                <a:solidFill>
                  <a:srgbClr val="1A2E2B"/>
                </a:solidFill>
                <a:latin typeface="Arial"/>
              </a:rPr>
              <a:t>Coût et énergie</a:t>
            </a:r>
          </a:p>
        </p:txBody>
      </p:sp>
      <p:sp>
        <p:nvSpPr>
          <p:cNvPr id="60" name="TextBox 59"/>
          <p:cNvSpPr txBox="1"/>
          <p:nvPr/>
        </p:nvSpPr>
        <p:spPr>
          <a:xfrm>
            <a:off x="8845195" y="5371094"/>
            <a:ext cx="2279198" cy="659282"/>
          </a:xfrm>
          <a:prstGeom prst="rect">
            <a:avLst/>
          </a:prstGeom>
          <a:noFill/>
        </p:spPr>
        <p:txBody>
          <a:bodyPr wrap="square" lIns="0" rIns="0" tIns="0" bIns="0" anchor="t">
            <a:spAutoFit/>
          </a:bodyPr>
          <a:lstStyle/>
          <a:p>
            <a:pPr algn="l">
              <a:spcAft>
                <a:spcPts val="0"/>
              </a:spcAft>
            </a:pPr>
            <a:r>
              <a:rPr sz="945" b="0" i="0">
                <a:solidFill>
                  <a:srgbClr val="2B3A38"/>
                </a:solidFill>
                <a:latin typeface="Arial"/>
              </a:rPr>
              <a:t>Chaque appel a un prix, financier et environnemental.</a:t>
            </a:r>
          </a:p>
        </p:txBody>
      </p:sp>
    </p:spTree>
  </p:cSld>
  <p:clrMapOvr>
    <a:masterClrMapping/>
  </p:clrMapOvr>
</p:sld>
</file>

<file path=ppt/theme/theme1.xml><?xml version="1.0" encoding="utf-8"?>
<a:theme xmlns:a="http://schemas.openxmlformats.org/drawingml/2006/main" name="1_Thème Office">
  <a:themeElements>
    <a:clrScheme name="Personnalisé 2">
      <a:dk1>
        <a:sysClr val="windowText" lastClr="000000"/>
      </a:dk1>
      <a:lt1>
        <a:srgbClr val="FFFFFF"/>
      </a:lt1>
      <a:dk2>
        <a:srgbClr val="00ABA2"/>
      </a:dk2>
      <a:lt2>
        <a:srgbClr val="D8D8D8"/>
      </a:lt2>
      <a:accent1>
        <a:srgbClr val="00ABA2"/>
      </a:accent1>
      <a:accent2>
        <a:srgbClr val="F4D73F"/>
      </a:accent2>
      <a:accent3>
        <a:srgbClr val="ED5D42"/>
      </a:accent3>
      <a:accent4>
        <a:srgbClr val="712180"/>
      </a:accent4>
      <a:accent5>
        <a:srgbClr val="8EAADB"/>
      </a:accent5>
      <a:accent6>
        <a:srgbClr val="A0C14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ABA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4000" dirty="0" smtClean="0">
            <a:solidFill>
              <a:srgbClr val="231F20"/>
            </a:solidFill>
            <a:latin typeface="Arial"/>
            <a:cs typeface="Arial"/>
          </a:defRPr>
        </a:defPPr>
      </a:lstStyle>
    </a:txDef>
  </a:objectDefaults>
  <a:extraClrSchemeLst/>
  <a:extLst>
    <a:ext uri="{05A4C25C-085E-4340-85A3-A5531E510DB2}">
      <thm15:themeFamily xmlns:thm15="http://schemas.microsoft.com/office/thememl/2012/main" name="FEMTO-ST_Template-2022-public-16-9_v2_mai2023" id="{7CE13D5B-39DC-4CA2-A686-CD63EED9A315}" vid="{B2F97892-9AC1-40FD-ADD4-B1B1EC0B3F2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1E96338D5CC0459B028C481A9F05FF" ma:contentTypeVersion="2" ma:contentTypeDescription="Crée un document." ma:contentTypeScope="" ma:versionID="f1d18672dbf647336786c938df3fc39f">
  <xsd:schema xmlns:xsd="http://www.w3.org/2001/XMLSchema" xmlns:xs="http://www.w3.org/2001/XMLSchema" xmlns:p="http://schemas.microsoft.com/office/2006/metadata/properties" xmlns:ns2="1b458390-de54-4209-8752-a47d264ba6a4" targetNamespace="http://schemas.microsoft.com/office/2006/metadata/properties" ma:root="true" ma:fieldsID="9f3b38dd7cbd3ded9193db25029395d6" ns2:_="">
    <xsd:import namespace="1b458390-de54-4209-8752-a47d264ba6a4"/>
    <xsd:element name="properties">
      <xsd:complexType>
        <xsd:sequence>
          <xsd:element name="documentManagement">
            <xsd:complexType>
              <xsd:all>
                <xsd:element ref="ns2:Date_x0020_de_x0020_publication" minOccurs="0"/>
                <xsd:element ref="ns2:Observation_x0028_s_x0029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58390-de54-4209-8752-a47d264ba6a4" elementFormDefault="qualified">
    <xsd:import namespace="http://schemas.microsoft.com/office/2006/documentManagement/types"/>
    <xsd:import namespace="http://schemas.microsoft.com/office/infopath/2007/PartnerControls"/>
    <xsd:element name="Date_x0020_de_x0020_publication" ma:index="8" nillable="true" ma:displayName="Date de parution" ma:format="DateOnly" ma:internalName="Date_x0020_de_x0020_publication">
      <xsd:simpleType>
        <xsd:restriction base="dms:DateTime"/>
      </xsd:simpleType>
    </xsd:element>
    <xsd:element name="Observation_x0028_s_x0029_" ma:index="9" nillable="true" ma:displayName="Observation(s)" ma:internalName="Observation_x0028_s_x0029_">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ate_x0020_de_x0020_publication xmlns="1b458390-de54-4209-8752-a47d264ba6a4" xsi:nil="true"/>
    <Observation_x0028_s_x0029_ xmlns="1b458390-de54-4209-8752-a47d264ba6a4" xsi:nil="true"/>
  </documentManagement>
</p:properties>
</file>

<file path=customXml/itemProps1.xml><?xml version="1.0" encoding="utf-8"?>
<ds:datastoreItem xmlns:ds="http://schemas.openxmlformats.org/officeDocument/2006/customXml" ds:itemID="{0BFE559F-77E4-46C6-9E01-F9A64F23DA92}">
  <ds:schemaRefs>
    <ds:schemaRef ds:uri="http://schemas.microsoft.com/sharepoint/v3/contenttype/forms"/>
  </ds:schemaRefs>
</ds:datastoreItem>
</file>

<file path=customXml/itemProps2.xml><?xml version="1.0" encoding="utf-8"?>
<ds:datastoreItem xmlns:ds="http://schemas.openxmlformats.org/officeDocument/2006/customXml" ds:itemID="{F6528BA6-4CCD-4DA8-8983-9334A8F4B5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458390-de54-4209-8752-a47d264ba6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225A7F9-7485-4FB5-9FB5-35CC2E8031ED}">
  <ds:schemaRefs>
    <ds:schemaRef ds:uri="http://schemas.microsoft.com/office/2006/metadata/properties"/>
    <ds:schemaRef ds:uri="http://schemas.microsoft.com/office/infopath/2007/PartnerControls"/>
    <ds:schemaRef ds:uri="1b458390-de54-4209-8752-a47d264ba6a4"/>
  </ds:schemaRefs>
</ds:datastoreItem>
</file>

<file path=docProps/app.xml><?xml version="1.0" encoding="utf-8"?>
<Properties xmlns="http://schemas.openxmlformats.org/officeDocument/2006/extended-properties" xmlns:vt="http://schemas.openxmlformats.org/officeDocument/2006/docPropsVTypes">
  <Template>FEMTO-ST_Template-2022-public-16-9_v2_dec2023(1)</Template>
  <TotalTime>3</TotalTime>
  <Words>45</Words>
  <Application>Microsoft Office PowerPoint</Application>
  <PresentationFormat>Grand écran</PresentationFormat>
  <Paragraphs>10</Paragraphs>
  <Slides>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vt:i4>
      </vt:variant>
    </vt:vector>
  </HeadingPairs>
  <TitlesOfParts>
    <vt:vector size="9" baseType="lpstr">
      <vt:lpstr>Arial</vt:lpstr>
      <vt:lpstr>Calibri</vt:lpstr>
      <vt:lpstr>1_Thème Office</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Sandrine QUARROZ</dc:creator>
  <cp:lastModifiedBy>Sandrine QUARROZ</cp:lastModifiedBy>
  <cp:revision>2</cp:revision>
  <dcterms:created xsi:type="dcterms:W3CDTF">2025-01-30T09:26:16Z</dcterms:created>
  <dcterms:modified xsi:type="dcterms:W3CDTF">2025-01-30T15:22:22Z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0x010100311E96338D5CC0459B028C481A9F05FF</vt:lpwstr>
  </property>
</Properties>
</file>